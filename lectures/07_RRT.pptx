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7"/>
  </p:notesMasterIdLst>
  <p:sldIdLst>
    <p:sldId id="256" r:id="rId2"/>
    <p:sldId id="293" r:id="rId3"/>
    <p:sldId id="320" r:id="rId4"/>
    <p:sldId id="332" r:id="rId5"/>
    <p:sldId id="327" r:id="rId6"/>
    <p:sldId id="333" r:id="rId7"/>
    <p:sldId id="335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62" r:id="rId17"/>
    <p:sldId id="363" r:id="rId18"/>
    <p:sldId id="371" r:id="rId19"/>
    <p:sldId id="358" r:id="rId20"/>
    <p:sldId id="368" r:id="rId21"/>
    <p:sldId id="383" r:id="rId22"/>
    <p:sldId id="384" r:id="rId23"/>
    <p:sldId id="361" r:id="rId24"/>
    <p:sldId id="365" r:id="rId25"/>
    <p:sldId id="364" r:id="rId26"/>
    <p:sldId id="366" r:id="rId27"/>
    <p:sldId id="367" r:id="rId28"/>
    <p:sldId id="374" r:id="rId29"/>
    <p:sldId id="382" r:id="rId30"/>
    <p:sldId id="376" r:id="rId31"/>
    <p:sldId id="377" r:id="rId32"/>
    <p:sldId id="378" r:id="rId33"/>
    <p:sldId id="379" r:id="rId34"/>
    <p:sldId id="380" r:id="rId35"/>
    <p:sldId id="381" r:id="rId36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F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7"/>
    <p:restoredTop sz="92773"/>
  </p:normalViewPr>
  <p:slideViewPr>
    <p:cSldViewPr snapToGrid="0" snapToObjects="1">
      <p:cViewPr varScale="1">
        <p:scale>
          <a:sx n="76" d="100"/>
          <a:sy n="76" d="100"/>
        </p:scale>
        <p:origin x="1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6:18:12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1205 1 24575,'-22'0'0,"-10"0"0,-18 0 0,-18 3 0,-1 3 0,5 3 0,2 3 0,14 0 0,1-3 0,4 1 0,10-4 0,2-1 0,2-2 0,4 0 0,3 0 0,-2 1 0,2-2 0,-1 1 0,-3 1 0,2-1 0,-4 3 0,-1-3 0,0 2 0,0 1 0,7-3 0,3 0 0,4 1 0,2-1 0,2 0 0,-1-1 0,0-1 0,2 1 0,3 3 0,5 3 0,2 6 0,0 11 0,0 18 0,0 13 0,0 10 0,0 7 0,0 5 0,0 5 0,0 4 0,-2-2 0,-1-2 0,-3-5 0,-3-7 0,-3-6 0,1-9 0,0-6 0,0-5 0,0-5 0,1 1 0,0 2 0,1 1 0,0 5 0,-1 1 0,1 3 0,0 3 0,-1 1 0,2 1 0,1 1 0,2 1 0,-2 0 0,2 4 0,2-4 0,0 4 0,3 0 0,0 1 0,0 1 0,0-2 0,-3-4 0,-1-4 0,1-2 0,0-5 0,3 2 0,0-2 0,0-4 0,0-1 0,0-3 0,0-1 0,0 1 0,0-1 0,0 1 0,0 0 0,0 0 0,0 2 0,0 0 0,0 1 0,0 1 0,0-3 0,0 1 0,0-1 0,3-1 0,1 0 0,2 2 0,1-2 0,-3-1 0,2 0 0,-1-2 0,1 3 0,3-2 0,0-4 0,-1-2 0,-2-2 0,0-2 0,-2 0 0,2-6 0,0-1 0,0 0 0,0 0 0,0 3 0,1 0 0,-1 0 0,0-1 0,-1-4 0,1-3 0,-3-3 0,0-4 0,-2 2 0,-1 2 0,0 4 0,0 5 0,0 2 0,0 0 0,0 0 0,0 0 0,1 3 0,2 5 0,0-1 0,2-1 0,-1-2 0,0-9 0,-2-2 0,-1-5 0,-1-3 0,0 1 0,0-4 0,2 3 0,2 0 0,2 2 0,2-1 0,-2-3 0,0 1 0,2-3 0,-2 1 0,1 0 0,0 1 0,-1 2 0,0 1 0,0 1 0,2 2 0,2 2 0,-1 0 0,0 0 0,0-4 0,-3 0 0,3-3 0,-4 0 0,1-1 0,2-5 0,2 0 0,6-3 0,3 0 0,0 0 0,2 0 0,1 0 0,1 0 0,5 0 0,4 0 0,8 0 0,4 0 0,3 0 0,0 0 0,-2 0 0,-1 0 0,-2 0 0,-1 0 0,-2 0 0,-2 0 0,-3 0 0,0 0 0,-2 2 0,-1 2 0,-3-1 0,-2 0 0,-3-3 0,-5 2 0,-3 2 0,-4-1 0,-1 0 0,-4-3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6:18:44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0 249 24575,'68'0'0,"1"1"0,6 2 0,3 2 0,18 4 0,3 1 0,-31-2 0,0 0 0,0 1 0,29 5 0,1-2 0,-17-5 0,3-1 0,0-2-282,-3 0 1,-1-2 0,-1 0 281,-7 0 0,-1-2 0,-3 1 138,20-2 1,-8-1-139,11-9 140,-4-8-140,-3-7 0,-2-3 0,-6 2 427,-8 2-427,-4 0 0,-1 1 0,0-1 0,4 0 0,4 2 0,2 1 0,5 3 0,0 3 0,-3 3 0,-6 3 0,-12 4 0,-6 2 0,1 1 0,0 3 0,3 0 0,3 0 0,1 0 0,2 0 0,-5 0 0,-2 5 0,-3 7 0,1 8 0,0 7 0,-1 3 0,-3 3 0,0 2 0,4 3 0,1 0 0,7 0 0,6 5 0,9-3 0,5-2 0,1-1 0,-6-4 0,-8 0 0,-6-4 0,-4-1 0,-1 0 0,-1-1 0,5 1 0,4 1 0,6 0 0,8 0 0,5 1 0,5 0 0,2-1 0,-7-3 0,-10-3 0,-12-5 0,-13-1 0,-8-3 0,-8-1 0,-4-1 0,-2 1 0,-1-1 0,0 0 0,0 0 0,0-2 0,0 0 0,0 0 0,2 0 0,2 1 0,0-3 0,0-1 0,-3 2 0,-1 0 0,1 0 0,-2 0 0,-1-2 0,-3 0 0,-3 1 0,-2-3 0,-2 0 0,-3-3 0,1-1 0,-7-1 0,1 0 0,-6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9:01:02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0 268 24575,'32'0'0,"32"0"0,-13-1 0,6-1 0,22-1 0,7 0 0,-17 0 0,2 0 0,3-1-437,6-1 1,3 0-1,1-1 437,7 1 0,1-1 0,0 0 0,3-1 0,0-1 0,1 0 0,2-1 0,0 0 0,-1 0 0,-2 0 0,0-1 0,-2 1 0,-2 0 0,-1-1 0,-1 2 0,-5 0 0,-1 2 0,-1-1 18,-5 2 1,-1-1 0,-1 1-19,-4 0 0,-1 1 0,-1-1 0,27-3 0,-1 1 0,-3 0 0,0 0 0,0 1 0,-1 0 0,2 1 0,0 1 0,0 1 0,-1 1 0,-4 0 0,-3 0 0,-5 2 0,-3 0 0,-8 0 0,-2 0 0,-9 0 0,-2 0 0,44 0 0,-6 0 976,1 0-976,2 0 278,-1 3-278,-1 5 0,-7 3 0,-5 4 0,-6 0 0,-7-1 0,-6 1 0,-8-2 0,-4 0 0,-1 0 0,0-4 0,1 1 0,-1-4 0,1-2 0,3 2 0,-2-3 0,-1 0 0,-3 0 0,0-3 0,-2 0 0,-2 0 0,-5 0 0,-9 0 0,-13 0 0,-8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9:01:18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2577 1 24575,'-48'0'0,"-37"7"0,6 5 0,-9 3 0,20-3 0,-2 1 0,0 1 0,3 0 0,0 1 0,2-1 0,-25 5 0,3-3 0,15-6 0,4-3 0,6-2 0,3-1 0,5-2 0,3-1 0,-31 0 0,31-1 0,5 0 0,3 0 0,0 0 0,1-3 0,-3-1 0,-6 0 0,0 1 0,-1 3 0,0 0 0,4 0 0,0 0 0,1 0 0,2 0 0,-3 0 0,-3 0 0,2 0 0,1 0 0,4 0 0,1 0 0,0 0 0,1 0 0,0 2 0,6 2 0,3 1 0,7 1 0,6-2 0,4 1 0,4 0 0,1 4 0,3 7 0,3 6 0,2 16 0,3 19 0,0 26 0,0-27 0,0 4 0,0 7 0,0 3 0,0 8 0,0 3 0,0 4 0,0 1 0,0-4 0,0 0 0,0-3 0,0-2 0,-1-6 0,2-3 0,0-6 0,2-1 0,1-3 0,0 0 0,0-4 0,1-1 0,0-3 0,1 1 0,4 44 0,0-1 0,0 3 0,-3 0 0,1 0 0,-3 0 0,3 0 0,-1 0 0,1 2 0,-4-49 0,0 1 0,-1 2 0,1 1 0,2 2 0,-1 1 0,0 0 0,-1 0 0,2-1 0,0-1 0,1 1 0,1-1 0,0-1 0,1-2 0,1 0 0,1-1 0,0 0 0,-1-1 0,11 45 0,-1-3 0,-4-10 0,-2-8 0,-6-6 0,0-7 0,-1-2 0,-3-4 0,-1 4 0,-3-2 0,1-1 0,2-1 0,1-2 0,-1 3 0,-1 2 0,1 2 0,0 4 0,1 0 0,-1-2 0,-3 1 0,0-2 0,0 3 0,0 0 0,0-7 0,0-4 0,0-11 0,0-5 0,0-1 0,0-7 0,0-8 0,0-5 0,2-7 0,4-3 0,5-4 0,7-7 0,15-10 0,25-9 0,16 1 0,9 2 0,-1 11 0,-11 6 0,0 2 0,4 2 0,5 0 0,7 0 0,9 0 0,0 3 0,-3 8 0,-6 7 0,-13 4 0,-13 2 0,-7-4 0,-7-7 0,-7-4 0,-5-3 0,-17-6 0,-7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9:01:23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1510 1 24575,'-47'8'0,"-29"16"0,20-3 0,-4 2 0,-14 7 0,-5 2 0,14-9 0,-2 1 0,0-2 0,-28 6 0,3-3 0,15-5 0,6-3 0,-22 1 0,66-15 0,2 3 0,3-3 0,0 0 0,0 2 0,0-2 0,-7 4 0,-13 4 0,-15 2 0,-12 3 0,6 0 0,13-4 0,22-4 0,16-1 0,11 2 0,11 6 0,13 26 0,8 23 0,6 20 0,-16-33 0,-1 1 0,-2-1 0,1 1 0,1 4 0,0 2 0,1 5 0,-1 2 0,1 1 0,0 2 0,-1 3 0,0 2 0,0 1 0,-2 1 0,-2-2 0,-3-1 0,-1 0 0,-2 0 0,-2-2 0,-2-2 0,-3-4 0,-1 0 0,0-1 0,-1 0 0,0-2 0,-2 0 0,1-4 0,0-2 0,0-2 0,0-1 0,0 39 0,0-10 0,0-5 0,0-3 0,0-2 0,0-3 0,0-6 0,0-6 0,-2-6 0,-2-5 0,1-3 0,-3 2 0,2 1 0,0 3 0,1 0 0,3 0 0,0 8 0,0 7 0,0 12 0,0 6 0,0 3 0,0 3 0,0-4 0,0 1 0,0-6 0,0-4 0,0-5 0,0-1 0,0 1 0,0 2 0,0 3 0,0 0 0,0 3 0,0 1 0,4 3 0,0 1 0,0 3 0,-1 2 0,-3 0 0,3-1 0,1-5 0,3-7 0,3-9 0,-2-17 0,-1-11 0,-1-6 0,-3-2 0,3 1 0,2-2 0,2-3 0,2 0 0,-1 0 0,1 0 0,-1 0 0,1 0 0,1-3 0,-2-3 0,-1-1 0,-1 1 0,2 3 0,5 6 0,0 4 0,0 3 0,0 3 0,-2 0 0,0 1 0,-3-1 0,-2 0 0,1-5 0,-3 1 0,2-2 0,-2-3 0,-4-1 0,3-3 0,-3 0 0,3 3 0,1 1 0,-2 0 0,0 3 0,-1-3 0,-1 3 0,1 0 0,-1-3 0,1-1 0,1-3 0,-2 0 0,1 0 0,1-2 0,-2-6 0,3-5 0,1-7 0,-1-2 0,4-3 0,17 0 0,23 1 0,23-1 0,20 0 0,-43 0 0,1 0 0,2-2 0,1-1 0,-1-1 0,-1-2 0,43-7 0,-16-1 0,-21 4 0,-16 2 0,-17 4 0,-12 1 0,-6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9:01:26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0 371 24575,'63'0'0,"-11"0"0,6 0 0,27 0 0,9 0 0,-17 0 0,4 0 0,1 0 0,10 0 0,1 0 0,1 0 0,-1 0 0,1 0 0,0 0-767,-1 0 0,-1 1 0,0-2 767,-4 1 0,-2-1 0,0-1 0,-3 0 0,-2-1 0,0 0 68,-3-1 0,-1-1 1,-1-1-69,-8-1 0,-1-2 0,-2 0 0,23-4 0,-5-1 251,-14 0 1,-3-2-252,-10 2 0,-4 1 0,29-8 0,-19 4 1159,-10 4-1159,-7 0 434,2 2-434,-1 1 0,0 2 0,-2 1 0,-3 2 0,0 2 0,-5 0 0,1-1 0,0-2 0,0-1 0,4 1 0,0-2 0,-1 2 0,4-4 0,5 1 0,3 0 0,0-1 0,-2 3 0,-9 0 0,-6 1 0,-6 3 0,-4 0 0,-3 2 0,-1-2 0,-2-2 0,-3 0 0,-1-1 0,-2 4 0,-6 1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735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304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</a:t>
            </a:r>
          </a:p>
        </p:txBody>
      </p:sp>
    </p:spTree>
    <p:extLst>
      <p:ext uri="{BB962C8B-B14F-4D97-AF65-F5344CB8AC3E}">
        <p14:creationId xmlns:p14="http://schemas.microsoft.com/office/powerpoint/2010/main" val="2937125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436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0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1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D165-A497-DCB5-FE14-2116AD960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E916-6D88-9EC8-2ACE-AAAC4837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E17B98E-457D-4284-6B2C-5A9D93DF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6AD668-06A4-BBF4-AAFC-469FC13B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576D332-0420-1D23-03DE-415A5CCF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995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0E18-684A-38D1-DBDB-FEE2C9AB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2BCD-5730-71C8-CC55-48A093FAC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D7F9DE-9EB3-A0C9-3D35-875A3D0A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940EA-817A-B06D-6BDA-45ACEE33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C4B6-B6DB-1B02-0DEB-6A3B9D96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128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6FA2-2E02-A421-1CC1-4FF2D8FD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A665-FEA3-13E5-52C0-BF86C7F9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7BD1C1-52AB-4F7D-6D83-67AF3ECB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66548-8C21-3A90-AE45-26B0F86C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24BBB-BAA8-6351-1EB7-7A3EA689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875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AB4F-3115-8EC4-D28E-A5BFBB3C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E502-1037-1C56-5C14-8BF615EAE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2ED19-D604-8DD1-6C52-20D59450F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2B4AA63-3E2C-E0C9-C93D-22A5A7C2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3F896CD-C514-1F2B-7B3D-4BB60C29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60AA89-1513-B57E-1AEB-D2994F73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15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D1DD-0CEE-3774-5AB3-937DB423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8E3F0-46B7-69C0-6719-D71909FD3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7236F-485B-32C4-A9B9-6D3AB3F7E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E0AA5-2E2B-294B-3997-BA542F4B3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982F6-EFA8-1135-93C3-BC3E84B32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3ED0692-DB27-476A-0150-A1CF0923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1C2DDFB-94D4-AD58-50F2-799E8E3B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411371-48EB-4EF4-70EE-BF8A4F7A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013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2BD9-E750-52D1-E068-EA872E42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146F4F-5AF3-44EE-D602-E0814463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133D6F-07D0-334E-6C09-62B6A56E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9A1936-94C6-0E25-28C2-31877FCC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378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E1DA0-64CA-5020-1855-35C78BB9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CA06-9F8F-1859-A6BB-93CCA47C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8AD8A-420F-7CDF-A992-661CADF5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249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0108-1904-1EC5-3CDA-6EA96014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7B60-43EB-2344-0024-6BC968B64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AF767-0D11-703C-CFB3-2C48A7464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22A4BB7-E704-EFA2-2F94-CC5CF15A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4A82D0-7CB5-484A-4CDF-A85E071D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8C913C-54F5-2C2F-C605-C5CD9690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704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ED15-C686-590A-52D7-BD4F09C6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75195-BE97-D378-3A15-C2CB68401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A8C6D-1B1B-43CB-C35A-B02EB332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5C8872E-5B47-1F3C-FD1B-BD602E66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5521F6-EFF1-0840-F220-9E046F8D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40458CD-DBC0-F873-0CF4-FF961028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078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C5B0-61CE-C46E-120D-592412C5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2DC9A-C7B0-60DC-874D-7157E6D6B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8B719-4D24-4076-ED8E-4B6661F89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876D4-E9CE-BF06-3A65-D1E16557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95797-057F-B764-9986-16AC2309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341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F8EB1-E8C0-6407-56CB-952FE87B8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28CCC-A90E-28B6-C561-BE3F3A2F6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87D2C-D605-40EA-38AC-88DE2172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3F0EF-D69D-392A-60D9-5842CD6C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4C875-29A2-701C-A092-C23ADD4C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435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6F4B7-BAD9-A1D9-3F62-5225D09B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FFE51-76F0-DDB5-F9BF-9185F652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6F08-D480-A5EA-D5E1-4941CD2E5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2/26/26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F208-8EF5-13BF-E9B6-A99FFAB57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BB0D-1325-46DC-B61A-11EF7F09A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7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planning.cs.uiuc.edu/" TargetMode="External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msl.cs.uiuc.edu/rrt/gallery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4.xml"/><Relationship Id="rId1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bc.ca/research/flann/" TargetMode="External"/><Relationship Id="rId2" Type="http://schemas.openxmlformats.org/officeDocument/2006/relationships/hyperlink" Target="http://ompl.kavrakilab.org/stateValidatio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oveit.ros.org/" TargetMode="External"/><Relationship Id="rId4" Type="http://schemas.openxmlformats.org/officeDocument/2006/relationships/hyperlink" Target="https://github.com/flexible-collision-library/fc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sXM4VLWxkE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C-space and RRTs</a:t>
            </a:r>
            <a:endParaRPr dirty="0"/>
          </a:p>
        </p:txBody>
      </p:sp>
      <p:sp>
        <p:nvSpPr>
          <p:cNvPr id="55" name="Shape 55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i="1"/>
            </a:pPr>
            <a:endParaRPr dirty="0"/>
          </a:p>
          <a:p>
            <a:pPr>
              <a:defRPr i="1"/>
            </a:pPr>
            <a:r>
              <a:rPr lang="en-US" dirty="0"/>
              <a:t>Dr. Troi Williams</a:t>
            </a:r>
            <a:br>
              <a:rPr lang="en-US" dirty="0"/>
            </a:br>
            <a:endParaRPr lang="en-US" dirty="0"/>
          </a:p>
          <a:p>
            <a:pPr>
              <a:defRPr i="1"/>
            </a:pPr>
            <a:r>
              <a:rPr lang="en-US" dirty="0"/>
              <a:t>Slide Credits: </a:t>
            </a:r>
            <a:r>
              <a:rPr dirty="0"/>
              <a:t>Pratap Tokekar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4080" y="3037817"/>
            <a:ext cx="11598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Extra Lab days on Tuesday, March 10</a:t>
            </a:r>
            <a:r>
              <a:rPr lang="en-US" sz="3200" baseline="30000" dirty="0"/>
              <a:t>th</a:t>
            </a:r>
            <a:r>
              <a:rPr lang="en-US" sz="3200" dirty="0"/>
              <a:t> and Thursday, March 12</a:t>
            </a:r>
            <a:r>
              <a:rPr lang="en-US" sz="3200" baseline="30000" dirty="0"/>
              <a:t>th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269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configuration</a:t>
            </a:r>
            <a:r>
              <a:rPr lang="en-US" dirty="0"/>
              <a:t> is a complete specification of every point of the robot</a:t>
            </a:r>
          </a:p>
          <a:p>
            <a:r>
              <a:rPr lang="en-US" dirty="0"/>
              <a:t>C-space is the space of all possible configurations</a:t>
            </a:r>
          </a:p>
          <a:p>
            <a:endParaRPr lang="en-US" dirty="0"/>
          </a:p>
          <a:p>
            <a:r>
              <a:rPr lang="en-US" dirty="0"/>
              <a:t>Some examples:</a:t>
            </a:r>
          </a:p>
          <a:p>
            <a:pPr lvl="1"/>
            <a:r>
              <a:rPr lang="en-US" dirty="0"/>
              <a:t>a point robot that can translate in 2D: </a:t>
            </a:r>
          </a:p>
          <a:p>
            <a:pPr lvl="1"/>
            <a:r>
              <a:rPr lang="en-US" dirty="0"/>
              <a:t>a robot that can rotate and translate:</a:t>
            </a:r>
          </a:p>
          <a:p>
            <a:pPr lvl="1"/>
            <a:r>
              <a:rPr lang="en-US" dirty="0"/>
              <a:t>a two link manipulator: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480" y="6325980"/>
            <a:ext cx="2070100" cy="520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377" y="7040787"/>
            <a:ext cx="3534548" cy="4287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094" y="7663641"/>
            <a:ext cx="4540527" cy="43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9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Solution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Randomly pick a sample configuration,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endParaRPr lang="en-US" dirty="0"/>
          </a:p>
          <a:p>
            <a:r>
              <a:rPr lang="en-US" dirty="0"/>
              <a:t>Check if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dirty="0"/>
              <a:t> is collision-free</a:t>
            </a:r>
          </a:p>
          <a:p>
            <a:r>
              <a:rPr lang="en-US" dirty="0"/>
              <a:t>If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is in </a:t>
            </a:r>
            <a:r>
              <a:rPr lang="en-US" dirty="0" err="1"/>
              <a:t>C</a:t>
            </a:r>
            <a:r>
              <a:rPr lang="en-US" baseline="-25000" dirty="0" err="1"/>
              <a:t>free</a:t>
            </a:r>
            <a:r>
              <a:rPr lang="en-US" dirty="0"/>
              <a:t> then add it to the graph</a:t>
            </a:r>
          </a:p>
          <a:p>
            <a:pPr lvl="1"/>
            <a:r>
              <a:rPr lang="en-US" dirty="0"/>
              <a:t>add edges to existing vertices (</a:t>
            </a:r>
            <a:r>
              <a:rPr lang="en-US" i="1" dirty="0"/>
              <a:t>more details later</a:t>
            </a:r>
            <a:r>
              <a:rPr lang="en-US" dirty="0"/>
              <a:t>)</a:t>
            </a:r>
          </a:p>
          <a:p>
            <a:r>
              <a:rPr lang="en-US" dirty="0"/>
              <a:t>If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dirty="0"/>
              <a:t> is not in </a:t>
            </a:r>
            <a:r>
              <a:rPr lang="en-US" dirty="0" err="1"/>
              <a:t>C</a:t>
            </a:r>
            <a:r>
              <a:rPr lang="en-US" sz="4000" baseline="-25000" dirty="0" err="1"/>
              <a:t>free</a:t>
            </a:r>
            <a:r>
              <a:rPr lang="en-US" dirty="0"/>
              <a:t>, then discard it</a:t>
            </a:r>
          </a:p>
          <a:p>
            <a:endParaRPr lang="en-US" dirty="0"/>
          </a:p>
          <a:p>
            <a:r>
              <a:rPr lang="en-US" dirty="0"/>
              <a:t>Check if we have found a path, else repeat</a:t>
            </a:r>
          </a:p>
        </p:txBody>
      </p:sp>
    </p:spTree>
    <p:extLst>
      <p:ext uri="{BB962C8B-B14F-4D97-AF65-F5344CB8AC3E}">
        <p14:creationId xmlns:p14="http://schemas.microsoft.com/office/powerpoint/2010/main" val="137382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Rapidly Exploring Dense Trees (RDTs)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popular techniques</a:t>
            </a:r>
          </a:p>
          <a:p>
            <a:r>
              <a:rPr lang="en-US" dirty="0"/>
              <a:t>Introduced by </a:t>
            </a:r>
            <a:r>
              <a:rPr lang="en-US" dirty="0" err="1"/>
              <a:t>LaValle</a:t>
            </a:r>
            <a:r>
              <a:rPr lang="en-US" dirty="0"/>
              <a:t> in ‘98</a:t>
            </a:r>
          </a:p>
          <a:p>
            <a:pPr lvl="1"/>
            <a:r>
              <a:rPr lang="en-US" dirty="0"/>
              <a:t>many, many, many extensions and variants</a:t>
            </a:r>
          </a:p>
        </p:txBody>
      </p:sp>
      <p:pic>
        <p:nvPicPr>
          <p:cNvPr id="4" name="pasted-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027" y="4106184"/>
            <a:ext cx="3122640" cy="49657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115"/>
          <p:cNvSpPr/>
          <p:nvPr/>
        </p:nvSpPr>
        <p:spPr>
          <a:xfrm>
            <a:off x="3760027" y="9071974"/>
            <a:ext cx="329798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u="sng">
                <a:solidFill>
                  <a:srgbClr val="53585F"/>
                </a:solidFill>
                <a:hlinkClick r:id="" action="ppaction://noaction"/>
              </a:defRPr>
            </a:lvl1pPr>
          </a:lstStyle>
          <a:p>
            <a:pPr>
              <a:defRPr u="none"/>
            </a:pPr>
            <a:r>
              <a:rPr u="sng" dirty="0">
                <a:hlinkClick r:id="rId3"/>
              </a:rPr>
              <a:t>http://planning.cs.uiuc.edu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6891" y="6265868"/>
            <a:ext cx="3320140" cy="17389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</a:t>
            </a:r>
            <a:r>
              <a:rPr lang="en-US" dirty="0"/>
              <a:t> 5.5, 5.6, 14.4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55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RDTs vs RRTs vs PRMs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versions of the same idea</a:t>
            </a:r>
          </a:p>
          <a:p>
            <a:pPr lvl="1"/>
            <a:r>
              <a:rPr lang="en-US" i="1" dirty="0"/>
              <a:t>with different guarantees</a:t>
            </a:r>
            <a:endParaRPr lang="en-US" dirty="0"/>
          </a:p>
          <a:p>
            <a:pPr lvl="1"/>
            <a:endParaRPr lang="en-US" i="1" dirty="0"/>
          </a:p>
          <a:p>
            <a:r>
              <a:rPr lang="en-US" dirty="0"/>
              <a:t>Rapidly exploring Random Trees </a:t>
            </a:r>
          </a:p>
          <a:p>
            <a:pPr lvl="1"/>
            <a:r>
              <a:rPr lang="en-US" dirty="0"/>
              <a:t>randomly sample the C-space</a:t>
            </a:r>
          </a:p>
          <a:p>
            <a:pPr lvl="1"/>
            <a:r>
              <a:rPr lang="en-US" dirty="0"/>
              <a:t>graph built will be a </a:t>
            </a:r>
            <a:r>
              <a:rPr lang="en-US" u="sng" dirty="0"/>
              <a:t>tree</a:t>
            </a:r>
          </a:p>
          <a:p>
            <a:r>
              <a:rPr lang="en-US" dirty="0"/>
              <a:t>Rapidly exploring Dense Trees</a:t>
            </a:r>
          </a:p>
          <a:p>
            <a:pPr lvl="1"/>
            <a:r>
              <a:rPr lang="en-US" dirty="0"/>
              <a:t>any sequence of samples (</a:t>
            </a:r>
            <a:r>
              <a:rPr lang="en-US" u="sng" dirty="0"/>
              <a:t>not necessarily random</a:t>
            </a:r>
            <a:r>
              <a:rPr lang="en-US" dirty="0"/>
              <a:t>)</a:t>
            </a:r>
          </a:p>
          <a:p>
            <a:r>
              <a:rPr lang="en-US" dirty="0"/>
              <a:t>Probabilistic Roadmaps</a:t>
            </a:r>
          </a:p>
          <a:p>
            <a:pPr lvl="1"/>
            <a:r>
              <a:rPr lang="en-US" dirty="0"/>
              <a:t>build a </a:t>
            </a:r>
            <a:r>
              <a:rPr lang="en-US" u="sng" dirty="0"/>
              <a:t>general graph </a:t>
            </a:r>
            <a:r>
              <a:rPr lang="en-US" dirty="0"/>
              <a:t>(roadmap) instead of a tree</a:t>
            </a:r>
          </a:p>
          <a:p>
            <a:pPr lvl="1"/>
            <a:r>
              <a:rPr lang="en-US" dirty="0"/>
              <a:t>useful for multiple queries with diff. start and goals</a:t>
            </a:r>
          </a:p>
        </p:txBody>
      </p:sp>
    </p:spTree>
    <p:extLst>
      <p:ext uri="{BB962C8B-B14F-4D97-AF65-F5344CB8AC3E}">
        <p14:creationId xmlns:p14="http://schemas.microsoft.com/office/powerpoint/2010/main" val="43327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many, many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articulated robots</a:t>
            </a:r>
          </a:p>
          <a:p>
            <a:r>
              <a:rPr lang="en-US" dirty="0"/>
              <a:t>kinematics, dynamics, differential constraints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http://msl.cs.uiuc.edu/rrt/gallery.html</a:t>
            </a:r>
            <a:r>
              <a:rPr lang="en-US" dirty="0"/>
              <a:t> (circa 2000)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6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683" y="2950105"/>
            <a:ext cx="7867650" cy="4346575"/>
          </a:xfrm>
        </p:spPr>
      </p:pic>
      <p:cxnSp>
        <p:nvCxnSpPr>
          <p:cNvPr id="5" name="Straight Arrow Connector 4"/>
          <p:cNvCxnSpPr/>
          <p:nvPr/>
        </p:nvCxnSpPr>
        <p:spPr>
          <a:xfrm flipH="1">
            <a:off x="6520070" y="1696278"/>
            <a:ext cx="2729948" cy="2027583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59757" y="861391"/>
            <a:ext cx="4641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starting configuration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659758" y="3204483"/>
            <a:ext cx="2320506" cy="1765082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63786" y="2463874"/>
            <a:ext cx="3435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sampled </a:t>
            </a:r>
            <a:r>
              <a:rPr lang="en-US" dirty="0" err="1"/>
              <a:t>config</a:t>
            </a:r>
            <a:r>
              <a:rPr lang="en-US" dirty="0"/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40BCB2-F514-DF46-8145-FFCA280D71AA}"/>
              </a:ext>
            </a:extLst>
          </p:cNvPr>
          <p:cNvCxnSpPr>
            <a:cxnSpLocks/>
          </p:cNvCxnSpPr>
          <p:nvPr/>
        </p:nvCxnSpPr>
        <p:spPr>
          <a:xfrm flipV="1">
            <a:off x="2908300" y="5930900"/>
            <a:ext cx="1524000" cy="187960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225998-890E-5248-A86E-E7D12F8EE3EE}"/>
              </a:ext>
            </a:extLst>
          </p:cNvPr>
          <p:cNvSpPr txBox="1"/>
          <p:nvPr/>
        </p:nvSpPr>
        <p:spPr>
          <a:xfrm>
            <a:off x="447302" y="7937768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nearest point on the tree</a:t>
            </a:r>
          </a:p>
        </p:txBody>
      </p:sp>
    </p:spTree>
    <p:extLst>
      <p:ext uri="{BB962C8B-B14F-4D97-AF65-F5344CB8AC3E}">
        <p14:creationId xmlns:p14="http://schemas.microsoft.com/office/powerpoint/2010/main" val="118550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875"/>
            <a:ext cx="6743700" cy="3724275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25" y="4223026"/>
            <a:ext cx="10058400" cy="21813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03096" y="768627"/>
            <a:ext cx="4305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assume no obstacles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6593952"/>
            <a:ext cx="7419009" cy="2330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0661" y="7288696"/>
            <a:ext cx="31937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if nearest point lies on an existing edge, then split that edge</a:t>
            </a:r>
          </a:p>
        </p:txBody>
      </p:sp>
    </p:spTree>
    <p:extLst>
      <p:ext uri="{BB962C8B-B14F-4D97-AF65-F5344CB8AC3E}">
        <p14:creationId xmlns:p14="http://schemas.microsoft.com/office/powerpoint/2010/main" val="54283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91" y="2182744"/>
            <a:ext cx="10058400" cy="5345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6208" y="8547652"/>
            <a:ext cx="8545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 that there is </a:t>
            </a:r>
            <a:r>
              <a:rPr lang="en-US" i="1" dirty="0"/>
              <a:t>no</a:t>
            </a:r>
            <a:r>
              <a:rPr lang="en-US" dirty="0"/>
              <a:t> </a:t>
            </a:r>
            <a:r>
              <a:rPr lang="en-US"/>
              <a:t>parameter involved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0798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55"/>
          <a:stretch/>
        </p:blipFill>
        <p:spPr>
          <a:xfrm>
            <a:off x="1325217" y="251791"/>
            <a:ext cx="10058400" cy="43864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7" y="5041900"/>
            <a:ext cx="10058400" cy="351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1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goal?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RDT is only building a tree</a:t>
            </a:r>
          </a:p>
          <a:p>
            <a:r>
              <a:rPr lang="en-US" dirty="0"/>
              <a:t>Occasionally add the goal configuration and see if it gets connected to the tree</a:t>
            </a:r>
          </a:p>
          <a:p>
            <a:pPr lvl="1"/>
            <a:r>
              <a:rPr lang="en-US" dirty="0"/>
              <a:t>say every 100</a:t>
            </a:r>
            <a:r>
              <a:rPr lang="en-US" baseline="30000" dirty="0"/>
              <a:t>th</a:t>
            </a:r>
            <a:r>
              <a:rPr lang="en-US" dirty="0"/>
              <a:t> iteration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48" b="15155"/>
          <a:stretch/>
        </p:blipFill>
        <p:spPr>
          <a:xfrm>
            <a:off x="2957504" y="5492620"/>
            <a:ext cx="7142799" cy="35660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8957" y="571168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19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in the C-space</a:t>
            </a:r>
          </a:p>
          <a:p>
            <a:r>
              <a:rPr lang="en-US" dirty="0"/>
              <a:t>A vertex in the graph is a specific configuration</a:t>
            </a:r>
          </a:p>
          <a:p>
            <a:r>
              <a:rPr lang="en-US" dirty="0"/>
              <a:t>How to find the </a:t>
            </a:r>
            <a:r>
              <a:rPr lang="en-US" i="1" dirty="0"/>
              <a:t>nearest</a:t>
            </a:r>
            <a:r>
              <a:rPr lang="en-US" dirty="0"/>
              <a:t> configuration?</a:t>
            </a:r>
          </a:p>
          <a:p>
            <a:pPr lvl="1"/>
            <a:r>
              <a:rPr lang="en-US" dirty="0"/>
              <a:t>What is the </a:t>
            </a:r>
            <a:r>
              <a:rPr lang="en-US" i="1" dirty="0"/>
              <a:t>distance</a:t>
            </a:r>
            <a:r>
              <a:rPr lang="en-US" dirty="0"/>
              <a:t> function?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48" b="15155"/>
          <a:stretch/>
        </p:blipFill>
        <p:spPr>
          <a:xfrm>
            <a:off x="2931000" y="5505872"/>
            <a:ext cx="7142799" cy="356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97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in C-space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C-space is not necessarily Euclidean space</a:t>
            </a:r>
          </a:p>
          <a:p>
            <a:r>
              <a:rPr lang="en-US" dirty="0"/>
              <a:t>Need to define appropriate </a:t>
            </a:r>
            <a:r>
              <a:rPr lang="en-US" i="1" dirty="0"/>
              <a:t>distances</a:t>
            </a:r>
            <a:endParaRPr lang="en-US" dirty="0"/>
          </a:p>
          <a:p>
            <a:pPr lvl="1"/>
            <a:r>
              <a:rPr lang="en-US" i="1" dirty="0"/>
              <a:t>e.g.</a:t>
            </a:r>
            <a:r>
              <a:rPr lang="en-US" dirty="0"/>
              <a:t>, distance along a circle for 1-link manipulator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, distance along the surface of the torus for a 2-link manipulator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60" y="6741349"/>
            <a:ext cx="7419009" cy="23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50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in C-space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C-space is not necessarily Euclidean space</a:t>
            </a:r>
          </a:p>
          <a:p>
            <a:r>
              <a:rPr lang="en-US" dirty="0"/>
              <a:t>Need to define appropriate </a:t>
            </a:r>
            <a:r>
              <a:rPr lang="en-US" i="1" dirty="0"/>
              <a:t>distances</a:t>
            </a:r>
          </a:p>
          <a:p>
            <a:r>
              <a:rPr lang="en-US" dirty="0"/>
              <a:t>Each </a:t>
            </a:r>
            <a:r>
              <a:rPr lang="en-US" i="1" dirty="0"/>
              <a:t>edge</a:t>
            </a:r>
            <a:r>
              <a:rPr lang="en-US" dirty="0"/>
              <a:t> represents a path in C-space</a:t>
            </a:r>
          </a:p>
          <a:p>
            <a:pPr lvl="1"/>
            <a:r>
              <a:rPr lang="en-US" dirty="0"/>
              <a:t>An edge means that there is a </a:t>
            </a:r>
            <a:r>
              <a:rPr lang="en-US" i="1" dirty="0"/>
              <a:t>collision-free</a:t>
            </a:r>
            <a:r>
              <a:rPr lang="en-US" dirty="0"/>
              <a:t> </a:t>
            </a:r>
            <a:r>
              <a:rPr lang="en-US" i="1" dirty="0"/>
              <a:t>path</a:t>
            </a:r>
            <a:r>
              <a:rPr lang="en-US" dirty="0"/>
              <a:t> between two configurations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60" y="6741349"/>
            <a:ext cx="7419009" cy="23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88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1" y="1816847"/>
            <a:ext cx="5916609" cy="6293483"/>
          </a:xfrm>
        </p:spPr>
        <p:txBody>
          <a:bodyPr>
            <a:normAutofit/>
          </a:bodyPr>
          <a:lstStyle/>
          <a:p>
            <a:r>
              <a:rPr lang="en-US" dirty="0"/>
              <a:t>Use a step size parameter</a:t>
            </a:r>
          </a:p>
          <a:p>
            <a:r>
              <a:rPr lang="en-US" dirty="0"/>
              <a:t>Move in steps and check collision of a configuration</a:t>
            </a:r>
          </a:p>
          <a:p>
            <a:r>
              <a:rPr lang="en-US" dirty="0"/>
              <a:t>Often, a </a:t>
            </a:r>
            <a:r>
              <a:rPr lang="en-US" i="1" dirty="0"/>
              <a:t>local steering </a:t>
            </a:r>
            <a:r>
              <a:rPr lang="en-US" dirty="0"/>
              <a:t>function</a:t>
            </a:r>
            <a:r>
              <a:rPr lang="en-US" i="1" dirty="0"/>
              <a:t> </a:t>
            </a:r>
            <a:r>
              <a:rPr lang="en-US" dirty="0"/>
              <a:t>is used instead*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080" y="7463999"/>
            <a:ext cx="4043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more details later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690" y="409953"/>
            <a:ext cx="6194110" cy="88981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1185" y="8794765"/>
            <a:ext cx="65024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personalrobotics.ri.cmu.edu</a:t>
            </a:r>
            <a:r>
              <a:rPr lang="en-US" sz="1200" dirty="0"/>
              <a:t>/files/courses/papers/Kuffner00-rrtconnect.pdf</a:t>
            </a:r>
          </a:p>
        </p:txBody>
      </p:sp>
    </p:spTree>
    <p:extLst>
      <p:ext uri="{BB962C8B-B14F-4D97-AF65-F5344CB8AC3E}">
        <p14:creationId xmlns:p14="http://schemas.microsoft.com/office/powerpoint/2010/main" val="939361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“grows” from the start </a:t>
            </a:r>
            <a:r>
              <a:rPr lang="en-US" dirty="0" err="1"/>
              <a:t>config</a:t>
            </a:r>
            <a:r>
              <a:rPr lang="en-US" dirty="0"/>
              <a:t>. due to step size parameter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91" y="2050223"/>
            <a:ext cx="7156174" cy="38029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121" y="2968487"/>
            <a:ext cx="3663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without step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799" y="6274905"/>
            <a:ext cx="2981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step size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104" y="6010216"/>
            <a:ext cx="9417008" cy="302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58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BBB8-F629-3343-8070-49E3676B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8E04A-C60F-AC46-8A8C-C70A8BF1A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run_rrt.py</a:t>
            </a:r>
            <a:endParaRPr lang="en-US" dirty="0"/>
          </a:p>
          <a:p>
            <a:pPr lvl="1"/>
            <a:r>
              <a:rPr lang="en-US" dirty="0"/>
              <a:t>Change DELTA and observe the effect on the running time and path length</a:t>
            </a:r>
          </a:p>
        </p:txBody>
      </p:sp>
    </p:spTree>
    <p:extLst>
      <p:ext uri="{BB962C8B-B14F-4D97-AF65-F5344CB8AC3E}">
        <p14:creationId xmlns:p14="http://schemas.microsoft.com/office/powerpoint/2010/main" val="221426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 RRT complete?</a:t>
            </a:r>
          </a:p>
          <a:p>
            <a:pPr lvl="1"/>
            <a:r>
              <a:rPr lang="en-US" dirty="0"/>
              <a:t>No but it is </a:t>
            </a:r>
            <a:r>
              <a:rPr lang="en-US" i="1" dirty="0"/>
              <a:t>probabilistically complete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if there exists a path, the probability that RRT will not find the path decays to zero as the number of samples approaches infinity.</a:t>
            </a:r>
          </a:p>
          <a:p>
            <a:endParaRPr lang="en-US" dirty="0"/>
          </a:p>
          <a:p>
            <a:r>
              <a:rPr lang="en-US" dirty="0"/>
              <a:t>Is RRT optimal? No</a:t>
            </a:r>
          </a:p>
          <a:p>
            <a:pPr lvl="1"/>
            <a:r>
              <a:rPr lang="en-US" dirty="0"/>
              <a:t>“</a:t>
            </a:r>
            <a:r>
              <a:rPr lang="mr-IN" dirty="0"/>
              <a:t>…</a:t>
            </a:r>
            <a:r>
              <a:rPr lang="en-US" dirty="0"/>
              <a:t> </a:t>
            </a:r>
            <a:r>
              <a:rPr lang="en-US" i="1" dirty="0"/>
              <a:t>the probability that the RRT converges to an optimum solution, as the number of samples approaches infinity, is zero under some reasonable technical assumptions</a:t>
            </a:r>
            <a:r>
              <a:rPr lang="en-US" dirty="0"/>
              <a:t>.”</a:t>
            </a:r>
          </a:p>
          <a:p>
            <a:pPr lvl="1"/>
            <a:r>
              <a:rPr lang="en-US" dirty="0"/>
              <a:t>RRT* is optimal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6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RRT*</a:t>
            </a:r>
          </a:p>
        </p:txBody>
      </p:sp>
      <p:sp>
        <p:nvSpPr>
          <p:cNvPr id="4" name="Rectangle 3"/>
          <p:cNvSpPr/>
          <p:nvPr/>
        </p:nvSpPr>
        <p:spPr>
          <a:xfrm>
            <a:off x="215013" y="9023520"/>
            <a:ext cx="9656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/pdf/1005.0416.pdf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" r="15611"/>
          <a:stretch/>
        </p:blipFill>
        <p:spPr>
          <a:xfrm>
            <a:off x="57106" y="2218561"/>
            <a:ext cx="5613991" cy="58039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E0E4-E45E-AFE1-79C2-534D3E8FEC86}"/>
              </a:ext>
            </a:extLst>
          </p:cNvPr>
          <p:cNvSpPr txBox="1">
            <a:spLocks/>
          </p:cNvSpPr>
          <p:nvPr/>
        </p:nvSpPr>
        <p:spPr>
          <a:xfrm>
            <a:off x="6541069" y="2517176"/>
            <a:ext cx="6439623" cy="2044118"/>
          </a:xfrm>
          <a:prstGeom prst="rect">
            <a:avLst/>
          </a:prstGeom>
        </p:spPr>
        <p:txBody>
          <a:bodyPr/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TL;DR</a:t>
            </a:r>
            <a:r>
              <a:rPr lang="en-US" sz="2400" dirty="0"/>
              <a:t>: Samples a point, try to connect it to the tree via the Extend function, then repeat.</a:t>
            </a:r>
          </a:p>
          <a:p>
            <a:pPr marL="0" indent="0">
              <a:buNone/>
            </a:pPr>
            <a:r>
              <a:rPr lang="en-US" sz="2400" b="1" dirty="0"/>
              <a:t>Result</a:t>
            </a:r>
            <a:r>
              <a:rPr lang="en-US" sz="2400" dirty="0"/>
              <a:t>: a tree that incrementally approximates the reachable space.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F591C5-FB76-E948-E562-D5FFC8487E81}"/>
              </a:ext>
            </a:extLst>
          </p:cNvPr>
          <p:cNvSpPr txBox="1">
            <a:spLocks/>
          </p:cNvSpPr>
          <p:nvPr/>
        </p:nvSpPr>
        <p:spPr>
          <a:xfrm>
            <a:off x="6502400" y="6083882"/>
            <a:ext cx="6439623" cy="1145823"/>
          </a:xfrm>
          <a:prstGeom prst="rect">
            <a:avLst/>
          </a:prstGeom>
        </p:spPr>
        <p:txBody>
          <a:bodyPr/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TL;DR:</a:t>
            </a:r>
            <a:r>
              <a:rPr lang="en-US" sz="2400" dirty="0"/>
              <a:t> (Vanilla RRT extension–it is not optimal).</a:t>
            </a:r>
          </a:p>
          <a:p>
            <a:pPr marL="0" indent="0">
              <a:buNone/>
            </a:pPr>
            <a:r>
              <a:rPr lang="en-US" sz="2400" dirty="0"/>
              <a:t>Adds a new node to the graph if the node is collision-free.</a:t>
            </a:r>
          </a:p>
        </p:txBody>
      </p:sp>
    </p:spTree>
    <p:extLst>
      <p:ext uri="{BB962C8B-B14F-4D97-AF65-F5344CB8AC3E}">
        <p14:creationId xmlns:p14="http://schemas.microsoft.com/office/powerpoint/2010/main" val="3775224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BB6D-0A18-F14F-5747-3510E841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4446-10C4-6FEA-04EB-57201F79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RRT*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570EF-5E61-D1AE-1B39-5409F5544D4B}"/>
              </a:ext>
            </a:extLst>
          </p:cNvPr>
          <p:cNvSpPr/>
          <p:nvPr/>
        </p:nvSpPr>
        <p:spPr>
          <a:xfrm>
            <a:off x="215013" y="9023520"/>
            <a:ext cx="9656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/pdf/1005.0416.pdf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BD453-0BF1-B388-E6F7-CB35B2F27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108" y="1007284"/>
            <a:ext cx="7499692" cy="874631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197352-4D57-997F-4689-36D07166C688}"/>
              </a:ext>
            </a:extLst>
          </p:cNvPr>
          <p:cNvSpPr txBox="1">
            <a:spLocks/>
          </p:cNvSpPr>
          <p:nvPr/>
        </p:nvSpPr>
        <p:spPr>
          <a:xfrm>
            <a:off x="62778" y="3289882"/>
            <a:ext cx="5203490" cy="1145823"/>
          </a:xfrm>
          <a:prstGeom prst="rect">
            <a:avLst/>
          </a:prstGeom>
        </p:spPr>
        <p:txBody>
          <a:bodyPr/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TL;DR:</a:t>
            </a:r>
            <a:r>
              <a:rPr lang="en-US" sz="2400" dirty="0"/>
              <a:t> RRT extension that rewires for optimality.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First Loop: </a:t>
            </a:r>
            <a:r>
              <a:rPr lang="en-US" sz="2400" dirty="0"/>
              <a:t>Picks the cheapest way to insert the new node.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Second Loop: </a:t>
            </a:r>
            <a:r>
              <a:rPr lang="en-US" sz="2400" dirty="0"/>
              <a:t>See if the new node can make any of its neighbors cheaper and rewire them.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8C7AD1-D237-8410-74EF-91A3DF9BDB70}"/>
                  </a:ext>
                </a:extLst>
              </p14:cNvPr>
              <p14:cNvContentPartPr/>
              <p14:nvPr/>
            </p14:nvContentPartPr>
            <p14:xfrm>
              <a:off x="5332253" y="1514173"/>
              <a:ext cx="438840" cy="1711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8C7AD1-D237-8410-74EF-91A3DF9BDB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4253" y="1496533"/>
                <a:ext cx="474480" cy="1747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C7EDD64-B825-6B2F-76B2-EA9C6A36B203}"/>
              </a:ext>
            </a:extLst>
          </p:cNvPr>
          <p:cNvSpPr txBox="1">
            <a:spLocks/>
          </p:cNvSpPr>
          <p:nvPr/>
        </p:nvSpPr>
        <p:spPr>
          <a:xfrm>
            <a:off x="85461" y="1895248"/>
            <a:ext cx="3233472" cy="509288"/>
          </a:xfrm>
          <a:prstGeom prst="rect">
            <a:avLst/>
          </a:prstGeom>
        </p:spPr>
        <p:txBody>
          <a:bodyPr/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Same steps as before.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12C80D1-39D4-8944-F452-9A38CC841C06}"/>
                  </a:ext>
                </a:extLst>
              </p14:cNvPr>
              <p14:cNvContentPartPr/>
              <p14:nvPr/>
            </p14:nvContentPartPr>
            <p14:xfrm>
              <a:off x="3125453" y="2016373"/>
              <a:ext cx="2175840" cy="405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12C80D1-39D4-8944-F452-9A38CC841C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07453" y="1998733"/>
                <a:ext cx="221148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FA0E00-AAE7-8518-0537-64E38F7C3AEE}"/>
                  </a:ext>
                </a:extLst>
              </p14:cNvPr>
              <p14:cNvContentPartPr/>
              <p14:nvPr/>
            </p14:nvContentPartPr>
            <p14:xfrm>
              <a:off x="3229853" y="5509813"/>
              <a:ext cx="2234520" cy="96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FA0E00-AAE7-8518-0537-64E38F7C3A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11853" y="5492173"/>
                <a:ext cx="22701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7F8F3B-0B75-963B-62B3-380BF925CB3B}"/>
                  </a:ext>
                </a:extLst>
              </p14:cNvPr>
              <p14:cNvContentPartPr/>
              <p14:nvPr/>
            </p14:nvContentPartPr>
            <p14:xfrm>
              <a:off x="5361053" y="3922933"/>
              <a:ext cx="927720" cy="2003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7F8F3B-0B75-963B-62B3-380BF925CB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43053" y="3905293"/>
                <a:ext cx="963360" cy="203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0DC240C-68AF-2D9C-543F-546FC0771B31}"/>
              </a:ext>
            </a:extLst>
          </p:cNvPr>
          <p:cNvGrpSpPr/>
          <p:nvPr/>
        </p:nvGrpSpPr>
        <p:grpSpPr>
          <a:xfrm>
            <a:off x="3895493" y="6399733"/>
            <a:ext cx="1937160" cy="2486520"/>
            <a:chOff x="3895493" y="6399733"/>
            <a:chExt cx="1937160" cy="248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638561-ADE5-54A6-5C10-5A16A7E3E9F8}"/>
                    </a:ext>
                  </a:extLst>
                </p14:cNvPr>
                <p14:cNvContentPartPr/>
                <p14:nvPr/>
              </p14:nvContentPartPr>
              <p14:xfrm>
                <a:off x="5203373" y="6399733"/>
                <a:ext cx="629280" cy="2486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638561-ADE5-54A6-5C10-5A16A7E3E9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85373" y="6382093"/>
                  <a:ext cx="664920" cy="25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50AB9DA-9E77-0548-FFE9-F82B96804A17}"/>
                    </a:ext>
                  </a:extLst>
                </p14:cNvPr>
                <p14:cNvContentPartPr/>
                <p14:nvPr/>
              </p14:nvContentPartPr>
              <p14:xfrm>
                <a:off x="3895493" y="8003173"/>
                <a:ext cx="1457640" cy="133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50AB9DA-9E77-0548-FFE9-F82B96804A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77493" y="7985173"/>
                  <a:ext cx="149328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141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0528-7ED0-6EE1-21F0-F1A724A1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95A1-33B5-50E9-DD73-ABB9108A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RRT*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1AD277-D24A-7A90-3BCF-553603AFADE8}"/>
              </a:ext>
            </a:extLst>
          </p:cNvPr>
          <p:cNvSpPr/>
          <p:nvPr/>
        </p:nvSpPr>
        <p:spPr>
          <a:xfrm>
            <a:off x="215013" y="9023520"/>
            <a:ext cx="9656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/pdf/1005.0416.pdf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5550B-03B4-F94B-E475-3128239FE4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" r="15611"/>
          <a:stretch/>
        </p:blipFill>
        <p:spPr>
          <a:xfrm>
            <a:off x="57106" y="2218561"/>
            <a:ext cx="5613991" cy="5803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30DACC-53F2-68C3-4896-D984C3808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108" y="1007284"/>
            <a:ext cx="7499692" cy="874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94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RRTs so popular?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define the C-space and implement following subroutines, the actual algorithm is very </a:t>
            </a:r>
            <a:r>
              <a:rPr lang="en-US" i="1" dirty="0"/>
              <a:t>simple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random configuration generator</a:t>
            </a:r>
          </a:p>
          <a:p>
            <a:pPr lvl="1"/>
            <a:r>
              <a:rPr lang="en-US" dirty="0"/>
              <a:t>nearest neighbor</a:t>
            </a:r>
          </a:p>
          <a:p>
            <a:pPr lvl="1"/>
            <a:r>
              <a:rPr lang="en-US" dirty="0"/>
              <a:t>collision checker</a:t>
            </a:r>
          </a:p>
          <a:p>
            <a:r>
              <a:rPr lang="en-US" dirty="0"/>
              <a:t>In </a:t>
            </a:r>
            <a:r>
              <a:rPr lang="en-US" i="1" dirty="0"/>
              <a:t>practice</a:t>
            </a:r>
            <a:r>
              <a:rPr lang="en-US" dirty="0"/>
              <a:t>, it works rather </a:t>
            </a:r>
            <a:r>
              <a:rPr lang="en-US" i="1" dirty="0"/>
              <a:t>well</a:t>
            </a:r>
            <a:r>
              <a:rPr lang="en-US" dirty="0"/>
              <a:t>.</a:t>
            </a:r>
          </a:p>
          <a:p>
            <a:r>
              <a:rPr lang="en-US" dirty="0"/>
              <a:t>Can add </a:t>
            </a:r>
            <a:r>
              <a:rPr lang="en-US" i="1" dirty="0"/>
              <a:t>heuristics</a:t>
            </a:r>
            <a:r>
              <a:rPr lang="en-US" dirty="0"/>
              <a:t> on top, </a:t>
            </a:r>
            <a:r>
              <a:rPr lang="en-US" i="1" dirty="0"/>
              <a:t>e.g.</a:t>
            </a:r>
            <a:r>
              <a:rPr lang="en-US" dirty="0"/>
              <a:t>, bias the random </a:t>
            </a:r>
            <a:r>
              <a:rPr lang="en-US" dirty="0" err="1"/>
              <a:t>config</a:t>
            </a:r>
            <a:r>
              <a:rPr lang="en-US" dirty="0"/>
              <a:t>. generator towards goal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293963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EXTEND() is the real crux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789043"/>
            <a:ext cx="6699416" cy="6995971"/>
          </a:xfrm>
        </p:spPr>
        <p:txBody>
          <a:bodyPr/>
          <a:lstStyle/>
          <a:p>
            <a:r>
              <a:rPr lang="en-US" dirty="0"/>
              <a:t>EXTEND() takes the tree and </a:t>
            </a:r>
            <a:r>
              <a:rPr lang="en-US" i="1" dirty="0"/>
              <a:t>extends it closer to the given random configuration</a:t>
            </a:r>
          </a:p>
          <a:p>
            <a:r>
              <a:rPr lang="en-US" dirty="0"/>
              <a:t>We saw the Euclidean case where the extension is a straight line</a:t>
            </a:r>
          </a:p>
          <a:p>
            <a:r>
              <a:rPr lang="en-US" dirty="0"/>
              <a:t>In general, kinematic (and dynamic) constraints can be handled within EXTEND()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92" b="35354"/>
          <a:stretch/>
        </p:blipFill>
        <p:spPr>
          <a:xfrm>
            <a:off x="7446796" y="2185743"/>
            <a:ext cx="5315048" cy="575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24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85" y="261276"/>
            <a:ext cx="11216640" cy="1010685"/>
          </a:xfrm>
        </p:spPr>
        <p:txBody>
          <a:bodyPr>
            <a:normAutofit/>
          </a:bodyPr>
          <a:lstStyle/>
          <a:p>
            <a:r>
              <a:rPr lang="en-US" sz="4400" dirty="0"/>
              <a:t>Example: car-like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816848"/>
            <a:ext cx="6460877" cy="6968166"/>
          </a:xfrm>
        </p:spPr>
        <p:txBody>
          <a:bodyPr/>
          <a:lstStyle/>
          <a:p>
            <a:r>
              <a:rPr lang="en-US" dirty="0"/>
              <a:t>Configuration is </a:t>
            </a:r>
            <a:r>
              <a:rPr lang="en-US" i="1" dirty="0"/>
              <a:t>??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" t="447" r="4793" b="510"/>
          <a:stretch/>
        </p:blipFill>
        <p:spPr>
          <a:xfrm>
            <a:off x="7240105" y="519292"/>
            <a:ext cx="5764695" cy="88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94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85" y="261276"/>
            <a:ext cx="11216640" cy="1010685"/>
          </a:xfrm>
        </p:spPr>
        <p:txBody>
          <a:bodyPr>
            <a:normAutofit/>
          </a:bodyPr>
          <a:lstStyle/>
          <a:p>
            <a:r>
              <a:rPr lang="en-US" sz="4400" dirty="0"/>
              <a:t>Example: car-like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816848"/>
            <a:ext cx="6460877" cy="6968166"/>
          </a:xfrm>
        </p:spPr>
        <p:txBody>
          <a:bodyPr/>
          <a:lstStyle/>
          <a:p>
            <a:r>
              <a:rPr lang="en-US" dirty="0"/>
              <a:t>Configuration is </a:t>
            </a:r>
            <a:r>
              <a:rPr lang="en-US" i="1" dirty="0"/>
              <a:t>(</a:t>
            </a:r>
            <a:r>
              <a:rPr lang="en-US" i="1" dirty="0" err="1"/>
              <a:t>x,y</a:t>
            </a:r>
            <a:r>
              <a:rPr lang="en-US" i="1" dirty="0"/>
              <a:t>,𝜽)</a:t>
            </a:r>
          </a:p>
          <a:p>
            <a:r>
              <a:rPr lang="en-US" dirty="0"/>
              <a:t>Robot can’t slide sideways</a:t>
            </a:r>
          </a:p>
          <a:p>
            <a:pPr lvl="1"/>
            <a:r>
              <a:rPr lang="en-US" dirty="0"/>
              <a:t>Suppose </a:t>
            </a:r>
            <a:r>
              <a:rPr lang="en-US" i="1" dirty="0"/>
              <a:t>q</a:t>
            </a:r>
            <a:r>
              <a:rPr lang="en-US" dirty="0"/>
              <a:t> = </a:t>
            </a:r>
            <a:r>
              <a:rPr lang="en-US" i="1" dirty="0"/>
              <a:t>(0,0,90°)</a:t>
            </a:r>
            <a:r>
              <a:rPr lang="en-US" dirty="0"/>
              <a:t> and </a:t>
            </a:r>
            <a:r>
              <a:rPr lang="en-US" i="1" dirty="0" err="1"/>
              <a:t>q</a:t>
            </a:r>
            <a:r>
              <a:rPr lang="en-US" i="1" baseline="-25000" dirty="0" err="1"/>
              <a:t>near</a:t>
            </a:r>
            <a:r>
              <a:rPr lang="en-US" dirty="0"/>
              <a:t> = </a:t>
            </a:r>
            <a:r>
              <a:rPr lang="en-US" i="1" dirty="0"/>
              <a:t>(1,0,90°)</a:t>
            </a:r>
          </a:p>
          <a:p>
            <a:pPr lvl="1"/>
            <a:r>
              <a:rPr lang="en-US" dirty="0"/>
              <a:t>Can we draw an edge?</a:t>
            </a:r>
          </a:p>
          <a:p>
            <a:r>
              <a:rPr lang="en-US" dirty="0"/>
              <a:t>Solving for a feasible path from </a:t>
            </a:r>
            <a:r>
              <a:rPr lang="en-US" i="1" dirty="0"/>
              <a:t>q</a:t>
            </a:r>
            <a:r>
              <a:rPr lang="en-US" dirty="0"/>
              <a:t> to </a:t>
            </a:r>
            <a:r>
              <a:rPr lang="en-US" i="1" dirty="0" err="1"/>
              <a:t>q</a:t>
            </a:r>
            <a:r>
              <a:rPr lang="en-US" i="1" baseline="-25000" dirty="0" err="1"/>
              <a:t>near</a:t>
            </a:r>
            <a:r>
              <a:rPr lang="en-US" dirty="0"/>
              <a:t> is as hard as the original problem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" t="447" r="4793" b="510"/>
          <a:stretch/>
        </p:blipFill>
        <p:spPr>
          <a:xfrm>
            <a:off x="7240105" y="519292"/>
            <a:ext cx="5764695" cy="88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15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85" y="261276"/>
            <a:ext cx="11216640" cy="1010685"/>
          </a:xfrm>
        </p:spPr>
        <p:txBody>
          <a:bodyPr>
            <a:normAutofit/>
          </a:bodyPr>
          <a:lstStyle/>
          <a:p>
            <a:r>
              <a:rPr lang="en-US" sz="4400" dirty="0"/>
              <a:t>Example: car-like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1" y="1816848"/>
            <a:ext cx="5995818" cy="6968166"/>
          </a:xfrm>
        </p:spPr>
        <p:txBody>
          <a:bodyPr/>
          <a:lstStyle/>
          <a:p>
            <a:r>
              <a:rPr lang="en-US" dirty="0"/>
              <a:t>Solving for a feasible path from </a:t>
            </a:r>
            <a:r>
              <a:rPr lang="en-US" i="1" dirty="0"/>
              <a:t>q</a:t>
            </a:r>
            <a:r>
              <a:rPr lang="en-US" dirty="0"/>
              <a:t> to </a:t>
            </a:r>
            <a:r>
              <a:rPr lang="en-US" i="1" dirty="0" err="1"/>
              <a:t>q</a:t>
            </a:r>
            <a:r>
              <a:rPr lang="en-US" i="1" baseline="-25000" dirty="0" err="1"/>
              <a:t>near</a:t>
            </a:r>
            <a:r>
              <a:rPr lang="en-US" dirty="0"/>
              <a:t> is as hard as the original problem</a:t>
            </a:r>
          </a:p>
          <a:p>
            <a:r>
              <a:rPr lang="en-US" dirty="0"/>
              <a:t>Does not matter</a:t>
            </a:r>
          </a:p>
          <a:p>
            <a:r>
              <a:rPr lang="en-US" dirty="0"/>
              <a:t>Just apply a </a:t>
            </a:r>
            <a:r>
              <a:rPr lang="en-US" i="1" dirty="0"/>
              <a:t>random or best</a:t>
            </a:r>
            <a:r>
              <a:rPr lang="en-US" dirty="0"/>
              <a:t> control input for a fixed time to obtain </a:t>
            </a:r>
            <a:r>
              <a:rPr lang="en-US" i="1" dirty="0" err="1"/>
              <a:t>q</a:t>
            </a:r>
            <a:r>
              <a:rPr lang="en-US" i="1" baseline="-25000" dirty="0" err="1"/>
              <a:t>new</a:t>
            </a:r>
            <a:r>
              <a:rPr lang="en-US" i="1" baseline="-25000" dirty="0"/>
              <a:t> </a:t>
            </a:r>
            <a:r>
              <a:rPr lang="en-US" dirty="0"/>
              <a:t>in NEW_CONFIG()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" t="447" r="4793" b="510"/>
          <a:stretch/>
        </p:blipFill>
        <p:spPr>
          <a:xfrm>
            <a:off x="7240105" y="519292"/>
            <a:ext cx="5764695" cy="88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31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6633-5C38-FA45-9964-34415445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4D39-26A8-AB41-AB0E-ECFF87E46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Configuration space</a:t>
            </a:r>
          </a:p>
          <a:p>
            <a:pPr lvl="1"/>
            <a:r>
              <a:rPr lang="en-US" dirty="0"/>
              <a:t>OMPL: </a:t>
            </a:r>
            <a:r>
              <a:rPr lang="en-US" u="sng" dirty="0">
                <a:hlinkClick r:id="rId2"/>
              </a:rPr>
              <a:t>ompl.kavrakilab.org/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Nearest neighbor search in high dimensions</a:t>
            </a:r>
          </a:p>
          <a:p>
            <a:pPr lvl="1"/>
            <a:r>
              <a:rPr lang="en-US" dirty="0"/>
              <a:t>FLANN: </a:t>
            </a:r>
            <a:r>
              <a:rPr lang="en-US" dirty="0">
                <a:hlinkClick r:id="rId3"/>
              </a:rPr>
              <a:t>https://www.cs.ubc.ca/research/flann/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Collision Checking</a:t>
            </a:r>
          </a:p>
          <a:p>
            <a:pPr lvl="1"/>
            <a:r>
              <a:rPr lang="en-US" dirty="0"/>
              <a:t>FCL: </a:t>
            </a:r>
            <a:r>
              <a:rPr lang="en-US" dirty="0">
                <a:hlinkClick r:id="rId4"/>
              </a:rPr>
              <a:t>https://github.com/flexible-collision-library/fcl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Integration with sensors and ROS</a:t>
            </a:r>
          </a:p>
          <a:p>
            <a:pPr lvl="1"/>
            <a:r>
              <a:rPr lang="en-US" dirty="0" err="1"/>
              <a:t>MoveIt</a:t>
            </a:r>
            <a:r>
              <a:rPr lang="en-US" dirty="0"/>
              <a:t>! </a:t>
            </a:r>
            <a:r>
              <a:rPr lang="en-US" dirty="0">
                <a:hlinkClick r:id="rId5"/>
              </a:rPr>
              <a:t>https://moveit.ros.org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322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F712-2835-9644-A90D-42457A40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5B2ED-B440-FE46-9B66-35182018B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OMPL.app</a:t>
            </a:r>
            <a:r>
              <a:rPr lang="en-US" dirty="0"/>
              <a:t> on your machine</a:t>
            </a:r>
          </a:p>
          <a:p>
            <a:r>
              <a:rPr lang="en-US" dirty="0">
                <a:hlinkClick r:id="rId2"/>
              </a:rPr>
              <a:t>https://www.youtube.com/watch?v=EsXM4VLWxkE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1208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0A95-5205-5345-A357-F49F0013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space (OMPL)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2820F-9BEC-7D4A-9AB0-EA7F6469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commonly used ones are already defined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6B5E8-9B3C-5E4B-9241-E3712104E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98" y="2971800"/>
            <a:ext cx="12020202" cy="64185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EFB29C-82E3-D946-BEB8-321AF92171FF}"/>
              </a:ext>
            </a:extLst>
          </p:cNvPr>
          <p:cNvSpPr/>
          <p:nvPr/>
        </p:nvSpPr>
        <p:spPr>
          <a:xfrm>
            <a:off x="3098800" y="6375400"/>
            <a:ext cx="2159000" cy="1270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F4142-851D-AC4B-A232-511668338ED8}"/>
              </a:ext>
            </a:extLst>
          </p:cNvPr>
          <p:cNvSpPr txBox="1"/>
          <p:nvPr/>
        </p:nvSpPr>
        <p:spPr>
          <a:xfrm>
            <a:off x="5377733" y="6779567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2D/3D rotations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554192-E0C0-364D-9CCE-834568C4F424}"/>
              </a:ext>
            </a:extLst>
          </p:cNvPr>
          <p:cNvSpPr/>
          <p:nvPr/>
        </p:nvSpPr>
        <p:spPr>
          <a:xfrm>
            <a:off x="5691183" y="3501377"/>
            <a:ext cx="2068518" cy="12357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A910E-6BD8-E743-A78C-4183F41D6880}"/>
              </a:ext>
            </a:extLst>
          </p:cNvPr>
          <p:cNvSpPr txBox="1"/>
          <p:nvPr/>
        </p:nvSpPr>
        <p:spPr>
          <a:xfrm>
            <a:off x="7627067" y="4801048"/>
            <a:ext cx="3804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2D/3D translation + rotation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45FD8-9E89-C240-8025-C6F1AA3089B0}"/>
              </a:ext>
            </a:extLst>
          </p:cNvPr>
          <p:cNvSpPr/>
          <p:nvPr/>
        </p:nvSpPr>
        <p:spPr>
          <a:xfrm>
            <a:off x="8218483" y="3236589"/>
            <a:ext cx="2068518" cy="12357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76854-CAEA-C14B-9263-C85A182F8BB4}"/>
              </a:ext>
            </a:extLst>
          </p:cNvPr>
          <p:cNvSpPr txBox="1"/>
          <p:nvPr/>
        </p:nvSpPr>
        <p:spPr>
          <a:xfrm>
            <a:off x="9200553" y="267702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Car-like robots</a:t>
            </a:r>
          </a:p>
        </p:txBody>
      </p:sp>
    </p:spTree>
    <p:extLst>
      <p:ext uri="{BB962C8B-B14F-4D97-AF65-F5344CB8AC3E}">
        <p14:creationId xmlns:p14="http://schemas.microsoft.com/office/powerpoint/2010/main" val="2049708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27619-E524-704E-9E24-B359B081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D9B0-9659-524A-88BE-C45C52A6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For example, to get the state space of a manipulator arm one could combine R</a:t>
            </a:r>
            <a:r>
              <a:rPr lang="en-US" sz="4000" baseline="30000" dirty="0"/>
              <a:t>5</a:t>
            </a:r>
            <a:r>
              <a:rPr lang="en-US" sz="4000" dirty="0"/>
              <a:t> and SO2 (circle) to represent 5 joints that have bounds and one joint that can rotate continuously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AAA8F-2CD7-3142-97D2-EC4354A70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5" y="5524500"/>
            <a:ext cx="12282805" cy="116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55D3A-F790-F940-AECD-16D51B0205AC}"/>
              </a:ext>
            </a:extLst>
          </p:cNvPr>
          <p:cNvSpPr txBox="1"/>
          <p:nvPr/>
        </p:nvSpPr>
        <p:spPr>
          <a:xfrm>
            <a:off x="457200" y="8674100"/>
            <a:ext cx="9722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*OMPL calls configuration space as state space</a:t>
            </a:r>
          </a:p>
        </p:txBody>
      </p:sp>
    </p:spTree>
    <p:extLst>
      <p:ext uri="{BB962C8B-B14F-4D97-AF65-F5344CB8AC3E}">
        <p14:creationId xmlns:p14="http://schemas.microsoft.com/office/powerpoint/2010/main" val="2785966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358F-FCE1-484F-BDC9-184008E1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DD2B-42E7-8342-AB32-ADCE26E2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compute nearest neighbors using FLANN</a:t>
            </a:r>
          </a:p>
          <a:p>
            <a:r>
              <a:rPr lang="en-US" dirty="0"/>
              <a:t>Already implemented for common 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5EB8A-AFE6-CE4A-934A-8978F41EF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0" y="3750412"/>
            <a:ext cx="9258300" cy="15505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DAF388-39A4-F74D-A848-AFFA9E9CD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25212"/>
            <a:ext cx="6464300" cy="1911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86AA6-86E4-0642-B7DA-A7042EB6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0" y="7860601"/>
            <a:ext cx="7797800" cy="16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62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3F51-ABE9-6548-86B8-91561BD1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5832-95A0-0C46-842D-344F491D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OMPL doesn’t do collision checking</a:t>
            </a:r>
          </a:p>
          <a:p>
            <a:r>
              <a:rPr lang="en-US" dirty="0"/>
              <a:t>Instead, you can choose to use any existing collision checker --- commonly used one is FCL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12A1B-39E9-9148-A7FB-C8F3129FD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0" y="4787900"/>
            <a:ext cx="96139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10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45A9-346A-D743-BC10-B60F1C8D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Checking – FCL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70C023-F1FB-7A4C-A67D-D6320CE91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7600"/>
            <a:ext cx="12921311" cy="362134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EB76E-5741-A546-BA0A-463B9F81E059}"/>
              </a:ext>
            </a:extLst>
          </p:cNvPr>
          <p:cNvSpPr txBox="1"/>
          <p:nvPr/>
        </p:nvSpPr>
        <p:spPr>
          <a:xfrm>
            <a:off x="893445" y="6451600"/>
            <a:ext cx="11217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Normally, instead of using FCL directly, you should use it through ROS (with the </a:t>
            </a:r>
            <a:r>
              <a:rPr lang="en-US" dirty="0" err="1"/>
              <a:t>MoveIt</a:t>
            </a:r>
            <a:r>
              <a:rPr lang="en-US" dirty="0"/>
              <a:t>! Package)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F92E92-984D-4846-8CD0-D7156797C982}"/>
              </a:ext>
            </a:extLst>
          </p:cNvPr>
          <p:cNvSpPr/>
          <p:nvPr/>
        </p:nvSpPr>
        <p:spPr>
          <a:xfrm flipV="1">
            <a:off x="7061200" y="2387600"/>
            <a:ext cx="5049519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15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E44E9-F562-374A-81D9-D002656E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checking – </a:t>
            </a:r>
            <a:r>
              <a:rPr lang="en-US" dirty="0" err="1"/>
              <a:t>MoveIt</a:t>
            </a:r>
            <a:r>
              <a:rPr lang="en-US" dirty="0"/>
              <a:t>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FA5BDB-DB03-7A4D-9CE3-03426B983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97" y="2843756"/>
            <a:ext cx="12253005" cy="3480844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BEC436-E0F1-E140-B11C-E4920E81B28B}"/>
              </a:ext>
            </a:extLst>
          </p:cNvPr>
          <p:cNvSpPr/>
          <p:nvPr/>
        </p:nvSpPr>
        <p:spPr>
          <a:xfrm>
            <a:off x="725482" y="5192389"/>
            <a:ext cx="5840417" cy="12357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3289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Lecture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A31F381B-920E-CA4A-9F10-19F5FC7D7D71}" vid="{B4596B14-63FF-2A4E-8D1E-BEAF59B15FEF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Palatino"/>
        <a:ea typeface="Palatino"/>
        <a:cs typeface="Palatino"/>
      </a:majorFont>
      <a:minorFont>
        <a:latin typeface="Palatino"/>
        <a:ea typeface="Palatino"/>
        <a:cs typeface="Palatin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Template</Template>
  <TotalTime>8671</TotalTime>
  <Words>1174</Words>
  <Application>Microsoft Macintosh PowerPoint</Application>
  <PresentationFormat>Custom</PresentationFormat>
  <Paragraphs>164</Paragraphs>
  <Slides>35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Helvetica Neue</vt:lpstr>
      <vt:lpstr>Lecture Template</vt:lpstr>
      <vt:lpstr>C-space and RRTs</vt:lpstr>
      <vt:lpstr>Note</vt:lpstr>
      <vt:lpstr>Configuration</vt:lpstr>
      <vt:lpstr>Solution v2</vt:lpstr>
      <vt:lpstr>Rapidly Exploring Dense Trees (RDTs)</vt:lpstr>
      <vt:lpstr>RDTs vs RRTs vs PRMs</vt:lpstr>
      <vt:lpstr>And many, many variants</vt:lpstr>
      <vt:lpstr>PowerPoint Presentation</vt:lpstr>
      <vt:lpstr>PowerPoint Presentation</vt:lpstr>
      <vt:lpstr>PowerPoint Presentation</vt:lpstr>
      <vt:lpstr>PowerPoint Presentation</vt:lpstr>
      <vt:lpstr>What about the goal?</vt:lpstr>
      <vt:lpstr>Remember</vt:lpstr>
      <vt:lpstr>Distances in C-space</vt:lpstr>
      <vt:lpstr>Distances in C-space</vt:lpstr>
      <vt:lpstr>Practical Solutions</vt:lpstr>
      <vt:lpstr>Tree “grows” from the start config. due to step size parameter</vt:lpstr>
      <vt:lpstr>Demo</vt:lpstr>
      <vt:lpstr>Guarantees?</vt:lpstr>
      <vt:lpstr>RRT*</vt:lpstr>
      <vt:lpstr>RRT*</vt:lpstr>
      <vt:lpstr>RRT*</vt:lpstr>
      <vt:lpstr>Why are RRTs so popular?</vt:lpstr>
      <vt:lpstr>EXTEND() is the real crux</vt:lpstr>
      <vt:lpstr>Example: car-like robot</vt:lpstr>
      <vt:lpstr>Example: car-like robot</vt:lpstr>
      <vt:lpstr>Example: car-like robot</vt:lpstr>
      <vt:lpstr>Practical Matters</vt:lpstr>
      <vt:lpstr>Try it out</vt:lpstr>
      <vt:lpstr>Configuration space (OMPL)</vt:lpstr>
      <vt:lpstr>Combine spaces</vt:lpstr>
      <vt:lpstr>Distance function</vt:lpstr>
      <vt:lpstr>Collision Checking</vt:lpstr>
      <vt:lpstr>Collision Checking – FCL </vt:lpstr>
      <vt:lpstr>Collision checking – MoveIt!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BUG Algorithms</dc:title>
  <dc:creator>Pratap Tokekar</dc:creator>
  <cp:lastModifiedBy>Troi Williams</cp:lastModifiedBy>
  <cp:revision>1109</cp:revision>
  <cp:lastPrinted>2018-11-01T20:48:10Z</cp:lastPrinted>
  <dcterms:modified xsi:type="dcterms:W3CDTF">2026-02-26T19:01:31Z</dcterms:modified>
</cp:coreProperties>
</file>
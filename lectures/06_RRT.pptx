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42"/>
  </p:notesMasterIdLst>
  <p:sldIdLst>
    <p:sldId id="256" r:id="rId2"/>
    <p:sldId id="293" r:id="rId3"/>
    <p:sldId id="376" r:id="rId4"/>
    <p:sldId id="336" r:id="rId5"/>
    <p:sldId id="337" r:id="rId6"/>
    <p:sldId id="372" r:id="rId7"/>
    <p:sldId id="320" r:id="rId8"/>
    <p:sldId id="375" r:id="rId9"/>
    <p:sldId id="373" r:id="rId10"/>
    <p:sldId id="324" r:id="rId11"/>
    <p:sldId id="321" r:id="rId12"/>
    <p:sldId id="374" r:id="rId13"/>
    <p:sldId id="322" r:id="rId14"/>
    <p:sldId id="323" r:id="rId15"/>
    <p:sldId id="309" r:id="rId16"/>
    <p:sldId id="319" r:id="rId17"/>
    <p:sldId id="339" r:id="rId18"/>
    <p:sldId id="317" r:id="rId19"/>
    <p:sldId id="340" r:id="rId20"/>
    <p:sldId id="308" r:id="rId21"/>
    <p:sldId id="325" r:id="rId22"/>
    <p:sldId id="341" r:id="rId23"/>
    <p:sldId id="331" r:id="rId24"/>
    <p:sldId id="338" r:id="rId25"/>
    <p:sldId id="332" r:id="rId26"/>
    <p:sldId id="327" r:id="rId27"/>
    <p:sldId id="333" r:id="rId28"/>
    <p:sldId id="335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62" r:id="rId38"/>
    <p:sldId id="363" r:id="rId39"/>
    <p:sldId id="371" r:id="rId40"/>
    <p:sldId id="370" r:id="rId41"/>
  </p:sldIdLst>
  <p:sldSz cx="130048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F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85"/>
    <p:restoredTop sz="92773"/>
  </p:normalViewPr>
  <p:slideViewPr>
    <p:cSldViewPr snapToGrid="0" snapToObjects="1">
      <p:cViewPr varScale="1">
        <p:scale>
          <a:sx n="76" d="100"/>
          <a:sy n="76" d="100"/>
        </p:scale>
        <p:origin x="14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499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570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1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735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304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</a:t>
            </a:r>
          </a:p>
        </p:txBody>
      </p:sp>
    </p:spTree>
    <p:extLst>
      <p:ext uri="{BB962C8B-B14F-4D97-AF65-F5344CB8AC3E}">
        <p14:creationId xmlns:p14="http://schemas.microsoft.com/office/powerpoint/2010/main" val="2937125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D165-A497-DCB5-FE14-2116AD960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E916-6D88-9EC8-2ACE-AAAC4837A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E17B98E-457D-4284-6B2C-5A9D93DF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6AD668-06A4-BBF4-AAFC-469FC13B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576D332-0420-1D23-03DE-415A5CCF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64434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E0E18-684A-38D1-DBDB-FEE2C9AB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62BCD-5730-71C8-CC55-48A093FAC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D7F9DE-9EB3-A0C9-3D35-875A3D0A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940EA-817A-B06D-6BDA-45ACEE33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CC4B6-B6DB-1B02-0DEB-6A3B9D96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343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76FA2-2E02-A421-1CC1-4FF2D8FD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3A665-FEA3-13E5-52C0-BF86C7F99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7BD1C1-52AB-4F7D-6D83-67AF3ECB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66548-8C21-3A90-AE45-26B0F86C9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24BBB-BAA8-6351-1EB7-7A3EA689D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56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AB4F-3115-8EC4-D28E-A5BFBB3C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6E502-1037-1C56-5C14-8BF615EAE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2ED19-D604-8DD1-6C52-20D59450F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2B4AA63-3E2C-E0C9-C93D-22A5A7C2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3F896CD-C514-1F2B-7B3D-4BB60C29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60AA89-1513-B57E-1AEB-D2994F735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9051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D1DD-0CEE-3774-5AB3-937DB4238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8E3F0-46B7-69C0-6719-D71909FD3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7236F-485B-32C4-A9B9-6D3AB3F7E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E0AA5-2E2B-294B-3997-BA542F4B3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982F6-EFA8-1135-93C3-BC3E84B32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3ED0692-DB27-476A-0150-A1CF0923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1C2DDFB-94D4-AD58-50F2-799E8E3B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5411371-48EB-4EF4-70EE-BF8A4F7AF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612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22BD9-E750-52D1-E068-EA872E424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4146F4F-5AF3-44EE-D602-E08144631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3133D6F-07D0-334E-6C09-62B6A56E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9A1936-94C6-0E25-28C2-31877FCC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475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E1DA0-64CA-5020-1855-35C78BB9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ECA06-9F8F-1859-A6BB-93CCA47C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8AD8A-420F-7CDF-A992-661CADF5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663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0108-1904-1EC5-3CDA-6EA960140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7B60-43EB-2344-0024-6BC968B64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AF767-0D11-703C-CFB3-2C48A7464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22A4BB7-E704-EFA2-2F94-CC5CF15A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4A82D0-7CB5-484A-4CDF-A85E071D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C8C913C-54F5-2C2F-C605-C5CD9690F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119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ED15-C686-590A-52D7-BD4F09C6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75195-BE97-D378-3A15-C2CB68401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A8C6D-1B1B-43CB-C35A-B02EB332B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5C8872E-5B47-1F3C-FD1B-BD602E66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95521F6-EFF1-0840-F220-9E046F8D4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40458CD-DBC0-F873-0CF4-FF961028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3572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6C5B0-61CE-C46E-120D-592412C5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2DC9A-C7B0-60DC-874D-7157E6D6B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8B719-4D24-4076-ED8E-4B6661F89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876D4-E9CE-BF06-3A65-D1E16557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95797-057F-B764-9986-16AC2309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7825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F8EB1-E8C0-6407-56CB-952FE87B8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28CCC-A90E-28B6-C561-BE3F3A2F6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87D2C-D605-40EA-38AC-88DE2172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D5CF-5331-5C4D-A3D2-5C5939CC3261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83F0EF-D69D-392A-60D9-5842CD6C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34C875-29A2-701C-A092-C23ADD4C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308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6F4B7-BAD9-A1D9-3F62-5225D09B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FFE51-76F0-DDB5-F9BF-9185F652E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36F08-D480-A5EA-D5E1-4941CD2E5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5D5CF-5331-5C4D-A3D2-5C5939CC3261}" type="datetimeFigureOut">
              <a:rPr lang="en-US" smtClean="0"/>
              <a:t>2/23/26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2F208-8EF5-13BF-E9B6-A99FFAB57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uk-UA" smtClean="0"/>
              <a:t>‹#›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7BB0D-1325-46DC-B61A-11EF7F09AA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80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planning.cs.uiuc.edu" TargetMode="External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planning.cs.uiuc.edu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planning.cs.uiuc.edu/" TargetMode="External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msl.cs.uiuc.edu/rrt/gallery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C-space and RRTs</a:t>
            </a:r>
            <a:endParaRPr dirty="0"/>
          </a:p>
        </p:txBody>
      </p:sp>
      <p:sp>
        <p:nvSpPr>
          <p:cNvPr id="55" name="Shape 55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defRPr i="1"/>
            </a:pPr>
            <a:endParaRPr dirty="0"/>
          </a:p>
          <a:p>
            <a:pPr>
              <a:defRPr i="1"/>
            </a:pPr>
            <a:r>
              <a:rPr lang="en-US" dirty="0"/>
              <a:t>Dr. Troi Williams</a:t>
            </a:r>
          </a:p>
          <a:p>
            <a:pPr>
              <a:defRPr i="1"/>
            </a:pPr>
            <a:endParaRPr lang="en-US" dirty="0"/>
          </a:p>
          <a:p>
            <a:pPr>
              <a:defRPr i="1"/>
            </a:pPr>
            <a:r>
              <a:rPr lang="en-US" dirty="0"/>
              <a:t>Slide Credits: </a:t>
            </a:r>
            <a:r>
              <a:rPr dirty="0"/>
              <a:t>Pratap Tokekar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4080" y="3037817"/>
            <a:ext cx="11598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Extra Lab days on Tuesday, March 10</a:t>
            </a:r>
            <a:r>
              <a:rPr lang="en-US" sz="3200" baseline="30000" dirty="0"/>
              <a:t>th</a:t>
            </a:r>
            <a:r>
              <a:rPr lang="en-US" sz="3200" dirty="0"/>
              <a:t> and Thursday, March 12</a:t>
            </a:r>
            <a:r>
              <a:rPr lang="en-US" sz="3200" baseline="30000" dirty="0"/>
              <a:t>th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269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0DDD-F3B2-A7D9-A6A0-F8AF286B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6039BF-6049-ACA5-E7A6-BCCCB423B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Textbooks</a:t>
            </a:r>
          </a:p>
        </p:txBody>
      </p:sp>
      <p:pic>
        <p:nvPicPr>
          <p:cNvPr id="5" name="pasted-image.tif">
            <a:extLst>
              <a:ext uri="{FF2B5EF4-FFF2-40B4-BE49-F238E27FC236}">
                <a16:creationId xmlns:a16="http://schemas.microsoft.com/office/drawing/2014/main" id="{C025DC84-DCFC-05DD-5740-60BFCD4DB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36" y="1961867"/>
            <a:ext cx="3122640" cy="496570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115">
            <a:extLst>
              <a:ext uri="{FF2B5EF4-FFF2-40B4-BE49-F238E27FC236}">
                <a16:creationId xmlns:a16="http://schemas.microsoft.com/office/drawing/2014/main" id="{0ACAACE7-2A0E-7496-1607-162A5CDE1F14}"/>
              </a:ext>
            </a:extLst>
          </p:cNvPr>
          <p:cNvSpPr/>
          <p:nvPr/>
        </p:nvSpPr>
        <p:spPr>
          <a:xfrm>
            <a:off x="765036" y="6927657"/>
            <a:ext cx="329798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u="sng">
                <a:solidFill>
                  <a:srgbClr val="53585F"/>
                </a:solidFill>
                <a:hlinkClick r:id="rId3"/>
              </a:defRPr>
            </a:lvl1pPr>
          </a:lstStyle>
          <a:p>
            <a:pPr>
              <a:defRPr u="none"/>
            </a:pPr>
            <a:r>
              <a:rPr u="sng" dirty="0">
                <a:hlinkClick r:id="rId4"/>
              </a:rPr>
              <a:t>http://planning.cs.uiuc.edu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86F6F6-48A4-E54F-CBF4-A0FAEF93951E}"/>
              </a:ext>
            </a:extLst>
          </p:cNvPr>
          <p:cNvSpPr txBox="1"/>
          <p:nvPr/>
        </p:nvSpPr>
        <p:spPr>
          <a:xfrm>
            <a:off x="5041900" y="4121551"/>
            <a:ext cx="4859022" cy="17389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</a:t>
            </a:r>
            <a:r>
              <a:rPr lang="en-US" dirty="0"/>
              <a:t> 6.2, 6.3.2-6.3.3, 4.3.2</a:t>
            </a: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AB1474-2BF7-63BD-E50F-619115CE4819}"/>
              </a:ext>
            </a:extLst>
          </p:cNvPr>
          <p:cNvSpPr/>
          <p:nvPr/>
        </p:nvSpPr>
        <p:spPr>
          <a:xfrm>
            <a:off x="5041899" y="5389819"/>
            <a:ext cx="74946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i="1"/>
            </a:pPr>
            <a:r>
              <a:rPr lang="en-US" dirty="0"/>
              <a:t>(with slides and figures from S. Leonard, G. Hager and H. </a:t>
            </a:r>
            <a:r>
              <a:rPr lang="en-US" dirty="0" err="1"/>
              <a:t>Choset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908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A4BA-E045-2546-945B-A89866F6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1ECF2A-9D9C-A5C1-38C7-407AC1C96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seen graph-based planning algorithms</a:t>
            </a:r>
          </a:p>
          <a:p>
            <a:pPr lvl="1"/>
            <a:r>
              <a:rPr lang="en-US" dirty="0"/>
              <a:t>BFS, DFS, Dijkstra/UCS, A*</a:t>
            </a:r>
          </a:p>
          <a:p>
            <a:pPr lvl="1"/>
            <a:endParaRPr lang="en-US" dirty="0"/>
          </a:p>
          <a:p>
            <a:r>
              <a:rPr lang="en-US" dirty="0"/>
              <a:t>What (unrealistic) assumptions have we made?</a:t>
            </a:r>
          </a:p>
        </p:txBody>
      </p:sp>
    </p:spTree>
    <p:extLst>
      <p:ext uri="{BB962C8B-B14F-4D97-AF65-F5344CB8AC3E}">
        <p14:creationId xmlns:p14="http://schemas.microsoft.com/office/powerpoint/2010/main" val="259954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A4BA-E045-2546-945B-A89866F6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A8F0A-0EDE-104A-9384-563693AF8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549437"/>
              </p:ext>
            </p:extLst>
          </p:nvPr>
        </p:nvGraphicFramePr>
        <p:xfrm>
          <a:off x="893763" y="2597150"/>
          <a:ext cx="11217276" cy="53845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4319">
                  <a:extLst>
                    <a:ext uri="{9D8B030D-6E8A-4147-A177-3AD203B41FA5}">
                      <a16:colId xmlns:a16="http://schemas.microsoft.com/office/drawing/2014/main" val="3918161992"/>
                    </a:ext>
                  </a:extLst>
                </a:gridCol>
                <a:gridCol w="2804319">
                  <a:extLst>
                    <a:ext uri="{9D8B030D-6E8A-4147-A177-3AD203B41FA5}">
                      <a16:colId xmlns:a16="http://schemas.microsoft.com/office/drawing/2014/main" val="1876534754"/>
                    </a:ext>
                  </a:extLst>
                </a:gridCol>
                <a:gridCol w="2804319">
                  <a:extLst>
                    <a:ext uri="{9D8B030D-6E8A-4147-A177-3AD203B41FA5}">
                      <a16:colId xmlns:a16="http://schemas.microsoft.com/office/drawing/2014/main" val="1463122061"/>
                    </a:ext>
                  </a:extLst>
                </a:gridCol>
                <a:gridCol w="2804319">
                  <a:extLst>
                    <a:ext uri="{9D8B030D-6E8A-4147-A177-3AD203B41FA5}">
                      <a16:colId xmlns:a16="http://schemas.microsoft.com/office/drawing/2014/main" val="3582311816"/>
                    </a:ext>
                  </a:extLst>
                </a:gridCol>
              </a:tblGrid>
              <a:tr h="1226660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Observations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561635"/>
                  </a:ext>
                </a:extLst>
              </a:tr>
              <a:tr h="193745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BFS/DFS, Dijkstra, A*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graph + costs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uncertainty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uncertainty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31742"/>
                  </a:ext>
                </a:extLst>
              </a:tr>
              <a:tr h="222041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RRTs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coordinates of obstacles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uncertainty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uncertainty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37461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4E0F661-3A04-F542-8AF0-4D2FE5BA79F0}"/>
              </a:ext>
            </a:extLst>
          </p:cNvPr>
          <p:cNvSpPr txBox="1"/>
          <p:nvPr/>
        </p:nvSpPr>
        <p:spPr>
          <a:xfrm rot="16200000">
            <a:off x="-161497" y="4692134"/>
            <a:ext cx="1430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Point robot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81A9D-A545-8040-AC0B-C8E2F1A57099}"/>
              </a:ext>
            </a:extLst>
          </p:cNvPr>
          <p:cNvSpPr txBox="1"/>
          <p:nvPr/>
        </p:nvSpPr>
        <p:spPr>
          <a:xfrm rot="5400000">
            <a:off x="11508513" y="6854390"/>
            <a:ext cx="1885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Arbitrary shape</a:t>
            </a:r>
          </a:p>
        </p:txBody>
      </p:sp>
    </p:spTree>
    <p:extLst>
      <p:ext uri="{BB962C8B-B14F-4D97-AF65-F5344CB8AC3E}">
        <p14:creationId xmlns:p14="http://schemas.microsoft.com/office/powerpoint/2010/main" val="2040186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A99D2-A646-1325-1561-CBE0478F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16170-5D73-1D60-42EA-B0BB6711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easier to plan assuming that the robot is a point</a:t>
            </a:r>
          </a:p>
          <a:p>
            <a:endParaRPr lang="en-US" dirty="0"/>
          </a:p>
          <a:p>
            <a:r>
              <a:rPr lang="en-US" dirty="0"/>
              <a:t>Point robot = robot on a graph vertex</a:t>
            </a:r>
          </a:p>
          <a:p>
            <a:endParaRPr lang="en-US" dirty="0"/>
          </a:p>
          <a:p>
            <a:r>
              <a:rPr lang="en-US" dirty="0"/>
              <a:t>Key idea: how to take an arbitrarily shaped robot and still solve a “point robot on a graph” </a:t>
            </a:r>
            <a:r>
              <a:rPr lang="en-US"/>
              <a:t>planning problem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779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configuration</a:t>
            </a:r>
            <a:r>
              <a:rPr lang="en-US" dirty="0"/>
              <a:t> is a complete specification of every point of the robot</a:t>
            </a:r>
          </a:p>
          <a:p>
            <a:r>
              <a:rPr lang="en-US" dirty="0"/>
              <a:t>C-space is the space of all possible configurations</a:t>
            </a:r>
          </a:p>
          <a:p>
            <a:endParaRPr lang="en-US" dirty="0"/>
          </a:p>
          <a:p>
            <a:r>
              <a:rPr lang="en-US" dirty="0"/>
              <a:t>Some examples:</a:t>
            </a:r>
          </a:p>
          <a:p>
            <a:pPr lvl="1"/>
            <a:r>
              <a:rPr lang="en-US" dirty="0"/>
              <a:t>a point robot that can translate in 2D: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479" y="5029200"/>
            <a:ext cx="20701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97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2691-0E4D-A5A3-AC65-03E77BC1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EC29C-691A-8D2B-4F2B-941D7C47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14657-CBDA-E56C-DF0B-2A0CFA348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configuration</a:t>
            </a:r>
            <a:r>
              <a:rPr lang="en-US" dirty="0"/>
              <a:t> is a complete specification of every point of the robot</a:t>
            </a:r>
          </a:p>
          <a:p>
            <a:r>
              <a:rPr lang="en-US" dirty="0"/>
              <a:t>C-space is the space of all possible configurations</a:t>
            </a:r>
          </a:p>
          <a:p>
            <a:endParaRPr lang="en-US" dirty="0"/>
          </a:p>
          <a:p>
            <a:r>
              <a:rPr lang="en-US" dirty="0"/>
              <a:t>Some examples:</a:t>
            </a:r>
          </a:p>
          <a:p>
            <a:pPr lvl="1"/>
            <a:r>
              <a:rPr lang="en-US" dirty="0"/>
              <a:t>a point robot that can translate in 2D: 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 robot that can rotate and translate:		</a:t>
            </a:r>
            <a:r>
              <a:rPr lang="en-US" b="1" dirty="0">
                <a:solidFill>
                  <a:srgbClr val="FF0000"/>
                </a:solidFill>
              </a:rPr>
              <a:t>what would this be?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a two-link manipulator:			</a:t>
            </a:r>
            <a:r>
              <a:rPr lang="en-US" b="1" dirty="0">
                <a:solidFill>
                  <a:srgbClr val="FF0000"/>
                </a:solidFill>
              </a:rPr>
              <a:t>what would this be?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4A75C-A288-236A-E298-8EEC37885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479" y="5029200"/>
            <a:ext cx="20701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4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5E109-BA64-8E79-C1B3-08BCC7D07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24C1E-C26A-A50B-8B3C-DBA5C08B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69B21-D44F-6AE3-7E76-6E40D6BD1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u="sng" dirty="0"/>
              <a:t>configuration</a:t>
            </a:r>
            <a:r>
              <a:rPr lang="en-US" dirty="0"/>
              <a:t> is a complete specification of every point of the robot</a:t>
            </a:r>
          </a:p>
          <a:p>
            <a:r>
              <a:rPr lang="en-US" i="1" u="sng" dirty="0"/>
              <a:t>C-space</a:t>
            </a:r>
            <a:r>
              <a:rPr lang="en-US" dirty="0"/>
              <a:t> is the space of all possible configurations</a:t>
            </a:r>
          </a:p>
          <a:p>
            <a:endParaRPr lang="en-US" dirty="0"/>
          </a:p>
          <a:p>
            <a:r>
              <a:rPr lang="en-US" dirty="0"/>
              <a:t>Some examples:</a:t>
            </a:r>
          </a:p>
          <a:p>
            <a:pPr lvl="1"/>
            <a:r>
              <a:rPr lang="en-US" dirty="0"/>
              <a:t>a point robot that can translate in 2D: 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 robot that can rotate and translate: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 two-link manipulator: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5E5BB7-C4FA-4761-A5B0-2C79EBE8A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479" y="5029200"/>
            <a:ext cx="2070100" cy="52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45948A-BD9B-0DBA-C345-F0A1F3181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883" y="5811252"/>
            <a:ext cx="3534548" cy="428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255AE-C2D5-B31A-8A97-6A1469510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6883" y="6604791"/>
            <a:ext cx="4540527" cy="43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56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one_link_manipulator.py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45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Link Manipulator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900" y="3703637"/>
            <a:ext cx="5969000" cy="3975100"/>
          </a:xfrm>
        </p:spPr>
      </p:pic>
    </p:spTree>
    <p:extLst>
      <p:ext uri="{BB962C8B-B14F-4D97-AF65-F5344CB8AC3E}">
        <p14:creationId xmlns:p14="http://schemas.microsoft.com/office/powerpoint/2010/main" val="1124165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25C54-7881-D5AD-2FE3-13AEFBB02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D4E1-C742-5D15-0586-D2111A326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Link Manipulator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40250D-51D1-9B22-967C-7A6DA389C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900" y="3703637"/>
            <a:ext cx="5969000" cy="3975100"/>
          </a:xfrm>
        </p:spPr>
      </p:pic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195142F-AAE5-BCFE-6E12-B5A7CFED5628}"/>
              </a:ext>
            </a:extLst>
          </p:cNvPr>
          <p:cNvSpPr txBox="1">
            <a:spLocks/>
          </p:cNvSpPr>
          <p:nvPr/>
        </p:nvSpPr>
        <p:spPr>
          <a:xfrm>
            <a:off x="894080" y="8060266"/>
            <a:ext cx="11216640" cy="724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43848" indent="-243848" algn="l" defTabSz="975390" rtl="0" eaLnBrk="1" latinLnBrk="0" hangingPunct="1">
              <a:lnSpc>
                <a:spcPct val="90000"/>
              </a:lnSpc>
              <a:spcBef>
                <a:spcPts val="1067"/>
              </a:spcBef>
              <a:buFont typeface="Arial" panose="020B0604020202020204" pitchFamily="34" charset="0"/>
              <a:buChar char="•"/>
              <a:defRPr sz="29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4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38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933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62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232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0019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714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410" indent="-243848" algn="l" defTabSz="975390" rtl="0" eaLnBrk="1" latinLnBrk="0" hangingPunct="1">
              <a:lnSpc>
                <a:spcPct val="90000"/>
              </a:lnSpc>
              <a:spcBef>
                <a:spcPts val="533"/>
              </a:spcBef>
              <a:buFont typeface="Arial" panose="020B0604020202020204" pitchFamily="34" charset="0"/>
              <a:buChar char="•"/>
              <a:defRPr sz="19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Why does the Cartesian product of two circles create a donut?</a:t>
            </a:r>
          </a:p>
        </p:txBody>
      </p:sp>
    </p:spTree>
    <p:extLst>
      <p:ext uri="{BB962C8B-B14F-4D97-AF65-F5344CB8AC3E}">
        <p14:creationId xmlns:p14="http://schemas.microsoft.com/office/powerpoint/2010/main" val="3623791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C-space Obstacles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500" y="3189287"/>
            <a:ext cx="8559800" cy="5003800"/>
          </a:xfrm>
        </p:spPr>
      </p:pic>
    </p:spTree>
    <p:extLst>
      <p:ext uri="{BB962C8B-B14F-4D97-AF65-F5344CB8AC3E}">
        <p14:creationId xmlns:p14="http://schemas.microsoft.com/office/powerpoint/2010/main" val="1160474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Punching holes in the donut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63" y="4634602"/>
            <a:ext cx="5527675" cy="2113171"/>
          </a:xfr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893763" y="1785106"/>
            <a:ext cx="11216957" cy="2866407"/>
          </a:xfrm>
        </p:spPr>
        <p:txBody>
          <a:bodyPr/>
          <a:lstStyle/>
          <a:p>
            <a:r>
              <a:rPr lang="en-US" dirty="0"/>
              <a:t>We plan for shortest paths in the C-space and not in the workspace.</a:t>
            </a:r>
          </a:p>
          <a:p>
            <a:r>
              <a:rPr lang="en-US" i="1" dirty="0"/>
              <a:t>Naïve idea</a:t>
            </a:r>
            <a:r>
              <a:rPr lang="en-US" dirty="0"/>
              <a:t>: draw a grid in the C-space</a:t>
            </a:r>
          </a:p>
          <a:p>
            <a:r>
              <a:rPr lang="en-US" dirty="0"/>
              <a:t>No vertices/edges inside C-space obstacles</a:t>
            </a:r>
          </a:p>
        </p:txBody>
      </p:sp>
    </p:spTree>
    <p:extLst>
      <p:ext uri="{BB962C8B-B14F-4D97-AF65-F5344CB8AC3E}">
        <p14:creationId xmlns:p14="http://schemas.microsoft.com/office/powerpoint/2010/main" val="1449044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robot that can only translate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robot and obstacles are both polygonal, we can compute C-space obstacles by taking </a:t>
            </a:r>
            <a:r>
              <a:rPr lang="en-US" dirty="0" err="1"/>
              <a:t>Minkowski</a:t>
            </a:r>
            <a:r>
              <a:rPr lang="en-US" dirty="0"/>
              <a:t> difference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28" y="3962676"/>
            <a:ext cx="11440292" cy="5790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60225" y="5340749"/>
            <a:ext cx="4150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workspace obstacle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79635" y="4009179"/>
            <a:ext cx="3555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C-space obstacle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4174" y="7618391"/>
            <a:ext cx="2759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square robot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263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Non-Symmetric Robots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0" y="1816848"/>
            <a:ext cx="5980343" cy="6968166"/>
          </a:xfrm>
        </p:spPr>
        <p:txBody>
          <a:bodyPr/>
          <a:lstStyle/>
          <a:p>
            <a:r>
              <a:rPr lang="en-US" dirty="0"/>
              <a:t>If the robot is not symmetric about the origin, we should take the </a:t>
            </a:r>
            <a:r>
              <a:rPr lang="en-US" dirty="0" err="1"/>
              <a:t>Minkowski</a:t>
            </a:r>
            <a:r>
              <a:rPr lang="en-US" dirty="0"/>
              <a:t> difference and not the sum!</a:t>
            </a:r>
          </a:p>
          <a:p>
            <a:r>
              <a:rPr lang="en-US" dirty="0"/>
              <a:t>That is “flip” the robot and then take </a:t>
            </a:r>
            <a:r>
              <a:rPr lang="en-US" dirty="0" err="1"/>
              <a:t>Minkowski</a:t>
            </a:r>
            <a:r>
              <a:rPr lang="en-US" dirty="0"/>
              <a:t> sum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4423" y="6965302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=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973" y="2117472"/>
            <a:ext cx="6134100" cy="469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33" t="6476" r="26936" b="10382"/>
          <a:stretch/>
        </p:blipFill>
        <p:spPr>
          <a:xfrm>
            <a:off x="6874423" y="3357896"/>
            <a:ext cx="5791200" cy="547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29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AC5E-165D-0C45-B8B2-97F04F2F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7B4BB-0B56-9D4D-94FD-80B38B88E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minkowski.py</a:t>
            </a:r>
            <a:endParaRPr lang="en-US" dirty="0"/>
          </a:p>
          <a:p>
            <a:pPr lvl="1"/>
            <a:r>
              <a:rPr lang="en-US" dirty="0"/>
              <a:t>Square robot</a:t>
            </a:r>
          </a:p>
          <a:p>
            <a:pPr lvl="1"/>
            <a:r>
              <a:rPr lang="en-US" dirty="0"/>
              <a:t>Triangular robot</a:t>
            </a:r>
          </a:p>
        </p:txBody>
      </p:sp>
    </p:spTree>
    <p:extLst>
      <p:ext uri="{BB962C8B-B14F-4D97-AF65-F5344CB8AC3E}">
        <p14:creationId xmlns:p14="http://schemas.microsoft.com/office/powerpoint/2010/main" val="3406714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C-space obstacles can become complicated quickly!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80" y="2298858"/>
            <a:ext cx="11049000" cy="5918200"/>
          </a:xfrm>
        </p:spPr>
      </p:pic>
      <p:sp>
        <p:nvSpPr>
          <p:cNvPr id="5" name="TextBox 4"/>
          <p:cNvSpPr txBox="1"/>
          <p:nvPr/>
        </p:nvSpPr>
        <p:spPr>
          <a:xfrm>
            <a:off x="9237870" y="1529977"/>
            <a:ext cx="3393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[Pan and </a:t>
            </a:r>
            <a:r>
              <a:rPr lang="en-US" sz="2400" dirty="0" err="1"/>
              <a:t>Manocha</a:t>
            </a:r>
            <a:r>
              <a:rPr lang="en-US" sz="2400" dirty="0"/>
              <a:t>, ‘15]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8869" y="8203096"/>
            <a:ext cx="11489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Computing exact C-space obstacles is challenging.</a:t>
            </a:r>
          </a:p>
        </p:txBody>
      </p:sp>
    </p:spTree>
    <p:extLst>
      <p:ext uri="{BB962C8B-B14F-4D97-AF65-F5344CB8AC3E}">
        <p14:creationId xmlns:p14="http://schemas.microsoft.com/office/powerpoint/2010/main" val="2027330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7EFBC-DCE4-DF49-B2CA-2CC988C04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Planning in C-space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1E3A1-869E-F547-A7DF-5ED2D5750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now on, we will be planning paths in C-space (not just in the robot workspace)</a:t>
            </a:r>
          </a:p>
          <a:p>
            <a:endParaRPr lang="en-US" dirty="0"/>
          </a:p>
          <a:p>
            <a:r>
              <a:rPr lang="en-US" dirty="0"/>
              <a:t>The challenge is even describing the exact shape of the C-space obstacles is difficult</a:t>
            </a:r>
          </a:p>
          <a:p>
            <a:endParaRPr lang="en-US" dirty="0"/>
          </a:p>
          <a:p>
            <a:r>
              <a:rPr lang="en-US" dirty="0"/>
              <a:t>Any ideas on how to solve the problem?</a:t>
            </a:r>
          </a:p>
        </p:txBody>
      </p:sp>
    </p:spTree>
    <p:extLst>
      <p:ext uri="{BB962C8B-B14F-4D97-AF65-F5344CB8AC3E}">
        <p14:creationId xmlns:p14="http://schemas.microsoft.com/office/powerpoint/2010/main" val="1264142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v1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Idea</a:t>
            </a:r>
            <a:r>
              <a:rPr lang="en-US" dirty="0"/>
              <a:t>: checking whether a specific configuration is in collision is easier </a:t>
            </a:r>
          </a:p>
          <a:p>
            <a:r>
              <a:rPr lang="en-US" dirty="0"/>
              <a:t>Let’s assume we have a </a:t>
            </a:r>
            <a:r>
              <a:rPr lang="en-US" i="1" dirty="0"/>
              <a:t>fast</a:t>
            </a:r>
            <a:r>
              <a:rPr lang="en-US" dirty="0"/>
              <a:t> collision checker</a:t>
            </a:r>
          </a:p>
          <a:p>
            <a:pPr lvl="1"/>
            <a:r>
              <a:rPr lang="en-US" dirty="0"/>
              <a:t>black-box for now</a:t>
            </a:r>
          </a:p>
          <a:p>
            <a:endParaRPr lang="en-US" dirty="0"/>
          </a:p>
          <a:p>
            <a:r>
              <a:rPr lang="en-US" dirty="0"/>
              <a:t>Don’t construct the C-space obstacles</a:t>
            </a:r>
          </a:p>
          <a:p>
            <a:r>
              <a:rPr lang="en-US" dirty="0"/>
              <a:t>Discretize the C-space</a:t>
            </a:r>
          </a:p>
          <a:p>
            <a:r>
              <a:rPr lang="en-US" dirty="0"/>
              <a:t>For each vertex, check if it is in collision, else add it to the graph</a:t>
            </a:r>
          </a:p>
        </p:txBody>
      </p:sp>
    </p:spTree>
    <p:extLst>
      <p:ext uri="{BB962C8B-B14F-4D97-AF65-F5344CB8AC3E}">
        <p14:creationId xmlns:p14="http://schemas.microsoft.com/office/powerpoint/2010/main" val="1262285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Discretizing the C-space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950" y="3551237"/>
            <a:ext cx="7708900" cy="5203296"/>
          </a:xfrm>
        </p:spPr>
      </p:pic>
      <p:sp>
        <p:nvSpPr>
          <p:cNvPr id="5" name="Oval 4"/>
          <p:cNvSpPr/>
          <p:nvPr/>
        </p:nvSpPr>
        <p:spPr>
          <a:xfrm>
            <a:off x="8421757" y="8216349"/>
            <a:ext cx="212035" cy="21203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192529" y="7255566"/>
            <a:ext cx="212035" cy="21203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326585" y="7782052"/>
            <a:ext cx="1095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4564" y="6800969"/>
            <a:ext cx="105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762" y="2148210"/>
            <a:ext cx="11216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What is a good grid resolution? </a:t>
            </a:r>
            <a:r>
              <a:rPr lang="en-US" sz="3200" dirty="0"/>
              <a:t>Too small and we may miss solutions, too large makes it computationally expensive.</a:t>
            </a:r>
          </a:p>
        </p:txBody>
      </p:sp>
      <p:sp>
        <p:nvSpPr>
          <p:cNvPr id="11" name="Oval 10"/>
          <p:cNvSpPr/>
          <p:nvPr/>
        </p:nvSpPr>
        <p:spPr>
          <a:xfrm>
            <a:off x="9524871" y="6024069"/>
            <a:ext cx="212035" cy="2120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978031" y="4129279"/>
            <a:ext cx="212035" cy="2120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0445" y="3588965"/>
            <a:ext cx="1095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5589" y="5089871"/>
            <a:ext cx="70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67159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Discretizing the C-space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762" y="1916546"/>
            <a:ext cx="112169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What is a good grid size? </a:t>
            </a:r>
            <a:r>
              <a:rPr lang="en-US" sz="3200" dirty="0"/>
              <a:t>Too small and we may miss solutions, too large makes it computationally expensive.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265E6B42-8DE8-747A-EAC3-78DF385D1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950" y="3551237"/>
            <a:ext cx="7708900" cy="5203296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047BB387-3853-5FA6-5F06-9B2E6708FDF7}"/>
              </a:ext>
            </a:extLst>
          </p:cNvPr>
          <p:cNvSpPr/>
          <p:nvPr/>
        </p:nvSpPr>
        <p:spPr>
          <a:xfrm>
            <a:off x="8421757" y="8216349"/>
            <a:ext cx="212035" cy="21203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C141B9-FA2E-6002-8A1E-E37880B3BD1B}"/>
              </a:ext>
            </a:extLst>
          </p:cNvPr>
          <p:cNvSpPr/>
          <p:nvPr/>
        </p:nvSpPr>
        <p:spPr>
          <a:xfrm>
            <a:off x="9192529" y="7255566"/>
            <a:ext cx="212035" cy="21203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6D5E4F-E72F-C7E5-13EC-B3CCACABEBA6}"/>
              </a:ext>
            </a:extLst>
          </p:cNvPr>
          <p:cNvSpPr txBox="1"/>
          <p:nvPr/>
        </p:nvSpPr>
        <p:spPr>
          <a:xfrm>
            <a:off x="7326585" y="7782052"/>
            <a:ext cx="1095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start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A166BF-A971-8563-C1F3-A6B13D941E71}"/>
              </a:ext>
            </a:extLst>
          </p:cNvPr>
          <p:cNvSpPr txBox="1"/>
          <p:nvPr/>
        </p:nvSpPr>
        <p:spPr>
          <a:xfrm>
            <a:off x="9404564" y="6800969"/>
            <a:ext cx="105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goal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382283-FBF8-A40F-3C7C-06FD77D76CA2}"/>
              </a:ext>
            </a:extLst>
          </p:cNvPr>
          <p:cNvSpPr/>
          <p:nvPr/>
        </p:nvSpPr>
        <p:spPr>
          <a:xfrm>
            <a:off x="9524871" y="6024069"/>
            <a:ext cx="212035" cy="2120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5E1377B-3945-DB8D-E673-517EDF27D460}"/>
              </a:ext>
            </a:extLst>
          </p:cNvPr>
          <p:cNvSpPr/>
          <p:nvPr/>
        </p:nvSpPr>
        <p:spPr>
          <a:xfrm>
            <a:off x="3978031" y="4129279"/>
            <a:ext cx="212035" cy="2120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879C0D-7C9B-5911-A6AE-11B2D2932383}"/>
              </a:ext>
            </a:extLst>
          </p:cNvPr>
          <p:cNvSpPr txBox="1"/>
          <p:nvPr/>
        </p:nvSpPr>
        <p:spPr>
          <a:xfrm>
            <a:off x="3430445" y="3588965"/>
            <a:ext cx="1095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start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EF6A79-E93A-533E-1389-7D25AF359EB3}"/>
              </a:ext>
            </a:extLst>
          </p:cNvPr>
          <p:cNvSpPr txBox="1"/>
          <p:nvPr/>
        </p:nvSpPr>
        <p:spPr>
          <a:xfrm>
            <a:off x="9325589" y="5089871"/>
            <a:ext cx="706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951523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Discretizing the C-space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we are planning in the C-space and not the workspace</a:t>
            </a:r>
          </a:p>
          <a:p>
            <a:r>
              <a:rPr lang="en-US" dirty="0"/>
              <a:t>The robot is a point in C-space</a:t>
            </a:r>
          </a:p>
          <a:p>
            <a:r>
              <a:rPr lang="en-US" dirty="0"/>
              <a:t>C-space can be very complex and have “narrow openings”</a:t>
            </a:r>
          </a:p>
          <a:p>
            <a:r>
              <a:rPr lang="en-US" dirty="0"/>
              <a:t>Finding one path, let alone, the optimal path is challenging</a:t>
            </a:r>
          </a:p>
        </p:txBody>
      </p:sp>
    </p:spTree>
    <p:extLst>
      <p:ext uri="{BB962C8B-B14F-4D97-AF65-F5344CB8AC3E}">
        <p14:creationId xmlns:p14="http://schemas.microsoft.com/office/powerpoint/2010/main" val="502876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Solution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 v1 was to fix a grid graph</a:t>
            </a:r>
          </a:p>
          <a:p>
            <a:r>
              <a:rPr lang="en-US" dirty="0"/>
              <a:t>Instead, let’s create a (non-grid) graph</a:t>
            </a:r>
          </a:p>
          <a:p>
            <a:endParaRPr lang="en-US" dirty="0"/>
          </a:p>
          <a:p>
            <a:r>
              <a:rPr lang="en-US" dirty="0"/>
              <a:t>Idea v2: Design a scheme that produces </a:t>
            </a:r>
            <a:r>
              <a:rPr lang="en-US" i="1" dirty="0"/>
              <a:t>sequences</a:t>
            </a:r>
            <a:r>
              <a:rPr lang="en-US" dirty="0"/>
              <a:t> of discrete samples, </a:t>
            </a:r>
            <a:r>
              <a:rPr lang="en-US" i="1" dirty="0"/>
              <a:t>q</a:t>
            </a:r>
            <a:r>
              <a:rPr lang="en-US" i="1" baseline="-25000" dirty="0"/>
              <a:t>i</a:t>
            </a:r>
            <a:r>
              <a:rPr lang="en-US" dirty="0"/>
              <a:t>, in the C-space</a:t>
            </a:r>
          </a:p>
          <a:p>
            <a:pPr lvl="1"/>
            <a:r>
              <a:rPr lang="en-US" dirty="0"/>
              <a:t>How?</a:t>
            </a:r>
          </a:p>
          <a:p>
            <a:pPr lvl="1"/>
            <a:r>
              <a:rPr lang="en-US" dirty="0"/>
              <a:t>Just random</a:t>
            </a:r>
          </a:p>
        </p:txBody>
      </p:sp>
    </p:spTree>
    <p:extLst>
      <p:ext uri="{BB962C8B-B14F-4D97-AF65-F5344CB8AC3E}">
        <p14:creationId xmlns:p14="http://schemas.microsoft.com/office/powerpoint/2010/main" val="3248227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Solution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Randomly pick a sample configuration,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endParaRPr lang="en-US" dirty="0"/>
          </a:p>
          <a:p>
            <a:r>
              <a:rPr lang="en-US" dirty="0"/>
              <a:t>Check if </a:t>
            </a:r>
            <a:r>
              <a:rPr lang="en-US" i="1" dirty="0"/>
              <a:t>q</a:t>
            </a:r>
            <a:r>
              <a:rPr lang="en-US" i="1" baseline="-25000" dirty="0"/>
              <a:t>i</a:t>
            </a:r>
            <a:r>
              <a:rPr lang="en-US" dirty="0"/>
              <a:t> is collision-free</a:t>
            </a:r>
          </a:p>
          <a:p>
            <a:r>
              <a:rPr lang="en-US" dirty="0"/>
              <a:t>If </a:t>
            </a:r>
            <a:r>
              <a:rPr lang="en-US" i="1" dirty="0"/>
              <a:t>q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is in </a:t>
            </a:r>
            <a:r>
              <a:rPr lang="en-US" dirty="0" err="1"/>
              <a:t>C</a:t>
            </a:r>
            <a:r>
              <a:rPr lang="en-US" baseline="-25000" dirty="0" err="1"/>
              <a:t>free</a:t>
            </a:r>
            <a:r>
              <a:rPr lang="en-US" dirty="0"/>
              <a:t> then add it to the graph</a:t>
            </a:r>
          </a:p>
          <a:p>
            <a:pPr lvl="1"/>
            <a:r>
              <a:rPr lang="en-US" dirty="0"/>
              <a:t>add edges to existing vertices (</a:t>
            </a:r>
            <a:r>
              <a:rPr lang="en-US" i="1" dirty="0"/>
              <a:t>more details later</a:t>
            </a:r>
            <a:r>
              <a:rPr lang="en-US" dirty="0"/>
              <a:t>)</a:t>
            </a:r>
          </a:p>
          <a:p>
            <a:r>
              <a:rPr lang="en-US" dirty="0"/>
              <a:t>If </a:t>
            </a:r>
            <a:r>
              <a:rPr lang="en-US" i="1" dirty="0"/>
              <a:t>q</a:t>
            </a:r>
            <a:r>
              <a:rPr lang="en-US" i="1" baseline="-25000" dirty="0"/>
              <a:t>i</a:t>
            </a:r>
            <a:r>
              <a:rPr lang="en-US" dirty="0"/>
              <a:t> is not in </a:t>
            </a:r>
            <a:r>
              <a:rPr lang="en-US" dirty="0" err="1"/>
              <a:t>C</a:t>
            </a:r>
            <a:r>
              <a:rPr lang="en-US" sz="4000" baseline="-25000" dirty="0" err="1"/>
              <a:t>free</a:t>
            </a:r>
            <a:r>
              <a:rPr lang="en-US" dirty="0"/>
              <a:t>, then discard it</a:t>
            </a:r>
          </a:p>
          <a:p>
            <a:endParaRPr lang="en-US" dirty="0"/>
          </a:p>
          <a:p>
            <a:r>
              <a:rPr lang="en-US" dirty="0"/>
              <a:t>Check if we have found a path, else repeat</a:t>
            </a:r>
          </a:p>
        </p:txBody>
      </p:sp>
    </p:spTree>
    <p:extLst>
      <p:ext uri="{BB962C8B-B14F-4D97-AF65-F5344CB8AC3E}">
        <p14:creationId xmlns:p14="http://schemas.microsoft.com/office/powerpoint/2010/main" val="1373821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Rapidly Exploring Dense Trees (RDTs)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most popular techniques</a:t>
            </a:r>
          </a:p>
          <a:p>
            <a:r>
              <a:rPr lang="en-US" dirty="0"/>
              <a:t>Introduced by </a:t>
            </a:r>
            <a:r>
              <a:rPr lang="en-US" dirty="0" err="1"/>
              <a:t>LaValle</a:t>
            </a:r>
            <a:r>
              <a:rPr lang="en-US" dirty="0"/>
              <a:t> in ‘98</a:t>
            </a:r>
          </a:p>
          <a:p>
            <a:pPr lvl="1"/>
            <a:r>
              <a:rPr lang="en-US" dirty="0"/>
              <a:t>many, many, many extensions and variants</a:t>
            </a:r>
          </a:p>
        </p:txBody>
      </p:sp>
      <p:pic>
        <p:nvPicPr>
          <p:cNvPr id="4" name="pasted-image.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027" y="4106184"/>
            <a:ext cx="3122640" cy="49657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115"/>
          <p:cNvSpPr/>
          <p:nvPr/>
        </p:nvSpPr>
        <p:spPr>
          <a:xfrm>
            <a:off x="3760027" y="9071974"/>
            <a:ext cx="329798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u="sng">
                <a:solidFill>
                  <a:srgbClr val="53585F"/>
                </a:solidFill>
                <a:hlinkClick r:id="" action="ppaction://noaction"/>
              </a:defRPr>
            </a:lvl1pPr>
          </a:lstStyle>
          <a:p>
            <a:pPr>
              <a:defRPr u="none"/>
            </a:pPr>
            <a:r>
              <a:rPr u="sng" dirty="0">
                <a:hlinkClick r:id="rId3"/>
              </a:rPr>
              <a:t>http://planning.cs.uiuc.edu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6891" y="6265868"/>
            <a:ext cx="3320140" cy="17389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</a:t>
            </a:r>
            <a:r>
              <a:rPr lang="en-US" dirty="0"/>
              <a:t> 5.5, 5.6, 14.4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855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RDTs vs RRTs vs PRMs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versions of the same idea</a:t>
            </a:r>
          </a:p>
          <a:p>
            <a:pPr lvl="1"/>
            <a:r>
              <a:rPr lang="en-US" i="1" dirty="0"/>
              <a:t>with different guarantees</a:t>
            </a:r>
            <a:endParaRPr lang="en-US" dirty="0"/>
          </a:p>
          <a:p>
            <a:pPr lvl="1"/>
            <a:endParaRPr lang="en-US" i="1" dirty="0"/>
          </a:p>
          <a:p>
            <a:r>
              <a:rPr lang="en-US" dirty="0"/>
              <a:t>Rapidly exploring Random Trees </a:t>
            </a:r>
          </a:p>
          <a:p>
            <a:pPr lvl="1"/>
            <a:r>
              <a:rPr lang="en-US" dirty="0"/>
              <a:t>randomly sample the C-space</a:t>
            </a:r>
          </a:p>
          <a:p>
            <a:pPr lvl="1"/>
            <a:r>
              <a:rPr lang="en-US" dirty="0"/>
              <a:t>graph built will be a </a:t>
            </a:r>
            <a:r>
              <a:rPr lang="en-US" u="sng" dirty="0"/>
              <a:t>tree</a:t>
            </a:r>
          </a:p>
          <a:p>
            <a:r>
              <a:rPr lang="en-US" dirty="0"/>
              <a:t>Rapidly exploring Dense Trees</a:t>
            </a:r>
          </a:p>
          <a:p>
            <a:pPr lvl="1"/>
            <a:r>
              <a:rPr lang="en-US" dirty="0"/>
              <a:t>any sequence of samples (</a:t>
            </a:r>
            <a:r>
              <a:rPr lang="en-US" u="sng" dirty="0"/>
              <a:t>not necessarily random</a:t>
            </a:r>
            <a:r>
              <a:rPr lang="en-US" dirty="0"/>
              <a:t>)</a:t>
            </a:r>
          </a:p>
          <a:p>
            <a:r>
              <a:rPr lang="en-US" dirty="0"/>
              <a:t>Probabilistic Roadmaps</a:t>
            </a:r>
          </a:p>
          <a:p>
            <a:pPr lvl="1"/>
            <a:r>
              <a:rPr lang="en-US" dirty="0"/>
              <a:t>build a </a:t>
            </a:r>
            <a:r>
              <a:rPr lang="en-US" u="sng" dirty="0"/>
              <a:t>general graph </a:t>
            </a:r>
            <a:r>
              <a:rPr lang="en-US" dirty="0"/>
              <a:t>(roadmap) instead of a tree</a:t>
            </a:r>
          </a:p>
          <a:p>
            <a:pPr lvl="1"/>
            <a:r>
              <a:rPr lang="en-US" dirty="0"/>
              <a:t>useful for multiple queries with diff. start and goals</a:t>
            </a:r>
          </a:p>
        </p:txBody>
      </p:sp>
    </p:spTree>
    <p:extLst>
      <p:ext uri="{BB962C8B-B14F-4D97-AF65-F5344CB8AC3E}">
        <p14:creationId xmlns:p14="http://schemas.microsoft.com/office/powerpoint/2010/main" val="433278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many, many 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articulated robots</a:t>
            </a:r>
          </a:p>
          <a:p>
            <a:r>
              <a:rPr lang="en-US" dirty="0"/>
              <a:t>kinematics, dynamics, differential constraints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http://msl.cs.uiuc.edu/rrt/gallery.html</a:t>
            </a:r>
            <a:r>
              <a:rPr lang="en-US" dirty="0"/>
              <a:t> (circa 2000)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563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245" y="2914810"/>
            <a:ext cx="7867650" cy="4346575"/>
          </a:xfrm>
        </p:spPr>
      </p:pic>
      <p:cxnSp>
        <p:nvCxnSpPr>
          <p:cNvPr id="5" name="Straight Arrow Connector 4"/>
          <p:cNvCxnSpPr/>
          <p:nvPr/>
        </p:nvCxnSpPr>
        <p:spPr>
          <a:xfrm flipH="1">
            <a:off x="6520070" y="1696278"/>
            <a:ext cx="2729948" cy="2027583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59757" y="861391"/>
            <a:ext cx="46410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starting configuration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659758" y="3204483"/>
            <a:ext cx="2320506" cy="1765082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63786" y="2463874"/>
            <a:ext cx="3435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sampled </a:t>
            </a:r>
            <a:r>
              <a:rPr lang="en-US" dirty="0" err="1"/>
              <a:t>config</a:t>
            </a:r>
            <a:r>
              <a:rPr lang="en-US" dirty="0"/>
              <a:t>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40BCB2-F514-DF46-8145-FFCA280D71AA}"/>
              </a:ext>
            </a:extLst>
          </p:cNvPr>
          <p:cNvCxnSpPr>
            <a:cxnSpLocks/>
          </p:cNvCxnSpPr>
          <p:nvPr/>
        </p:nvCxnSpPr>
        <p:spPr>
          <a:xfrm flipV="1">
            <a:off x="2908300" y="5930900"/>
            <a:ext cx="1524000" cy="187960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225998-890E-5248-A86E-E7D12F8EE3EE}"/>
              </a:ext>
            </a:extLst>
          </p:cNvPr>
          <p:cNvSpPr txBox="1"/>
          <p:nvPr/>
        </p:nvSpPr>
        <p:spPr>
          <a:xfrm>
            <a:off x="447302" y="7937768"/>
            <a:ext cx="513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nearest point on the tree</a:t>
            </a:r>
          </a:p>
        </p:txBody>
      </p:sp>
    </p:spTree>
    <p:extLst>
      <p:ext uri="{BB962C8B-B14F-4D97-AF65-F5344CB8AC3E}">
        <p14:creationId xmlns:p14="http://schemas.microsoft.com/office/powerpoint/2010/main" val="1185506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875"/>
            <a:ext cx="6743700" cy="3724275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25" y="4223026"/>
            <a:ext cx="10058400" cy="21813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03096" y="768627"/>
            <a:ext cx="4305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assume no obstacles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51" y="6593952"/>
            <a:ext cx="7419009" cy="2330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0661" y="7288696"/>
            <a:ext cx="31937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if nearest point lies on an existing edge, then split that edge</a:t>
            </a:r>
          </a:p>
        </p:txBody>
      </p:sp>
    </p:spTree>
    <p:extLst>
      <p:ext uri="{BB962C8B-B14F-4D97-AF65-F5344CB8AC3E}">
        <p14:creationId xmlns:p14="http://schemas.microsoft.com/office/powerpoint/2010/main" val="542834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391" y="2182744"/>
            <a:ext cx="10058400" cy="53453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6208" y="8547652"/>
            <a:ext cx="8545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 that there is </a:t>
            </a:r>
            <a:r>
              <a:rPr lang="en-US" i="1" dirty="0"/>
              <a:t>no</a:t>
            </a:r>
            <a:r>
              <a:rPr lang="en-US" dirty="0"/>
              <a:t> </a:t>
            </a:r>
            <a:r>
              <a:rPr lang="en-US"/>
              <a:t>parameter involved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07986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55"/>
          <a:stretch/>
        </p:blipFill>
        <p:spPr>
          <a:xfrm>
            <a:off x="1325217" y="251791"/>
            <a:ext cx="10058400" cy="43864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17" y="5041900"/>
            <a:ext cx="10058400" cy="351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4152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goal?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RDT is only building a tree</a:t>
            </a:r>
          </a:p>
          <a:p>
            <a:r>
              <a:rPr lang="en-US" dirty="0"/>
              <a:t>Occasionally add the goal configuration and see if it gets connected to the tree</a:t>
            </a:r>
          </a:p>
          <a:p>
            <a:pPr lvl="1"/>
            <a:r>
              <a:rPr lang="en-US" dirty="0"/>
              <a:t>say every 100</a:t>
            </a:r>
            <a:r>
              <a:rPr lang="en-US" baseline="30000" dirty="0"/>
              <a:t>th</a:t>
            </a:r>
            <a:r>
              <a:rPr lang="en-US" dirty="0"/>
              <a:t> iteration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48" b="15155"/>
          <a:stretch/>
        </p:blipFill>
        <p:spPr>
          <a:xfrm>
            <a:off x="2957504" y="5492620"/>
            <a:ext cx="7142799" cy="35660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8957" y="5711687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190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in the C-space</a:t>
            </a:r>
          </a:p>
          <a:p>
            <a:r>
              <a:rPr lang="en-US" dirty="0"/>
              <a:t>A vertex in the graph is a specific configuration</a:t>
            </a:r>
          </a:p>
          <a:p>
            <a:r>
              <a:rPr lang="en-US" dirty="0"/>
              <a:t>How to find the </a:t>
            </a:r>
            <a:r>
              <a:rPr lang="en-US" i="1" dirty="0"/>
              <a:t>nearest</a:t>
            </a:r>
            <a:r>
              <a:rPr lang="en-US" dirty="0"/>
              <a:t> configuration?</a:t>
            </a:r>
          </a:p>
          <a:p>
            <a:pPr lvl="1"/>
            <a:r>
              <a:rPr lang="en-US" dirty="0"/>
              <a:t>What is the </a:t>
            </a:r>
            <a:r>
              <a:rPr lang="en-US" i="1" dirty="0"/>
              <a:t>distance</a:t>
            </a:r>
            <a:r>
              <a:rPr lang="en-US" dirty="0"/>
              <a:t> function?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48" b="15155"/>
          <a:stretch/>
        </p:blipFill>
        <p:spPr>
          <a:xfrm>
            <a:off x="2931000" y="5505872"/>
            <a:ext cx="7142799" cy="356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97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Distances in C-space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C-space is not necessarily Euclidean space</a:t>
            </a:r>
          </a:p>
          <a:p>
            <a:r>
              <a:rPr lang="en-US" dirty="0"/>
              <a:t>Need to define appropriate </a:t>
            </a:r>
            <a:r>
              <a:rPr lang="en-US" i="1" dirty="0"/>
              <a:t>distances</a:t>
            </a:r>
            <a:endParaRPr lang="en-US" dirty="0"/>
          </a:p>
          <a:p>
            <a:pPr lvl="1"/>
            <a:r>
              <a:rPr lang="en-US" i="1" dirty="0"/>
              <a:t>e.g.</a:t>
            </a:r>
            <a:r>
              <a:rPr lang="en-US" dirty="0"/>
              <a:t>, distance along a circle for 1-link manipulator</a:t>
            </a:r>
          </a:p>
          <a:p>
            <a:pPr lvl="1"/>
            <a:r>
              <a:rPr lang="en-US" i="1" dirty="0"/>
              <a:t>e.g.</a:t>
            </a:r>
            <a:r>
              <a:rPr lang="en-US" dirty="0"/>
              <a:t>, distance along the surface of the torus for a 2-link manipulator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860" y="6741349"/>
            <a:ext cx="7419009" cy="233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500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Distances in C-space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C-space is not necessarily Euclidean space</a:t>
            </a:r>
          </a:p>
          <a:p>
            <a:r>
              <a:rPr lang="en-US" dirty="0"/>
              <a:t>Need to define appropriate </a:t>
            </a:r>
            <a:r>
              <a:rPr lang="en-US" i="1" dirty="0"/>
              <a:t>distances</a:t>
            </a:r>
          </a:p>
          <a:p>
            <a:r>
              <a:rPr lang="en-US" dirty="0"/>
              <a:t>Each </a:t>
            </a:r>
            <a:r>
              <a:rPr lang="en-US" i="1" dirty="0"/>
              <a:t>edge</a:t>
            </a:r>
            <a:r>
              <a:rPr lang="en-US" dirty="0"/>
              <a:t> represents a path in C-space</a:t>
            </a:r>
          </a:p>
          <a:p>
            <a:pPr lvl="1"/>
            <a:r>
              <a:rPr lang="en-US" dirty="0"/>
              <a:t>An edge means that there is a </a:t>
            </a:r>
            <a:r>
              <a:rPr lang="en-US" i="1" dirty="0"/>
              <a:t>collision-free</a:t>
            </a:r>
            <a:r>
              <a:rPr lang="en-US" dirty="0"/>
              <a:t> </a:t>
            </a:r>
            <a:r>
              <a:rPr lang="en-US" i="1" dirty="0"/>
              <a:t>path</a:t>
            </a:r>
            <a:r>
              <a:rPr lang="en-US" dirty="0"/>
              <a:t> between two configurations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860" y="6741349"/>
            <a:ext cx="7419009" cy="233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88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81" y="1816847"/>
            <a:ext cx="5916609" cy="6293483"/>
          </a:xfrm>
        </p:spPr>
        <p:txBody>
          <a:bodyPr>
            <a:normAutofit/>
          </a:bodyPr>
          <a:lstStyle/>
          <a:p>
            <a:r>
              <a:rPr lang="en-US" dirty="0"/>
              <a:t>Use a step size parameter</a:t>
            </a:r>
          </a:p>
          <a:p>
            <a:r>
              <a:rPr lang="en-US" dirty="0"/>
              <a:t>Move in steps and check collision of a configuration</a:t>
            </a:r>
          </a:p>
          <a:p>
            <a:r>
              <a:rPr lang="en-US" dirty="0"/>
              <a:t>Often, a </a:t>
            </a:r>
            <a:r>
              <a:rPr lang="en-US" i="1" dirty="0"/>
              <a:t>local steering </a:t>
            </a:r>
            <a:r>
              <a:rPr lang="en-US" dirty="0"/>
              <a:t>function</a:t>
            </a:r>
            <a:r>
              <a:rPr lang="en-US" i="1" dirty="0"/>
              <a:t> </a:t>
            </a:r>
            <a:r>
              <a:rPr lang="en-US" dirty="0"/>
              <a:t>is used instead*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080" y="7463999"/>
            <a:ext cx="4043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* more details later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690" y="409953"/>
            <a:ext cx="6194110" cy="88981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1185" y="8794765"/>
            <a:ext cx="65024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personalrobotics.ri.cmu.edu</a:t>
            </a:r>
            <a:r>
              <a:rPr lang="en-US" sz="1200" dirty="0"/>
              <a:t>/files/courses/papers/Kuffner00-rrtconnect.pdf</a:t>
            </a:r>
          </a:p>
        </p:txBody>
      </p:sp>
    </p:spTree>
    <p:extLst>
      <p:ext uri="{BB962C8B-B14F-4D97-AF65-F5344CB8AC3E}">
        <p14:creationId xmlns:p14="http://schemas.microsoft.com/office/powerpoint/2010/main" val="9393613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 “grows” from the start </a:t>
            </a:r>
            <a:r>
              <a:rPr lang="en-US" dirty="0" err="1"/>
              <a:t>config</a:t>
            </a:r>
            <a:r>
              <a:rPr lang="en-US" dirty="0"/>
              <a:t>. due to step size parameter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991" y="2050223"/>
            <a:ext cx="7156174" cy="38029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121" y="2968487"/>
            <a:ext cx="3663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without step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799" y="6274905"/>
            <a:ext cx="2981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step size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104" y="6010216"/>
            <a:ext cx="9417008" cy="302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588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BBB8-F629-3343-8070-49E3676B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8E04A-C60F-AC46-8A8C-C70A8BF1A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run_rrt.py</a:t>
            </a:r>
            <a:endParaRPr lang="en-US" dirty="0"/>
          </a:p>
          <a:p>
            <a:pPr lvl="1"/>
            <a:r>
              <a:rPr lang="en-US" dirty="0"/>
              <a:t>Change DELTA and observe the effect on the running time and path length</a:t>
            </a:r>
          </a:p>
        </p:txBody>
      </p:sp>
    </p:spTree>
    <p:extLst>
      <p:ext uri="{BB962C8B-B14F-4D97-AF65-F5344CB8AC3E}">
        <p14:creationId xmlns:p14="http://schemas.microsoft.com/office/powerpoint/2010/main" val="2214267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RRTs so popular?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define the C-space and implement following subroutines, the actual algorithm is very </a:t>
            </a:r>
            <a:r>
              <a:rPr lang="en-US" i="1" dirty="0"/>
              <a:t>simple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random configuration generator</a:t>
            </a:r>
          </a:p>
          <a:p>
            <a:pPr lvl="1"/>
            <a:r>
              <a:rPr lang="en-US" dirty="0"/>
              <a:t>nearest neighbor</a:t>
            </a:r>
          </a:p>
          <a:p>
            <a:pPr lvl="1"/>
            <a:r>
              <a:rPr lang="en-US" dirty="0"/>
              <a:t>collision checker</a:t>
            </a:r>
          </a:p>
          <a:p>
            <a:r>
              <a:rPr lang="en-US" dirty="0"/>
              <a:t>In </a:t>
            </a:r>
            <a:r>
              <a:rPr lang="en-US" i="1" dirty="0"/>
              <a:t>practice</a:t>
            </a:r>
            <a:r>
              <a:rPr lang="en-US" dirty="0"/>
              <a:t>, it works rather </a:t>
            </a:r>
            <a:r>
              <a:rPr lang="en-US" i="1" dirty="0"/>
              <a:t>well</a:t>
            </a:r>
            <a:r>
              <a:rPr lang="en-US" dirty="0"/>
              <a:t>.</a:t>
            </a:r>
          </a:p>
          <a:p>
            <a:r>
              <a:rPr lang="en-US" dirty="0"/>
              <a:t>Can add </a:t>
            </a:r>
            <a:r>
              <a:rPr lang="en-US" i="1" dirty="0"/>
              <a:t>heuristics</a:t>
            </a:r>
            <a:r>
              <a:rPr lang="en-US" dirty="0"/>
              <a:t> on top, </a:t>
            </a:r>
            <a:r>
              <a:rPr lang="en-US" i="1" dirty="0"/>
              <a:t>e.g.</a:t>
            </a:r>
            <a:r>
              <a:rPr lang="en-US" dirty="0"/>
              <a:t>, bias the random </a:t>
            </a:r>
            <a:r>
              <a:rPr lang="en-US" dirty="0" err="1"/>
              <a:t>config</a:t>
            </a:r>
            <a:r>
              <a:rPr lang="en-US" dirty="0"/>
              <a:t>. generator towards goal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75409722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Lecture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A31F381B-920E-CA4A-9F10-19F5FC7D7D71}" vid="{B4596B14-63FF-2A4E-8D1E-BEAF59B15FEF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Palatino"/>
        <a:ea typeface="Palatino"/>
        <a:cs typeface="Palatino"/>
      </a:majorFont>
      <a:minorFont>
        <a:latin typeface="Palatino"/>
        <a:ea typeface="Palatino"/>
        <a:cs typeface="Palatino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Template</Template>
  <TotalTime>10694</TotalTime>
  <Words>1208</Words>
  <Application>Microsoft Macintosh PowerPoint</Application>
  <PresentationFormat>Custom</PresentationFormat>
  <Paragraphs>198</Paragraphs>
  <Slides>40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Aptos</vt:lpstr>
      <vt:lpstr>Aptos Display</vt:lpstr>
      <vt:lpstr>Arial</vt:lpstr>
      <vt:lpstr>Helvetica Neue</vt:lpstr>
      <vt:lpstr>Lecture Template</vt:lpstr>
      <vt:lpstr>C-space and RRTs</vt:lpstr>
      <vt:lpstr>Note</vt:lpstr>
      <vt:lpstr>Textbooks</vt:lpstr>
      <vt:lpstr>Overview</vt:lpstr>
      <vt:lpstr>Overview</vt:lpstr>
      <vt:lpstr>Today’s Lecture</vt:lpstr>
      <vt:lpstr>Configuration</vt:lpstr>
      <vt:lpstr>Configuration</vt:lpstr>
      <vt:lpstr>Configuration</vt:lpstr>
      <vt:lpstr>Demo</vt:lpstr>
      <vt:lpstr>Two Link Manipulator</vt:lpstr>
      <vt:lpstr>Two Link Manipulator</vt:lpstr>
      <vt:lpstr>C-space Obstacles</vt:lpstr>
      <vt:lpstr>Punching holes in the donut</vt:lpstr>
      <vt:lpstr>2D robot that can only translate</vt:lpstr>
      <vt:lpstr>Non-Symmetric Robots</vt:lpstr>
      <vt:lpstr>Demo</vt:lpstr>
      <vt:lpstr>C-space obstacles can become complicated quickly!</vt:lpstr>
      <vt:lpstr>Path Planning in C-space</vt:lpstr>
      <vt:lpstr>Solution v1</vt:lpstr>
      <vt:lpstr>Discretizing the C-space</vt:lpstr>
      <vt:lpstr>Discretizing the C-space</vt:lpstr>
      <vt:lpstr>Discretizing the C-space</vt:lpstr>
      <vt:lpstr>Solution v2</vt:lpstr>
      <vt:lpstr>Solution v2</vt:lpstr>
      <vt:lpstr>Rapidly Exploring Dense Trees (RDTs)</vt:lpstr>
      <vt:lpstr>RDTs vs RRTs vs PRMs</vt:lpstr>
      <vt:lpstr>And many, many variants</vt:lpstr>
      <vt:lpstr>PowerPoint Presentation</vt:lpstr>
      <vt:lpstr>PowerPoint Presentation</vt:lpstr>
      <vt:lpstr>PowerPoint Presentation</vt:lpstr>
      <vt:lpstr>PowerPoint Presentation</vt:lpstr>
      <vt:lpstr>What about the goal?</vt:lpstr>
      <vt:lpstr>Remember</vt:lpstr>
      <vt:lpstr>Distances in C-space</vt:lpstr>
      <vt:lpstr>Distances in C-space</vt:lpstr>
      <vt:lpstr>Practical Solutions</vt:lpstr>
      <vt:lpstr>Tree “grows” from the start config. due to step size parameter</vt:lpstr>
      <vt:lpstr>Demo</vt:lpstr>
      <vt:lpstr>Why are RRTs so popular?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BUG Algorithms</dc:title>
  <dc:creator>Pratap Tokekar</dc:creator>
  <cp:lastModifiedBy>Troi Williams</cp:lastModifiedBy>
  <cp:revision>1114</cp:revision>
  <cp:lastPrinted>2018-11-01T20:48:10Z</cp:lastPrinted>
  <dcterms:modified xsi:type="dcterms:W3CDTF">2026-02-25T16:58:11Z</dcterms:modified>
</cp:coreProperties>
</file>
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60"/>
  </p:notesMasterIdLst>
  <p:sldIdLst>
    <p:sldId id="256" r:id="rId2"/>
    <p:sldId id="360" r:id="rId3"/>
    <p:sldId id="477" r:id="rId4"/>
    <p:sldId id="479" r:id="rId5"/>
    <p:sldId id="480" r:id="rId6"/>
    <p:sldId id="344" r:id="rId7"/>
    <p:sldId id="345" r:id="rId8"/>
    <p:sldId id="401" r:id="rId9"/>
    <p:sldId id="505" r:id="rId10"/>
    <p:sldId id="481" r:id="rId11"/>
    <p:sldId id="397" r:id="rId12"/>
    <p:sldId id="443" r:id="rId13"/>
    <p:sldId id="482" r:id="rId14"/>
    <p:sldId id="435" r:id="rId15"/>
    <p:sldId id="506" r:id="rId16"/>
    <p:sldId id="504" r:id="rId17"/>
    <p:sldId id="483" r:id="rId18"/>
    <p:sldId id="350" r:id="rId19"/>
    <p:sldId id="436" r:id="rId20"/>
    <p:sldId id="445" r:id="rId21"/>
    <p:sldId id="342" r:id="rId22"/>
    <p:sldId id="403" r:id="rId23"/>
    <p:sldId id="407" r:id="rId24"/>
    <p:sldId id="351" r:id="rId25"/>
    <p:sldId id="406" r:id="rId26"/>
    <p:sldId id="404" r:id="rId27"/>
    <p:sldId id="405" r:id="rId28"/>
    <p:sldId id="408" r:id="rId29"/>
    <p:sldId id="410" r:id="rId30"/>
    <p:sldId id="411" r:id="rId31"/>
    <p:sldId id="414" r:id="rId32"/>
    <p:sldId id="415" r:id="rId33"/>
    <p:sldId id="416" r:id="rId34"/>
    <p:sldId id="458" r:id="rId35"/>
    <p:sldId id="417" r:id="rId36"/>
    <p:sldId id="418" r:id="rId37"/>
    <p:sldId id="420" r:id="rId38"/>
    <p:sldId id="461" r:id="rId39"/>
    <p:sldId id="423" r:id="rId40"/>
    <p:sldId id="494" r:id="rId41"/>
    <p:sldId id="347" r:id="rId42"/>
    <p:sldId id="462" r:id="rId43"/>
    <p:sldId id="463" r:id="rId44"/>
    <p:sldId id="422" r:id="rId45"/>
    <p:sldId id="495" r:id="rId46"/>
    <p:sldId id="496" r:id="rId47"/>
    <p:sldId id="466" r:id="rId48"/>
    <p:sldId id="468" r:id="rId49"/>
    <p:sldId id="470" r:id="rId50"/>
    <p:sldId id="475" r:id="rId51"/>
    <p:sldId id="476" r:id="rId52"/>
    <p:sldId id="473" r:id="rId53"/>
    <p:sldId id="497" r:id="rId54"/>
    <p:sldId id="474" r:id="rId55"/>
    <p:sldId id="478" r:id="rId56"/>
    <p:sldId id="501" r:id="rId57"/>
    <p:sldId id="502" r:id="rId58"/>
    <p:sldId id="503" r:id="rId5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1pPr>
    <a:lvl2pPr marL="0" marR="0" indent="228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2pPr>
    <a:lvl3pPr marL="0" marR="0" indent="457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3pPr>
    <a:lvl4pPr marL="0" marR="0" indent="685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4pPr>
    <a:lvl5pPr marL="0" marR="0" indent="914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42"/>
    <p:restoredTop sz="94486"/>
  </p:normalViewPr>
  <p:slideViewPr>
    <p:cSldViewPr snapToGrid="0" snapToObjects="1">
      <p:cViewPr varScale="1">
        <p:scale>
          <a:sx n="77" d="100"/>
          <a:sy n="77" d="100"/>
        </p:scale>
        <p:origin x="18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283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>
            <a:normAutofit/>
          </a:bodyPr>
          <a:lstStyle>
            <a:lvl1pPr algn="l">
              <a:defRPr sz="62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5122898"/>
            <a:ext cx="11054080" cy="2354862"/>
          </a:xfrm>
        </p:spPr>
        <p:txBody>
          <a:bodyPr/>
          <a:lstStyle>
            <a:lvl1pPr marL="0" indent="0" algn="l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2022"/>
              </a:spcBef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1785106"/>
            <a:ext cx="5527040" cy="699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1785106"/>
            <a:ext cx="5527040" cy="699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2"/>
            <a:ext cx="11216640" cy="1010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1816848"/>
            <a:ext cx="11216640" cy="696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5D5CF-5331-5C4D-A3D2-5C5939CC3261}" type="datetimeFigureOut">
              <a:rPr lang="en-US" smtClean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322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5120" b="1" kern="1200">
          <a:solidFill>
            <a:srgbClr val="660000"/>
          </a:solidFill>
          <a:latin typeface="+mj-lt"/>
          <a:ea typeface="+mj-ea"/>
          <a:cs typeface="+mj-cs"/>
        </a:defRPr>
      </a:lvl1pPr>
    </p:titleStyle>
    <p:bodyStyle>
      <a:lvl1pPr marL="417683" indent="-417683" algn="l" defTabSz="1300460" rtl="0" eaLnBrk="1" latinLnBrk="0" hangingPunct="1">
        <a:lnSpc>
          <a:spcPct val="90000"/>
        </a:lnSpc>
        <a:spcBef>
          <a:spcPts val="1422"/>
        </a:spcBef>
        <a:buClr>
          <a:srgbClr val="FF6600"/>
        </a:buClr>
        <a:buSzPct val="100000"/>
        <a:buFont typeface="LucidaGrande" charset="0"/>
        <a:buChar char="▸"/>
        <a:tabLst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Wingdings" charset="2"/>
        <a:buChar char="§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robabilistic-robotics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3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34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40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2.emf"/><Relationship Id="rId4" Type="http://schemas.openxmlformats.org/officeDocument/2006/relationships/image" Target="../media/image3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emf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image" Target="../media/image66.emf"/><Relationship Id="rId7" Type="http://schemas.openxmlformats.org/officeDocument/2006/relationships/image" Target="../media/image70.emf"/><Relationship Id="rId12" Type="http://schemas.openxmlformats.org/officeDocument/2006/relationships/image" Target="../media/image75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emf"/><Relationship Id="rId11" Type="http://schemas.openxmlformats.org/officeDocument/2006/relationships/image" Target="../media/image74.emf"/><Relationship Id="rId5" Type="http://schemas.openxmlformats.org/officeDocument/2006/relationships/image" Target="../media/image68.emf"/><Relationship Id="rId10" Type="http://schemas.openxmlformats.org/officeDocument/2006/relationships/image" Target="../media/image73.emf"/><Relationship Id="rId4" Type="http://schemas.openxmlformats.org/officeDocument/2006/relationships/image" Target="../media/image67.emf"/><Relationship Id="rId9" Type="http://schemas.openxmlformats.org/officeDocument/2006/relationships/image" Target="../media/image72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0.emf"/><Relationship Id="rId4" Type="http://schemas.openxmlformats.org/officeDocument/2006/relationships/image" Target="../media/image43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Kalman Filters</a:t>
            </a:r>
            <a:endParaRPr dirty="0"/>
          </a:p>
        </p:txBody>
      </p:sp>
      <p:sp>
        <p:nvSpPr>
          <p:cNvPr id="6" name="Shape 55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 i="1"/>
            </a:pPr>
            <a:endParaRPr lang="en-US" dirty="0"/>
          </a:p>
          <a:p>
            <a:pPr>
              <a:defRPr i="1"/>
            </a:pPr>
            <a:r>
              <a:rPr lang="en-US" dirty="0"/>
              <a:t>Troi Williams</a:t>
            </a:r>
          </a:p>
          <a:p>
            <a:pPr>
              <a:defRPr i="1"/>
            </a:pPr>
            <a:endParaRPr dirty="0"/>
          </a:p>
          <a:p>
            <a:pPr>
              <a:defRPr i="1"/>
            </a:pPr>
            <a:r>
              <a:rPr lang="en-US" dirty="0"/>
              <a:t>Slide Credits: </a:t>
            </a:r>
            <a:r>
              <a:rPr dirty="0"/>
              <a:t>Pratap Tokekar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hlinkClick r:id="rId2"/>
              </a:rPr>
              <a:t>http://www.probabilistic-robotics.org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11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95E65490-FE2A-5901-2F53-4CF9D108A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6737"/>
            <a:ext cx="13004800" cy="2801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5D150-6242-99BB-3D39-F4D5294F7CA4}"/>
              </a:ext>
            </a:extLst>
          </p:cNvPr>
          <p:cNvSpPr txBox="1"/>
          <p:nvPr/>
        </p:nvSpPr>
        <p:spPr>
          <a:xfrm>
            <a:off x="192505" y="1440923"/>
            <a:ext cx="319350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moving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2C239-CDCF-38A0-D947-5C680E172F4F}"/>
              </a:ext>
            </a:extLst>
          </p:cNvPr>
          <p:cNvSpPr txBox="1"/>
          <p:nvPr/>
        </p:nvSpPr>
        <p:spPr>
          <a:xfrm>
            <a:off x="427660" y="3462771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pic>
        <p:nvPicPr>
          <p:cNvPr id="7" name="Picture 6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9967EE4-9541-89B1-25C0-3B99E76B53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0" y="2868127"/>
            <a:ext cx="13007321" cy="1470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CA7EAA-9B48-487C-4DE1-06ED1AFB3290}"/>
              </a:ext>
            </a:extLst>
          </p:cNvPr>
          <p:cNvSpPr txBox="1"/>
          <p:nvPr/>
        </p:nvSpPr>
        <p:spPr>
          <a:xfrm>
            <a:off x="192504" y="2956889"/>
            <a:ext cx="29482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moving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1E0C0-8DD6-094D-8B35-C6C0869818FD}"/>
              </a:ext>
            </a:extLst>
          </p:cNvPr>
          <p:cNvSpPr txBox="1"/>
          <p:nvPr/>
        </p:nvSpPr>
        <p:spPr>
          <a:xfrm>
            <a:off x="4643558" y="1703860"/>
            <a:ext cx="3717684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Prediction 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C7F79-52D2-C1D5-CD6D-9D9EB5526C88}"/>
              </a:ext>
            </a:extLst>
          </p:cNvPr>
          <p:cNvSpPr txBox="1"/>
          <p:nvPr/>
        </p:nvSpPr>
        <p:spPr>
          <a:xfrm>
            <a:off x="9954308" y="1440923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p(x</a:t>
            </a:r>
            <a:r>
              <a:rPr lang="en-US" i="1" baseline="-25000" dirty="0"/>
              <a:t>t-1</a:t>
            </a:r>
            <a:r>
              <a:rPr lang="en-US" i="1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0DEFA-E25C-E933-3F3F-D8609FCC00F6}"/>
              </a:ext>
            </a:extLst>
          </p:cNvPr>
          <p:cNvSpPr txBox="1"/>
          <p:nvPr/>
        </p:nvSpPr>
        <p:spPr>
          <a:xfrm>
            <a:off x="9954308" y="3021711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pic>
        <p:nvPicPr>
          <p:cNvPr id="21" name="Picture 20" descr="A screenshot of a video game&#10;&#10;Description automatically generated">
            <a:extLst>
              <a:ext uri="{FF2B5EF4-FFF2-40B4-BE49-F238E27FC236}">
                <a16:creationId xmlns:a16="http://schemas.microsoft.com/office/drawing/2014/main" id="{55A60405-E7C8-416D-B4E8-77D57E917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2956"/>
            <a:ext cx="13100950" cy="4280793"/>
          </a:xfrm>
          <a:prstGeom prst="rect">
            <a:avLst/>
          </a:prstGeom>
        </p:spPr>
      </p:pic>
      <p:pic>
        <p:nvPicPr>
          <p:cNvPr id="22" name="Picture 21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C258470-EBAF-41BD-6342-721AE73636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2519" y="6527272"/>
            <a:ext cx="13007321" cy="14701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1A31BCE-2A5A-A555-0383-CD32DFB9824C}"/>
              </a:ext>
            </a:extLst>
          </p:cNvPr>
          <p:cNvSpPr txBox="1"/>
          <p:nvPr/>
        </p:nvSpPr>
        <p:spPr>
          <a:xfrm>
            <a:off x="195024" y="6618926"/>
            <a:ext cx="364074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observing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D8C575-2F42-678A-4748-A26DC25BE6B7}"/>
              </a:ext>
            </a:extLst>
          </p:cNvPr>
          <p:cNvSpPr txBox="1"/>
          <p:nvPr/>
        </p:nvSpPr>
        <p:spPr>
          <a:xfrm>
            <a:off x="195023" y="8134892"/>
            <a:ext cx="339548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observing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F8B33-30B5-A5C4-F18F-2BADD35CC94F}"/>
              </a:ext>
            </a:extLst>
          </p:cNvPr>
          <p:cNvSpPr txBox="1"/>
          <p:nvPr/>
        </p:nvSpPr>
        <p:spPr>
          <a:xfrm>
            <a:off x="4643558" y="6755277"/>
            <a:ext cx="3127779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2. Update 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CE9AAA-AFDF-E8CC-AB3A-AF9E2059CECA}"/>
              </a:ext>
            </a:extLst>
          </p:cNvPr>
          <p:cNvSpPr txBox="1"/>
          <p:nvPr/>
        </p:nvSpPr>
        <p:spPr>
          <a:xfrm>
            <a:off x="9829618" y="6618926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BBF492-97C4-8870-89E1-BB59ACFC2C11}"/>
              </a:ext>
            </a:extLst>
          </p:cNvPr>
          <p:cNvSpPr txBox="1"/>
          <p:nvPr/>
        </p:nvSpPr>
        <p:spPr>
          <a:xfrm>
            <a:off x="9829618" y="8299899"/>
            <a:ext cx="3121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, 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037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6BBC-6611-25E8-8D90-95D65A2D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F62B-677D-33C5-57B9-7CC35B91C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I’ll show you the 1D version of the Kalman Filter prediction/update equations</a:t>
            </a:r>
          </a:p>
          <a:p>
            <a:r>
              <a:rPr lang="en-US" dirty="0"/>
              <a:t>Then I’ll show you the general d-D version </a:t>
            </a:r>
          </a:p>
          <a:p>
            <a:r>
              <a:rPr lang="en-US" dirty="0"/>
              <a:t>We’ll assume linear dynamics and observation</a:t>
            </a:r>
          </a:p>
          <a:p>
            <a:endParaRPr lang="en-US" dirty="0"/>
          </a:p>
          <a:p>
            <a:r>
              <a:rPr lang="en-US" dirty="0"/>
              <a:t>We’ll </a:t>
            </a:r>
            <a:r>
              <a:rPr lang="en-US" i="1" dirty="0"/>
              <a:t>extend</a:t>
            </a:r>
            <a:r>
              <a:rPr lang="en-US" dirty="0"/>
              <a:t> this to non-linear systems</a:t>
            </a:r>
          </a:p>
          <a:p>
            <a:r>
              <a:rPr lang="en-US" dirty="0"/>
              <a:t>Then we’ll see how to fuse this with actual camera observations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43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3005-2361-CBD8-65EA-140860D7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Kalman Filter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AEAA2-0F80-2AA5-E706-AC6E817E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Belief will be represented as a Gaussian distribution</a:t>
            </a:r>
          </a:p>
          <a:p>
            <a:endParaRPr lang="en-US" dirty="0"/>
          </a:p>
          <a:p>
            <a:r>
              <a:rPr lang="en-US" dirty="0"/>
              <a:t>Assumptions</a:t>
            </a:r>
          </a:p>
          <a:p>
            <a:pPr lvl="1"/>
            <a:r>
              <a:rPr lang="en-US" dirty="0"/>
              <a:t>Linear dynamics</a:t>
            </a:r>
          </a:p>
          <a:p>
            <a:pPr lvl="1"/>
            <a:r>
              <a:rPr lang="en-US" dirty="0"/>
              <a:t>Additive motion noise (aka </a:t>
            </a:r>
            <a:r>
              <a:rPr lang="en-US" i="1" dirty="0"/>
              <a:t>process</a:t>
            </a:r>
            <a:r>
              <a:rPr lang="en-US" dirty="0"/>
              <a:t> aka </a:t>
            </a:r>
            <a:r>
              <a:rPr lang="en-US" i="1" dirty="0"/>
              <a:t>system</a:t>
            </a:r>
            <a:r>
              <a:rPr lang="en-US" dirty="0"/>
              <a:t> noise)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Linear observation model</a:t>
            </a:r>
          </a:p>
          <a:p>
            <a:pPr lvl="1"/>
            <a:r>
              <a:rPr lang="en-US" dirty="0"/>
              <a:t>Additive measurement noise</a:t>
            </a:r>
          </a:p>
        </p:txBody>
      </p:sp>
    </p:spTree>
    <p:extLst>
      <p:ext uri="{BB962C8B-B14F-4D97-AF65-F5344CB8AC3E}">
        <p14:creationId xmlns:p14="http://schemas.microsoft.com/office/powerpoint/2010/main" val="283594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EE7A507-D2AA-0947-BD49-21A9BA1DA998}"/>
              </a:ext>
            </a:extLst>
          </p:cNvPr>
          <p:cNvSpPr/>
          <p:nvPr/>
        </p:nvSpPr>
        <p:spPr>
          <a:xfrm>
            <a:off x="243063" y="3267005"/>
            <a:ext cx="6616843" cy="1986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32179" y="469618"/>
            <a:ext cx="11982027" cy="91214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1D Gaussian Random Variable</a:t>
            </a:r>
          </a:p>
        </p:txBody>
      </p:sp>
      <p:grpSp>
        <p:nvGrpSpPr>
          <p:cNvPr id="18434" name="Group 22"/>
          <p:cNvGrpSpPr>
            <a:grpSpLocks/>
          </p:cNvGrpSpPr>
          <p:nvPr/>
        </p:nvGrpSpPr>
        <p:grpSpPr bwMode="auto">
          <a:xfrm>
            <a:off x="7017174" y="1503681"/>
            <a:ext cx="5635414" cy="7218116"/>
            <a:chOff x="3108" y="306"/>
            <a:chExt cx="2496" cy="3197"/>
          </a:xfrm>
        </p:grpSpPr>
        <p:grpSp>
          <p:nvGrpSpPr>
            <p:cNvPr id="18438" name="Group 16"/>
            <p:cNvGrpSpPr>
              <a:grpSpLocks/>
            </p:cNvGrpSpPr>
            <p:nvPr/>
          </p:nvGrpSpPr>
          <p:grpSpPr bwMode="auto">
            <a:xfrm>
              <a:off x="3108" y="306"/>
              <a:ext cx="2496" cy="1638"/>
              <a:chOff x="3108" y="306"/>
              <a:chExt cx="2496" cy="1638"/>
            </a:xfrm>
          </p:grpSpPr>
          <p:pic>
            <p:nvPicPr>
              <p:cNvPr id="18442" name="Picture 5" descr="norma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8" y="306"/>
                <a:ext cx="2496" cy="1638"/>
              </a:xfrm>
              <a:prstGeom prst="rect">
                <a:avLst/>
              </a:prstGeom>
              <a:noFill/>
              <a:ln w="254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21289" name="Text Box 9"/>
              <p:cNvSpPr txBox="1">
                <a:spLocks noChangeArrowheads="1"/>
              </p:cNvSpPr>
              <p:nvPr/>
            </p:nvSpPr>
            <p:spPr bwMode="auto">
              <a:xfrm>
                <a:off x="3954" y="1812"/>
                <a:ext cx="235" cy="1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r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120000"/>
                  <a:defRPr/>
                </a:pPr>
                <a:r>
                  <a:rPr lang="en-US" altLang="en-US" sz="1991" dirty="0"/>
                  <a:t>-</a:t>
                </a:r>
                <a:r>
                  <a:rPr lang="en-US" altLang="en-US" sz="1991" dirty="0">
                    <a:latin typeface="Symbol" charset="2"/>
                  </a:rPr>
                  <a:t>s</a:t>
                </a:r>
                <a:endParaRPr lang="en-US" altLang="en-US" sz="1991" dirty="0"/>
              </a:p>
            </p:txBody>
          </p:sp>
          <p:sp>
            <p:nvSpPr>
              <p:cNvPr id="1121290" name="Text Box 10"/>
              <p:cNvSpPr txBox="1">
                <a:spLocks noChangeArrowheads="1"/>
              </p:cNvSpPr>
              <p:nvPr/>
            </p:nvSpPr>
            <p:spPr bwMode="auto">
              <a:xfrm>
                <a:off x="4520" y="1814"/>
                <a:ext cx="235" cy="1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r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120000"/>
                  <a:defRPr/>
                </a:pPr>
                <a:r>
                  <a:rPr lang="en-US" altLang="en-US" sz="1991">
                    <a:latin typeface="Symbol" charset="2"/>
                  </a:rPr>
                  <a:t>s</a:t>
                </a:r>
                <a:endParaRPr lang="en-US" altLang="en-US" sz="1991"/>
              </a:p>
            </p:txBody>
          </p:sp>
          <p:sp>
            <p:nvSpPr>
              <p:cNvPr id="1121291" name="Text Box 11"/>
              <p:cNvSpPr txBox="1">
                <a:spLocks noChangeArrowheads="1"/>
              </p:cNvSpPr>
              <p:nvPr/>
            </p:nvSpPr>
            <p:spPr bwMode="auto">
              <a:xfrm>
                <a:off x="4326" y="1026"/>
                <a:ext cx="235" cy="1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r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folHlink"/>
                  </a:buClr>
                  <a:buSzPct val="120000"/>
                  <a:defRPr/>
                </a:pPr>
                <a:r>
                  <a:rPr lang="en-US" altLang="en-US" sz="1991">
                    <a:latin typeface="Symbol" charset="2"/>
                  </a:rPr>
                  <a:t>m</a:t>
                </a:r>
                <a:endParaRPr lang="en-US" altLang="en-US" sz="1991"/>
              </a:p>
            </p:txBody>
          </p:sp>
        </p:grp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906" y="2420"/>
              <a:ext cx="81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120000"/>
                <a:defRPr/>
              </a:pPr>
              <a:r>
                <a:rPr lang="en-US" altLang="en-US" sz="5120" dirty="0"/>
                <a:t>Mean</a:t>
              </a:r>
            </a:p>
          </p:txBody>
        </p:sp>
        <p:sp>
          <p:nvSpPr>
            <p:cNvPr id="24" name="Text Box 14"/>
            <p:cNvSpPr txBox="1">
              <a:spLocks noChangeArrowheads="1"/>
            </p:cNvSpPr>
            <p:nvPr/>
          </p:nvSpPr>
          <p:spPr bwMode="auto">
            <a:xfrm>
              <a:off x="3679" y="3148"/>
              <a:ext cx="122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120000"/>
                <a:defRPr/>
              </a:pPr>
              <a:r>
                <a:rPr lang="en-US" altLang="en-US" sz="5120"/>
                <a:t>Variance</a:t>
              </a:r>
              <a:endParaRPr lang="en-US" altLang="en-US" sz="5120" dirty="0"/>
            </a:p>
          </p:txBody>
        </p:sp>
      </p:grpSp>
      <p:pic>
        <p:nvPicPr>
          <p:cNvPr id="18435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45" y="6109547"/>
            <a:ext cx="495808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45" y="7805138"/>
            <a:ext cx="6710116" cy="885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7506DD-0FCE-BC40-8C02-74C91FE40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445" y="2110915"/>
            <a:ext cx="4403308" cy="7102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6BA151-E1C4-5447-8AE3-5DB9F17CE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75" y="3543889"/>
            <a:ext cx="5931617" cy="134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967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D053CE8-32C0-4C47-936C-99ABEC1EE014}"/>
              </a:ext>
            </a:extLst>
          </p:cNvPr>
          <p:cNvSpPr/>
          <p:nvPr/>
        </p:nvSpPr>
        <p:spPr>
          <a:xfrm>
            <a:off x="205993" y="2932950"/>
            <a:ext cx="7603477" cy="1515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32179" y="469618"/>
            <a:ext cx="11982027" cy="91214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dirty="0"/>
              <a:t>d-dimensional Gaussian RV</a:t>
            </a:r>
          </a:p>
        </p:txBody>
      </p:sp>
      <p:sp>
        <p:nvSpPr>
          <p:cNvPr id="1121295" name="Text Box 15"/>
          <p:cNvSpPr txBox="1">
            <a:spLocks noChangeArrowheads="1"/>
          </p:cNvSpPr>
          <p:nvPr/>
        </p:nvSpPr>
        <p:spPr bwMode="auto">
          <a:xfrm>
            <a:off x="898596" y="5633020"/>
            <a:ext cx="7717370" cy="565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120000"/>
              <a:defRPr/>
            </a:pPr>
            <a:r>
              <a:rPr lang="en-US" altLang="en-US" sz="3413" b="1" i="1" dirty="0"/>
              <a:t>x</a:t>
            </a:r>
            <a:r>
              <a:rPr lang="en-US" altLang="en-US" sz="3413" dirty="0"/>
              <a:t> and mu</a:t>
            </a:r>
            <a:r>
              <a:rPr lang="en-US" altLang="en-US" sz="3413" b="1" dirty="0"/>
              <a:t> </a:t>
            </a:r>
            <a:r>
              <a:rPr lang="en-US" altLang="en-US" sz="3413" dirty="0"/>
              <a:t>are a </a:t>
            </a:r>
            <a:r>
              <a:rPr lang="en-US" altLang="en-US" sz="3413" i="1" dirty="0"/>
              <a:t>d</a:t>
            </a:r>
            <a:r>
              <a:rPr lang="en-US" altLang="en-US" sz="3413" dirty="0"/>
              <a:t>-dimensional vectors</a:t>
            </a:r>
          </a:p>
        </p:txBody>
      </p:sp>
      <p:pic>
        <p:nvPicPr>
          <p:cNvPr id="1945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96" y="6998760"/>
            <a:ext cx="11005862" cy="1162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3" t="54541" r="50781" b="7768"/>
          <a:stretch/>
        </p:blipFill>
        <p:spPr>
          <a:xfrm>
            <a:off x="8064784" y="2169373"/>
            <a:ext cx="4940016" cy="24774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59A571-A9D1-8647-9C8D-C5A2B6ECD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42" y="3217213"/>
            <a:ext cx="7055927" cy="9174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D4BE1B-48F9-F34E-9DB3-3FCD71B45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42" y="2169373"/>
            <a:ext cx="2963266" cy="45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Contours of Equal Probability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8114"/>
            <a:ext cx="13004800" cy="65731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7431" y="1841679"/>
            <a:ext cx="2449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 ellipses</a:t>
            </a:r>
          </a:p>
        </p:txBody>
      </p:sp>
    </p:spTree>
    <p:extLst>
      <p:ext uri="{BB962C8B-B14F-4D97-AF65-F5344CB8AC3E}">
        <p14:creationId xmlns:p14="http://schemas.microsoft.com/office/powerpoint/2010/main" val="296920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th equations and symbols&#10;&#10;Description automatically generated with medium confidence">
            <a:extLst>
              <a:ext uri="{FF2B5EF4-FFF2-40B4-BE49-F238E27FC236}">
                <a16:creationId xmlns:a16="http://schemas.microsoft.com/office/drawing/2014/main" id="{8C34196F-4267-0454-9989-2BA1D6AF1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67" y="1943874"/>
            <a:ext cx="5266684" cy="32858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223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Properties of Gaussians</a:t>
            </a:r>
          </a:p>
        </p:txBody>
      </p:sp>
      <p:graphicFrame>
        <p:nvGraphicFramePr>
          <p:cNvPr id="20483" name="Object 1030"/>
          <p:cNvGraphicFramePr>
            <a:graphicFrameLocks noChangeAspect="1"/>
          </p:cNvGraphicFramePr>
          <p:nvPr/>
        </p:nvGraphicFramePr>
        <p:xfrm>
          <a:off x="246767" y="6074607"/>
          <a:ext cx="12548512" cy="1253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80000" imgH="508000" progId="Equation.3">
                  <p:embed/>
                </p:oleObj>
              </mc:Choice>
              <mc:Fallback>
                <p:oleObj name="Equation" r:id="rId3" imgW="5080000" imgH="508000" progId="Equation.3">
                  <p:embed/>
                  <p:pic>
                    <p:nvPicPr>
                      <p:cNvPr id="20483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767" y="6074607"/>
                        <a:ext cx="12548512" cy="125385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28">
            <a:extLst>
              <a:ext uri="{FF2B5EF4-FFF2-40B4-BE49-F238E27FC236}">
                <a16:creationId xmlns:a16="http://schemas.microsoft.com/office/drawing/2014/main" id="{67E70783-EEFA-2A57-C43C-2149721FDB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1668" y="2856122"/>
          <a:ext cx="6885910" cy="1257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41600" imgH="482600" progId="Equation.3">
                  <p:embed/>
                </p:oleObj>
              </mc:Choice>
              <mc:Fallback>
                <p:oleObj name="Equation" r:id="rId5" imgW="2641600" imgH="482600" progId="Equation.3">
                  <p:embed/>
                  <p:pic>
                    <p:nvPicPr>
                      <p:cNvPr id="3" name="Object 1028">
                        <a:extLst>
                          <a:ext uri="{FF2B5EF4-FFF2-40B4-BE49-F238E27FC236}">
                            <a16:creationId xmlns:a16="http://schemas.microsoft.com/office/drawing/2014/main" id="{67E70783-EEFA-2A57-C43C-2149721FDB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668" y="2856122"/>
                        <a:ext cx="6885910" cy="125777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7793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3005-2361-CBD8-65EA-140860D7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Kalman Filter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AEAA2-0F80-2AA5-E706-AC6E817E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Belief will be represented as a Gaussian distribution</a:t>
            </a:r>
          </a:p>
          <a:p>
            <a:endParaRPr lang="en-US" dirty="0"/>
          </a:p>
          <a:p>
            <a:r>
              <a:rPr lang="en-US" dirty="0"/>
              <a:t>Assumptions</a:t>
            </a:r>
          </a:p>
          <a:p>
            <a:pPr lvl="1"/>
            <a:r>
              <a:rPr lang="en-US" dirty="0"/>
              <a:t>Linear dynamics</a:t>
            </a:r>
          </a:p>
          <a:p>
            <a:pPr lvl="1"/>
            <a:r>
              <a:rPr lang="en-US" dirty="0"/>
              <a:t>Additive motion noise (aka </a:t>
            </a:r>
            <a:r>
              <a:rPr lang="en-US" i="1" dirty="0"/>
              <a:t>process</a:t>
            </a:r>
            <a:r>
              <a:rPr lang="en-US" dirty="0"/>
              <a:t> aka </a:t>
            </a:r>
            <a:r>
              <a:rPr lang="en-US" i="1" dirty="0"/>
              <a:t>system</a:t>
            </a:r>
            <a:r>
              <a:rPr lang="en-US" dirty="0"/>
              <a:t> noise)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Linear observation model</a:t>
            </a:r>
          </a:p>
          <a:p>
            <a:pPr lvl="1"/>
            <a:r>
              <a:rPr lang="en-US" dirty="0"/>
              <a:t>Additive measurement noise</a:t>
            </a:r>
          </a:p>
        </p:txBody>
      </p:sp>
    </p:spTree>
    <p:extLst>
      <p:ext uri="{BB962C8B-B14F-4D97-AF65-F5344CB8AC3E}">
        <p14:creationId xmlns:p14="http://schemas.microsoft.com/office/powerpoint/2010/main" val="1378270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Navigation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94079" y="1816848"/>
            <a:ext cx="11216641" cy="6968166"/>
          </a:xfrm>
        </p:spPr>
        <p:txBody>
          <a:bodyPr/>
          <a:lstStyle/>
          <a:p>
            <a:r>
              <a:rPr lang="en-US" dirty="0"/>
              <a:t>Point robot moves on a line</a:t>
            </a:r>
          </a:p>
          <a:p>
            <a:r>
              <a:rPr lang="en-US" dirty="0"/>
              <a:t>Real state space is a line </a:t>
            </a:r>
            <a:endParaRPr lang="en-US" i="1" dirty="0"/>
          </a:p>
          <a:p>
            <a:pPr lvl="1"/>
            <a:r>
              <a:rPr lang="en-US" i="1" dirty="0"/>
              <a:t>let’s ignore the boundaries for now</a:t>
            </a:r>
          </a:p>
          <a:p>
            <a:r>
              <a:rPr lang="en-US" dirty="0"/>
              <a:t>We have a noisy position sensor</a:t>
            </a:r>
          </a:p>
          <a:p>
            <a:pPr lvl="1"/>
            <a:r>
              <a:rPr lang="en-US" i="1" dirty="0"/>
              <a:t>sensor returns a position observation that is corrupted by noise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5FE03-727A-F34E-FE88-F4928502F65B}"/>
              </a:ext>
            </a:extLst>
          </p:cNvPr>
          <p:cNvSpPr txBox="1"/>
          <p:nvPr/>
        </p:nvSpPr>
        <p:spPr>
          <a:xfrm>
            <a:off x="894080" y="7336587"/>
            <a:ext cx="1121664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dirty="0"/>
              <a:t>Random variable 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dirty="0"/>
              <a:t> denotes the position of the robot on the line at time </a:t>
            </a:r>
            <a:r>
              <a:rPr lang="en-US" i="1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158715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1D Robot 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Assume linear action/motion discrete time model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18B1E2-4439-F64D-934A-7E74D2921AD9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24581" name="TextBox 5"/>
          <p:cNvSpPr txBox="1">
            <a:spLocks noChangeArrowheads="1"/>
          </p:cNvSpPr>
          <p:nvPr/>
        </p:nvSpPr>
        <p:spPr bwMode="auto">
          <a:xfrm>
            <a:off x="568960" y="5244727"/>
            <a:ext cx="2778325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next state</a:t>
            </a:r>
          </a:p>
        </p:txBody>
      </p:sp>
      <p:sp>
        <p:nvSpPr>
          <p:cNvPr id="24582" name="TextBox 6"/>
          <p:cNvSpPr txBox="1">
            <a:spLocks noChangeArrowheads="1"/>
          </p:cNvSpPr>
          <p:nvPr/>
        </p:nvSpPr>
        <p:spPr bwMode="auto">
          <a:xfrm>
            <a:off x="3295306" y="6204857"/>
            <a:ext cx="3501280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current state</a:t>
            </a:r>
          </a:p>
        </p:txBody>
      </p:sp>
      <p:sp>
        <p:nvSpPr>
          <p:cNvPr id="24583" name="TextBox 7"/>
          <p:cNvSpPr txBox="1">
            <a:spLocks noChangeArrowheads="1"/>
          </p:cNvSpPr>
          <p:nvPr/>
        </p:nvSpPr>
        <p:spPr bwMode="auto">
          <a:xfrm>
            <a:off x="8577625" y="5244727"/>
            <a:ext cx="4035079" cy="131786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zero-mean,</a:t>
            </a:r>
          </a:p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Gaussian noise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3829191" y="5244727"/>
            <a:ext cx="1300480" cy="1300480"/>
          </a:xfrm>
          <a:prstGeom prst="straightConnector1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 flipV="1">
            <a:off x="2752232" y="4808975"/>
            <a:ext cx="1318542" cy="4696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24582" idx="0"/>
          </p:cNvCxnSpPr>
          <p:nvPr/>
        </p:nvCxnSpPr>
        <p:spPr bwMode="auto">
          <a:xfrm flipV="1">
            <a:off x="5045946" y="4971535"/>
            <a:ext cx="788153" cy="1233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  <a:stCxn id="24583" idx="0"/>
          </p:cNvCxnSpPr>
          <p:nvPr/>
        </p:nvCxnSpPr>
        <p:spPr bwMode="auto">
          <a:xfrm flipH="1" flipV="1">
            <a:off x="9087595" y="4606513"/>
            <a:ext cx="1507570" cy="6382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DDFF22-F465-614D-A38C-01301089A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306" y="4016277"/>
            <a:ext cx="5784303" cy="590235"/>
          </a:xfrm>
          <a:prstGeom prst="rect">
            <a:avLst/>
          </a:prstGeom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95D6DB65-5DBD-8E44-928D-202FD07DA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9836" y="3018725"/>
            <a:ext cx="3775393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action/control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0F6603-529E-A447-A6C8-520035304404}"/>
              </a:ext>
            </a:extLst>
          </p:cNvPr>
          <p:cNvCxnSpPr>
            <a:cxnSpLocks/>
            <a:stCxn id="19" idx="1"/>
          </p:cNvCxnSpPr>
          <p:nvPr/>
        </p:nvCxnSpPr>
        <p:spPr bwMode="auto">
          <a:xfrm flipH="1">
            <a:off x="7392662" y="3340641"/>
            <a:ext cx="1047174" cy="626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64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95E65490-FE2A-5901-2F53-4CF9D108A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6737"/>
            <a:ext cx="13004800" cy="2801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5D150-6242-99BB-3D39-F4D5294F7CA4}"/>
              </a:ext>
            </a:extLst>
          </p:cNvPr>
          <p:cNvSpPr txBox="1"/>
          <p:nvPr/>
        </p:nvSpPr>
        <p:spPr>
          <a:xfrm>
            <a:off x="192505" y="1440923"/>
            <a:ext cx="319350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moving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2C239-CDCF-38A0-D947-5C680E172F4F}"/>
              </a:ext>
            </a:extLst>
          </p:cNvPr>
          <p:cNvSpPr txBox="1"/>
          <p:nvPr/>
        </p:nvSpPr>
        <p:spPr>
          <a:xfrm>
            <a:off x="427660" y="3462771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pic>
        <p:nvPicPr>
          <p:cNvPr id="7" name="Picture 6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9967EE4-9541-89B1-25C0-3B99E76B53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0" y="2868127"/>
            <a:ext cx="13007321" cy="1470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CA7EAA-9B48-487C-4DE1-06ED1AFB3290}"/>
              </a:ext>
            </a:extLst>
          </p:cNvPr>
          <p:cNvSpPr txBox="1"/>
          <p:nvPr/>
        </p:nvSpPr>
        <p:spPr>
          <a:xfrm>
            <a:off x="192504" y="2956889"/>
            <a:ext cx="29482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moving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1E0C0-8DD6-094D-8B35-C6C0869818FD}"/>
              </a:ext>
            </a:extLst>
          </p:cNvPr>
          <p:cNvSpPr txBox="1"/>
          <p:nvPr/>
        </p:nvSpPr>
        <p:spPr>
          <a:xfrm>
            <a:off x="4643558" y="1703860"/>
            <a:ext cx="3717684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Prediction 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C7F79-52D2-C1D5-CD6D-9D9EB5526C88}"/>
              </a:ext>
            </a:extLst>
          </p:cNvPr>
          <p:cNvSpPr txBox="1"/>
          <p:nvPr/>
        </p:nvSpPr>
        <p:spPr>
          <a:xfrm>
            <a:off x="9954308" y="1440923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p(x</a:t>
            </a:r>
            <a:r>
              <a:rPr lang="en-US" i="1" baseline="-25000" dirty="0"/>
              <a:t>t-1</a:t>
            </a:r>
            <a:r>
              <a:rPr lang="en-US" i="1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0DEFA-E25C-E933-3F3F-D8609FCC00F6}"/>
              </a:ext>
            </a:extLst>
          </p:cNvPr>
          <p:cNvSpPr txBox="1"/>
          <p:nvPr/>
        </p:nvSpPr>
        <p:spPr>
          <a:xfrm>
            <a:off x="9954308" y="3021711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pic>
        <p:nvPicPr>
          <p:cNvPr id="21" name="Picture 20" descr="A screenshot of a video game&#10;&#10;Description automatically generated">
            <a:extLst>
              <a:ext uri="{FF2B5EF4-FFF2-40B4-BE49-F238E27FC236}">
                <a16:creationId xmlns:a16="http://schemas.microsoft.com/office/drawing/2014/main" id="{55A60405-E7C8-416D-B4E8-77D57E917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2956"/>
            <a:ext cx="13100950" cy="4280793"/>
          </a:xfrm>
          <a:prstGeom prst="rect">
            <a:avLst/>
          </a:prstGeom>
        </p:spPr>
      </p:pic>
      <p:pic>
        <p:nvPicPr>
          <p:cNvPr id="22" name="Picture 21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C258470-EBAF-41BD-6342-721AE73636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2519" y="6527272"/>
            <a:ext cx="13007321" cy="14701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1A31BCE-2A5A-A555-0383-CD32DFB9824C}"/>
              </a:ext>
            </a:extLst>
          </p:cNvPr>
          <p:cNvSpPr txBox="1"/>
          <p:nvPr/>
        </p:nvSpPr>
        <p:spPr>
          <a:xfrm>
            <a:off x="195024" y="6618926"/>
            <a:ext cx="364074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observing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D8C575-2F42-678A-4748-A26DC25BE6B7}"/>
              </a:ext>
            </a:extLst>
          </p:cNvPr>
          <p:cNvSpPr txBox="1"/>
          <p:nvPr/>
        </p:nvSpPr>
        <p:spPr>
          <a:xfrm>
            <a:off x="195023" y="8134892"/>
            <a:ext cx="339548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observing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F8B33-30B5-A5C4-F18F-2BADD35CC94F}"/>
              </a:ext>
            </a:extLst>
          </p:cNvPr>
          <p:cNvSpPr txBox="1"/>
          <p:nvPr/>
        </p:nvSpPr>
        <p:spPr>
          <a:xfrm>
            <a:off x="4643558" y="6755277"/>
            <a:ext cx="3127779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2. Update 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CE9AAA-AFDF-E8CC-AB3A-AF9E2059CECA}"/>
              </a:ext>
            </a:extLst>
          </p:cNvPr>
          <p:cNvSpPr txBox="1"/>
          <p:nvPr/>
        </p:nvSpPr>
        <p:spPr>
          <a:xfrm>
            <a:off x="9829618" y="6618926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BBF492-97C4-8870-89E1-BB59ACFC2C11}"/>
              </a:ext>
            </a:extLst>
          </p:cNvPr>
          <p:cNvSpPr txBox="1"/>
          <p:nvPr/>
        </p:nvSpPr>
        <p:spPr>
          <a:xfrm>
            <a:off x="9829618" y="8299899"/>
            <a:ext cx="3121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, 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2422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Prediction (aka </a:t>
            </a:r>
            <a:r>
              <a:rPr lang="en-US" i="1" dirty="0"/>
              <a:t>Propagation</a:t>
            </a:r>
            <a:r>
              <a:rPr lang="en-US" dirty="0"/>
              <a:t>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470" y="3070833"/>
            <a:ext cx="5527675" cy="414457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0833"/>
            <a:ext cx="5527675" cy="4144572"/>
          </a:xfrm>
        </p:spPr>
      </p:pic>
      <p:sp>
        <p:nvSpPr>
          <p:cNvPr id="7" name="TextBox 6"/>
          <p:cNvSpPr txBox="1"/>
          <p:nvPr/>
        </p:nvSpPr>
        <p:spPr>
          <a:xfrm>
            <a:off x="2564904" y="4819953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8681" y="4819953"/>
            <a:ext cx="1449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b’ = 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4767" y="4173622"/>
            <a:ext cx="2876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take action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endParaRPr lang="en-US" i="1" baseline="-25000" dirty="0"/>
          </a:p>
        </p:txBody>
      </p:sp>
      <p:sp>
        <p:nvSpPr>
          <p:cNvPr id="12" name="Right Arrow 11"/>
          <p:cNvSpPr/>
          <p:nvPr/>
        </p:nvSpPr>
        <p:spPr>
          <a:xfrm>
            <a:off x="3867542" y="4917738"/>
            <a:ext cx="4778062" cy="450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4371" y="2081371"/>
            <a:ext cx="4368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 belief </a:t>
            </a:r>
            <a:r>
              <a:rPr lang="en-US" i="1" dirty="0"/>
              <a:t>b = p(x</a:t>
            </a:r>
            <a:r>
              <a:rPr lang="en-US" i="1" baseline="-25000" dirty="0"/>
              <a:t>t-1</a:t>
            </a:r>
            <a:r>
              <a:rPr lang="en-US" i="1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9579" y="2081372"/>
            <a:ext cx="4584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posterior </a:t>
            </a:r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 x</a:t>
            </a:r>
            <a:r>
              <a:rPr lang="en-US" i="1" baseline="-25000" dirty="0"/>
              <a:t>t-1,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6811D3-0861-0199-3039-F905975A8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669" y="8023076"/>
            <a:ext cx="5784303" cy="59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74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th equations and symbols&#10;&#10;Description automatically generated with medium confidence">
            <a:extLst>
              <a:ext uri="{FF2B5EF4-FFF2-40B4-BE49-F238E27FC236}">
                <a16:creationId xmlns:a16="http://schemas.microsoft.com/office/drawing/2014/main" id="{8C34196F-4267-0454-9989-2BA1D6AF1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67" y="1943874"/>
            <a:ext cx="5266684" cy="32858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223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Properties of Gaussians</a:t>
            </a:r>
          </a:p>
        </p:txBody>
      </p:sp>
      <p:graphicFrame>
        <p:nvGraphicFramePr>
          <p:cNvPr id="20483" name="Object 1030"/>
          <p:cNvGraphicFramePr>
            <a:graphicFrameLocks noChangeAspect="1"/>
          </p:cNvGraphicFramePr>
          <p:nvPr/>
        </p:nvGraphicFramePr>
        <p:xfrm>
          <a:off x="246767" y="6074607"/>
          <a:ext cx="12548512" cy="1253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80000" imgH="508000" progId="Equation.3">
                  <p:embed/>
                </p:oleObj>
              </mc:Choice>
              <mc:Fallback>
                <p:oleObj name="Equation" r:id="rId3" imgW="5080000" imgH="508000" progId="Equation.3">
                  <p:embed/>
                  <p:pic>
                    <p:nvPicPr>
                      <p:cNvPr id="20483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767" y="6074607"/>
                        <a:ext cx="12548512" cy="125385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28">
            <a:extLst>
              <a:ext uri="{FF2B5EF4-FFF2-40B4-BE49-F238E27FC236}">
                <a16:creationId xmlns:a16="http://schemas.microsoft.com/office/drawing/2014/main" id="{67E70783-EEFA-2A57-C43C-2149721FDB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1668" y="2856122"/>
          <a:ext cx="6885910" cy="1257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41600" imgH="482600" progId="Equation.3">
                  <p:embed/>
                </p:oleObj>
              </mc:Choice>
              <mc:Fallback>
                <p:oleObj name="Equation" r:id="rId5" imgW="2641600" imgH="482600" progId="Equation.3">
                  <p:embed/>
                  <p:pic>
                    <p:nvPicPr>
                      <p:cNvPr id="3" name="Object 1028">
                        <a:extLst>
                          <a:ext uri="{FF2B5EF4-FFF2-40B4-BE49-F238E27FC236}">
                            <a16:creationId xmlns:a16="http://schemas.microsoft.com/office/drawing/2014/main" id="{67E70783-EEFA-2A57-C43C-2149721FDB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668" y="2856122"/>
                        <a:ext cx="6885910" cy="125777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2359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BEAACF-9E83-8040-7BA0-58BE7102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837488D-97D1-9DF3-F70A-FCB762FFA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423" y="3745354"/>
            <a:ext cx="2388066" cy="796022"/>
          </a:xfr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A94F8D53-5096-3C63-3AE8-5E2547757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18" y="2463309"/>
            <a:ext cx="2778325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next state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F0D8492E-3DF1-D957-8D52-41E48F690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264" y="3423439"/>
            <a:ext cx="3501280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current state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65738E60-6181-5597-FD17-64F475E94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1583" y="2463309"/>
            <a:ext cx="4063554" cy="131786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zero-mean,</a:t>
            </a:r>
          </a:p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Gaussian noise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412568-7690-2ADE-E437-BF2DD68ACF97}"/>
              </a:ext>
            </a:extLst>
          </p:cNvPr>
          <p:cNvCxnSpPr/>
          <p:nvPr/>
        </p:nvCxnSpPr>
        <p:spPr bwMode="auto">
          <a:xfrm flipV="1">
            <a:off x="2736190" y="2027557"/>
            <a:ext cx="1318542" cy="4696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FE4B82-540B-3D8E-E8AE-38596B0D27AE}"/>
              </a:ext>
            </a:extLst>
          </p:cNvPr>
          <p:cNvCxnSpPr>
            <a:cxnSpLocks/>
            <a:stCxn id="8" idx="0"/>
          </p:cNvCxnSpPr>
          <p:nvPr/>
        </p:nvCxnSpPr>
        <p:spPr bwMode="auto">
          <a:xfrm flipV="1">
            <a:off x="5029904" y="2190117"/>
            <a:ext cx="788153" cy="1233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853ED2-3055-1356-6710-61B46D284498}"/>
              </a:ext>
            </a:extLst>
          </p:cNvPr>
          <p:cNvCxnSpPr>
            <a:cxnSpLocks/>
            <a:stCxn id="9" idx="0"/>
          </p:cNvCxnSpPr>
          <p:nvPr/>
        </p:nvCxnSpPr>
        <p:spPr bwMode="auto">
          <a:xfrm flipH="1" flipV="1">
            <a:off x="9071553" y="1825095"/>
            <a:ext cx="1521807" cy="6382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0E73FEA-93DF-548F-1014-3862BA3D4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264" y="1234859"/>
            <a:ext cx="5784303" cy="590235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3DD83973-C3F1-2A73-41C3-8A53075B5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3794" y="237307"/>
            <a:ext cx="3775393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action/control</a:t>
            </a:r>
          </a:p>
        </p:txBody>
      </p:sp>
      <p:pic>
        <p:nvPicPr>
          <p:cNvPr id="20" name="Picture 19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41B65818-2858-FB47-6D82-7DB94006B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336" y="5379515"/>
            <a:ext cx="6484416" cy="359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998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ck wall with a white background&#10;&#10;Description automatically generated">
            <a:extLst>
              <a:ext uri="{FF2B5EF4-FFF2-40B4-BE49-F238E27FC236}">
                <a16:creationId xmlns:a16="http://schemas.microsoft.com/office/drawing/2014/main" id="{95E65490-FE2A-5901-2F53-4CF9D108A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6737"/>
            <a:ext cx="13004800" cy="2801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5D150-6242-99BB-3D39-F4D5294F7CA4}"/>
              </a:ext>
            </a:extLst>
          </p:cNvPr>
          <p:cNvSpPr txBox="1"/>
          <p:nvPr/>
        </p:nvSpPr>
        <p:spPr>
          <a:xfrm>
            <a:off x="192505" y="1440923"/>
            <a:ext cx="319350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moving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2C239-CDCF-38A0-D947-5C680E172F4F}"/>
              </a:ext>
            </a:extLst>
          </p:cNvPr>
          <p:cNvSpPr txBox="1"/>
          <p:nvPr/>
        </p:nvSpPr>
        <p:spPr>
          <a:xfrm>
            <a:off x="427660" y="3462771"/>
            <a:ext cx="11874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With no prior information at all, what would the </a:t>
            </a:r>
            <a:r>
              <a:rPr lang="en-US" sz="3200" i="1" dirty="0"/>
              <a:t>belief</a:t>
            </a:r>
            <a:r>
              <a:rPr lang="en-US" sz="3200" dirty="0"/>
              <a:t> be?</a:t>
            </a:r>
          </a:p>
        </p:txBody>
      </p:sp>
      <p:pic>
        <p:nvPicPr>
          <p:cNvPr id="7" name="Picture 6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9967EE4-9541-89B1-25C0-3B99E76B53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0" y="2868127"/>
            <a:ext cx="13007321" cy="1470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CA7EAA-9B48-487C-4DE1-06ED1AFB3290}"/>
              </a:ext>
            </a:extLst>
          </p:cNvPr>
          <p:cNvSpPr txBox="1"/>
          <p:nvPr/>
        </p:nvSpPr>
        <p:spPr>
          <a:xfrm>
            <a:off x="192504" y="2956889"/>
            <a:ext cx="29482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moving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1E0C0-8DD6-094D-8B35-C6C0869818FD}"/>
              </a:ext>
            </a:extLst>
          </p:cNvPr>
          <p:cNvSpPr txBox="1"/>
          <p:nvPr/>
        </p:nvSpPr>
        <p:spPr>
          <a:xfrm>
            <a:off x="4643558" y="1703860"/>
            <a:ext cx="3717684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Prediction 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C7F79-52D2-C1D5-CD6D-9D9EB5526C88}"/>
              </a:ext>
            </a:extLst>
          </p:cNvPr>
          <p:cNvSpPr txBox="1"/>
          <p:nvPr/>
        </p:nvSpPr>
        <p:spPr>
          <a:xfrm>
            <a:off x="9954308" y="1440923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p(x</a:t>
            </a:r>
            <a:r>
              <a:rPr lang="en-US" i="1" baseline="-25000" dirty="0"/>
              <a:t>t-1</a:t>
            </a:r>
            <a:r>
              <a:rPr lang="en-US" i="1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0DEFA-E25C-E933-3F3F-D8609FCC00F6}"/>
              </a:ext>
            </a:extLst>
          </p:cNvPr>
          <p:cNvSpPr txBox="1"/>
          <p:nvPr/>
        </p:nvSpPr>
        <p:spPr>
          <a:xfrm>
            <a:off x="9954308" y="3021711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pic>
        <p:nvPicPr>
          <p:cNvPr id="21" name="Picture 20" descr="A screenshot of a video game&#10;&#10;Description automatically generated">
            <a:extLst>
              <a:ext uri="{FF2B5EF4-FFF2-40B4-BE49-F238E27FC236}">
                <a16:creationId xmlns:a16="http://schemas.microsoft.com/office/drawing/2014/main" id="{55A60405-E7C8-416D-B4E8-77D57E917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2956"/>
            <a:ext cx="13100950" cy="4280793"/>
          </a:xfrm>
          <a:prstGeom prst="rect">
            <a:avLst/>
          </a:prstGeom>
        </p:spPr>
      </p:pic>
      <p:pic>
        <p:nvPicPr>
          <p:cNvPr id="22" name="Picture 21" descr="A black and white image of a bird&#10;&#10;Description automatically generated">
            <a:extLst>
              <a:ext uri="{FF2B5EF4-FFF2-40B4-BE49-F238E27FC236}">
                <a16:creationId xmlns:a16="http://schemas.microsoft.com/office/drawing/2014/main" id="{8C258470-EBAF-41BD-6342-721AE73636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/>
          <a:stretch/>
        </p:blipFill>
        <p:spPr>
          <a:xfrm>
            <a:off x="2519" y="6527272"/>
            <a:ext cx="13007321" cy="14701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1A31BCE-2A5A-A555-0383-CD32DFB9824C}"/>
              </a:ext>
            </a:extLst>
          </p:cNvPr>
          <p:cNvSpPr txBox="1"/>
          <p:nvPr/>
        </p:nvSpPr>
        <p:spPr>
          <a:xfrm>
            <a:off x="195024" y="6618926"/>
            <a:ext cx="364074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observing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D8C575-2F42-678A-4748-A26DC25BE6B7}"/>
              </a:ext>
            </a:extLst>
          </p:cNvPr>
          <p:cNvSpPr txBox="1"/>
          <p:nvPr/>
        </p:nvSpPr>
        <p:spPr>
          <a:xfrm>
            <a:off x="195023" y="8134892"/>
            <a:ext cx="339548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observing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F8B33-30B5-A5C4-F18F-2BADD35CC94F}"/>
              </a:ext>
            </a:extLst>
          </p:cNvPr>
          <p:cNvSpPr txBox="1"/>
          <p:nvPr/>
        </p:nvSpPr>
        <p:spPr>
          <a:xfrm>
            <a:off x="4643558" y="6755277"/>
            <a:ext cx="3127779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2. Update 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CE9AAA-AFDF-E8CC-AB3A-AF9E2059CECA}"/>
              </a:ext>
            </a:extLst>
          </p:cNvPr>
          <p:cNvSpPr txBox="1"/>
          <p:nvPr/>
        </p:nvSpPr>
        <p:spPr>
          <a:xfrm>
            <a:off x="9829618" y="6618926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BBF492-97C4-8870-89E1-BB59ACFC2C11}"/>
              </a:ext>
            </a:extLst>
          </p:cNvPr>
          <p:cNvSpPr txBox="1"/>
          <p:nvPr/>
        </p:nvSpPr>
        <p:spPr>
          <a:xfrm>
            <a:off x="9829618" y="8299899"/>
            <a:ext cx="3121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, 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1055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1D Robot 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We have a noisy sensor that measures the position of the robot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18B1E2-4439-F64D-934A-7E74D2921AD9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24580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342" y="4422526"/>
            <a:ext cx="3233138" cy="577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Box 5"/>
          <p:cNvSpPr txBox="1">
            <a:spLocks noChangeArrowheads="1"/>
          </p:cNvSpPr>
          <p:nvPr/>
        </p:nvSpPr>
        <p:spPr bwMode="auto">
          <a:xfrm>
            <a:off x="568960" y="5318865"/>
            <a:ext cx="3732112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measurement</a:t>
            </a:r>
          </a:p>
        </p:txBody>
      </p:sp>
      <p:sp>
        <p:nvSpPr>
          <p:cNvPr id="24582" name="TextBox 6"/>
          <p:cNvSpPr txBox="1">
            <a:spLocks noChangeArrowheads="1"/>
          </p:cNvSpPr>
          <p:nvPr/>
        </p:nvSpPr>
        <p:spPr bwMode="auto">
          <a:xfrm>
            <a:off x="4562970" y="6165531"/>
            <a:ext cx="2693366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/>
              <a:t>true state</a:t>
            </a:r>
          </a:p>
        </p:txBody>
      </p:sp>
      <p:sp>
        <p:nvSpPr>
          <p:cNvPr id="24583" name="TextBox 7"/>
          <p:cNvSpPr txBox="1">
            <a:spLocks noChangeArrowheads="1"/>
          </p:cNvSpPr>
          <p:nvPr/>
        </p:nvSpPr>
        <p:spPr bwMode="auto">
          <a:xfrm>
            <a:off x="8247664" y="5318865"/>
            <a:ext cx="4441641" cy="2543389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zero-mean, additive</a:t>
            </a:r>
          </a:p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Gaussian noise</a:t>
            </a:r>
          </a:p>
          <a:p>
            <a:pPr eaLnBrk="1" hangingPunct="1">
              <a:lnSpc>
                <a:spcPct val="90000"/>
              </a:lnSpc>
              <a:buSzTx/>
              <a:buFontTx/>
              <a:buNone/>
            </a:pPr>
            <a:endParaRPr lang="en-US" altLang="en-US" sz="3982" dirty="0"/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3829191" y="5318865"/>
            <a:ext cx="1300480" cy="1300480"/>
          </a:xfrm>
          <a:prstGeom prst="straightConnector1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 flipV="1">
            <a:off x="2752232" y="4883113"/>
            <a:ext cx="1318542" cy="4696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 bwMode="auto">
          <a:xfrm flipH="1" flipV="1">
            <a:off x="5834099" y="5045673"/>
            <a:ext cx="42898" cy="11198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 bwMode="auto">
          <a:xfrm flipH="1" flipV="1">
            <a:off x="7482276" y="5000518"/>
            <a:ext cx="765387" cy="3183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588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42" y="7195298"/>
            <a:ext cx="3264747" cy="647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820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Update (aka </a:t>
            </a:r>
            <a:r>
              <a:rPr lang="en-US" i="1" dirty="0"/>
              <a:t>Correction</a:t>
            </a:r>
            <a:r>
              <a:rPr lang="en-US" dirty="0"/>
              <a:t>) step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470" y="3070833"/>
            <a:ext cx="5527675" cy="414457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0833"/>
            <a:ext cx="5527675" cy="4144572"/>
          </a:xfrm>
        </p:spPr>
      </p:pic>
      <p:sp>
        <p:nvSpPr>
          <p:cNvPr id="7" name="TextBox 6"/>
          <p:cNvSpPr txBox="1"/>
          <p:nvPr/>
        </p:nvSpPr>
        <p:spPr>
          <a:xfrm>
            <a:off x="2564904" y="4819953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8681" y="4819953"/>
            <a:ext cx="1449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b’ = 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9740" y="4173622"/>
            <a:ext cx="2247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 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endParaRPr lang="en-US" i="1" baseline="-25000" dirty="0"/>
          </a:p>
        </p:txBody>
      </p:sp>
      <p:sp>
        <p:nvSpPr>
          <p:cNvPr id="12" name="Right Arrow 11"/>
          <p:cNvSpPr/>
          <p:nvPr/>
        </p:nvSpPr>
        <p:spPr>
          <a:xfrm>
            <a:off x="3867542" y="4917738"/>
            <a:ext cx="4778062" cy="450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4371" y="2081371"/>
            <a:ext cx="5702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 belief </a:t>
            </a:r>
            <a:r>
              <a:rPr lang="en-US" i="1" dirty="0"/>
              <a:t>b = 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 x</a:t>
            </a:r>
            <a:r>
              <a:rPr lang="en-US" i="1" baseline="-25000" dirty="0"/>
              <a:t>t-1</a:t>
            </a:r>
            <a:r>
              <a:rPr lang="en-US" i="1" dirty="0"/>
              <a:t>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9579" y="2081372"/>
            <a:ext cx="5187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posterior </a:t>
            </a:r>
            <a:r>
              <a:rPr lang="en-US" i="1" dirty="0"/>
              <a:t>p(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| x</a:t>
            </a:r>
            <a:r>
              <a:rPr lang="en-US" i="1" baseline="-25000" dirty="0"/>
              <a:t>t-1, </a:t>
            </a:r>
            <a:r>
              <a:rPr lang="en-US" i="1" dirty="0" err="1"/>
              <a:t>u</a:t>
            </a:r>
            <a:r>
              <a:rPr lang="en-US" i="1" baseline="-25000" dirty="0" err="1"/>
              <a:t>t</a:t>
            </a:r>
            <a:r>
              <a:rPr lang="en-US" i="1" dirty="0"/>
              <a:t>, 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1922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Computing the posterior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Prediction</a:t>
            </a:r>
            <a:r>
              <a:rPr lang="en-US" dirty="0"/>
              <a:t>:</a:t>
            </a:r>
          </a:p>
          <a:p>
            <a:pPr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Based on the prior belief and action, </a:t>
            </a:r>
            <a:r>
              <a:rPr lang="en-US" u="sng" dirty="0"/>
              <a:t>predict</a:t>
            </a:r>
            <a:r>
              <a:rPr lang="en-US" dirty="0"/>
              <a:t> the new belief about the robot’s position</a:t>
            </a:r>
            <a:endParaRPr lang="en-US" dirty="0">
              <a:solidFill>
                <a:srgbClr val="C00000"/>
              </a:solidFill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Correction</a:t>
            </a:r>
            <a:r>
              <a:rPr lang="en-US" dirty="0"/>
              <a:t>:</a:t>
            </a:r>
          </a:p>
          <a:p>
            <a:pPr>
              <a:defRPr/>
            </a:pPr>
            <a:endParaRPr lang="en-US" dirty="0"/>
          </a:p>
          <a:p>
            <a:pPr lvl="1">
              <a:defRPr/>
            </a:pPr>
            <a:r>
              <a:rPr lang="en-US" u="sng" dirty="0"/>
              <a:t>Correct</a:t>
            </a:r>
            <a:r>
              <a:rPr lang="en-US" dirty="0"/>
              <a:t> the prediction using the measurement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EA3714-9A68-8040-BDE4-962C22E05C95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24580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836" y="1966525"/>
            <a:ext cx="4064000" cy="66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836" y="5546384"/>
            <a:ext cx="4894862" cy="66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9428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1480-374D-EB40-ABC5-6BE00ECD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Theorem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A5B2C4-91F0-1A44-8503-B12A74331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" y="5708822"/>
            <a:ext cx="11216640" cy="307619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If prior, likelihood, and evidence are Gaussian distributions, then posterior will be Gaussian as well.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1F67E-AB08-624C-B394-88386F6FA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213" y="2434278"/>
            <a:ext cx="8025388" cy="18258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5BC419-172A-CC4E-BFBC-7D3BAB3BDCD1}"/>
              </a:ext>
            </a:extLst>
          </p:cNvPr>
          <p:cNvSpPr/>
          <p:nvPr/>
        </p:nvSpPr>
        <p:spPr>
          <a:xfrm>
            <a:off x="1494481" y="2434278"/>
            <a:ext cx="3089875" cy="2187146"/>
          </a:xfrm>
          <a:prstGeom prst="rect">
            <a:avLst/>
          </a:prstGeom>
          <a:solidFill>
            <a:srgbClr val="4472C4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posterior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AE5F97-2A6C-9049-849C-9CDEB2A2ECE3}"/>
              </a:ext>
            </a:extLst>
          </p:cNvPr>
          <p:cNvSpPr/>
          <p:nvPr/>
        </p:nvSpPr>
        <p:spPr>
          <a:xfrm>
            <a:off x="8257747" y="2482246"/>
            <a:ext cx="1961292" cy="2187146"/>
          </a:xfrm>
          <a:prstGeom prst="rect">
            <a:avLst/>
          </a:prstGeom>
          <a:solidFill>
            <a:schemeClr val="accent6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prior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02FD5E-5C19-F941-9E0B-EBD3EBC59BEB}"/>
              </a:ext>
            </a:extLst>
          </p:cNvPr>
          <p:cNvSpPr/>
          <p:nvPr/>
        </p:nvSpPr>
        <p:spPr>
          <a:xfrm>
            <a:off x="5852297" y="3371203"/>
            <a:ext cx="2153011" cy="1830988"/>
          </a:xfrm>
          <a:prstGeom prst="rect">
            <a:avLst/>
          </a:prstGeom>
          <a:solidFill>
            <a:srgbClr val="FF0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53886-DB6D-D743-AFB9-F2BB931F3101}"/>
              </a:ext>
            </a:extLst>
          </p:cNvPr>
          <p:cNvSpPr/>
          <p:nvPr/>
        </p:nvSpPr>
        <p:spPr>
          <a:xfrm>
            <a:off x="5633993" y="1540215"/>
            <a:ext cx="2521467" cy="1830988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likelihood</a:t>
            </a:r>
          </a:p>
        </p:txBody>
      </p:sp>
    </p:spTree>
    <p:extLst>
      <p:ext uri="{BB962C8B-B14F-4D97-AF65-F5344CB8AC3E}">
        <p14:creationId xmlns:p14="http://schemas.microsoft.com/office/powerpoint/2010/main" val="2473634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Correction (Note, simplified notation)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C81ACB-5CF1-5C47-9B3D-7FA2C539778D}" type="slidenum">
              <a:rPr lang="en-US" altLang="en-US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519441" y="1938041"/>
            <a:ext cx="7965918" cy="221540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endParaRPr lang="en-US" sz="5120"/>
          </a:p>
        </p:txBody>
      </p:sp>
      <p:pic>
        <p:nvPicPr>
          <p:cNvPr id="29700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867" y="2269067"/>
            <a:ext cx="6683022" cy="155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970" y="4896876"/>
            <a:ext cx="10975057" cy="2727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31580E-34B3-8F4A-AB12-F33BA369F171}"/>
              </a:ext>
            </a:extLst>
          </p:cNvPr>
          <p:cNvSpPr txBox="1"/>
          <p:nvPr/>
        </p:nvSpPr>
        <p:spPr>
          <a:xfrm>
            <a:off x="1456970" y="8266671"/>
            <a:ext cx="8594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posterior is Gaussian, MAP = mean</a:t>
            </a:r>
          </a:p>
        </p:txBody>
      </p:sp>
    </p:spTree>
    <p:extLst>
      <p:ext uri="{BB962C8B-B14F-4D97-AF65-F5344CB8AC3E}">
        <p14:creationId xmlns:p14="http://schemas.microsoft.com/office/powerpoint/2010/main" val="48336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Bayesian Estimation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C81ACB-5CF1-5C47-9B3D-7FA2C539778D}" type="slidenum">
              <a:rPr lang="en-US" altLang="en-US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29701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63" y="2117128"/>
            <a:ext cx="10975057" cy="2727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68192" y="897657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94080" y="5795866"/>
            <a:ext cx="1121664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we know the prior pdf</a:t>
            </a:r>
          </a:p>
          <a:p>
            <a:r>
              <a:rPr lang="en-US" dirty="0"/>
              <a:t>If we know the likelihood, </a:t>
            </a:r>
            <a:r>
              <a:rPr lang="en-US" i="1" dirty="0"/>
              <a:t>p(</a:t>
            </a:r>
            <a:r>
              <a:rPr lang="en-US" i="1" dirty="0" err="1"/>
              <a:t>z</a:t>
            </a:r>
            <a:r>
              <a:rPr lang="en-US" i="1" baseline="-25000" dirty="0" err="1"/>
              <a:t>t</a:t>
            </a:r>
            <a:r>
              <a:rPr lang="en-US" i="1" dirty="0"/>
              <a:t> | 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), </a:t>
            </a:r>
            <a:r>
              <a:rPr lang="en-US" dirty="0"/>
              <a:t>we can compute the posterior.</a:t>
            </a:r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" r="74410" b="84561"/>
          <a:stretch/>
        </p:blipFill>
        <p:spPr bwMode="auto">
          <a:xfrm>
            <a:off x="7830354" y="5795866"/>
            <a:ext cx="3848634" cy="75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727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Likelihood Model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158" y="3392347"/>
            <a:ext cx="8115521" cy="401300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CB8A4E-493A-7640-AF49-8BE2F0FAA42D}" type="slidenum">
              <a:rPr lang="en-US" altLang="en-US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2885" y="1931831"/>
            <a:ext cx="11247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Also called sensor model or measurement model. </a:t>
            </a:r>
            <a:r>
              <a:rPr lang="en-US" u="sng" dirty="0"/>
              <a:t>Assume</a:t>
            </a:r>
            <a:r>
              <a:rPr lang="en-US" dirty="0"/>
              <a:t> noise to be a zero-mean Gaussian.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080" y="8099459"/>
            <a:ext cx="11247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Therefore, likelihood is also Gaussian with mean equal to 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dirty="0"/>
              <a:t> and same variance as noise model.</a:t>
            </a:r>
            <a:endParaRPr lang="en-US" i="1" baseline="-25000" dirty="0"/>
          </a:p>
        </p:txBody>
      </p:sp>
    </p:spTree>
    <p:extLst>
      <p:ext uri="{BB962C8B-B14F-4D97-AF65-F5344CB8AC3E}">
        <p14:creationId xmlns:p14="http://schemas.microsoft.com/office/powerpoint/2010/main" val="776970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Example: 1D robot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3F9EFD-54C3-BE41-8E35-1D6D11FE4084}" type="slidenum">
              <a:rPr lang="en-US" altLang="en-US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3072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55" y="3138248"/>
            <a:ext cx="11945902" cy="31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2647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Example: 1D robot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3F9EFD-54C3-BE41-8E35-1D6D11FE4084}" type="slidenum">
              <a:rPr lang="en-US" altLang="en-US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3072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77" y="6035041"/>
            <a:ext cx="7227146" cy="3285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76" y="2004907"/>
            <a:ext cx="11945902" cy="31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9067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1D Robot MAP Estimate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37C0B7-58EE-5A4C-8275-3B8C565AB98A}" type="slidenum">
              <a:rPr lang="en-US" altLang="en-US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3174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6" y="3784036"/>
            <a:ext cx="8904676" cy="3431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TextBox 4"/>
          <p:cNvSpPr txBox="1">
            <a:spLocks noChangeArrowheads="1"/>
          </p:cNvSpPr>
          <p:nvPr/>
        </p:nvSpPr>
        <p:spPr bwMode="auto">
          <a:xfrm>
            <a:off x="894080" y="2082011"/>
            <a:ext cx="11046614" cy="131786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ctr"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>
                <a:latin typeface="+mn-lt"/>
              </a:rPr>
              <a:t>Weighted sum of prior mean and measurement.</a:t>
            </a:r>
          </a:p>
          <a:p>
            <a:pPr algn="ctr"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>
                <a:latin typeface="+mn-lt"/>
              </a:rPr>
              <a:t>Weights inversely proportional to variances.</a:t>
            </a:r>
          </a:p>
        </p:txBody>
      </p:sp>
      <p:sp>
        <p:nvSpPr>
          <p:cNvPr id="31749" name="TextBox 7"/>
          <p:cNvSpPr txBox="1">
            <a:spLocks noChangeArrowheads="1"/>
          </p:cNvSpPr>
          <p:nvPr/>
        </p:nvSpPr>
        <p:spPr bwMode="auto">
          <a:xfrm>
            <a:off x="1282418" y="7540978"/>
            <a:ext cx="1386918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 dirty="0"/>
              <a:t>prior</a:t>
            </a:r>
          </a:p>
        </p:txBody>
      </p: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4897121" y="8258952"/>
            <a:ext cx="3456395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/>
              <a:t>Kalman Gain</a:t>
            </a:r>
          </a:p>
        </p:txBody>
      </p:sp>
      <p:sp>
        <p:nvSpPr>
          <p:cNvPr id="31751" name="TextBox 9"/>
          <p:cNvSpPr txBox="1">
            <a:spLocks noChangeArrowheads="1"/>
          </p:cNvSpPr>
          <p:nvPr/>
        </p:nvSpPr>
        <p:spPr bwMode="auto">
          <a:xfrm>
            <a:off x="8945316" y="7574846"/>
            <a:ext cx="2199641" cy="643831"/>
          </a:xfrm>
          <a:prstGeom prst="rect">
            <a:avLst/>
          </a:prstGeom>
          <a:solidFill>
            <a:srgbClr val="FFF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eaLnBrk="1" hangingPunct="1">
              <a:lnSpc>
                <a:spcPct val="90000"/>
              </a:lnSpc>
              <a:buSzTx/>
              <a:buFontTx/>
              <a:buNone/>
            </a:pPr>
            <a:r>
              <a:rPr lang="en-US" altLang="en-US" sz="3982"/>
              <a:t>residual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2752233" y="6737209"/>
            <a:ext cx="1621084" cy="8353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1750" idx="0"/>
          </p:cNvCxnSpPr>
          <p:nvPr/>
        </p:nvCxnSpPr>
        <p:spPr bwMode="auto">
          <a:xfrm flipV="1">
            <a:off x="6625319" y="7215859"/>
            <a:ext cx="66735" cy="10430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31751" idx="0"/>
          </p:cNvCxnSpPr>
          <p:nvPr/>
        </p:nvCxnSpPr>
        <p:spPr bwMode="auto">
          <a:xfrm flipH="1" flipV="1">
            <a:off x="9640712" y="6771077"/>
            <a:ext cx="404425" cy="8037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256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Posterior Variance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If likelihood and prior are Gaussians, then posterior is also a Gaussian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C2DB3D-2624-7E4D-B252-EE497DB7F629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20484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27" y="4224303"/>
            <a:ext cx="6755271" cy="458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7924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CF33F-7A97-A447-B707-A61F97DF5272}" type="slidenum">
              <a:rPr lang="en-US" altLang="en-US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122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General Linear Transition Model</a:t>
            </a:r>
            <a:endParaRPr lang="de-DE" altLang="en-US" dirty="0"/>
          </a:p>
        </p:txBody>
      </p:sp>
      <p:graphicFrame>
        <p:nvGraphicFramePr>
          <p:cNvPr id="2253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886958"/>
              </p:ext>
            </p:extLst>
          </p:nvPr>
        </p:nvGraphicFramePr>
        <p:xfrm>
          <a:off x="1131148" y="2549578"/>
          <a:ext cx="4912924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228600" progId="Equation.3">
                  <p:embed/>
                </p:oleObj>
              </mc:Choice>
              <mc:Fallback>
                <p:oleObj name="Equation" r:id="rId2" imgW="1257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148" y="2549578"/>
                        <a:ext cx="4912924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307449" y="3922307"/>
            <a:ext cx="10135165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413" dirty="0">
                <a:latin typeface="+mn-lt"/>
              </a:rPr>
              <a:t>Matrix (</a:t>
            </a:r>
            <a:r>
              <a:rPr lang="en-US" altLang="en-US" sz="3413" i="1" dirty="0">
                <a:latin typeface="+mn-lt"/>
              </a:rPr>
              <a:t>n</a:t>
            </a:r>
            <a:r>
              <a:rPr lang="en-US" altLang="en-US" sz="3413" dirty="0">
                <a:latin typeface="+mn-lt"/>
              </a:rPr>
              <a:t> x </a:t>
            </a:r>
            <a:r>
              <a:rPr lang="en-US" altLang="en-US" sz="3413" i="1" dirty="0">
                <a:latin typeface="+mn-lt"/>
              </a:rPr>
              <a:t>n</a:t>
            </a:r>
            <a:r>
              <a:rPr lang="en-US" altLang="en-US" sz="3413" dirty="0">
                <a:latin typeface="+mn-lt"/>
              </a:rPr>
              <a:t>) that describes how the state evolves from </a:t>
            </a:r>
            <a:r>
              <a:rPr lang="en-US" altLang="en-US" sz="3413" i="1" dirty="0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to </a:t>
            </a:r>
            <a:r>
              <a:rPr lang="en-US" altLang="en-US" sz="3413" i="1" dirty="0">
                <a:latin typeface="+mn-lt"/>
              </a:rPr>
              <a:t>t-1</a:t>
            </a:r>
            <a:r>
              <a:rPr lang="en-US" altLang="en-US" sz="3413" dirty="0">
                <a:latin typeface="+mn-lt"/>
              </a:rPr>
              <a:t> without controls or noise.</a:t>
            </a:r>
            <a:endParaRPr lang="de-DE" altLang="en-US" sz="3413" dirty="0">
              <a:latin typeface="+mn-lt"/>
            </a:endParaRPr>
          </a:p>
        </p:txBody>
      </p:sp>
      <p:graphicFrame>
        <p:nvGraphicFramePr>
          <p:cNvPr id="225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556452"/>
              </p:ext>
            </p:extLst>
          </p:nvPr>
        </p:nvGraphicFramePr>
        <p:xfrm>
          <a:off x="1113085" y="3962947"/>
          <a:ext cx="693137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646" imgH="228402" progId="Equation.3">
                  <p:embed/>
                </p:oleObj>
              </mc:Choice>
              <mc:Fallback>
                <p:oleObj name="Equation" r:id="rId4" imgW="177646" imgH="2284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3085" y="3962947"/>
                        <a:ext cx="693137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334542" y="5353386"/>
            <a:ext cx="10135165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413" dirty="0">
                <a:latin typeface="+mn-lt"/>
              </a:rPr>
              <a:t>Matrix (</a:t>
            </a:r>
            <a:r>
              <a:rPr lang="en-US" altLang="en-US" sz="3413" i="1" dirty="0">
                <a:latin typeface="+mn-lt"/>
              </a:rPr>
              <a:t>n </a:t>
            </a:r>
            <a:r>
              <a:rPr lang="en-US" altLang="en-US" sz="3413" dirty="0">
                <a:latin typeface="+mn-lt"/>
              </a:rPr>
              <a:t>x </a:t>
            </a:r>
            <a:r>
              <a:rPr lang="en-US" altLang="en-US" sz="3413" i="1" dirty="0">
                <a:latin typeface="+mn-lt"/>
              </a:rPr>
              <a:t>l</a:t>
            </a:r>
            <a:r>
              <a:rPr lang="en-US" altLang="en-US" sz="3413" dirty="0">
                <a:latin typeface="+mn-lt"/>
              </a:rPr>
              <a:t>) that describes how the control </a:t>
            </a:r>
            <a:r>
              <a:rPr lang="en-US" altLang="en-US" sz="3413" i="1" dirty="0" err="1">
                <a:latin typeface="+mn-lt"/>
              </a:rPr>
              <a:t>u</a:t>
            </a:r>
            <a:r>
              <a:rPr lang="en-US" altLang="en-US" sz="3413" i="1" baseline="-25000" dirty="0" err="1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changes the state from </a:t>
            </a:r>
            <a:r>
              <a:rPr lang="en-US" altLang="en-US" sz="3413" i="1" dirty="0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to </a:t>
            </a:r>
            <a:r>
              <a:rPr lang="en-US" altLang="en-US" sz="3413" i="1" dirty="0">
                <a:latin typeface="+mn-lt"/>
              </a:rPr>
              <a:t>t-1</a:t>
            </a:r>
            <a:r>
              <a:rPr lang="en-US" altLang="en-US" sz="3413" dirty="0">
                <a:latin typeface="+mn-lt"/>
              </a:rPr>
              <a:t>.</a:t>
            </a:r>
            <a:endParaRPr lang="de-DE" altLang="en-US" sz="3413" dirty="0">
              <a:latin typeface="+mn-lt"/>
            </a:endParaRPr>
          </a:p>
        </p:txBody>
      </p:sp>
      <p:graphicFrame>
        <p:nvGraphicFramePr>
          <p:cNvPr id="2253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814789"/>
              </p:ext>
            </p:extLst>
          </p:nvPr>
        </p:nvGraphicFramePr>
        <p:xfrm>
          <a:off x="1140179" y="5421120"/>
          <a:ext cx="693137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646" imgH="228402" progId="Equation.3">
                  <p:embed/>
                </p:oleObj>
              </mc:Choice>
              <mc:Fallback>
                <p:oleObj name="Equation" r:id="rId6" imgW="177646" imgH="2284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179" y="5421120"/>
                        <a:ext cx="693137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789278"/>
              </p:ext>
            </p:extLst>
          </p:nvPr>
        </p:nvGraphicFramePr>
        <p:xfrm>
          <a:off x="1176303" y="6730982"/>
          <a:ext cx="593795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34" imgH="228501" progId="Equation.3">
                  <p:embed/>
                </p:oleObj>
              </mc:Choice>
              <mc:Fallback>
                <p:oleObj name="Equation" r:id="rId8" imgW="152334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03" y="6730982"/>
                        <a:ext cx="593795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307449" y="6665507"/>
            <a:ext cx="10135165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413" dirty="0">
                <a:latin typeface="+mn-lt"/>
              </a:rPr>
              <a:t>Process noise assumed to be independent and normally distributed with covariance </a:t>
            </a:r>
            <a:r>
              <a:rPr lang="en-US" altLang="en-US" sz="3413" i="1" dirty="0" err="1">
                <a:latin typeface="+mn-lt"/>
              </a:rPr>
              <a:t>R</a:t>
            </a:r>
            <a:r>
              <a:rPr lang="en-US" altLang="en-US" sz="3413" i="1" baseline="-25000" dirty="0" err="1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</a:t>
            </a:r>
            <a:endParaRPr lang="de-DE" altLang="en-US" sz="3413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0517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C0490-32D1-1547-A7C4-27FE915A82AA}" type="slidenum">
              <a:rPr lang="en-US" altLang="en-US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122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Linear Observation Model</a:t>
            </a:r>
            <a:endParaRPr lang="de-DE" altLang="en-US" dirty="0"/>
          </a:p>
        </p:txBody>
      </p:sp>
      <p:graphicFrame>
        <p:nvGraphicFramePr>
          <p:cNvPr id="2355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951153"/>
              </p:ext>
            </p:extLst>
          </p:nvPr>
        </p:nvGraphicFramePr>
        <p:xfrm>
          <a:off x="1115342" y="2415271"/>
          <a:ext cx="4912924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228600" progId="Equation.3">
                  <p:embed/>
                </p:oleObj>
              </mc:Choice>
              <mc:Fallback>
                <p:oleObj name="Equation" r:id="rId2" imgW="1257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342" y="2415271"/>
                        <a:ext cx="4912924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474940"/>
              </p:ext>
            </p:extLst>
          </p:nvPr>
        </p:nvGraphicFramePr>
        <p:xfrm>
          <a:off x="1115343" y="4492426"/>
          <a:ext cx="3176694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447" imgH="228501" progId="Equation.3">
                  <p:embed/>
                </p:oleObj>
              </mc:Choice>
              <mc:Fallback>
                <p:oleObj name="Equation" r:id="rId4" imgW="812447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343" y="4492426"/>
                        <a:ext cx="3176694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07" name="Text Box 7"/>
          <p:cNvSpPr txBox="1">
            <a:spLocks noChangeArrowheads="1"/>
          </p:cNvSpPr>
          <p:nvPr/>
        </p:nvSpPr>
        <p:spPr bwMode="auto">
          <a:xfrm>
            <a:off x="1115343" y="3598346"/>
            <a:ext cx="11557565" cy="643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982" dirty="0">
                <a:latin typeface="+mn-lt"/>
              </a:rPr>
              <a:t>with a measurement </a:t>
            </a:r>
            <a:endParaRPr lang="de-DE" altLang="en-US" sz="3982" dirty="0">
              <a:latin typeface="+mn-lt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402276" y="5670986"/>
            <a:ext cx="10135165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413" dirty="0">
                <a:latin typeface="+mn-lt"/>
              </a:rPr>
              <a:t>Matrix (</a:t>
            </a:r>
            <a:r>
              <a:rPr lang="en-US" altLang="en-US" sz="3413" i="1" dirty="0">
                <a:latin typeface="+mn-lt"/>
              </a:rPr>
              <a:t>k</a:t>
            </a:r>
            <a:r>
              <a:rPr lang="en-US" altLang="en-US" sz="3413" dirty="0">
                <a:latin typeface="+mn-lt"/>
              </a:rPr>
              <a:t> x </a:t>
            </a:r>
            <a:r>
              <a:rPr lang="en-US" altLang="en-US" sz="3413" i="1" dirty="0">
                <a:latin typeface="+mn-lt"/>
              </a:rPr>
              <a:t>n</a:t>
            </a:r>
            <a:r>
              <a:rPr lang="en-US" altLang="en-US" sz="3413" dirty="0">
                <a:latin typeface="+mn-lt"/>
              </a:rPr>
              <a:t>) that describes how to map the state </a:t>
            </a:r>
            <a:r>
              <a:rPr lang="en-US" altLang="en-US" sz="3413" i="1" dirty="0" err="1">
                <a:latin typeface="+mn-lt"/>
              </a:rPr>
              <a:t>x</a:t>
            </a:r>
            <a:r>
              <a:rPr lang="en-US" altLang="en-US" sz="3413" i="1" baseline="-25000" dirty="0" err="1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to an observation </a:t>
            </a:r>
            <a:r>
              <a:rPr lang="en-US" altLang="en-US" sz="3413" i="1" dirty="0" err="1">
                <a:latin typeface="+mn-lt"/>
              </a:rPr>
              <a:t>z</a:t>
            </a:r>
            <a:r>
              <a:rPr lang="en-US" altLang="en-US" sz="3413" i="1" baseline="-25000" dirty="0" err="1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.</a:t>
            </a:r>
            <a:endParaRPr lang="de-DE" altLang="en-US" sz="3413" dirty="0">
              <a:latin typeface="+mn-lt"/>
            </a:endParaRPr>
          </a:p>
        </p:txBody>
      </p:sp>
      <p:graphicFrame>
        <p:nvGraphicFramePr>
          <p:cNvPr id="2356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903056"/>
              </p:ext>
            </p:extLst>
          </p:nvPr>
        </p:nvGraphicFramePr>
        <p:xfrm>
          <a:off x="1207912" y="5765813"/>
          <a:ext cx="693137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646" imgH="228402" progId="Equation.3">
                  <p:embed/>
                </p:oleObj>
              </mc:Choice>
              <mc:Fallback>
                <p:oleObj name="Equation" r:id="rId6" imgW="177646" imgH="2284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912" y="5765813"/>
                        <a:ext cx="693137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307449" y="6887929"/>
            <a:ext cx="10135165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858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r>
              <a:rPr lang="en-US" altLang="en-US" sz="3413" dirty="0">
                <a:latin typeface="+mn-lt"/>
              </a:rPr>
              <a:t>Measurement noise assumed to be independent and normally distributed with covariance </a:t>
            </a:r>
            <a:r>
              <a:rPr lang="en-US" altLang="en-US" sz="3413" i="1" dirty="0" err="1">
                <a:latin typeface="+mn-lt"/>
              </a:rPr>
              <a:t>Q</a:t>
            </a:r>
            <a:r>
              <a:rPr lang="en-US" altLang="en-US" sz="3413" i="1" baseline="-25000" dirty="0" err="1">
                <a:latin typeface="+mn-lt"/>
              </a:rPr>
              <a:t>t</a:t>
            </a:r>
            <a:r>
              <a:rPr lang="en-US" altLang="en-US" sz="3413" dirty="0">
                <a:latin typeface="+mn-lt"/>
              </a:rPr>
              <a:t> </a:t>
            </a:r>
            <a:endParaRPr lang="de-DE" altLang="en-US" sz="3413" dirty="0">
              <a:latin typeface="+mn-lt"/>
            </a:endParaRPr>
          </a:p>
        </p:txBody>
      </p:sp>
      <p:graphicFrame>
        <p:nvGraphicFramePr>
          <p:cNvPr id="2356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021553"/>
              </p:ext>
            </p:extLst>
          </p:nvPr>
        </p:nvGraphicFramePr>
        <p:xfrm>
          <a:off x="1207912" y="6980498"/>
          <a:ext cx="596053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34" imgH="228501" progId="Equation.3">
                  <p:embed/>
                </p:oleObj>
              </mc:Choice>
              <mc:Fallback>
                <p:oleObj name="Equation" r:id="rId8" imgW="152334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912" y="6980498"/>
                        <a:ext cx="596053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9061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A22BDFE-0E78-E94A-B68C-238FD83DED61}"/>
              </a:ext>
            </a:extLst>
          </p:cNvPr>
          <p:cNvSpPr/>
          <p:nvPr/>
        </p:nvSpPr>
        <p:spPr>
          <a:xfrm>
            <a:off x="2813268" y="7004359"/>
            <a:ext cx="8122462" cy="22879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28BD33-2AAF-0E43-AD19-CE6DBA7CF3E9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pic>
        <p:nvPicPr>
          <p:cNvPr id="26626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560" y="5183858"/>
            <a:ext cx="9356231" cy="375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66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801291"/>
              </p:ext>
            </p:extLst>
          </p:nvPr>
        </p:nvGraphicFramePr>
        <p:xfrm>
          <a:off x="3752427" y="550898"/>
          <a:ext cx="4912924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300" imgH="228600" progId="Equation.3">
                  <p:embed/>
                </p:oleObj>
              </mc:Choice>
              <mc:Fallback>
                <p:oleObj name="Equation" r:id="rId3" imgW="1257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427" y="550898"/>
                        <a:ext cx="4912924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28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209" y="1962010"/>
            <a:ext cx="6105031" cy="164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1946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This is our prediction step.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Next, measurement update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A8395-AB53-8D4B-B095-7776892CFDBA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pic>
        <p:nvPicPr>
          <p:cNvPr id="27652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222" y="4937761"/>
            <a:ext cx="4894862" cy="66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24300"/>
              </p:ext>
            </p:extLst>
          </p:nvPr>
        </p:nvGraphicFramePr>
        <p:xfrm>
          <a:off x="4698437" y="6222436"/>
          <a:ext cx="3174436" cy="89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447" imgH="228501" progId="Equation.3">
                  <p:embed/>
                </p:oleObj>
              </mc:Choice>
              <mc:Fallback>
                <p:oleObj name="Equation" r:id="rId3" imgW="812447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437" y="6222436"/>
                        <a:ext cx="3174436" cy="89182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6774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Back to our MAP estimator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AAEB4C-6C05-1F4F-BEEA-30EE3150C819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2867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87" y="3122508"/>
            <a:ext cx="11428871" cy="414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057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4BC2B3D-AB44-1744-87AE-A1DA87075830}"/>
              </a:ext>
            </a:extLst>
          </p:cNvPr>
          <p:cNvSpPr/>
          <p:nvPr/>
        </p:nvSpPr>
        <p:spPr>
          <a:xfrm>
            <a:off x="567723" y="4005304"/>
            <a:ext cx="6566303" cy="3032158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b="1" i="1" dirty="0" err="1">
                <a:solidFill>
                  <a:schemeClr val="accent2"/>
                </a:solidFill>
              </a:rPr>
              <a:t>t|t</a:t>
            </a:r>
            <a:endParaRPr lang="en-US" b="1" i="1" dirty="0">
              <a:solidFill>
                <a:schemeClr val="accent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00FB17-9D9A-A64A-9C1F-35ABE3807120}"/>
              </a:ext>
            </a:extLst>
          </p:cNvPr>
          <p:cNvSpPr/>
          <p:nvPr/>
        </p:nvSpPr>
        <p:spPr>
          <a:xfrm>
            <a:off x="7491627" y="4005304"/>
            <a:ext cx="5099907" cy="2972478"/>
          </a:xfrm>
          <a:prstGeom prst="rect">
            <a:avLst/>
          </a:prstGeom>
          <a:solidFill>
            <a:schemeClr val="accent6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t | t-1</a:t>
            </a:r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DAFEF2-A468-5B4C-99C5-C5EA9D53890E}" type="slidenum">
              <a:rPr lang="en-US" altLang="en-US"/>
              <a:pPr>
                <a:defRPr/>
              </a:pPr>
              <a:t>34</a:t>
            </a:fld>
            <a:endParaRPr lang="en-US" altLang="en-US"/>
          </a:p>
        </p:txBody>
      </p:sp>
      <p:sp>
        <p:nvSpPr>
          <p:cNvPr id="124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The Prediction-Correction-Cycle</a:t>
            </a:r>
            <a:endParaRPr lang="de-DE" altLang="en-US"/>
          </a:p>
        </p:txBody>
      </p:sp>
      <p:sp>
        <p:nvSpPr>
          <p:cNvPr id="1247241" name="AutoShape 9"/>
          <p:cNvSpPr>
            <a:spLocks noChangeArrowheads="1"/>
          </p:cNvSpPr>
          <p:nvPr/>
        </p:nvSpPr>
        <p:spPr bwMode="auto">
          <a:xfrm>
            <a:off x="3833707" y="1807387"/>
            <a:ext cx="184731" cy="801438"/>
          </a:xfrm>
          <a:prstGeom prst="curvedDownArrow">
            <a:avLst>
              <a:gd name="adj1" fmla="val 135882"/>
              <a:gd name="adj2" fmla="val 271765"/>
              <a:gd name="adj3" fmla="val 33333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defRPr/>
            </a:pPr>
            <a:endParaRPr lang="en-US" sz="5120"/>
          </a:p>
        </p:txBody>
      </p:sp>
      <p:grpSp>
        <p:nvGrpSpPr>
          <p:cNvPr id="31750" name="Group 10"/>
          <p:cNvGrpSpPr>
            <a:grpSpLocks/>
          </p:cNvGrpSpPr>
          <p:nvPr/>
        </p:nvGrpSpPr>
        <p:grpSpPr bwMode="auto">
          <a:xfrm>
            <a:off x="1733791" y="7037462"/>
            <a:ext cx="8493760" cy="1544320"/>
            <a:chOff x="954" y="3675"/>
            <a:chExt cx="3762" cy="684"/>
          </a:xfrm>
        </p:grpSpPr>
        <p:sp>
          <p:nvSpPr>
            <p:cNvPr id="1247243" name="AutoShape 11"/>
            <p:cNvSpPr>
              <a:spLocks noChangeArrowheads="1"/>
            </p:cNvSpPr>
            <p:nvPr/>
          </p:nvSpPr>
          <p:spPr bwMode="auto">
            <a:xfrm rot="10800000">
              <a:off x="954" y="3675"/>
              <a:ext cx="3762" cy="355"/>
            </a:xfrm>
            <a:prstGeom prst="curvedDownArrow">
              <a:avLst>
                <a:gd name="adj1" fmla="val 149286"/>
                <a:gd name="adj2" fmla="val 298571"/>
                <a:gd name="adj3" fmla="val 3333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endParaRPr lang="en-US" sz="5120"/>
            </a:p>
          </p:txBody>
        </p:sp>
        <p:sp>
          <p:nvSpPr>
            <p:cNvPr id="1247244" name="Text Box 12"/>
            <p:cNvSpPr txBox="1">
              <a:spLocks noChangeArrowheads="1"/>
            </p:cNvSpPr>
            <p:nvPr/>
          </p:nvSpPr>
          <p:spPr bwMode="auto">
            <a:xfrm>
              <a:off x="2686" y="4178"/>
              <a:ext cx="753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609600" indent="-609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r>
                <a:rPr lang="en-US" altLang="en-US" sz="2276">
                  <a:latin typeface="Verdana" charset="0"/>
                </a:rPr>
                <a:t>Correction</a:t>
              </a:r>
              <a:endParaRPr lang="de-DE" altLang="en-US" sz="2276" dirty="0">
                <a:latin typeface="Verdana" charset="0"/>
              </a:endParaRPr>
            </a:p>
          </p:txBody>
        </p:sp>
      </p:grpSp>
      <p:grpSp>
        <p:nvGrpSpPr>
          <p:cNvPr id="31751" name="Group 13"/>
          <p:cNvGrpSpPr>
            <a:grpSpLocks/>
          </p:cNvGrpSpPr>
          <p:nvPr/>
        </p:nvGrpSpPr>
        <p:grpSpPr bwMode="auto">
          <a:xfrm>
            <a:off x="2255520" y="2482583"/>
            <a:ext cx="8493760" cy="1463041"/>
            <a:chOff x="1290" y="520"/>
            <a:chExt cx="3762" cy="648"/>
          </a:xfrm>
        </p:grpSpPr>
        <p:sp>
          <p:nvSpPr>
            <p:cNvPr id="1247246" name="AutoShape 14"/>
            <p:cNvSpPr>
              <a:spLocks noChangeArrowheads="1"/>
            </p:cNvSpPr>
            <p:nvPr/>
          </p:nvSpPr>
          <p:spPr bwMode="auto">
            <a:xfrm>
              <a:off x="1290" y="813"/>
              <a:ext cx="3762" cy="355"/>
            </a:xfrm>
            <a:prstGeom prst="curvedDownArrow">
              <a:avLst>
                <a:gd name="adj1" fmla="val 149286"/>
                <a:gd name="adj2" fmla="val 298571"/>
                <a:gd name="adj3" fmla="val 3333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endParaRPr lang="en-US" sz="5120"/>
            </a:p>
          </p:txBody>
        </p:sp>
        <p:sp>
          <p:nvSpPr>
            <p:cNvPr id="1247247" name="Text Box 15"/>
            <p:cNvSpPr txBox="1">
              <a:spLocks noChangeArrowheads="1"/>
            </p:cNvSpPr>
            <p:nvPr/>
          </p:nvSpPr>
          <p:spPr bwMode="auto">
            <a:xfrm>
              <a:off x="2810" y="520"/>
              <a:ext cx="72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609600" indent="-609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defRPr/>
              </a:pPr>
              <a:r>
                <a:rPr lang="en-US" altLang="en-US" sz="2276">
                  <a:latin typeface="Verdana" charset="0"/>
                </a:rPr>
                <a:t>Prediction</a:t>
              </a:r>
              <a:endParaRPr lang="de-DE" altLang="en-US" sz="2276" dirty="0">
                <a:latin typeface="Verdana" charset="0"/>
              </a:endParaRPr>
            </a:p>
          </p:txBody>
        </p:sp>
      </p:grpSp>
      <p:pic>
        <p:nvPicPr>
          <p:cNvPr id="17" name="Picture 4">
            <a:extLst>
              <a:ext uri="{FF2B5EF4-FFF2-40B4-BE49-F238E27FC236}">
                <a16:creationId xmlns:a16="http://schemas.microsoft.com/office/drawing/2014/main" id="{9369449C-DDB3-3D4E-93AA-6D4AFF2DA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042" y="4418735"/>
            <a:ext cx="4611336" cy="1851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B7989A00-9E15-5545-8112-5BDAA9339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18" y="4422375"/>
            <a:ext cx="6415908" cy="232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12433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16643E-C8F4-5446-8E87-733B52EF6ADA}" type="slidenum">
              <a:rPr lang="en-US" altLang="en-US"/>
              <a:pPr>
                <a:defRPr/>
              </a:pPr>
              <a:t>35</a:t>
            </a:fld>
            <a:endParaRPr lang="en-US" altLang="en-US"/>
          </a:p>
        </p:txBody>
      </p:sp>
      <p:sp>
        <p:nvSpPr>
          <p:cNvPr id="1218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66988" y="629922"/>
            <a:ext cx="11982027" cy="8240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4551" dirty="0" err="1"/>
              <a:t>Kalman</a:t>
            </a:r>
            <a:r>
              <a:rPr lang="en-US" altLang="en-US" sz="4551" dirty="0"/>
              <a:t> Filter Updates in 1D</a:t>
            </a:r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501228" y="1422400"/>
            <a:ext cx="11972996" cy="4118187"/>
            <a:chOff x="222" y="630"/>
            <a:chExt cx="5303" cy="1824"/>
          </a:xfrm>
        </p:grpSpPr>
        <p:pic>
          <p:nvPicPr>
            <p:cNvPr id="29706" name="Picture 4" descr="graph1-gnu-colo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" y="630"/>
              <a:ext cx="2495" cy="1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07" name="Picture 5" descr="graph2-gnu-colo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0" y="650"/>
              <a:ext cx="2495" cy="1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18566" name="Picture 6" descr="graph3-gnu-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28" y="5558649"/>
            <a:ext cx="5633156" cy="407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graph4-gnu-col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872" y="5495431"/>
            <a:ext cx="5635413" cy="407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TextBox 1"/>
          <p:cNvSpPr txBox="1">
            <a:spLocks noChangeArrowheads="1"/>
          </p:cNvSpPr>
          <p:nvPr/>
        </p:nvSpPr>
        <p:spPr bwMode="auto">
          <a:xfrm>
            <a:off x="3052515" y="3811130"/>
            <a:ext cx="1322798" cy="705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prior</a:t>
            </a:r>
          </a:p>
        </p:txBody>
      </p:sp>
      <p:sp>
        <p:nvSpPr>
          <p:cNvPr id="29703" name="TextBox 2"/>
          <p:cNvSpPr txBox="1">
            <a:spLocks noChangeArrowheads="1"/>
          </p:cNvSpPr>
          <p:nvPr/>
        </p:nvSpPr>
        <p:spPr bwMode="auto">
          <a:xfrm>
            <a:off x="8543431" y="2203592"/>
            <a:ext cx="3297698" cy="13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Measurement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likelihood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052516" y="6538525"/>
            <a:ext cx="1778051" cy="705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update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9046916" y="6283397"/>
            <a:ext cx="2518638" cy="13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Verdana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Verdana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Prediction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982" dirty="0">
                <a:latin typeface="+mn-lt"/>
              </a:rPr>
              <a:t>given </a:t>
            </a:r>
            <a:r>
              <a:rPr lang="en-US" altLang="en-US" sz="3982" i="1" dirty="0" err="1">
                <a:latin typeface="+mn-lt"/>
              </a:rPr>
              <a:t>u</a:t>
            </a:r>
            <a:r>
              <a:rPr lang="en-US" altLang="en-US" sz="3982" i="1" baseline="-25000" dirty="0" err="1">
                <a:latin typeface="+mn-lt"/>
              </a:rPr>
              <a:t>t</a:t>
            </a:r>
            <a:endParaRPr lang="en-US" altLang="en-US" sz="3982" i="1" baseline="-25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935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918C6-06BA-2741-AE98-B5CF9F2FE504}" type="slidenum">
              <a:rPr lang="en-US" altLang="en-US"/>
              <a:pPr>
                <a:defRPr/>
              </a:pPr>
              <a:t>36</a:t>
            </a:fld>
            <a:endParaRPr lang="en-US" altLang="en-US"/>
          </a:p>
        </p:txBody>
      </p:sp>
      <p:sp>
        <p:nvSpPr>
          <p:cNvPr id="124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866988" y="325120"/>
            <a:ext cx="11982027" cy="91214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Kalman Filter Algorithm </a:t>
            </a:r>
          </a:p>
        </p:txBody>
      </p:sp>
      <p:sp>
        <p:nvSpPr>
          <p:cNvPr id="1244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246" y="1731716"/>
            <a:ext cx="11961707" cy="6825262"/>
          </a:xfrm>
        </p:spPr>
        <p:txBody>
          <a:bodyPr>
            <a:normAutofit fontScale="92500" lnSpcReduction="20000"/>
          </a:bodyPr>
          <a:lstStyle/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2844">
                <a:solidFill>
                  <a:schemeClr val="folHlink"/>
                </a:solidFill>
              </a:rPr>
              <a:t> </a:t>
            </a:r>
            <a:r>
              <a:rPr lang="en-US" altLang="en-US" sz="3413">
                <a:solidFill>
                  <a:schemeClr val="folHlink"/>
                </a:solidFill>
              </a:rPr>
              <a:t>Algorithm</a:t>
            </a:r>
            <a:r>
              <a:rPr lang="en-US" altLang="en-US" sz="3413" b="1">
                <a:solidFill>
                  <a:schemeClr val="folHlink"/>
                </a:solidFill>
              </a:rPr>
              <a:t> Kalman_filter</a:t>
            </a:r>
            <a:r>
              <a:rPr lang="en-US" altLang="en-US" sz="3413"/>
              <a:t>( </a:t>
            </a:r>
            <a:r>
              <a:rPr lang="en-US" altLang="en-US" sz="3413">
                <a:latin typeface="Symbol" charset="2"/>
              </a:rPr>
              <a:t>m</a:t>
            </a:r>
            <a:r>
              <a:rPr lang="en-US" altLang="en-US" sz="3413" i="1" baseline="-25000"/>
              <a:t>t-1</a:t>
            </a:r>
            <a:r>
              <a:rPr lang="en-US" altLang="en-US" sz="3413" i="1"/>
              <a:t>,</a:t>
            </a:r>
            <a:r>
              <a:rPr lang="en-US" altLang="en-US" sz="3413" i="1" baseline="-25000"/>
              <a:t> </a:t>
            </a:r>
            <a:r>
              <a:rPr lang="en-US" altLang="en-US" sz="3413">
                <a:latin typeface="Symbol" charset="2"/>
              </a:rPr>
              <a:t>S</a:t>
            </a:r>
            <a:r>
              <a:rPr lang="en-US" altLang="en-US" sz="3413" i="1" baseline="-25000"/>
              <a:t>t-1</a:t>
            </a:r>
            <a:r>
              <a:rPr lang="en-US" altLang="en-US" sz="3413" i="1"/>
              <a:t>, u</a:t>
            </a:r>
            <a:r>
              <a:rPr lang="en-US" altLang="en-US" sz="3413" i="1" baseline="-25000"/>
              <a:t>t</a:t>
            </a:r>
            <a:r>
              <a:rPr lang="en-US" altLang="en-US" sz="3413" i="1"/>
              <a:t>, z</a:t>
            </a:r>
            <a:r>
              <a:rPr lang="en-US" altLang="en-US" sz="3413" i="1" baseline="-25000"/>
              <a:t>t</a:t>
            </a:r>
            <a:r>
              <a:rPr lang="en-US" altLang="en-US" sz="3413"/>
              <a:t>):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endParaRPr lang="en-US" altLang="en-US" sz="3413">
              <a:latin typeface="Symbol" charset="2"/>
            </a:endParaRPr>
          </a:p>
          <a:p>
            <a:pPr marL="866973" indent="-866973">
              <a:lnSpc>
                <a:spcPct val="12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Prediction:</a:t>
            </a:r>
            <a:endParaRPr lang="en-US" altLang="en-US" sz="3413">
              <a:solidFill>
                <a:schemeClr val="folHlink"/>
              </a:solidFill>
            </a:endParaRP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     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 </a:t>
            </a:r>
            <a:br>
              <a:rPr lang="en-US" altLang="en-US" sz="3413"/>
            </a:br>
            <a:endParaRPr lang="en-US" altLang="en-US" sz="3413"/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Correction: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     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</a:t>
            </a:r>
          </a:p>
          <a:p>
            <a:pPr marL="866973" indent="-866973">
              <a:lnSpc>
                <a:spcPct val="150000"/>
              </a:lnSpc>
              <a:buSzTx/>
              <a:buFontTx/>
              <a:buAutoNum type="arabicPeriod"/>
              <a:defRPr/>
            </a:pPr>
            <a:r>
              <a:rPr lang="en-US" altLang="en-US" sz="3413"/>
              <a:t> </a:t>
            </a:r>
            <a:r>
              <a:rPr lang="en-US" altLang="en-US" sz="3413">
                <a:solidFill>
                  <a:schemeClr val="folHlink"/>
                </a:solidFill>
              </a:rPr>
              <a:t>Return</a:t>
            </a:r>
            <a:r>
              <a:rPr lang="en-US" altLang="en-US" sz="3413"/>
              <a:t> </a:t>
            </a:r>
            <a:r>
              <a:rPr lang="en-US" altLang="en-US" sz="3413">
                <a:latin typeface="Symbol" charset="2"/>
              </a:rPr>
              <a:t>m</a:t>
            </a:r>
            <a:r>
              <a:rPr lang="en-US" altLang="en-US" sz="3413" i="1" baseline="-25000"/>
              <a:t>t</a:t>
            </a:r>
            <a:r>
              <a:rPr lang="en-US" altLang="en-US" sz="3413" i="1"/>
              <a:t>,</a:t>
            </a:r>
            <a:r>
              <a:rPr lang="en-US" altLang="en-US" sz="3413" i="1" baseline="-25000"/>
              <a:t> </a:t>
            </a:r>
            <a:r>
              <a:rPr lang="en-US" altLang="en-US" sz="3413">
                <a:latin typeface="Symbol" charset="2"/>
              </a:rPr>
              <a:t>S</a:t>
            </a:r>
            <a:r>
              <a:rPr lang="en-US" altLang="en-US" sz="3413" i="1" baseline="-25000"/>
              <a:t>t</a:t>
            </a:r>
            <a:r>
              <a:rPr lang="en-US" altLang="en-US" sz="3413"/>
              <a:t>      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56A1C7B0-3B5C-6445-8F47-82C3DED3DC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25" t="48317" r="1349"/>
          <a:stretch/>
        </p:blipFill>
        <p:spPr bwMode="auto">
          <a:xfrm>
            <a:off x="2257596" y="3578580"/>
            <a:ext cx="4077729" cy="104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9914DB0B-65DC-1A49-A427-FB7F17F1F8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73" b="20215"/>
          <a:stretch/>
        </p:blipFill>
        <p:spPr bwMode="auto">
          <a:xfrm>
            <a:off x="1793802" y="6302129"/>
            <a:ext cx="7479603" cy="10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9EA6D28D-7EA3-0144-AF5F-8F9345F801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0" t="80572"/>
          <a:stretch/>
        </p:blipFill>
        <p:spPr bwMode="auto">
          <a:xfrm>
            <a:off x="2496064" y="5744000"/>
            <a:ext cx="5973139" cy="533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1513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Properties of </a:t>
            </a:r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If the system is linear, and noise is Gaussian, then KF is optimal Minimum Mean Squared Error estimator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If noise is not Gaussian, however, is modeled as Gaussian using the mean and variance, then KF is the optimal </a:t>
            </a:r>
            <a:r>
              <a:rPr lang="en-US" b="1" dirty="0"/>
              <a:t>linear</a:t>
            </a:r>
            <a:r>
              <a:rPr lang="en-US" dirty="0"/>
              <a:t> MMSE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544579-8983-E14A-9237-9272E526E30D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3093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480E-C66D-2D43-9795-61530507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5B436-FF5E-2544-9639-5D48E0B1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Non-linearity</a:t>
            </a:r>
          </a:p>
          <a:p>
            <a:r>
              <a:rPr lang="en-US" dirty="0"/>
              <a:t>Rejecting outliers</a:t>
            </a:r>
          </a:p>
          <a:p>
            <a:r>
              <a:rPr lang="en-US" dirty="0"/>
              <a:t>Measuring performance</a:t>
            </a:r>
          </a:p>
          <a:p>
            <a:r>
              <a:rPr lang="en-US" dirty="0"/>
              <a:t>Sensor fusion</a:t>
            </a:r>
          </a:p>
          <a:p>
            <a:r>
              <a:rPr lang="en-US" dirty="0"/>
              <a:t>Data association</a:t>
            </a:r>
          </a:p>
        </p:txBody>
      </p:sp>
    </p:spTree>
    <p:extLst>
      <p:ext uri="{BB962C8B-B14F-4D97-AF65-F5344CB8AC3E}">
        <p14:creationId xmlns:p14="http://schemas.microsoft.com/office/powerpoint/2010/main" val="1135458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FDED17-D8D6-1C47-BB3F-F495E06EBC6A}" type="slidenum">
              <a:rPr lang="en-US" altLang="en-US"/>
              <a:pPr>
                <a:defRPr/>
              </a:pPr>
              <a:t>39</a:t>
            </a:fld>
            <a:endParaRPr lang="en-US" altLang="en-US"/>
          </a:p>
        </p:txBody>
      </p:sp>
      <p:sp>
        <p:nvSpPr>
          <p:cNvPr id="1249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Nonlinear Systems</a:t>
            </a:r>
          </a:p>
        </p:txBody>
      </p:sp>
      <p:sp>
        <p:nvSpPr>
          <p:cNvPr id="124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Most realistic estimation problems involve nonlinear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8EA3B4-E080-9F42-AEA7-CE8289A0B2F4}"/>
              </a:ext>
            </a:extLst>
          </p:cNvPr>
          <p:cNvSpPr txBox="1"/>
          <p:nvPr/>
        </p:nvSpPr>
        <p:spPr>
          <a:xfrm>
            <a:off x="6981568" y="4155137"/>
            <a:ext cx="3996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Non-linear motion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8C758B-4F1D-2F47-A92F-F6498E5D9A78}"/>
              </a:ext>
            </a:extLst>
          </p:cNvPr>
          <p:cNvSpPr txBox="1"/>
          <p:nvPr/>
        </p:nvSpPr>
        <p:spPr>
          <a:xfrm>
            <a:off x="6981567" y="5997484"/>
            <a:ext cx="5513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Non-linear measurements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F4E3A9-7D69-904A-9BB0-DFC604298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" y="6157552"/>
            <a:ext cx="3923900" cy="625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471104-6C23-184F-8FC5-2422BEDC3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21" y="4155137"/>
            <a:ext cx="5417065" cy="62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89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Examples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237" y="3521924"/>
            <a:ext cx="2844800" cy="2324100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1" t="3863" r="24934" b="17426"/>
          <a:stretch/>
        </p:blipFill>
        <p:spPr>
          <a:xfrm>
            <a:off x="1488559" y="2892057"/>
            <a:ext cx="5741582" cy="5124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D69988-DEEE-7A46-99D4-ED7B44FD9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05" y="712111"/>
            <a:ext cx="5417065" cy="62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32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600" y="4602163"/>
            <a:ext cx="9474200" cy="4652962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744" y="1807863"/>
            <a:ext cx="3822700" cy="27940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1ED311E-D76A-E54F-B4BD-5061E6F61E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1" t="13046" r="58939" b="29342"/>
          <a:stretch/>
        </p:blipFill>
        <p:spPr>
          <a:xfrm>
            <a:off x="1470455" y="1890585"/>
            <a:ext cx="2508421" cy="322511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7DE480-B5CF-DC4F-A2EF-7006DA6F559C}"/>
              </a:ext>
            </a:extLst>
          </p:cNvPr>
          <p:cNvSpPr txBox="1">
            <a:spLocks/>
          </p:cNvSpPr>
          <p:nvPr/>
        </p:nvSpPr>
        <p:spPr>
          <a:xfrm>
            <a:off x="894080" y="519292"/>
            <a:ext cx="11216640" cy="1010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3004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20" b="1" kern="1200">
                <a:solidFill>
                  <a:srgbClr val="66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				Examples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E21D12-678B-C24B-8190-70B32649B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505" y="712111"/>
            <a:ext cx="5417065" cy="62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980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744B8-9B61-9046-8F80-B82589EEE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Non-linear Measurements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E30C4-97C1-5F43-93EF-B63FA09C7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Distance sensor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197034C-2F42-3140-81A2-C68CE5C1F6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1" t="13046" r="58939" b="29342"/>
          <a:stretch/>
        </p:blipFill>
        <p:spPr>
          <a:xfrm>
            <a:off x="2360143" y="3954365"/>
            <a:ext cx="1172020" cy="1506884"/>
          </a:xfrm>
          <a:prstGeom prst="rect">
            <a:avLst/>
          </a:prstGeom>
        </p:spPr>
      </p:pic>
      <p:sp>
        <p:nvSpPr>
          <p:cNvPr id="5" name="5-Point Star 4">
            <a:extLst>
              <a:ext uri="{FF2B5EF4-FFF2-40B4-BE49-F238E27FC236}">
                <a16:creationId xmlns:a16="http://schemas.microsoft.com/office/drawing/2014/main" id="{AEDD16BF-8787-A745-BF29-5FE641C74F13}"/>
              </a:ext>
            </a:extLst>
          </p:cNvPr>
          <p:cNvSpPr/>
          <p:nvPr/>
        </p:nvSpPr>
        <p:spPr>
          <a:xfrm>
            <a:off x="8293946" y="6444049"/>
            <a:ext cx="840260" cy="72904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493E9-63F3-094F-B628-70D54E5EC371}"/>
              </a:ext>
            </a:extLst>
          </p:cNvPr>
          <p:cNvSpPr txBox="1"/>
          <p:nvPr/>
        </p:nvSpPr>
        <p:spPr>
          <a:xfrm>
            <a:off x="9136769" y="5931410"/>
            <a:ext cx="32817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Known landmark position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23C676-34AE-9D48-B5C8-65F223759BA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532163" y="4707807"/>
            <a:ext cx="4761784" cy="201471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BDF1944-477F-FF49-8ED8-FDE022E70ABC}"/>
              </a:ext>
            </a:extLst>
          </p:cNvPr>
          <p:cNvSpPr txBox="1"/>
          <p:nvPr/>
        </p:nvSpPr>
        <p:spPr>
          <a:xfrm>
            <a:off x="4749021" y="3111086"/>
            <a:ext cx="5168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z</a:t>
            </a:r>
            <a:r>
              <a:rPr lang="en-US" dirty="0"/>
              <a:t> = distance to landmark</a:t>
            </a:r>
            <a:endParaRPr lang="en-US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EDC8BF-7B1C-5645-9606-C02FBD9B1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497" y="5831867"/>
            <a:ext cx="2112413" cy="9767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6622C6-429A-E243-B51D-88C4B0C91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546" y="7764491"/>
            <a:ext cx="617060" cy="10205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6AAA8B-626D-0849-99E5-0EBF905B07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021" y="4093044"/>
            <a:ext cx="5992336" cy="42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956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FDED17-D8D6-1C47-BB3F-F495E06EBC6A}" type="slidenum">
              <a:rPr lang="en-US" altLang="en-US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1249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Nonlinear Systems</a:t>
            </a:r>
          </a:p>
        </p:txBody>
      </p:sp>
      <p:sp>
        <p:nvSpPr>
          <p:cNvPr id="124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Most realistic estimation problems involve nonlinear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F4E3A9-7D69-904A-9BB0-DFC604298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730" y="4191228"/>
            <a:ext cx="3923900" cy="625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471104-6C23-184F-8FC5-2422BEDC3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" y="4191228"/>
            <a:ext cx="5417065" cy="6250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FBFC56-8C3C-714B-8AED-5AEAED55C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588" y="6524483"/>
            <a:ext cx="6642047" cy="568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7CC28E-17E2-4447-A64E-E3DA22AD2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594" y="6524483"/>
            <a:ext cx="3728171" cy="55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95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Taylor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About a point x =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041A4-2796-9849-B7B7-07EAD91E335C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p:pic>
        <p:nvPicPr>
          <p:cNvPr id="34820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86" y="3547827"/>
            <a:ext cx="11180516" cy="1137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B5F0B4-CC6C-C549-B43C-A27A91ECE6EB}"/>
              </a:ext>
            </a:extLst>
          </p:cNvPr>
          <p:cNvSpPr/>
          <p:nvPr/>
        </p:nvSpPr>
        <p:spPr>
          <a:xfrm>
            <a:off x="2445950" y="3581419"/>
            <a:ext cx="4609757" cy="1250076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b="1" i="1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F1B98-03A7-4442-8B0A-74CC0CE9A70C}"/>
              </a:ext>
            </a:extLst>
          </p:cNvPr>
          <p:cNvSpPr txBox="1"/>
          <p:nvPr/>
        </p:nvSpPr>
        <p:spPr>
          <a:xfrm>
            <a:off x="3410465" y="4865087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Linear in x</a:t>
            </a:r>
          </a:p>
        </p:txBody>
      </p:sp>
    </p:spTree>
    <p:extLst>
      <p:ext uri="{BB962C8B-B14F-4D97-AF65-F5344CB8AC3E}">
        <p14:creationId xmlns:p14="http://schemas.microsoft.com/office/powerpoint/2010/main" val="11587761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5D05-985D-E54C-A5AD-795DE0ED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Linearization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A07F3-D973-A44D-A053-5D8D9C88A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121" y="2267045"/>
            <a:ext cx="5417065" cy="6250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5DC607-F86A-F84B-8406-CD2E8B12E9A3}"/>
              </a:ext>
            </a:extLst>
          </p:cNvPr>
          <p:cNvSpPr/>
          <p:nvPr/>
        </p:nvSpPr>
        <p:spPr>
          <a:xfrm>
            <a:off x="3459205" y="4906835"/>
            <a:ext cx="3398796" cy="740203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b="1" i="1" dirty="0">
              <a:solidFill>
                <a:schemeClr val="accent2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EFABF6-6CFA-5648-A01D-8520F105E122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4226011" y="5647038"/>
            <a:ext cx="932592" cy="103796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8C95F1-4D65-9445-98C9-BA2B8AC293AA}"/>
              </a:ext>
            </a:extLst>
          </p:cNvPr>
          <p:cNvSpPr txBox="1"/>
          <p:nvPr/>
        </p:nvSpPr>
        <p:spPr>
          <a:xfrm>
            <a:off x="1210963" y="6759351"/>
            <a:ext cx="6385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Constants that can be computed based on mu</a:t>
            </a:r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17" y="3390390"/>
            <a:ext cx="10802395" cy="2182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49120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5D05-985D-E54C-A5AD-795DE0ED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DC607-F86A-F84B-8406-CD2E8B12E9A3}"/>
              </a:ext>
            </a:extLst>
          </p:cNvPr>
          <p:cNvSpPr/>
          <p:nvPr/>
        </p:nvSpPr>
        <p:spPr>
          <a:xfrm>
            <a:off x="3586121" y="4906835"/>
            <a:ext cx="2950603" cy="665857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b="1" i="1" dirty="0">
              <a:solidFill>
                <a:schemeClr val="accent2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EFABF6-6CFA-5648-A01D-8520F105E122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4226011" y="5572692"/>
            <a:ext cx="835412" cy="11123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8C95F1-4D65-9445-98C9-BA2B8AC293AA}"/>
              </a:ext>
            </a:extLst>
          </p:cNvPr>
          <p:cNvSpPr txBox="1"/>
          <p:nvPr/>
        </p:nvSpPr>
        <p:spPr>
          <a:xfrm>
            <a:off x="1210963" y="6759351"/>
            <a:ext cx="6385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Constants that can be computed based on mu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CF6CF0-9046-BD47-A1A5-DEAB7B1F5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665" y="2227239"/>
            <a:ext cx="3923900" cy="6250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745FEF-ED6B-0147-BC59-8ABF67787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102" y="8247037"/>
            <a:ext cx="7625322" cy="538892"/>
          </a:xfrm>
          <a:prstGeom prst="rect">
            <a:avLst/>
          </a:prstGeom>
        </p:spPr>
      </p:pic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478" y="3635734"/>
            <a:ext cx="9152127" cy="1936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6815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918C6-06BA-2741-AE98-B5CF9F2FE504}" type="slidenum">
              <a:rPr lang="en-US" altLang="en-US"/>
              <a:pPr>
                <a:defRPr/>
              </a:pPr>
              <a:t>47</a:t>
            </a:fld>
            <a:endParaRPr lang="en-US" altLang="en-US"/>
          </a:p>
        </p:txBody>
      </p:sp>
      <p:sp>
        <p:nvSpPr>
          <p:cNvPr id="124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866988" y="325120"/>
            <a:ext cx="11982027" cy="91214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EKF Algorithm </a:t>
            </a:r>
          </a:p>
        </p:txBody>
      </p:sp>
      <p:sp>
        <p:nvSpPr>
          <p:cNvPr id="1244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246" y="1731716"/>
            <a:ext cx="11961707" cy="6825262"/>
          </a:xfrm>
        </p:spPr>
        <p:txBody>
          <a:bodyPr>
            <a:normAutofit fontScale="92500" lnSpcReduction="20000"/>
          </a:bodyPr>
          <a:lstStyle/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2844" dirty="0">
                <a:solidFill>
                  <a:schemeClr val="folHlink"/>
                </a:solidFill>
              </a:rPr>
              <a:t> </a:t>
            </a:r>
            <a:r>
              <a:rPr lang="en-US" altLang="en-US" sz="3413" dirty="0">
                <a:solidFill>
                  <a:schemeClr val="folHlink"/>
                </a:solidFill>
              </a:rPr>
              <a:t>Algorithm</a:t>
            </a:r>
            <a:r>
              <a:rPr lang="en-US" altLang="en-US" sz="3413" b="1" dirty="0">
                <a:solidFill>
                  <a:schemeClr val="folHlink"/>
                </a:solidFill>
              </a:rPr>
              <a:t> </a:t>
            </a:r>
            <a:r>
              <a:rPr lang="en-US" altLang="en-US" sz="3413" b="1" dirty="0" err="1">
                <a:solidFill>
                  <a:schemeClr val="folHlink"/>
                </a:solidFill>
              </a:rPr>
              <a:t>Extended_Kalman_filter</a:t>
            </a:r>
            <a:r>
              <a:rPr lang="en-US" altLang="en-US" sz="3413" dirty="0"/>
              <a:t>( </a:t>
            </a:r>
            <a:r>
              <a:rPr lang="en-US" altLang="en-US" sz="3413" dirty="0" err="1">
                <a:latin typeface="Symbol" charset="2"/>
              </a:rPr>
              <a:t>m</a:t>
            </a:r>
            <a:r>
              <a:rPr lang="en-US" altLang="en-US" sz="3413" i="1" baseline="-25000" dirty="0" err="1"/>
              <a:t>t|t</a:t>
            </a:r>
            <a:r>
              <a:rPr lang="en-US" altLang="en-US" sz="3413" i="1" dirty="0"/>
              <a:t>,</a:t>
            </a:r>
            <a:r>
              <a:rPr lang="en-US" altLang="en-US" sz="3413" i="1" baseline="-25000" dirty="0"/>
              <a:t> </a:t>
            </a:r>
            <a:r>
              <a:rPr lang="en-US" altLang="en-US" sz="3413" dirty="0" err="1">
                <a:latin typeface="Symbol" charset="2"/>
              </a:rPr>
              <a:t>S</a:t>
            </a:r>
            <a:r>
              <a:rPr lang="en-US" altLang="en-US" sz="3413" i="1" baseline="-25000" dirty="0" err="1"/>
              <a:t>t|t</a:t>
            </a:r>
            <a:r>
              <a:rPr lang="en-US" altLang="en-US" sz="3413" i="1" dirty="0"/>
              <a:t>, </a:t>
            </a:r>
            <a:r>
              <a:rPr lang="en-US" altLang="en-US" sz="3413" i="1" dirty="0" err="1"/>
              <a:t>u</a:t>
            </a:r>
            <a:r>
              <a:rPr lang="en-US" altLang="en-US" sz="3413" i="1" baseline="-25000" dirty="0" err="1"/>
              <a:t>t</a:t>
            </a:r>
            <a:r>
              <a:rPr lang="en-US" altLang="en-US" sz="3413" i="1" dirty="0"/>
              <a:t>, </a:t>
            </a:r>
            <a:r>
              <a:rPr lang="en-US" altLang="en-US" sz="3413" i="1" dirty="0" err="1"/>
              <a:t>z</a:t>
            </a:r>
            <a:r>
              <a:rPr lang="en-US" altLang="en-US" sz="3413" i="1" baseline="-25000" dirty="0" err="1"/>
              <a:t>t</a:t>
            </a:r>
            <a:r>
              <a:rPr lang="en-US" altLang="en-US" sz="3413" dirty="0"/>
              <a:t>):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endParaRPr lang="en-US" altLang="en-US" sz="3413" dirty="0">
              <a:latin typeface="Symbol" charset="2"/>
            </a:endParaRPr>
          </a:p>
          <a:p>
            <a:pPr marL="866973" indent="-866973">
              <a:lnSpc>
                <a:spcPct val="120000"/>
              </a:lnSpc>
              <a:buSzTx/>
              <a:buFontTx/>
              <a:buAutoNum type="arabicPeriod"/>
              <a:defRPr/>
            </a:pPr>
            <a:r>
              <a:rPr lang="en-US" altLang="en-US" sz="3413" dirty="0"/>
              <a:t> Prediction:</a:t>
            </a:r>
            <a:endParaRPr lang="en-US" altLang="en-US" sz="3413" dirty="0">
              <a:solidFill>
                <a:schemeClr val="folHlink"/>
              </a:solidFill>
            </a:endParaRP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 dirty="0"/>
              <a:t>      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 dirty="0"/>
              <a:t>  </a:t>
            </a:r>
            <a:br>
              <a:rPr lang="en-US" altLang="en-US" sz="3413" dirty="0"/>
            </a:br>
            <a:endParaRPr lang="en-US" altLang="en-US" sz="3413" dirty="0"/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 dirty="0"/>
              <a:t> Correction: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 dirty="0"/>
              <a:t>      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 dirty="0"/>
              <a:t> </a:t>
            </a:r>
          </a:p>
          <a:p>
            <a:pPr marL="866973" indent="-866973">
              <a:lnSpc>
                <a:spcPct val="90000"/>
              </a:lnSpc>
              <a:buSzTx/>
              <a:buFontTx/>
              <a:buAutoNum type="arabicPeriod"/>
              <a:defRPr/>
            </a:pPr>
            <a:r>
              <a:rPr lang="en-US" altLang="en-US" sz="3413" dirty="0"/>
              <a:t> </a:t>
            </a:r>
          </a:p>
          <a:p>
            <a:pPr marL="866973" indent="-866973">
              <a:lnSpc>
                <a:spcPct val="150000"/>
              </a:lnSpc>
              <a:buSzTx/>
              <a:buFontTx/>
              <a:buAutoNum type="arabicPeriod"/>
              <a:defRPr/>
            </a:pPr>
            <a:r>
              <a:rPr lang="en-US" altLang="en-US" sz="3413" dirty="0"/>
              <a:t> </a:t>
            </a:r>
            <a:r>
              <a:rPr lang="en-US" altLang="en-US" sz="3413" dirty="0">
                <a:solidFill>
                  <a:schemeClr val="folHlink"/>
                </a:solidFill>
              </a:rPr>
              <a:t>Return</a:t>
            </a:r>
            <a:r>
              <a:rPr lang="en-US" altLang="en-US" sz="3413" dirty="0"/>
              <a:t> </a:t>
            </a:r>
            <a:r>
              <a:rPr lang="en-US" altLang="en-US" sz="3413" dirty="0">
                <a:latin typeface="Symbol" charset="2"/>
              </a:rPr>
              <a:t>m</a:t>
            </a:r>
            <a:r>
              <a:rPr lang="en-US" altLang="en-US" sz="3413" i="1" baseline="-25000" dirty="0"/>
              <a:t>t+1|t+1</a:t>
            </a:r>
            <a:r>
              <a:rPr lang="en-US" altLang="en-US" sz="3413" i="1" dirty="0"/>
              <a:t>,</a:t>
            </a:r>
            <a:r>
              <a:rPr lang="en-US" altLang="en-US" sz="3413" i="1" baseline="-25000" dirty="0"/>
              <a:t> </a:t>
            </a:r>
            <a:r>
              <a:rPr lang="en-US" altLang="en-US" sz="3413" dirty="0">
                <a:latin typeface="Symbol" charset="2"/>
              </a:rPr>
              <a:t>S</a:t>
            </a:r>
            <a:r>
              <a:rPr lang="en-US" altLang="en-US" sz="3413" i="1" baseline="-25000" dirty="0"/>
              <a:t>t+1|t+1</a:t>
            </a:r>
            <a:r>
              <a:rPr lang="en-US" altLang="en-US" sz="3413" dirty="0"/>
              <a:t>    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97E789-60EA-FD43-8FAA-E85887620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64" y="3541713"/>
            <a:ext cx="2765645" cy="3922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12367F-2D93-D046-98D9-6FA52F4D1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064" y="5807675"/>
            <a:ext cx="5370684" cy="4088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147793-CCCF-1548-B512-076E6547D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534" y="5818963"/>
            <a:ext cx="3594100" cy="279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24AD88-4CE1-F64D-BE37-7AE95A4B2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063" y="6373090"/>
            <a:ext cx="4949927" cy="3378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B7769E-29BD-2C4B-A903-0D23B08E90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4487" y="6966782"/>
            <a:ext cx="3472044" cy="3454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CB67E0-8136-A447-8262-349C682BD9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4902" y="6405725"/>
            <a:ext cx="3925555" cy="2726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51F52C2-116F-8B46-B183-010C4A062C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4534" y="6985695"/>
            <a:ext cx="3472044" cy="34547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5FB021D-0CC3-7347-84FE-4396F95A8641}"/>
              </a:ext>
            </a:extLst>
          </p:cNvPr>
          <p:cNvSpPr/>
          <p:nvPr/>
        </p:nvSpPr>
        <p:spPr>
          <a:xfrm>
            <a:off x="8291951" y="2619632"/>
            <a:ext cx="4557064" cy="5325763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u="sng" dirty="0">
                <a:solidFill>
                  <a:schemeClr val="accent2"/>
                </a:solidFill>
              </a:rPr>
              <a:t>KF version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22DE2C8-37CB-B446-B505-6CE316581A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9203" y="3582256"/>
            <a:ext cx="3176393" cy="3693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7BE16F-0689-9E4D-A11A-FA60AAFCFB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4487" y="4207738"/>
            <a:ext cx="3290233" cy="3912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F9DFCC-D650-3D46-94D5-01F1D71483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9203" y="4170717"/>
            <a:ext cx="2980491" cy="3563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73550A-14B4-FF47-A28C-C634F1DB46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4448" y="8784732"/>
            <a:ext cx="1892300" cy="533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7B4D6C9-3502-104B-935F-6BA3C8E45F5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7583" y="8788304"/>
            <a:ext cx="1612900" cy="5334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E6A1487-0633-5E4B-A556-760A6268AD6E}"/>
              </a:ext>
            </a:extLst>
          </p:cNvPr>
          <p:cNvSpPr/>
          <p:nvPr/>
        </p:nvSpPr>
        <p:spPr>
          <a:xfrm>
            <a:off x="3966519" y="8603039"/>
            <a:ext cx="7352270" cy="930462"/>
          </a:xfrm>
          <a:prstGeom prst="rect">
            <a:avLst/>
          </a:prstGeom>
          <a:solidFill>
            <a:schemeClr val="accent6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6"/>
                </a:solidFill>
              </a:rPr>
              <a:t>Jacobean</a:t>
            </a:r>
          </a:p>
        </p:txBody>
      </p:sp>
    </p:spTree>
    <p:extLst>
      <p:ext uri="{BB962C8B-B14F-4D97-AF65-F5344CB8AC3E}">
        <p14:creationId xmlns:p14="http://schemas.microsoft.com/office/powerpoint/2010/main" val="837975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480E-C66D-2D43-9795-61530507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5B436-FF5E-2544-9639-5D48E0B1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Non-linearity</a:t>
            </a:r>
          </a:p>
          <a:p>
            <a:r>
              <a:rPr lang="en-US" b="1" dirty="0"/>
              <a:t>Rejecting outliers</a:t>
            </a:r>
          </a:p>
          <a:p>
            <a:r>
              <a:rPr lang="en-US" dirty="0"/>
              <a:t>Sensor fusion</a:t>
            </a:r>
          </a:p>
          <a:p>
            <a:r>
              <a:rPr lang="en-US" dirty="0"/>
              <a:t>Data association</a:t>
            </a:r>
          </a:p>
        </p:txBody>
      </p:sp>
    </p:spTree>
    <p:extLst>
      <p:ext uri="{BB962C8B-B14F-4D97-AF65-F5344CB8AC3E}">
        <p14:creationId xmlns:p14="http://schemas.microsoft.com/office/powerpoint/2010/main" val="24162182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3CF2-8031-DD40-8D9F-3687D165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329938-CCBF-1F41-94BC-874A559E6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" y="4187440"/>
            <a:ext cx="11216640" cy="4597574"/>
          </a:xfrm>
        </p:spPr>
        <p:txBody>
          <a:bodyPr>
            <a:normAutofit/>
          </a:bodyPr>
          <a:lstStyle/>
          <a:p>
            <a:r>
              <a:rPr lang="en-US" dirty="0"/>
              <a:t>What happens if </a:t>
            </a:r>
            <a:r>
              <a:rPr lang="en-US" i="1" dirty="0" err="1"/>
              <a:t>delta</a:t>
            </a:r>
            <a:r>
              <a:rPr lang="en-US" i="1" baseline="-25000" dirty="0" err="1"/>
              <a:t>t</a:t>
            </a:r>
            <a:r>
              <a:rPr lang="en-US" dirty="0"/>
              <a:t> is very large?</a:t>
            </a:r>
          </a:p>
          <a:p>
            <a:endParaRPr lang="en-US" dirty="0"/>
          </a:p>
          <a:p>
            <a:r>
              <a:rPr lang="en-US" dirty="0"/>
              <a:t>Posterior mean = weighted sum of prior mean and measurement</a:t>
            </a:r>
          </a:p>
          <a:p>
            <a:r>
              <a:rPr lang="en-US" dirty="0"/>
              <a:t>If </a:t>
            </a:r>
            <a:r>
              <a:rPr lang="en-US" i="1" dirty="0" err="1"/>
              <a:t>delta</a:t>
            </a:r>
            <a:r>
              <a:rPr lang="en-US" i="1" baseline="-25000" dirty="0" err="1"/>
              <a:t>t</a:t>
            </a:r>
            <a:r>
              <a:rPr lang="en-US" dirty="0"/>
              <a:t> is large, then posterior mean will get pulled away from the true value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80DF2A-0943-1F48-9D13-93403EB57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555" y="2232495"/>
            <a:ext cx="3573349" cy="52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608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3CF2-8031-DD40-8D9F-3687D165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Outliers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329938-CCBF-1F41-94BC-874A559E6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" y="4187440"/>
            <a:ext cx="11216640" cy="4597574"/>
          </a:xfrm>
        </p:spPr>
        <p:txBody>
          <a:bodyPr>
            <a:normAutofit/>
          </a:bodyPr>
          <a:lstStyle/>
          <a:p>
            <a:r>
              <a:rPr lang="en-US" dirty="0"/>
              <a:t>If </a:t>
            </a:r>
            <a:r>
              <a:rPr lang="en-US" i="1" dirty="0" err="1"/>
              <a:t>delta</a:t>
            </a:r>
            <a:r>
              <a:rPr lang="en-US" i="1" baseline="-25000" dirty="0" err="1"/>
              <a:t>t</a:t>
            </a:r>
            <a:r>
              <a:rPr lang="en-US" dirty="0"/>
              <a:t> is large, then posterior mean will get pulled away from the true value</a:t>
            </a:r>
          </a:p>
          <a:p>
            <a:r>
              <a:rPr lang="en-US" dirty="0"/>
              <a:t>If </a:t>
            </a:r>
            <a:r>
              <a:rPr lang="en-US" i="1" dirty="0" err="1"/>
              <a:t>delta</a:t>
            </a:r>
            <a:r>
              <a:rPr lang="en-US" i="1" baseline="-25000" dirty="0" err="1"/>
              <a:t>t</a:t>
            </a:r>
            <a:r>
              <a:rPr lang="en-US" dirty="0"/>
              <a:t> is large, then discard the measurement, that is, do not perform a correction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How to detect if </a:t>
            </a:r>
            <a:r>
              <a:rPr lang="en-US" i="1" dirty="0" err="1">
                <a:solidFill>
                  <a:srgbClr val="C00000"/>
                </a:solidFill>
              </a:rPr>
              <a:t>delta</a:t>
            </a:r>
            <a:r>
              <a:rPr lang="en-US" i="1" baseline="-25000" dirty="0" err="1">
                <a:solidFill>
                  <a:srgbClr val="C00000"/>
                </a:solidFill>
              </a:rPr>
              <a:t>t</a:t>
            </a:r>
            <a:r>
              <a:rPr lang="en-US" dirty="0">
                <a:solidFill>
                  <a:srgbClr val="C00000"/>
                </a:solidFill>
              </a:rPr>
              <a:t> is large?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AAEBC-8682-8942-AADF-DD047F3FA598}"/>
              </a:ext>
            </a:extLst>
          </p:cNvPr>
          <p:cNvSpPr txBox="1"/>
          <p:nvPr/>
        </p:nvSpPr>
        <p:spPr>
          <a:xfrm>
            <a:off x="1087395" y="4633784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181FF-443E-FB4C-87D5-C3C931F82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128" y="2064631"/>
            <a:ext cx="3573349" cy="52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427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3CF2-8031-DD40-8D9F-3687D165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Outliers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329938-CCBF-1F41-94BC-874A559E6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" y="4187440"/>
            <a:ext cx="11216640" cy="4597574"/>
          </a:xfrm>
        </p:spPr>
        <p:txBody>
          <a:bodyPr>
            <a:normAutofit/>
          </a:bodyPr>
          <a:lstStyle/>
          <a:p>
            <a:r>
              <a:rPr lang="en-US" dirty="0"/>
              <a:t>We can’t detect if </a:t>
            </a:r>
            <a:r>
              <a:rPr lang="en-US" i="1" dirty="0" err="1"/>
              <a:t>delta</a:t>
            </a:r>
            <a:r>
              <a:rPr lang="en-US" i="1" baseline="-25000" dirty="0" err="1"/>
              <a:t>t</a:t>
            </a:r>
            <a:r>
              <a:rPr lang="en-US" dirty="0"/>
              <a:t> is large, since we do not know the true state </a:t>
            </a:r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endParaRPr lang="en-US" i="1" baseline="-25000" dirty="0"/>
          </a:p>
          <a:p>
            <a:r>
              <a:rPr lang="en-US" dirty="0"/>
              <a:t>But, we do know an estimate of the true state. That is, </a:t>
            </a:r>
            <a:r>
              <a:rPr lang="en-US" i="1" dirty="0"/>
              <a:t>mu</a:t>
            </a:r>
            <a:r>
              <a:rPr lang="en-US" i="1" baseline="-25000" dirty="0"/>
              <a:t>t|t-1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168A3-C5E0-0B4A-B80C-1E7050A59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486" y="2931096"/>
            <a:ext cx="7568518" cy="600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4AAEBC-8682-8942-AADF-DD047F3FA598}"/>
              </a:ext>
            </a:extLst>
          </p:cNvPr>
          <p:cNvSpPr txBox="1"/>
          <p:nvPr/>
        </p:nvSpPr>
        <p:spPr>
          <a:xfrm>
            <a:off x="1087395" y="4633784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93785C-32EC-B245-B542-59B4F9B9C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485" y="1762938"/>
            <a:ext cx="3573349" cy="52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168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3CF2-8031-DD40-8D9F-3687D165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(aka residual)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168A3-C5E0-0B4A-B80C-1E7050A59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486" y="2931096"/>
            <a:ext cx="7568518" cy="6006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907DE9-414C-EA41-A29F-EDA9F5D9662B}"/>
              </a:ext>
            </a:extLst>
          </p:cNvPr>
          <p:cNvSpPr/>
          <p:nvPr/>
        </p:nvSpPr>
        <p:spPr>
          <a:xfrm>
            <a:off x="6746102" y="2819055"/>
            <a:ext cx="3621218" cy="912686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b="1" i="1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512B3-ED2C-E143-ABF8-2F0B67FB27B2}"/>
              </a:ext>
            </a:extLst>
          </p:cNvPr>
          <p:cNvSpPr txBox="1"/>
          <p:nvPr/>
        </p:nvSpPr>
        <p:spPr>
          <a:xfrm>
            <a:off x="1099752" y="5461686"/>
            <a:ext cx="12203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Innovation = actual measurement – expected measurement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6208E8-3DCE-314B-B813-0EC434E2252A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7201743" y="3731741"/>
            <a:ext cx="1354968" cy="17299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C50465-B30A-2F40-AEAB-CC14E955252F}"/>
              </a:ext>
            </a:extLst>
          </p:cNvPr>
          <p:cNvSpPr txBox="1"/>
          <p:nvPr/>
        </p:nvSpPr>
        <p:spPr>
          <a:xfrm>
            <a:off x="1198605" y="6746789"/>
            <a:ext cx="10912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Idea</a:t>
            </a:r>
            <a:r>
              <a:rPr lang="en-US" dirty="0"/>
              <a:t>: if innovation is larger than a threshold, then discard the measurement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CB84FF-3A14-764C-9E64-151964417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485" y="1762938"/>
            <a:ext cx="3573349" cy="52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176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FDB6B5-CF15-2A4D-9DE6-892BC52B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(aka residual)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DEF90-9B24-1943-86AB-1B9733B5C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" y="3558746"/>
            <a:ext cx="11216640" cy="5226268"/>
          </a:xfrm>
        </p:spPr>
        <p:txBody>
          <a:bodyPr>
            <a:normAutofit/>
          </a:bodyPr>
          <a:lstStyle/>
          <a:p>
            <a:r>
              <a:rPr lang="en-US" i="1" dirty="0"/>
              <a:t>mu</a:t>
            </a:r>
            <a:r>
              <a:rPr lang="en-US" dirty="0"/>
              <a:t> is only an estimate of the true state </a:t>
            </a:r>
            <a:r>
              <a:rPr lang="en-US" i="1" dirty="0"/>
              <a:t>x</a:t>
            </a:r>
            <a:endParaRPr lang="en-US" dirty="0"/>
          </a:p>
          <a:p>
            <a:r>
              <a:rPr lang="en-US" dirty="0"/>
              <a:t>Therefore, innovation is only an estimate of the true error (</a:t>
            </a:r>
            <a:r>
              <a:rPr lang="en-US" i="1" dirty="0" err="1"/>
              <a:t>delta</a:t>
            </a:r>
            <a:r>
              <a:rPr lang="en-US" i="1" baseline="-25000" dirty="0" err="1"/>
              <a:t>t</a:t>
            </a:r>
            <a:r>
              <a:rPr lang="en-US" dirty="0"/>
              <a:t>)</a:t>
            </a:r>
          </a:p>
          <a:p>
            <a:endParaRPr lang="en-US" i="1" dirty="0"/>
          </a:p>
          <a:p>
            <a:r>
              <a:rPr lang="en-US" dirty="0"/>
              <a:t>We do have a confidence measure (i.e., variance) of the estimate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EB2D39-9E88-B547-B35D-4F02AA031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07" y="2158355"/>
            <a:ext cx="3573349" cy="529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19C492-CF8D-2E46-816C-BE1B0FEB1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104" y="2158355"/>
            <a:ext cx="4018102" cy="55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021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3CF2-8031-DD40-8D9F-3687D165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168A3-C5E0-0B4A-B80C-1E7050A59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486" y="2931096"/>
            <a:ext cx="7568518" cy="600676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13FF1CD-9589-0241-932C-4A166D7FD15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9"/>
          <a:stretch/>
        </p:blipFill>
        <p:spPr bwMode="auto">
          <a:xfrm>
            <a:off x="771511" y="3985814"/>
            <a:ext cx="9388493" cy="803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81F8E2-347A-B64E-A834-8A3973E0D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8028" y="1723106"/>
            <a:ext cx="3728171" cy="5523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907DE9-414C-EA41-A29F-EDA9F5D9662B}"/>
              </a:ext>
            </a:extLst>
          </p:cNvPr>
          <p:cNvSpPr/>
          <p:nvPr/>
        </p:nvSpPr>
        <p:spPr>
          <a:xfrm>
            <a:off x="6017053" y="4020205"/>
            <a:ext cx="3497650" cy="912686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b="1" i="1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962C9-6D14-CB45-90EC-4725C28CBDCE}"/>
              </a:ext>
            </a:extLst>
          </p:cNvPr>
          <p:cNvSpPr txBox="1"/>
          <p:nvPr/>
        </p:nvSpPr>
        <p:spPr>
          <a:xfrm>
            <a:off x="605481" y="6662836"/>
            <a:ext cx="115052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Innovation covariance (</a:t>
            </a:r>
            <a:r>
              <a:rPr lang="en-US" i="1" dirty="0"/>
              <a:t>S</a:t>
            </a:r>
            <a:r>
              <a:rPr lang="en-US" dirty="0"/>
              <a:t>) measures the uncertainty in the estimate (</a:t>
            </a:r>
            <a:r>
              <a:rPr lang="en-US" i="1" dirty="0"/>
              <a:t>mu,</a:t>
            </a:r>
            <a:r>
              <a:rPr lang="en-US" dirty="0"/>
              <a:t> given by the first term) and the measurement (</a:t>
            </a:r>
            <a:r>
              <a:rPr lang="en-US" i="1" dirty="0"/>
              <a:t>z, </a:t>
            </a:r>
            <a:r>
              <a:rPr lang="en-US" dirty="0"/>
              <a:t>given by the second term)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001D21-9E53-1846-89DC-556D421A40D4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6358101" y="4932892"/>
            <a:ext cx="1704346" cy="172994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8629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5A8A-711B-4249-AA97-80130F0A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Validation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4A54E-7F33-3749-BA18-55C66C72A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" y="3323968"/>
            <a:ext cx="11216640" cy="5461046"/>
          </a:xfrm>
        </p:spPr>
        <p:txBody>
          <a:bodyPr/>
          <a:lstStyle/>
          <a:p>
            <a:r>
              <a:rPr lang="en-US" dirty="0"/>
              <a:t>Compute the </a:t>
            </a:r>
            <a:r>
              <a:rPr lang="en-US" i="1" dirty="0" err="1"/>
              <a:t>Mahalanobis</a:t>
            </a:r>
            <a:r>
              <a:rPr lang="en-US" dirty="0"/>
              <a:t> distance (innovation weighted by its covariance)</a:t>
            </a:r>
          </a:p>
          <a:p>
            <a:r>
              <a:rPr lang="en-US" dirty="0"/>
              <a:t>This distance follows a chi-square distribution</a:t>
            </a:r>
          </a:p>
          <a:p>
            <a:r>
              <a:rPr lang="en-US" dirty="0"/>
              <a:t>Set a threshold (</a:t>
            </a:r>
            <a:r>
              <a:rPr lang="en-US" i="1" dirty="0"/>
              <a:t>validation gate).</a:t>
            </a:r>
            <a:r>
              <a:rPr lang="en-US" dirty="0"/>
              <a:t> </a:t>
            </a:r>
          </a:p>
          <a:p>
            <a:r>
              <a:rPr lang="en-US" dirty="0"/>
              <a:t>If </a:t>
            </a:r>
            <a:r>
              <a:rPr lang="en-US" dirty="0" err="1"/>
              <a:t>Mahalanobis</a:t>
            </a:r>
            <a:r>
              <a:rPr lang="en-US" dirty="0"/>
              <a:t> distance is less than threshold, accept the measurement. Else, reject.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E467E-640B-E544-AAFF-40F23BF81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012" y="2118568"/>
            <a:ext cx="7637546" cy="62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580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480E-C66D-2D43-9795-61530507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5B436-FF5E-2544-9639-5D48E0B1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Non-linearity</a:t>
            </a:r>
          </a:p>
          <a:p>
            <a:r>
              <a:rPr lang="en-US" dirty="0"/>
              <a:t>Rejecting outliers</a:t>
            </a:r>
          </a:p>
          <a:p>
            <a:r>
              <a:rPr lang="en-US" dirty="0"/>
              <a:t>Sensor fusion</a:t>
            </a:r>
          </a:p>
          <a:p>
            <a:r>
              <a:rPr lang="en-US" b="1" dirty="0"/>
              <a:t>Data association</a:t>
            </a:r>
          </a:p>
        </p:txBody>
      </p:sp>
    </p:spTree>
    <p:extLst>
      <p:ext uri="{BB962C8B-B14F-4D97-AF65-F5344CB8AC3E}">
        <p14:creationId xmlns:p14="http://schemas.microsoft.com/office/powerpoint/2010/main" val="13418448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BDDC89E-F37E-554B-8B0E-68C892AEE3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1" t="13046" r="58939" b="29342"/>
          <a:stretch/>
        </p:blipFill>
        <p:spPr>
          <a:xfrm>
            <a:off x="2360143" y="3954365"/>
            <a:ext cx="1172020" cy="1506884"/>
          </a:xfrm>
          <a:prstGeom prst="rect">
            <a:avLst/>
          </a:prstGeom>
        </p:spPr>
      </p:pic>
      <p:sp>
        <p:nvSpPr>
          <p:cNvPr id="5" name="5-Point Star 4">
            <a:extLst>
              <a:ext uri="{FF2B5EF4-FFF2-40B4-BE49-F238E27FC236}">
                <a16:creationId xmlns:a16="http://schemas.microsoft.com/office/drawing/2014/main" id="{21B6E607-5B7F-114E-8093-CB8EDAA049F3}"/>
              </a:ext>
            </a:extLst>
          </p:cNvPr>
          <p:cNvSpPr/>
          <p:nvPr/>
        </p:nvSpPr>
        <p:spPr>
          <a:xfrm>
            <a:off x="8293946" y="6444049"/>
            <a:ext cx="840260" cy="72904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BEF61-1DC3-0945-824B-A58536986440}"/>
              </a:ext>
            </a:extLst>
          </p:cNvPr>
          <p:cNvSpPr txBox="1"/>
          <p:nvPr/>
        </p:nvSpPr>
        <p:spPr>
          <a:xfrm>
            <a:off x="9136769" y="5931410"/>
            <a:ext cx="3281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Target 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80589F-4E72-2242-93BD-0B52818ADBAD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532163" y="4707807"/>
            <a:ext cx="4761784" cy="201471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-Point Star 11">
            <a:extLst>
              <a:ext uri="{FF2B5EF4-FFF2-40B4-BE49-F238E27FC236}">
                <a16:creationId xmlns:a16="http://schemas.microsoft.com/office/drawing/2014/main" id="{F7B9EFA5-82A6-AE47-9709-00A333DE5E37}"/>
              </a:ext>
            </a:extLst>
          </p:cNvPr>
          <p:cNvSpPr/>
          <p:nvPr/>
        </p:nvSpPr>
        <p:spPr>
          <a:xfrm>
            <a:off x="7565286" y="1188105"/>
            <a:ext cx="840260" cy="729049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8335BD-94C9-E540-8291-2FA37F7C8600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3532163" y="1466576"/>
            <a:ext cx="4033124" cy="324123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A6ECC99-9558-8D42-B82F-CC12C2961BC7}"/>
              </a:ext>
            </a:extLst>
          </p:cNvPr>
          <p:cNvSpPr txBox="1"/>
          <p:nvPr/>
        </p:nvSpPr>
        <p:spPr>
          <a:xfrm>
            <a:off x="8737307" y="1143410"/>
            <a:ext cx="3281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Target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D16844-CD07-5E42-B30E-3F1A50AEF2CA}"/>
              </a:ext>
            </a:extLst>
          </p:cNvPr>
          <p:cNvSpPr txBox="1"/>
          <p:nvPr/>
        </p:nvSpPr>
        <p:spPr>
          <a:xfrm>
            <a:off x="5918886" y="3422822"/>
            <a:ext cx="61001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associate measurement to KF estimate?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A902EF-E0FE-674E-9BDB-C691A8F52BB8}"/>
              </a:ext>
            </a:extLst>
          </p:cNvPr>
          <p:cNvSpPr txBox="1"/>
          <p:nvPr/>
        </p:nvSpPr>
        <p:spPr>
          <a:xfrm>
            <a:off x="672309" y="6399354"/>
            <a:ext cx="5080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KF (one per target)</a:t>
            </a:r>
          </a:p>
        </p:txBody>
      </p:sp>
    </p:spTree>
    <p:extLst>
      <p:ext uri="{BB962C8B-B14F-4D97-AF65-F5344CB8AC3E}">
        <p14:creationId xmlns:p14="http://schemas.microsoft.com/office/powerpoint/2010/main" val="26995522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480E-C66D-2D43-9795-61530507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5B436-FF5E-2544-9639-5D48E0B1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Non-linearity</a:t>
            </a:r>
          </a:p>
          <a:p>
            <a:r>
              <a:rPr lang="en-US" dirty="0"/>
              <a:t>Rejecting outliers</a:t>
            </a:r>
          </a:p>
          <a:p>
            <a:r>
              <a:rPr lang="en-US" dirty="0"/>
              <a:t>Sensor fusion</a:t>
            </a:r>
          </a:p>
          <a:p>
            <a:r>
              <a:rPr lang="en-US" b="1" dirty="0"/>
              <a:t>Data association</a:t>
            </a:r>
          </a:p>
        </p:txBody>
      </p:sp>
    </p:spTree>
    <p:extLst>
      <p:ext uri="{BB962C8B-B14F-4D97-AF65-F5344CB8AC3E}">
        <p14:creationId xmlns:p14="http://schemas.microsoft.com/office/powerpoint/2010/main" val="161224323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RAASLab_Presentation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ASLab_Presentation_Template" id="{78F314FB-878B-8F48-9E5B-CC598A63E49B}" vid="{40134F26-26DB-194B-B9D4-31235D0A09E1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Palatino"/>
        <a:ea typeface="Palatino"/>
        <a:cs typeface="Palatino"/>
      </a:majorFont>
      <a:minorFont>
        <a:latin typeface="Palatino"/>
        <a:ea typeface="Palatino"/>
        <a:cs typeface="Palatino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15_LieBrackets</Template>
  <TotalTime>11715</TotalTime>
  <Words>1381</Words>
  <Application>Microsoft Macintosh PowerPoint</Application>
  <PresentationFormat>Custom</PresentationFormat>
  <Paragraphs>293</Paragraphs>
  <Slides>58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9" baseType="lpstr">
      <vt:lpstr>Arial</vt:lpstr>
      <vt:lpstr>Cambria</vt:lpstr>
      <vt:lpstr>Century Gothic</vt:lpstr>
      <vt:lpstr>Helvetica Neue</vt:lpstr>
      <vt:lpstr>LucidaGrande</vt:lpstr>
      <vt:lpstr>Palatino Linotype</vt:lpstr>
      <vt:lpstr>Symbol</vt:lpstr>
      <vt:lpstr>Verdana</vt:lpstr>
      <vt:lpstr>Wingdings</vt:lpstr>
      <vt:lpstr>RAASLab_Presentation_Template</vt:lpstr>
      <vt:lpstr>Equation</vt:lpstr>
      <vt:lpstr>Kalman Filters</vt:lpstr>
      <vt:lpstr>PowerPoint Presentation</vt:lpstr>
      <vt:lpstr>PowerPoint Presentation</vt:lpstr>
      <vt:lpstr>Plan</vt:lpstr>
      <vt:lpstr>Kalman Filter Basics</vt:lpstr>
      <vt:lpstr>1D Gaussian Random Variable</vt:lpstr>
      <vt:lpstr>d-dimensional Gaussian RV</vt:lpstr>
      <vt:lpstr>Contours of Equal Probability</vt:lpstr>
      <vt:lpstr>Properties of Gaussians</vt:lpstr>
      <vt:lpstr>Kalman Filter Basics</vt:lpstr>
      <vt:lpstr>1D Navigation Problem</vt:lpstr>
      <vt:lpstr>1D Robot Example</vt:lpstr>
      <vt:lpstr>PowerPoint Presentation</vt:lpstr>
      <vt:lpstr>Step 1: Prediction (aka Propagation)</vt:lpstr>
      <vt:lpstr>Properties of Gaussians</vt:lpstr>
      <vt:lpstr>PowerPoint Presentation</vt:lpstr>
      <vt:lpstr>PowerPoint Presentation</vt:lpstr>
      <vt:lpstr>1D Robot Example</vt:lpstr>
      <vt:lpstr>Step 2: Update (aka Correction) step</vt:lpstr>
      <vt:lpstr>Computing the posterior</vt:lpstr>
      <vt:lpstr>Bayes’ Theorem</vt:lpstr>
      <vt:lpstr>Correction (Note, simplified notation)</vt:lpstr>
      <vt:lpstr>Bayesian Estimation</vt:lpstr>
      <vt:lpstr>Likelihood Model</vt:lpstr>
      <vt:lpstr>Example: 1D robot</vt:lpstr>
      <vt:lpstr>Example: 1D robot</vt:lpstr>
      <vt:lpstr>1D Robot MAP Estimate</vt:lpstr>
      <vt:lpstr>Posterior Variance</vt:lpstr>
      <vt:lpstr>General Linear Transition Model</vt:lpstr>
      <vt:lpstr>Linear Observation Model</vt:lpstr>
      <vt:lpstr>PowerPoint Presentation</vt:lpstr>
      <vt:lpstr>PowerPoint Presentation</vt:lpstr>
      <vt:lpstr>Back to our MAP estimator</vt:lpstr>
      <vt:lpstr>The Prediction-Correction-Cycle</vt:lpstr>
      <vt:lpstr>Kalman Filter Updates in 1D</vt:lpstr>
      <vt:lpstr>Kalman Filter Algorithm </vt:lpstr>
      <vt:lpstr>Properties of Kalman Filter</vt:lpstr>
      <vt:lpstr>Practical Matters</vt:lpstr>
      <vt:lpstr>Nonlinear Systems</vt:lpstr>
      <vt:lpstr>    Examples</vt:lpstr>
      <vt:lpstr>PowerPoint Presentation</vt:lpstr>
      <vt:lpstr>Non-linear Measurements Example</vt:lpstr>
      <vt:lpstr>Nonlinear Systems</vt:lpstr>
      <vt:lpstr>Taylor Series</vt:lpstr>
      <vt:lpstr>Linearization</vt:lpstr>
      <vt:lpstr>Linearization</vt:lpstr>
      <vt:lpstr>EKF Algorithm </vt:lpstr>
      <vt:lpstr>Practical Matters</vt:lpstr>
      <vt:lpstr>Outliers</vt:lpstr>
      <vt:lpstr>Dealing with Outliers</vt:lpstr>
      <vt:lpstr>Dealing with Outliers</vt:lpstr>
      <vt:lpstr>Innovation (aka residual)</vt:lpstr>
      <vt:lpstr>Innovation (aka residual)</vt:lpstr>
      <vt:lpstr>Innovation</vt:lpstr>
      <vt:lpstr>Measurement Validation Gate</vt:lpstr>
      <vt:lpstr>Practical Matters</vt:lpstr>
      <vt:lpstr>PowerPoint Presentation</vt:lpstr>
      <vt:lpstr>Practical Matters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Markov Decision Processes</dc:title>
  <cp:lastModifiedBy>Troi Williams</cp:lastModifiedBy>
  <cp:revision>875</cp:revision>
  <cp:lastPrinted>2018-10-23T20:51:35Z</cp:lastPrinted>
  <dcterms:modified xsi:type="dcterms:W3CDTF">2026-03-26T15:17:14Z</dcterms:modified>
</cp:coreProperties>
</file>
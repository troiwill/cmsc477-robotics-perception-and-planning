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32.jpg" ContentType="image/jpg"/>
  <Override PartName="/ppt/media/image33.jpg" ContentType="image/jpg"/>
  <Override PartName="/ppt/media/image34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689" r:id="rId2"/>
  </p:sldMasterIdLst>
  <p:notesMasterIdLst>
    <p:notesMasterId r:id="rId78"/>
  </p:notesMasterIdLst>
  <p:sldIdLst>
    <p:sldId id="317" r:id="rId3"/>
    <p:sldId id="710" r:id="rId4"/>
    <p:sldId id="749" r:id="rId5"/>
    <p:sldId id="759" r:id="rId6"/>
    <p:sldId id="775" r:id="rId7"/>
    <p:sldId id="773" r:id="rId8"/>
    <p:sldId id="776" r:id="rId9"/>
    <p:sldId id="604" r:id="rId10"/>
    <p:sldId id="620" r:id="rId11"/>
    <p:sldId id="780" r:id="rId12"/>
    <p:sldId id="781" r:id="rId13"/>
    <p:sldId id="782" r:id="rId14"/>
    <p:sldId id="728" r:id="rId15"/>
    <p:sldId id="783" r:id="rId16"/>
    <p:sldId id="729" r:id="rId17"/>
    <p:sldId id="784" r:id="rId18"/>
    <p:sldId id="730" r:id="rId19"/>
    <p:sldId id="785" r:id="rId20"/>
    <p:sldId id="731" r:id="rId21"/>
    <p:sldId id="777" r:id="rId22"/>
    <p:sldId id="651" r:id="rId23"/>
    <p:sldId id="786" r:id="rId24"/>
    <p:sldId id="778" r:id="rId25"/>
    <p:sldId id="779" r:id="rId26"/>
    <p:sldId id="787" r:id="rId27"/>
    <p:sldId id="686" r:id="rId28"/>
    <p:sldId id="687" r:id="rId29"/>
    <p:sldId id="688" r:id="rId30"/>
    <p:sldId id="689" r:id="rId31"/>
    <p:sldId id="690" r:id="rId32"/>
    <p:sldId id="788" r:id="rId33"/>
    <p:sldId id="695" r:id="rId34"/>
    <p:sldId id="696" r:id="rId35"/>
    <p:sldId id="697" r:id="rId36"/>
    <p:sldId id="698" r:id="rId37"/>
    <p:sldId id="699" r:id="rId38"/>
    <p:sldId id="700" r:id="rId39"/>
    <p:sldId id="701" r:id="rId40"/>
    <p:sldId id="702" r:id="rId41"/>
    <p:sldId id="703" r:id="rId42"/>
    <p:sldId id="789" r:id="rId43"/>
    <p:sldId id="790" r:id="rId44"/>
    <p:sldId id="704" r:id="rId45"/>
    <p:sldId id="705" r:id="rId46"/>
    <p:sldId id="706" r:id="rId47"/>
    <p:sldId id="791" r:id="rId48"/>
    <p:sldId id="310" r:id="rId49"/>
    <p:sldId id="311" r:id="rId50"/>
    <p:sldId id="716" r:id="rId51"/>
    <p:sldId id="717" r:id="rId52"/>
    <p:sldId id="707" r:id="rId53"/>
    <p:sldId id="718" r:id="rId54"/>
    <p:sldId id="295" r:id="rId55"/>
    <p:sldId id="296" r:id="rId56"/>
    <p:sldId id="297" r:id="rId57"/>
    <p:sldId id="298" r:id="rId58"/>
    <p:sldId id="719" r:id="rId59"/>
    <p:sldId id="720" r:id="rId60"/>
    <p:sldId id="724" r:id="rId61"/>
    <p:sldId id="257" r:id="rId62"/>
    <p:sldId id="457" r:id="rId63"/>
    <p:sldId id="458" r:id="rId64"/>
    <p:sldId id="258" r:id="rId65"/>
    <p:sldId id="267" r:id="rId66"/>
    <p:sldId id="713" r:id="rId67"/>
    <p:sldId id="268" r:id="rId68"/>
    <p:sldId id="269" r:id="rId69"/>
    <p:sldId id="270" r:id="rId70"/>
    <p:sldId id="271" r:id="rId71"/>
    <p:sldId id="272" r:id="rId72"/>
    <p:sldId id="273" r:id="rId73"/>
    <p:sldId id="377" r:id="rId74"/>
    <p:sldId id="722" r:id="rId75"/>
    <p:sldId id="723" r:id="rId76"/>
    <p:sldId id="721" r:id="rId77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1pPr>
    <a:lvl2pPr marL="0" marR="0" indent="228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2pPr>
    <a:lvl3pPr marL="0" marR="0" indent="457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3pPr>
    <a:lvl4pPr marL="0" marR="0" indent="6858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4pPr>
    <a:lvl5pPr marL="0" marR="0" indent="9144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7"/>
    <p:restoredTop sz="93805"/>
  </p:normalViewPr>
  <p:slideViewPr>
    <p:cSldViewPr snapToGrid="0" snapToObjects="1">
      <p:cViewPr>
        <p:scale>
          <a:sx n="69" d="100"/>
          <a:sy n="69" d="100"/>
        </p:scale>
        <p:origin x="227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47:15.3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 24575,'23'0'0,"6"0"0,6 0 0,7 0 0,1 0 0,-3 0 0,-4 0 0,-5 0 0,-2 0 0,-4 0 0,-2 0 0,-3 0 0,-2 0 0,2 0 0,1 0 0,1 0 0,1 0 0,0 0 0,1 0 0,2 0 0,-2 0 0,-3 0 0,-1 0 0,-1 0 0,1 0 0,0 0 0,0 0 0,1 0 0,0 0 0,3 0 0,-2 0 0,2 0 0,-4 0 0,-1 0 0,1 0 0,1 0 0,0 0 0,0 0 0,0 0 0,-2 0 0,2 0 0,-1 0 0,0-2 0,-1-2 0,0 1 0,-2-1 0,1 4 0,0-2 0,0-1 0,0 0 0,-1-1 0,-1 3 0,0 1 0,2-1 0,-1-1 0,0-1 0,-3-1 0,0 1 0,-2 2 0,-1 1 0,1 0 0,2 0 0,2-1 0,0 1 0,0 0 0,3 0 0,0 0 0,0 0 0,-1 0 0,-3 0 0,3 0 0,-1 0 0,4 0 0,-1 0 0,1 0 0,-1 0 0,-2 0 0,-1 0 0,0 0 0,0 0 0,3 0 0,0 0 0,2 0 0,-2 0 0,0 0 0,-2 0 0,-4 0 0,0 0 0,0 0 0,4 0 0,1 0 0,3 0 0,-1 0 0,-1 0 0,-3 0 0,-4 0 0,-2 0 0,-1 0 0,4 0 0,4 0 0,4 0 0,1 0 0,-2 0 0,-4 0 0,-4 0 0,-2 0 0,2 0 0,1 0 0,0 0 0,-3 2 0,-3 0 0,1 1 0,-4 0 0,1-2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47:26.0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 24575,'32'0'0,"8"0"0,17 0 0,13 0 0,6 0 0,2 0 0,-7 0 0,-10 0 0,-10 0 0,-6 0 0,-6 0 0,0 0 0,1 0 0,-2 0 0,2 0 0,-5 0 0,1 0 0,-1 0 0,-3-3 0,3-1 0,-3 0 0,1 1 0,-2 3 0,-3 0 0,-1 0 0,1 0 0,0 0 0,-1 0 0,1 0 0,-1 0 0,1 0 0,-1 0 0,0 0 0,1 0 0,0 0 0,0 0 0,-1 0 0,1 0 0,-4 0 0,0 0 0,0 0 0,0 0 0,4 0 0,-1 0 0,1 0 0,-1 0 0,0 0 0,1 0 0,-1 0 0,2 0 0,-1 0 0,4 0 0,3 0 0,3 0 0,1 0 0,1 0 0,0 0 0,2 0 0,1 0 0,0 0 0,0 0 0,1 0 0,1 0 0,-4 0 0,-1 0 0,-5 0 0,-3 0 0,-1 0 0,-3 0 0,0 0 0,-1 0 0,1 0 0,0 0 0,-1 0 0,1 0 0,-2 0 0,-2 0 0,-4 0 0,-3 0 0,2 0 0,-2 0 0,3 0 0,4 0 0,-3 0 0,3 0 0,-1 0 0,-2 0 0,3 0 0,-1 0 0,1 0 0,0 0 0,-2 0 0,-2 0 0,1 0 0,-1 0 0,-4 0 0,-2 0 0,-3 0 0,0 0 0,0 0 0,2 0 0,-1 0 0,2 0 0,1 0 0,-2 0 0,1 0 0,-7 0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47:58.8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24575,'39'0'0,"8"0"0,10 0 0,1 0 0,-1 0 0,0 0 0,-3 0 0,-1 0 0,-5 0 0,-3 0 0,-4 0 0,-5 0 0,-1 0 0,-3 0 0,0 0 0,-1 0 0,-3 0 0,-1 0 0,1 0 0,0 0 0,-1 0 0,1 0 0,-1 2 0,0 2 0,1-1 0,3 1 0,1-1 0,1 1 0,-1 0 0,0-2 0,0-2 0,0 0 0,-2 0 0,0 0 0,2 0 0,3 0 0,0 0 0,2 0 0,1 0 0,-1 0 0,-1 0 0,-4 0 0,-4 0 0,-1 0 0,2 0 0,3 0 0,2 0 0,2 0 0,1 0 0,-1 0 0,1 0 0,-1 0 0,0 0 0,0 0 0,-4 0 0,-1 0 0,-3 0 0,0 0 0,-1 0 0,1 0 0,-1 0 0,-2 0 0,-2 0 0,-3 0 0,-2-2 0,2-2 0,-1 1 0,0-1 0,0 4 0,-1 0 0,-1 0 0,-1 0 0,-2 0 0,0 0 0,0 0 0,1 0 0,-1 0 0,-1 0 0,-1 0 0,0 0 0,1 0 0,-1 0 0,1 0 0,-2 0 0,1 0 0,-6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48:07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 24575,'19'0'0,"11"0"0,19 0 0,11 0 0,8 0 0,2 0 0,-3 0 0,0 0 0,-3 0 0,-6 0 0,-1 0 0,-5 0 0,-3 0 0,-2 0 0,-6 0 0,0 0 0,-5 0 0,-3 0 0,3 0 0,-4 0 0,-1 0 0,0 0 0,-4 0 0,1 0 0,-1 0 0,0 0 0,-4 0 0,1 0 0,-2 0 0,0 0 0,2 0 0,0 0 0,-1 0 0,0 0 0,-2 0 0,-1 0 0,-1 0 0,-2 0 0,0 0 0,-1 0 0,3 0 0,-2 0 0,-1 0 0,2 0 0,0 0 0,2 0 0,1 0 0,0 0 0,3 0 0,0 0 0,4 0 0,0 0 0,-1 0 0,1 0 0,-2 0 0,-2 0 0,-1 0 0,1 0 0,-2 0 0,2 0 0,0 0 0,-3-2 0,3-2 0,-1 1 0,-2-1 0,0 4 0,-1 0 0,-2 0 0,2 0 0,-3 0 0,0 0 0,0 0 0,-2 0 0,3 0 0,1 0 0,-1 0 0,1 0 0,-1 0 0,-2 0 0,0 0 0,-3 0 0,0 0 0,-7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6:10:59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958 1 24575,'-20'0'0,"-11"0"0,-19 0 0,-8 6 0,-11 5 0,11 5 0,5 2 0,4-7 0,4-3 0,4-2 0,-3-1 0,-1 1 0,-4 4 0,-2-1 0,3 0 0,6 1 0,6-3 0,7 1 0,8-2 0,7 1 0,4 2 0,3 11 0,3 21 0,1 20 0,3 19 0,0 7 0,0 1 0,3-2 0,4-3 0,4 3 0,-4-38 0,0 3 0,-1 4 0,0 2 0,-1 8 0,-1 3 0,1 7 0,0 1 0,-2 4 0,0 0 0,0 6 0,-1 0 0,1-3 0,-1 0 0,0-4 0,0 0 0,0-7 0,1-2 0,-1-5 0,1-2 0,-1-3 0,-1-2 0,-1-2 0,0 0 0,0 0 0,0-1 0,0-2 0,0-1 0,0 48 0,0-4 0,0 0 0,0 3 0,0-49 0,0 1 0,0 1 0,0 1 0,0 5 0,0 1 0,0 3 0,-1 1 0,0 4 0,-2 1 0,-1 2 0,-1 1 0,-1-2 0,-1-1 0,-1-1 0,-1-1 0,1-5 0,0-1 0,0-5 0,-1-2 0,-5 44 0,2-14 0,1-7 0,3-5 0,2-1 0,2 1 0,3 5 0,-2 4 0,-2 3 0,0 2 0,2-4 0,3-1 0,0-5 0,0-6 0,-4-10 0,0-9 0,-3-4 0,-1-3 0,4 7 0,1 19 0,3 14 0,1-33 0,1 2 0,2 0 0,0 1 0,2-1 0,1-1 0,2 1 0,2 1 0,10 44 0,3-6 0,0-6 0,-5-9 0,-4-4 0,-7-2 0,-5-3 0,-3 3 0,0 2 0,0-1 0,0 4 0,0-4 0,0 1 0,0-1 0,0-4 0,0 3 0,0-2 0,0 3 0,0-1 0,0-1 0,5-2 0,5 0 0,4-2 0,2-5 0,0-5 0,-1-5 0,-3-3 0,0-2 0,-1 3 0,1 1 0,6 4 0,0 0 0,-1-1 0,1-1 0,-4-5 0,0-2 0,-1-1 0,1 1 0,0 2 0,0-1 0,-3 0 0,-1-5 0,-4-5 0,2-3 0,-2-5 0,-2-2 0,2-4 0,0-5 0,5-7 0,9-3 0,12-6 0,21-8 0,21-3 0,21-2 0,-39 8 0,2 1 0,5 1 0,2 2 0,7 0 0,2 1 0,2 0 0,1 0 0,-1 0 0,1 0 0,-5 0 0,-2 0 0,-5 0 0,-2 0 0,-4 0 0,-2 0 0,-6 0 0,-2 0 0,43 0 0,-16 2 0,-13 1 0,-13 1 0,-13-1 0,-5-2 0,-8 0 0,-3 2 0,-10-2 0,-5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6:11:04.3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1412 9552 24575,'-20'-52'0,"0"0"0,-11-17 0,-2-6 0,3 7 0,-3-4 0,2-3-918,-5-14 0,1-3 1,2-3 917,9 23 0,2-1 0,1-1 0,0-1 0,1-5 0,1-1 0,1-1 0,1 1 0,2 3 0,1 0 0,2 1 0,-1 1 0,-3-20 0,1 1 0,1 1 170,0 5 0,1 1 0,1 4-170,1 11 0,1 3 0,0 1 0,-5-26 0,0 3 268,2 11 1,-1 4-269,2 6 0,0 3 0,1 5 0,2 2 0,-1 2 0,1 1 702,0 1 1,1 1-703,0 0 0,0 0 150,-1-1 1,1 0-151,0-4 0,-1 0 0,0-1 0,1-2 0,-1-2 0,-1-2 0,0-2 0,-1 0 0,-1-1 0,0 0 0,0-2 0,0-1 0,-1 1 0,1 0 0,-1-1 0,1 1 0,1 0 0,0 0 0,1 2 0,2 0 0,0 4 0,3-1 0,0 3 0,2-1 0,0 0 0,2-2 0,5 0 0,3 0 0,2 3 0,-2 2 0,-3 8 0,-4-1 0,-8-6 0,-7-1 0,-10-8 0,-3-4 0,4 10 0,0-4 0,1-3-353,-1-9 1,1-3 0,2 0 352,1-2 0,2 0 0,1 0 0,0-3 0,1 0 0,2 2 0,2 7 0,2 2 0,1 0 0,1 6 0,1 0 0,1 2 0,-2-27 0,2 3 0,0 10 0,2 4 0,1 8 0,1 3 0,-1 8 0,1 1 0,2 6 0,0 2 0,0 2 0,0-1 528,0 1 1,0-1-529,0 0 0,0 1 0,0-43 0,0 6 0,0 10 0,0 10 0,0 1 0,0 9 0,0 0 0,0 1 0,1 3 0,4 1 0,3 6 0,4 5 0,3 5 0,-1 7 0,0 5 0,0 0 0,0 2 0,2 1 0,1 4 0,0 3 0,3 1 0,-1 2 0,1 0 0,1 1 0,-2 2 0,1 0 0,-1 2 0,0 0 0,0 1 0,1-3 0,1-2 0,0 0 0,3 0 0,1 2 0,3 0 0,0 4 0,0-2 0,-1 2 0,1 0 0,-1 1 0,-1 1 0,-3-1 0,-5-4 0,-1 0 0,-1 0 0,1-1 0,3 0 0,-3 2 0,1 0 0,0 1 0,2-1 0,3-1 0,-1 3 0,-4 1 0,-3 3 0,1 0 0,1 0 0,3 0 0,1 0 0,-8 0 0,-2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6:11:06.0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24575,'40'0'0,"16"4"0,20 8 0,9 8 0,-5 6 0,-3 2 0,-13-1 0,-9-3 0,-13-4 0,-12-9 0,-6-6 0,-6-4 0,-4 1 0,1 1 0,-6 7 0,-7 14 0,-10 15 0,-14 24 0,-7 18 0,-4 7 0,3 6 0,6-5 0,7-8 0,3-8 0,2-7 0,3-8 0,-2-5 0,4-8 0,0-9 0,0-4 0,0-7 0,4-10 0,0-4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6:12:31.5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280 1 24575,'-13'26'0,"-6"6"0,-10 18 0,-6 5 0,2 6 0,2-4 0,7-8 0,8-5 0,1-8 0,5-3 0,0-2 0,0-3 0,2 0 0,-1-4 0,3-4 0,0-5 0,0-9 0,7-4 0,8-4 0,10-4 0,13 0 0,8-2 0,12-3 0,10 4 0,1 2 0,2 2 0,-6 3 0,-7 0 0,-9 0 0,-8 0 0,-9-3 0,-5-1 0,-4 0 0,-3 1 0,0 0 0,1-1 0,2-3 0,1 0 0,-1 1 0,0-1 0,0 0 0,-7 4 0,-2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6:12:37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2171 24575,'36'0'0,"27"-4"0,-14-2 0,5-1 0,13-2 0,3-1 0,4-2 0,0-2 0,-2 1 0,-2 0 0,-8 3 0,-3-1 0,35-9 0,-17 3 0,-6 2 0,-4-1 0,0 0 0,-1 1 0,-6 0 0,-2 1 0,2 1 0,2 0 0,2 0 0,2 0 0,-5-3 0,0-1 0,5 0 0,0-3 0,5-4 0,0-3 0,-1-4 0,6-1 0,1 0 0,5 0 0,1-1 0,0 1 0,-2 0 0,5 3 0,5 0 0,-41 15 0,0-1 0,5 0 0,1-1 0,3-1 0,0 0 0,2 1 0,1 0 0,2 1 0,1 0 0,0 1 0,0 1 0,-1 0 0,0 0 0,1-1 0,-2 2 0,-3 2 0,-2 1 0,1-1 0,-1 0 0,-2 1 0,0 1 0,0-1 0,0 0 0,1-1 0,0 1 0,1 0 0,0 1 0,2-1 0,1 1 0,2 0 0,1 0 0,3 0 0,1 0 0,4-1 0,2 1 0,5-1 0,1-1 0,3-1 0,0-1 0,6-3 0,0 0 0,1 0 0,1 0 0,1-2 0,1 0 0,2 1 0,1 1-213,0 0 1,1 0 212,-32 5 0,1 0 0,1 0 0,0 0 0,1 0 0,1 0 0,-1 0 0,0-1 0,1 1 0,1 0 0,0 0 0,0-1 0,0 1 0,1-1 0,-1 1 0,-2-1 0,1 1 0,-2 0 0,0 0 0,-1 0 0,0 0 0,30-5 0,0 0 0,0 1 0,-1 0 0,-1 1 0,0 0 0,1 1 0,0 0 0,-2 1 0,-1-1 0,-5 0 0,-1-1 0,-3 1 0,-2-1 0,-7 1 0,-1-1 0,-3 1 0,0 0 0,0 0 0,0-1 0,1-1 0,-1 0 0,3 0 0,1-1 212,-1-1 1,0-1-213,0 0 0,0-1 0,0 0 0,0 0 0,-2 1 0,-1 1 0,-4 0 0,-2 1 0,-4 1 0,-1 1 0,-3 1 0,0 1 0,-1 0 0,2 1 0,2 0 0,1 1 0,2 1 0,1 0 0,2-1 0,0 2 0,2 0 0,0 2 0,0-1 0,-1 2 0,0-1 0,-1 2 0,-6 0 0,-1 1 0,-6 0 0,-1 0 0,34 1 0,-13 1 0,-10-3 0,-12-1 0,-10 0 0,-14 1 0,-13 3 0,-5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270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515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596249"/>
            <a:ext cx="9753600" cy="3395698"/>
          </a:xfrm>
        </p:spPr>
        <p:txBody>
          <a:bodyPr anchor="b">
            <a:normAutofit/>
          </a:bodyPr>
          <a:lstStyle>
            <a:lvl1pPr algn="ctr">
              <a:defRPr sz="469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1462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CEA591D-5C7D-4C95-BC7E-0224720F68F2}"/>
              </a:ext>
            </a:extLst>
          </p:cNvPr>
          <p:cNvGrpSpPr/>
          <p:nvPr userDrawn="1"/>
        </p:nvGrpSpPr>
        <p:grpSpPr>
          <a:xfrm>
            <a:off x="68556" y="9160855"/>
            <a:ext cx="12873440" cy="592745"/>
            <a:chOff x="66366" y="6437941"/>
            <a:chExt cx="12068850" cy="41677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75293E8-7423-4CF6-AF34-26EB9C8D0D59}"/>
                </a:ext>
              </a:extLst>
            </p:cNvPr>
            <p:cNvSpPr/>
            <p:nvPr userDrawn="1"/>
          </p:nvSpPr>
          <p:spPr>
            <a:xfrm>
              <a:off x="585626" y="6438612"/>
              <a:ext cx="11136771" cy="4161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40" dirty="0">
                <a:solidFill>
                  <a:srgbClr val="ED1C24"/>
                </a:solidFill>
              </a:endParaRPr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CB83481A-60EE-48CA-91B0-95996D3C18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722398" y="6437941"/>
              <a:ext cx="412818" cy="412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6">
              <a:extLst>
                <a:ext uri="{FF2B5EF4-FFF2-40B4-BE49-F238E27FC236}">
                  <a16:creationId xmlns:a16="http://schemas.microsoft.com/office/drawing/2014/main" id="{C0901E8F-E7C6-4083-A895-00B835FFD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6366" y="6443333"/>
              <a:ext cx="407426" cy="40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1FADCF8-E93B-4674-A350-2DA6060412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2434" y="9234312"/>
            <a:ext cx="1862282" cy="5192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319974-6DCA-47DB-8117-508FF9E09B27}" type="datetime1">
              <a:rPr lang="en-US" smtClean="0"/>
              <a:t>2/18/26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2D92279-81A0-4E9E-ADF8-43E8DABD2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9082" y="9234310"/>
            <a:ext cx="8505975" cy="5192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	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8BDBF5-052C-487D-AFD0-740C16820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8137" y="9229682"/>
            <a:ext cx="1250439" cy="51928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86FD9B65-ECD1-4560-A068-8F0F80DD57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873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E54CF5-0327-43CD-8F49-30C19ABC09EA}"/>
              </a:ext>
            </a:extLst>
          </p:cNvPr>
          <p:cNvGrpSpPr/>
          <p:nvPr userDrawn="1"/>
        </p:nvGrpSpPr>
        <p:grpSpPr>
          <a:xfrm>
            <a:off x="619557" y="9179897"/>
            <a:ext cx="12319563" cy="592745"/>
            <a:chOff x="585626" y="6437941"/>
            <a:chExt cx="11549590" cy="416774"/>
          </a:xfrm>
          <a:solidFill>
            <a:schemeClr val="tx1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88D66F-F3DC-4A54-ADC5-EABBF5A9132C}"/>
                </a:ext>
              </a:extLst>
            </p:cNvPr>
            <p:cNvSpPr/>
            <p:nvPr/>
          </p:nvSpPr>
          <p:spPr>
            <a:xfrm>
              <a:off x="585626" y="6438612"/>
              <a:ext cx="11136771" cy="4161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40" dirty="0">
                <a:solidFill>
                  <a:srgbClr val="ED1C24"/>
                </a:solidFill>
              </a:endParaRPr>
            </a:p>
          </p:txBody>
        </p:sp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3DD46118-A79F-4B4F-8972-D3D3EF9B0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722398" y="6437941"/>
              <a:ext cx="412818" cy="412818"/>
            </a:xfrm>
            <a:prstGeom prst="rect">
              <a:avLst/>
            </a:prstGeom>
            <a:grpFill/>
          </p:spPr>
        </p:pic>
      </p:grp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7AB2A89-0C5E-4E55-B518-895708DFDB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2434" y="9234312"/>
            <a:ext cx="1862282" cy="5192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E1C672-CEB2-4170-9980-C4B3BC37B36B}" type="datetime1">
              <a:rPr lang="en-US" smtClean="0"/>
              <a:t>2/18/26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326A805-6144-420E-A0DF-1F5561410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9082" y="9234310"/>
            <a:ext cx="8505975" cy="5192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621FBD6-68D2-45EC-99DE-E1439DE7C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8137" y="9229682"/>
            <a:ext cx="1250439" cy="51928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86FD9B65-ECD1-4560-A068-8F0F80DD573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1E1C6A9A-3654-8073-5015-FCE6E8BD99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56" y="9168524"/>
            <a:ext cx="434588" cy="57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51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07" y="2431628"/>
            <a:ext cx="11216640" cy="4057226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307" y="6527237"/>
            <a:ext cx="11216640" cy="21335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3119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CDD684B-9264-4018-B1AC-95521A32DFD0}"/>
              </a:ext>
            </a:extLst>
          </p:cNvPr>
          <p:cNvGrpSpPr/>
          <p:nvPr userDrawn="1"/>
        </p:nvGrpSpPr>
        <p:grpSpPr>
          <a:xfrm>
            <a:off x="65680" y="9192953"/>
            <a:ext cx="12873440" cy="592745"/>
            <a:chOff x="66366" y="6437941"/>
            <a:chExt cx="12068850" cy="41677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30B0E68-EE03-4C2E-834A-E4FF462545A5}"/>
                </a:ext>
              </a:extLst>
            </p:cNvPr>
            <p:cNvSpPr/>
            <p:nvPr/>
          </p:nvSpPr>
          <p:spPr>
            <a:xfrm>
              <a:off x="585626" y="6438612"/>
              <a:ext cx="11136771" cy="4161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40" dirty="0">
                <a:solidFill>
                  <a:srgbClr val="ED1C24"/>
                </a:solidFill>
              </a:endParaRPr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E57E61A0-5B5E-49A2-9925-4CF0159E7A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722398" y="6437941"/>
              <a:ext cx="412818" cy="412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FD7305A5-150F-477B-8149-7ABFB3249C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6366" y="6443333"/>
              <a:ext cx="407426" cy="40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89E5BE0-1848-4F42-968A-EF2916B55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434" y="9234312"/>
            <a:ext cx="1862282" cy="5192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25DB69-E0A0-452A-AD05-FF9B58D560C9}" type="datetime1">
              <a:rPr lang="en-US" smtClean="0"/>
              <a:t>2/18/26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C84982B-1613-408B-8390-173A48580C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9082" y="9234310"/>
            <a:ext cx="8505975" cy="5192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2A3FFBB-C8D3-42CF-A676-1DDA29006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8137" y="9229682"/>
            <a:ext cx="1250439" cy="51928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86FD9B65-ECD1-4560-A068-8F0F80DD57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506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519290"/>
            <a:ext cx="11216640" cy="18852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680" y="2390987"/>
            <a:ext cx="5528734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680" y="3562773"/>
            <a:ext cx="5528734" cy="5240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D5004BB-58EC-4297-8BAF-34D694548FDE}"/>
              </a:ext>
            </a:extLst>
          </p:cNvPr>
          <p:cNvGrpSpPr/>
          <p:nvPr userDrawn="1"/>
        </p:nvGrpSpPr>
        <p:grpSpPr>
          <a:xfrm>
            <a:off x="65680" y="9192953"/>
            <a:ext cx="12873440" cy="592745"/>
            <a:chOff x="66366" y="6437941"/>
            <a:chExt cx="12068850" cy="41677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C533E6-C6D5-4D92-827B-47A4A9C03008}"/>
                </a:ext>
              </a:extLst>
            </p:cNvPr>
            <p:cNvSpPr/>
            <p:nvPr/>
          </p:nvSpPr>
          <p:spPr>
            <a:xfrm>
              <a:off x="585626" y="6438612"/>
              <a:ext cx="11136771" cy="4161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40" dirty="0">
                <a:solidFill>
                  <a:srgbClr val="ED1C24"/>
                </a:solidFill>
              </a:endParaRPr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60381724-F462-48AC-BAB9-282B343178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722398" y="6437941"/>
              <a:ext cx="412818" cy="412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596E203A-5E83-4305-AF02-8308BA5D17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6366" y="6443333"/>
              <a:ext cx="407426" cy="40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43A93BE-CF46-41DC-B7C2-87019FC759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434" y="9234312"/>
            <a:ext cx="1862282" cy="5192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93C6C8-D5F7-4063-9A57-B3BE742F8994}" type="datetime1">
              <a:rPr lang="en-US" smtClean="0"/>
              <a:t>2/18/26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572BB76-39E5-44B8-83C8-3CD79B447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59082" y="9234310"/>
            <a:ext cx="8505975" cy="5192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2F96A83-4559-4C11-A4BA-8F291EB2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8137" y="9229682"/>
            <a:ext cx="1250439" cy="51928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86FD9B65-ECD1-4560-A068-8F0F80DD57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046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60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40C034B-CB0A-4C77-B0B8-1CB167FEDD1A}"/>
              </a:ext>
            </a:extLst>
          </p:cNvPr>
          <p:cNvGrpSpPr/>
          <p:nvPr userDrawn="1"/>
        </p:nvGrpSpPr>
        <p:grpSpPr>
          <a:xfrm>
            <a:off x="65680" y="9156226"/>
            <a:ext cx="12873440" cy="592745"/>
            <a:chOff x="66366" y="6437941"/>
            <a:chExt cx="12068850" cy="41677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5D3EA2-EB52-4E4B-AE8F-45FEA3F69B03}"/>
                </a:ext>
              </a:extLst>
            </p:cNvPr>
            <p:cNvSpPr/>
            <p:nvPr/>
          </p:nvSpPr>
          <p:spPr>
            <a:xfrm>
              <a:off x="585626" y="6438612"/>
              <a:ext cx="11136771" cy="4161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40" dirty="0">
                <a:solidFill>
                  <a:srgbClr val="ED1C24"/>
                </a:solidFill>
              </a:endParaRPr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43DAA626-CF2A-4F39-97E5-D1EF457C5C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722398" y="6437941"/>
              <a:ext cx="412818" cy="412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95ABB968-0FC1-4D92-9253-68D8740F1E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6366" y="6443333"/>
              <a:ext cx="407426" cy="40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4A0BE69-3715-49B2-A905-ABBB604EA8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434" y="9234312"/>
            <a:ext cx="1862282" cy="5192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2594C5E-7F3F-42CE-B7CE-99C4AF14AFEA}" type="datetime1">
              <a:rPr lang="en-US" smtClean="0"/>
              <a:t>2/18/26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A486BE9-5B66-45D1-8ADB-CB5EE4D5F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9082" y="9234310"/>
            <a:ext cx="8505975" cy="5192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55AB9E8D-04A3-4E7D-8F88-5BA6A525C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8137" y="9229682"/>
            <a:ext cx="1250439" cy="51928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86FD9B65-ECD1-4560-A068-8F0F80DD57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955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97E4A8-DFE3-46F6-ACEE-27CFD8E713E5}"/>
              </a:ext>
            </a:extLst>
          </p:cNvPr>
          <p:cNvGrpSpPr/>
          <p:nvPr userDrawn="1"/>
        </p:nvGrpSpPr>
        <p:grpSpPr>
          <a:xfrm>
            <a:off x="65680" y="9160855"/>
            <a:ext cx="12873440" cy="592745"/>
            <a:chOff x="66366" y="6437941"/>
            <a:chExt cx="12068850" cy="41677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9F61D0F-FE04-4E8C-9D51-DA14EE94607C}"/>
                </a:ext>
              </a:extLst>
            </p:cNvPr>
            <p:cNvSpPr/>
            <p:nvPr/>
          </p:nvSpPr>
          <p:spPr>
            <a:xfrm>
              <a:off x="585626" y="6438612"/>
              <a:ext cx="11136771" cy="4161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40" dirty="0">
                <a:solidFill>
                  <a:srgbClr val="ED1C24"/>
                </a:solidFill>
              </a:endParaRPr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1068B947-EC1D-4201-B255-54EE2052A8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722398" y="6437941"/>
              <a:ext cx="412818" cy="412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E5050F10-8B17-44FA-913C-51C0D77BCF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6366" y="6443333"/>
              <a:ext cx="407426" cy="40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70173EC5-2104-49CE-9483-360846BF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434" y="9234312"/>
            <a:ext cx="1862282" cy="5192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FEC9C-2A81-49A3-A828-C4E6CBB7B260}" type="datetime1">
              <a:rPr lang="en-US" smtClean="0"/>
              <a:t>2/18/26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0BF1844-C763-4FA3-8E27-3EA9137C8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9082" y="9234310"/>
            <a:ext cx="8505975" cy="5192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3184989-F983-4E94-B796-10D9C4E79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8137" y="9229682"/>
            <a:ext cx="1250439" cy="51928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86FD9B65-ECD1-4560-A068-8F0F80DD57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433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0FD5E9-C876-4BF0-9B9E-B6A6313181F3}"/>
              </a:ext>
            </a:extLst>
          </p:cNvPr>
          <p:cNvGrpSpPr/>
          <p:nvPr userDrawn="1"/>
        </p:nvGrpSpPr>
        <p:grpSpPr>
          <a:xfrm>
            <a:off x="131360" y="9156226"/>
            <a:ext cx="12873440" cy="592745"/>
            <a:chOff x="66366" y="6437941"/>
            <a:chExt cx="12068850" cy="41677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A4B2557-E475-45A9-B22F-0B282E494923}"/>
                </a:ext>
              </a:extLst>
            </p:cNvPr>
            <p:cNvSpPr/>
            <p:nvPr/>
          </p:nvSpPr>
          <p:spPr>
            <a:xfrm>
              <a:off x="585626" y="6438612"/>
              <a:ext cx="11136771" cy="4161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40" dirty="0">
                <a:solidFill>
                  <a:srgbClr val="ED1C24"/>
                </a:solidFill>
              </a:endParaRPr>
            </a:p>
          </p:txBody>
        </p:sp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194B735A-FB70-4C02-9E9D-401BD44817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722398" y="6437941"/>
              <a:ext cx="412818" cy="412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A09A07BF-E4A4-4C3A-9577-D3EC14C37B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6366" y="6443333"/>
              <a:ext cx="407426" cy="40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89534912-767F-4F66-AD7E-F0CC9AB0D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2434" y="9234312"/>
            <a:ext cx="1862282" cy="5192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6E2D1B-7488-480A-877D-D88B058DA43E}" type="datetime1">
              <a:rPr lang="en-US" smtClean="0"/>
              <a:t>2/18/26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D899D1D-E714-497B-A8D4-E498FEE60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9082" y="9234310"/>
            <a:ext cx="8505975" cy="5192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BFA9A2C-8FDA-431E-8658-A8DBB4E28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8137" y="9229682"/>
            <a:ext cx="1250439" cy="51928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86FD9B65-ECD1-4560-A068-8F0F80DD57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611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6560" y="519289"/>
            <a:ext cx="2804160" cy="82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4080" y="519289"/>
            <a:ext cx="8249920" cy="82657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FBD0B8-2140-4484-8FAA-4872DF30CD6C}"/>
              </a:ext>
            </a:extLst>
          </p:cNvPr>
          <p:cNvGrpSpPr/>
          <p:nvPr userDrawn="1"/>
        </p:nvGrpSpPr>
        <p:grpSpPr>
          <a:xfrm>
            <a:off x="0" y="9156226"/>
            <a:ext cx="12873440" cy="592745"/>
            <a:chOff x="66366" y="6437941"/>
            <a:chExt cx="12068850" cy="41677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1B3C2F9-1FC3-4A9C-9D7D-482214166726}"/>
                </a:ext>
              </a:extLst>
            </p:cNvPr>
            <p:cNvSpPr/>
            <p:nvPr/>
          </p:nvSpPr>
          <p:spPr>
            <a:xfrm>
              <a:off x="585626" y="6438612"/>
              <a:ext cx="11136771" cy="41610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40" dirty="0">
                <a:solidFill>
                  <a:srgbClr val="ED1C24"/>
                </a:solidFill>
              </a:endParaRPr>
            </a:p>
          </p:txBody>
        </p:sp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1F31FA80-0D8E-4C84-9860-0824B35A5A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722398" y="6437941"/>
              <a:ext cx="412818" cy="412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6">
              <a:extLst>
                <a:ext uri="{FF2B5EF4-FFF2-40B4-BE49-F238E27FC236}">
                  <a16:creationId xmlns:a16="http://schemas.microsoft.com/office/drawing/2014/main" id="{B09BD7AC-EF05-41E8-A249-D0A7987F35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6366" y="6443333"/>
              <a:ext cx="407426" cy="40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7DCE948-D767-4F4F-AE80-BD68BF58E5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2434" y="9234312"/>
            <a:ext cx="1862282" cy="5192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A9B870-1DE4-490B-BED4-34629920D848}" type="datetime1">
              <a:rPr lang="en-US" smtClean="0"/>
              <a:t>2/18/26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81B18C2-0390-46A4-B99E-D6DEF176D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9082" y="9234310"/>
            <a:ext cx="8505975" cy="5192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B85DC20-B512-4A73-81ED-B5A0AE6FE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8137" y="9229682"/>
            <a:ext cx="1250439" cy="519289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86FD9B65-ECD1-4560-A068-8F0F80DD57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00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1D165-A497-DCB5-FE14-2116AD960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600" y="1596249"/>
            <a:ext cx="9753600" cy="3395698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E916-6D88-9EC8-2ACE-AAAC4837A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E17B98E-457D-4284-6B2C-5A9D93DF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2/18/26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16AD668-06A4-BBF4-AAFC-469FC13B1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576D332-0420-1D23-03DE-415A5CCF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53257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E0E18-684A-38D1-DBDB-FEE2C9AB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2BCD-5730-71C8-CC55-48A093FAC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D7F9DE-9EB3-A0C9-3D35-875A3D0A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1940EA-817A-B06D-6BDA-45ACEE339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CC4B6-B6DB-1B02-0DEB-6A3B9D96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111699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6FA2-2E02-A421-1CC1-4FF2D8FD1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307" y="2431628"/>
            <a:ext cx="11216640" cy="4057226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3A665-FEA3-13E5-52C0-BF86C7F99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307" y="6527237"/>
            <a:ext cx="11216640" cy="21335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7BD1C1-52AB-4F7D-6D83-67AF3ECB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F66548-8C21-3A90-AE45-26B0F86C9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624BBB-BAA8-6351-1EB7-7A3EA689D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29477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DAB4F-3115-8EC4-D28E-A5BFBB3C4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6E502-1037-1C56-5C14-8BF615EAE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2ED19-D604-8DD1-6C52-20D59450F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2B4AA63-3E2C-E0C9-C93D-22A5A7C24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2/18/26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3F896CD-C514-1F2B-7B3D-4BB60C29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660AA89-1513-B57E-1AEB-D2994F735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11725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3D1DD-0CEE-3774-5AB3-937DB423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519290"/>
            <a:ext cx="11216640" cy="18852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8E3F0-46B7-69C0-6719-D71909FD3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7236F-485B-32C4-A9B9-6D3AB3F7E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4E0AA5-2E2B-294B-3997-BA542F4B3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80" y="2390987"/>
            <a:ext cx="5528734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982F6-EFA8-1135-93C3-BC3E84B32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83680" y="3562773"/>
            <a:ext cx="5528734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3ED0692-DB27-476A-0150-A1CF0923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1C2DDFB-94D4-AD58-50F2-799E8E3B3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5411371-48EB-4EF4-70EE-BF8A4F7AF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45831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22BD9-E750-52D1-E068-EA872E424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4146F4F-5AF3-44EE-D602-E08144631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2/18/26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3133D6F-07D0-334E-6C09-62B6A56EF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9A1936-94C6-0E25-28C2-31877FCC9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82733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E1DA0-64CA-5020-1855-35C78BB90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ECA06-9F8F-1859-A6BB-93CCA47C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8AD8A-420F-7CDF-A992-661CADF5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926450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0108-1904-1EC5-3CDA-6EA960140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7B60-43EB-2344-0024-6BC968B64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AF767-0D11-703C-CFB3-2C48A7464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22A4BB7-E704-EFA2-2F94-CC5CF15A4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84A82D0-7CB5-484A-4CDF-A85E071D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C8C913C-54F5-2C2F-C605-C5CD9690F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783400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ED15-C686-590A-52D7-BD4F09C6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75195-BE97-D378-3A15-C2CB68401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A8C6D-1B1B-43CB-C35A-B02EB332B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5C8872E-5B47-1F3C-FD1B-BD602E66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95521F6-EFF1-0840-F220-9E046F8D4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40458CD-DBC0-F873-0CF4-FF961028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671888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6C5B0-61CE-C46E-120D-592412C50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2DC9A-C7B0-60DC-874D-7157E6D6B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98B719-4D24-4076-ED8E-4B6661F89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5876D4-E9CE-BF06-3A65-D1E165571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95797-057F-B764-9986-16AC2309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858826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9F8EB1-E8C0-6407-56CB-952FE87B89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06560" y="519289"/>
            <a:ext cx="2804160" cy="82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28CCC-A90E-28B6-C561-BE3F3A2F6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4080" y="519289"/>
            <a:ext cx="8249920" cy="82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87D2C-D605-40EA-38AC-88DE2172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83F0EF-D69D-392A-60D9-5842CD6CB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34C875-29A2-701C-A092-C23ADD4C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743880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3004800" cy="975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699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080" y="519290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423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/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F6F4B7-BAD9-A1D9-3F62-5225D09B0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80" y="519290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FFE51-76F0-DDB5-F9BF-9185F652E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36F08-D480-A5EA-D5E1-4941CD2E5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408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5D5CF-5331-5C4D-A3D2-5C5939CC3261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2F208-8EF5-13BF-E9B6-A99FFAB57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464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7BB0D-1325-46DC-B61A-11EF7F09AA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390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5" Type="http://schemas.openxmlformats.org/officeDocument/2006/relationships/customXml" Target="../ink/ink2.xml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customXml" Target="../ink/ink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7.xml"/><Relationship Id="rId5" Type="http://schemas.openxmlformats.org/officeDocument/2006/relationships/image" Target="../media/image27.png"/><Relationship Id="rId4" Type="http://schemas.openxmlformats.org/officeDocument/2006/relationships/customXml" Target="../ink/ink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1.png"/><Relationship Id="rId5" Type="http://schemas.openxmlformats.org/officeDocument/2006/relationships/customXml" Target="../ink/ink9.xml"/><Relationship Id="rId4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jp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://theory.stanford.edu/~amitp/GameProgramming/Heuristics.html" TargetMode="Externa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JmlP03ik5g" TargetMode="External"/><Relationship Id="rId2" Type="http://schemas.openxmlformats.org/officeDocument/2006/relationships/hyperlink" Target="https://www.youtube.com/shorts/lh6lm_ggjgo" TargetMode="External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Lecture 9: Voronoi Diagram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Path Planning on a Graph</a:t>
            </a:r>
            <a:endParaRPr dirty="0"/>
          </a:p>
        </p:txBody>
      </p:sp>
      <p:sp>
        <p:nvSpPr>
          <p:cNvPr id="126" name="ECE 6504: Advanced Topics in Robotics…"/>
          <p:cNvSpPr txBox="1">
            <a:spLocks noGrp="1"/>
          </p:cNvSpPr>
          <p:nvPr>
            <p:ph type="subTitle" idx="1"/>
          </p:nvPr>
        </p:nvSpPr>
        <p:spPr>
          <a:xfrm>
            <a:off x="1270000" y="5029199"/>
            <a:ext cx="10464800" cy="3539067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i="1"/>
            </a:pPr>
            <a:endParaRPr lang="en-US" dirty="0"/>
          </a:p>
          <a:p>
            <a:pPr>
              <a:defRPr i="1"/>
            </a:pPr>
            <a:r>
              <a:rPr lang="en-US" dirty="0"/>
              <a:t>Dr. Troi Williams</a:t>
            </a:r>
          </a:p>
          <a:p>
            <a:pPr>
              <a:defRPr i="1"/>
            </a:pPr>
            <a:endParaRPr lang="en-US" dirty="0"/>
          </a:p>
          <a:p>
            <a:pPr>
              <a:defRPr i="1"/>
            </a:pPr>
            <a:r>
              <a:rPr lang="en-US" dirty="0"/>
              <a:t>Slide credits: Pratap Tokekar, Chahat Deep Singh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8500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A3BD-EE8A-CE35-B98C-701FDFEBD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572F-47D6-90C9-5D58-2B3B427D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Previously, we talked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6893E-C168-9997-F3AF-56519788B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DFS to find a path on a graph. </a:t>
            </a:r>
          </a:p>
        </p:txBody>
      </p:sp>
    </p:spTree>
    <p:extLst>
      <p:ext uri="{BB962C8B-B14F-4D97-AF65-F5344CB8AC3E}">
        <p14:creationId xmlns:p14="http://schemas.microsoft.com/office/powerpoint/2010/main" val="765766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54932-C43A-B5E2-7FB0-1D35BE94C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5BCC08-AEA8-9029-D027-2C8163578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Planning on Simple Graph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427267-2EB8-D377-5DD2-5D423F031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78" y="2596444"/>
            <a:ext cx="8380551" cy="61885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Compare the path in the tree to the visited order… </a:t>
            </a:r>
            <a:r>
              <a:rPr lang="en-US" b="1" dirty="0">
                <a:solidFill>
                  <a:srgbClr val="FF0000"/>
                </a:solidFill>
              </a:rPr>
              <a:t>they are NOT the same!</a:t>
            </a:r>
            <a:endParaRPr lang="en-US" dirty="0"/>
          </a:p>
          <a:p>
            <a:endParaRPr lang="en-US" dirty="0"/>
          </a:p>
          <a:p>
            <a:r>
              <a:rPr lang="en-US" dirty="0"/>
              <a:t>Path (according to the tree): 5 </a:t>
            </a:r>
            <a:r>
              <a:rPr lang="en-US" dirty="0">
                <a:sym typeface="Wingdings" pitchFamily="2" charset="2"/>
              </a:rPr>
              <a:t> 4  3  2  9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(We get the path via </a:t>
            </a:r>
            <a:r>
              <a:rPr lang="en-US" i="1" dirty="0"/>
              <a:t>backtracking from 9 to 5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S: 6, 1, 3, 9,</a:t>
            </a:r>
            <a:r>
              <a:rPr lang="en-US" b="1" dirty="0"/>
              <a:t> </a:t>
            </a:r>
            <a:r>
              <a:rPr lang="en-US" dirty="0"/>
              <a:t>8</a:t>
            </a:r>
            <a:endParaRPr lang="en-US" b="1" dirty="0"/>
          </a:p>
          <a:p>
            <a:r>
              <a:rPr lang="en-US" dirty="0"/>
              <a:t>V: 5, 4, 3, 2, 1, 6,</a:t>
            </a:r>
            <a:r>
              <a:rPr lang="en-US" b="1" dirty="0"/>
              <a:t> </a:t>
            </a:r>
            <a:r>
              <a:rPr lang="en-US" dirty="0"/>
              <a:t>7, 8, </a:t>
            </a:r>
            <a:r>
              <a:rPr lang="en-US" b="1" dirty="0"/>
              <a:t>9</a:t>
            </a:r>
            <a:endParaRPr lang="en-US" dirty="0"/>
          </a:p>
        </p:txBody>
      </p:sp>
      <p:pic>
        <p:nvPicPr>
          <p:cNvPr id="50" name="Picture 49" descr="A screenshot of a phone&#10;&#10;AI-generated content may be incorrect.">
            <a:extLst>
              <a:ext uri="{FF2B5EF4-FFF2-40B4-BE49-F238E27FC236}">
                <a16:creationId xmlns:a16="http://schemas.microsoft.com/office/drawing/2014/main" id="{6A2984E0-AAB6-6D4B-6DF0-13E2880CC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620" y="519290"/>
            <a:ext cx="2197100" cy="4584700"/>
          </a:xfrm>
          <a:prstGeom prst="rect">
            <a:avLst/>
          </a:prstGeom>
        </p:spPr>
      </p:pic>
      <p:sp>
        <p:nvSpPr>
          <p:cNvPr id="51" name="Content Placeholder 3">
            <a:extLst>
              <a:ext uri="{FF2B5EF4-FFF2-40B4-BE49-F238E27FC236}">
                <a16:creationId xmlns:a16="http://schemas.microsoft.com/office/drawing/2014/main" id="{C8939CB0-B599-F9F8-CEA6-73F13A9780E9}"/>
              </a:ext>
            </a:extLst>
          </p:cNvPr>
          <p:cNvSpPr txBox="1">
            <a:spLocks/>
          </p:cNvSpPr>
          <p:nvPr/>
        </p:nvSpPr>
        <p:spPr>
          <a:xfrm>
            <a:off x="8897449" y="6429868"/>
            <a:ext cx="3803108" cy="2355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3848" indent="-243848" algn="l" defTabSz="975390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29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4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38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93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62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32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001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71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410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1C73F9A-6A42-B9F5-4D1E-9AA87386247D}"/>
              </a:ext>
            </a:extLst>
          </p:cNvPr>
          <p:cNvGrpSpPr/>
          <p:nvPr/>
        </p:nvGrpSpPr>
        <p:grpSpPr>
          <a:xfrm>
            <a:off x="9476146" y="6346611"/>
            <a:ext cx="3022893" cy="2887699"/>
            <a:chOff x="9087828" y="4876800"/>
            <a:chExt cx="3022893" cy="2887699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EBA50191-BA25-23D8-BE58-1977EC3CF96F}"/>
                </a:ext>
              </a:extLst>
            </p:cNvPr>
            <p:cNvGrpSpPr/>
            <p:nvPr/>
          </p:nvGrpSpPr>
          <p:grpSpPr>
            <a:xfrm>
              <a:off x="9107514" y="7244307"/>
              <a:ext cx="3003206" cy="520192"/>
              <a:chOff x="1767841" y="4394201"/>
              <a:chExt cx="2815506" cy="487680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9C9DB74-A553-AC6F-A962-815EFD50E0B9}"/>
                  </a:ext>
                </a:extLst>
              </p:cNvPr>
              <p:cNvSpPr/>
              <p:nvPr/>
            </p:nvSpPr>
            <p:spPr>
              <a:xfrm>
                <a:off x="4095667" y="4394201"/>
                <a:ext cx="487680" cy="48768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75390" hangingPunct="1">
                  <a:spcBef>
                    <a:spcPts val="0"/>
                  </a:spcBef>
                </a:pPr>
                <a:r>
                  <a:rPr lang="en-US" sz="1920" kern="1200" dirty="0">
                    <a:solidFill>
                      <a:prstClr val="black"/>
                    </a:solidFill>
                    <a:latin typeface="Roboto"/>
                  </a:rPr>
                  <a:t>3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30CD6BB-889A-B759-E2ED-B1C45BFCC093}"/>
                  </a:ext>
                </a:extLst>
              </p:cNvPr>
              <p:cNvSpPr/>
              <p:nvPr/>
            </p:nvSpPr>
            <p:spPr>
              <a:xfrm>
                <a:off x="2923372" y="4394201"/>
                <a:ext cx="487680" cy="48768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75390" hangingPunct="1">
                  <a:spcBef>
                    <a:spcPts val="0"/>
                  </a:spcBef>
                </a:pPr>
                <a:r>
                  <a:rPr lang="en-US" sz="1920" kern="1200" dirty="0">
                    <a:solidFill>
                      <a:prstClr val="black"/>
                    </a:solidFill>
                    <a:latin typeface="Roboto"/>
                  </a:rPr>
                  <a:t>4</a:t>
                </a: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71F15F13-9BEF-EE87-5B89-931B98712D54}"/>
                  </a:ext>
                </a:extLst>
              </p:cNvPr>
              <p:cNvSpPr/>
              <p:nvPr/>
            </p:nvSpPr>
            <p:spPr>
              <a:xfrm>
                <a:off x="1767841" y="4394201"/>
                <a:ext cx="487680" cy="487680"/>
              </a:xfrm>
              <a:prstGeom prst="ellipse">
                <a:avLst/>
              </a:prstGeom>
              <a:solidFill>
                <a:srgbClr val="C0000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75390" hangingPunct="1">
                  <a:spcBef>
                    <a:spcPts val="0"/>
                  </a:spcBef>
                </a:pPr>
                <a:r>
                  <a:rPr lang="en-US" sz="1920" kern="1200" dirty="0">
                    <a:solidFill>
                      <a:schemeClr val="bg1"/>
                    </a:solidFill>
                    <a:latin typeface="Roboto"/>
                  </a:rPr>
                  <a:t>5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2D7D21C-F70A-28FF-5115-D594C6AEC4E3}"/>
                </a:ext>
              </a:extLst>
            </p:cNvPr>
            <p:cNvGrpSpPr/>
            <p:nvPr/>
          </p:nvGrpSpPr>
          <p:grpSpPr>
            <a:xfrm>
              <a:off x="9087828" y="6060553"/>
              <a:ext cx="3022893" cy="520192"/>
              <a:chOff x="1749385" y="3284432"/>
              <a:chExt cx="2833962" cy="487680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06FD70F4-7A42-DB16-88DC-A720279F7EB8}"/>
                  </a:ext>
                </a:extLst>
              </p:cNvPr>
              <p:cNvSpPr/>
              <p:nvPr/>
            </p:nvSpPr>
            <p:spPr>
              <a:xfrm>
                <a:off x="2923372" y="3284432"/>
                <a:ext cx="487680" cy="48768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75390" hangingPunct="1">
                  <a:spcBef>
                    <a:spcPts val="0"/>
                  </a:spcBef>
                </a:pPr>
                <a:r>
                  <a:rPr lang="en-US" sz="1920" kern="1200" dirty="0">
                    <a:solidFill>
                      <a:prstClr val="black"/>
                    </a:solidFill>
                    <a:latin typeface="Roboto"/>
                  </a:rPr>
                  <a:t>1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AF2C060-DA88-C9EF-112C-C449755152BB}"/>
                  </a:ext>
                </a:extLst>
              </p:cNvPr>
              <p:cNvSpPr/>
              <p:nvPr/>
            </p:nvSpPr>
            <p:spPr>
              <a:xfrm>
                <a:off x="4095667" y="3284432"/>
                <a:ext cx="487680" cy="48768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75390" hangingPunct="1">
                  <a:spcBef>
                    <a:spcPts val="0"/>
                  </a:spcBef>
                </a:pPr>
                <a:r>
                  <a:rPr lang="en-US" sz="1920" kern="1200" dirty="0">
                    <a:solidFill>
                      <a:prstClr val="black"/>
                    </a:solidFill>
                    <a:latin typeface="Roboto"/>
                  </a:rPr>
                  <a:t>2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914C00E-7C75-9F4D-AFD8-25C59C29EA90}"/>
                  </a:ext>
                </a:extLst>
              </p:cNvPr>
              <p:cNvSpPr/>
              <p:nvPr/>
            </p:nvSpPr>
            <p:spPr>
              <a:xfrm>
                <a:off x="1749385" y="3284432"/>
                <a:ext cx="487680" cy="48768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75390" hangingPunct="1">
                  <a:spcBef>
                    <a:spcPts val="0"/>
                  </a:spcBef>
                </a:pPr>
                <a:r>
                  <a:rPr lang="en-US" sz="1920" kern="1200" dirty="0">
                    <a:solidFill>
                      <a:prstClr val="black"/>
                    </a:solidFill>
                    <a:latin typeface="Roboto"/>
                  </a:rPr>
                  <a:t>6</a:t>
                </a:r>
              </a:p>
            </p:txBody>
          </p:sp>
        </p:grp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C0477CA-385B-D90C-F3BB-FD132BE24867}"/>
                </a:ext>
              </a:extLst>
            </p:cNvPr>
            <p:cNvSpPr/>
            <p:nvPr/>
          </p:nvSpPr>
          <p:spPr>
            <a:xfrm>
              <a:off x="9087828" y="4876800"/>
              <a:ext cx="520192" cy="52019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920" kern="1200" dirty="0">
                  <a:solidFill>
                    <a:prstClr val="black"/>
                  </a:solidFill>
                  <a:latin typeface="Roboto"/>
                </a:rPr>
                <a:t>7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418E0CD-058C-7AE6-6F31-5D860ACE5C81}"/>
                </a:ext>
              </a:extLst>
            </p:cNvPr>
            <p:cNvSpPr/>
            <p:nvPr/>
          </p:nvSpPr>
          <p:spPr>
            <a:xfrm>
              <a:off x="10340080" y="4876800"/>
              <a:ext cx="520192" cy="52019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920" kern="1200" dirty="0">
                  <a:solidFill>
                    <a:prstClr val="black"/>
                  </a:solidFill>
                  <a:latin typeface="Roboto"/>
                </a:rPr>
                <a:t>8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40852FF-7FE3-BD64-0DEB-08115561307A}"/>
                </a:ext>
              </a:extLst>
            </p:cNvPr>
            <p:cNvSpPr/>
            <p:nvPr/>
          </p:nvSpPr>
          <p:spPr>
            <a:xfrm>
              <a:off x="11590528" y="4876800"/>
              <a:ext cx="520192" cy="52019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920" kern="1200" dirty="0">
                  <a:solidFill>
                    <a:prstClr val="black"/>
                  </a:solidFill>
                  <a:latin typeface="Roboto"/>
                </a:rPr>
                <a:t>9</a:t>
              </a: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B99F824-CC5B-BBCC-AAC7-4D485CC0CF23}"/>
                </a:ext>
              </a:extLst>
            </p:cNvPr>
            <p:cNvCxnSpPr>
              <a:cxnSpLocks/>
              <a:stCxn id="61" idx="4"/>
              <a:endCxn id="57" idx="0"/>
            </p:cNvCxnSpPr>
            <p:nvPr/>
          </p:nvCxnSpPr>
          <p:spPr>
            <a:xfrm>
              <a:off x="10600176" y="5396992"/>
              <a:ext cx="0" cy="66356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8B258FC-873E-7E04-CC7F-BA89A3D4F548}"/>
                </a:ext>
              </a:extLst>
            </p:cNvPr>
            <p:cNvCxnSpPr>
              <a:cxnSpLocks/>
              <a:stCxn id="58" idx="2"/>
              <a:endCxn id="57" idx="6"/>
            </p:cNvCxnSpPr>
            <p:nvPr/>
          </p:nvCxnSpPr>
          <p:spPr>
            <a:xfrm flipH="1">
              <a:off x="10860273" y="6320649"/>
              <a:ext cx="730256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73F5F5D-61A6-CFD4-9622-E9EB50759F8D}"/>
                </a:ext>
              </a:extLst>
            </p:cNvPr>
            <p:cNvCxnSpPr>
              <a:cxnSpLocks/>
              <a:stCxn id="57" idx="2"/>
              <a:endCxn id="59" idx="6"/>
            </p:cNvCxnSpPr>
            <p:nvPr/>
          </p:nvCxnSpPr>
          <p:spPr>
            <a:xfrm flipH="1">
              <a:off x="9608020" y="6320649"/>
              <a:ext cx="732061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93FA0AA-79BA-0360-F932-6DC2FD16069B}"/>
                </a:ext>
              </a:extLst>
            </p:cNvPr>
            <p:cNvCxnSpPr>
              <a:cxnSpLocks/>
              <a:stCxn id="62" idx="4"/>
              <a:endCxn id="58" idx="0"/>
            </p:cNvCxnSpPr>
            <p:nvPr/>
          </p:nvCxnSpPr>
          <p:spPr>
            <a:xfrm>
              <a:off x="11850624" y="5396992"/>
              <a:ext cx="0" cy="66356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0B1D562-E671-23FC-7C2C-B49AFD5E8CC2}"/>
                </a:ext>
              </a:extLst>
            </p:cNvPr>
            <p:cNvCxnSpPr>
              <a:cxnSpLocks/>
              <a:stCxn id="58" idx="4"/>
              <a:endCxn id="53" idx="0"/>
            </p:cNvCxnSpPr>
            <p:nvPr/>
          </p:nvCxnSpPr>
          <p:spPr>
            <a:xfrm>
              <a:off x="11850624" y="6580745"/>
              <a:ext cx="0" cy="66356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9383943-3315-01B9-C016-33C210A78CDA}"/>
                </a:ext>
              </a:extLst>
            </p:cNvPr>
            <p:cNvCxnSpPr>
              <a:cxnSpLocks/>
              <a:stCxn id="60" idx="4"/>
              <a:endCxn id="59" idx="0"/>
            </p:cNvCxnSpPr>
            <p:nvPr/>
          </p:nvCxnSpPr>
          <p:spPr>
            <a:xfrm>
              <a:off x="9347924" y="5396992"/>
              <a:ext cx="0" cy="66356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013683DF-12E6-0593-1F90-6E018709A87D}"/>
                </a:ext>
              </a:extLst>
            </p:cNvPr>
            <p:cNvCxnSpPr>
              <a:cxnSpLocks/>
              <a:stCxn id="59" idx="4"/>
              <a:endCxn id="55" idx="0"/>
            </p:cNvCxnSpPr>
            <p:nvPr/>
          </p:nvCxnSpPr>
          <p:spPr>
            <a:xfrm>
              <a:off x="9347924" y="6580745"/>
              <a:ext cx="19686" cy="66356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B115612-43FD-12EE-6E95-3685BD77DE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08019" y="5136896"/>
              <a:ext cx="732061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EFB761A-01D1-58D7-C843-017E7C72FC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57202" y="5136896"/>
              <a:ext cx="732061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0551F41-8FA5-99BA-C63F-33C3736B2D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27707" y="7489998"/>
              <a:ext cx="732061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AD6172B-CA8B-A14B-A320-C20A61EDA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57202" y="7489998"/>
              <a:ext cx="732061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64B52DE-0DE8-09AE-E623-7400B181F034}"/>
                </a:ext>
              </a:extLst>
            </p:cNvPr>
            <p:cNvCxnSpPr>
              <a:cxnSpLocks/>
            </p:cNvCxnSpPr>
            <p:nvPr/>
          </p:nvCxnSpPr>
          <p:spPr>
            <a:xfrm>
              <a:off x="10597288" y="6580745"/>
              <a:ext cx="0" cy="66356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8569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50651-365F-8B89-01E7-0A95B2D8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4E4F11-3687-47BD-5925-08D4C2B2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Planning on UMD Graph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15A3E-55BF-0E74-DFDF-0FB7DEAFE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78" y="2596444"/>
            <a:ext cx="8003371" cy="6188570"/>
          </a:xfrm>
        </p:spPr>
        <p:txBody>
          <a:bodyPr>
            <a:normAutofit/>
          </a:bodyPr>
          <a:lstStyle/>
          <a:p>
            <a:r>
              <a:rPr lang="en-US" dirty="0"/>
              <a:t>S: </a:t>
            </a:r>
            <a:r>
              <a:rPr lang="en-US" dirty="0">
                <a:effectLst/>
              </a:rPr>
              <a:t>14, 13, 19, 21, 18, 19, 25, 27, 28, 26</a:t>
            </a:r>
          </a:p>
          <a:p>
            <a:r>
              <a:rPr lang="en-US" dirty="0"/>
              <a:t>V: </a:t>
            </a:r>
            <a:r>
              <a:rPr lang="en-US" dirty="0">
                <a:effectLst/>
              </a:rPr>
              <a:t>1, 2, 3, 4, 5, 6, 7, 8, 9, 10, 11, 12, 13, 15, 14, 16, 17, 20, 21, 22, 23, 24, 25, 34, 35</a:t>
            </a:r>
          </a:p>
        </p:txBody>
      </p:sp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DFD75464-7CBE-4FB2-164B-25B8640A2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7449" y="0"/>
            <a:ext cx="3303821" cy="97536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5A549CD-CFF8-11A1-93D4-5EBB002E13B1}"/>
              </a:ext>
            </a:extLst>
          </p:cNvPr>
          <p:cNvGrpSpPr/>
          <p:nvPr/>
        </p:nvGrpSpPr>
        <p:grpSpPr>
          <a:xfrm>
            <a:off x="145335" y="4669971"/>
            <a:ext cx="8752114" cy="4898572"/>
            <a:chOff x="0" y="2511380"/>
            <a:chExt cx="13012228" cy="6991849"/>
          </a:xfrm>
        </p:grpSpPr>
        <p:pic>
          <p:nvPicPr>
            <p:cNvPr id="6" name="Picture 5" descr="A map of a city&#10;&#10;AI-generated content may be incorrect.">
              <a:extLst>
                <a:ext uri="{FF2B5EF4-FFF2-40B4-BE49-F238E27FC236}">
                  <a16:creationId xmlns:a16="http://schemas.microsoft.com/office/drawing/2014/main" id="{1F73CC56-9C34-CD35-0A56-DD13DB0F1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801"/>
            <a:stretch/>
          </p:blipFill>
          <p:spPr>
            <a:xfrm>
              <a:off x="0" y="2511380"/>
              <a:ext cx="13012228" cy="6991849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D1F5278-4B9D-AD73-7758-466E500735B4}"/>
                </a:ext>
              </a:extLst>
            </p:cNvPr>
            <p:cNvSpPr/>
            <p:nvPr/>
          </p:nvSpPr>
          <p:spPr>
            <a:xfrm>
              <a:off x="1189000" y="8148656"/>
              <a:ext cx="273713" cy="263771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0FC867D-A1F7-2E5B-5761-A06F4C3CA322}"/>
                </a:ext>
              </a:extLst>
            </p:cNvPr>
            <p:cNvSpPr/>
            <p:nvPr/>
          </p:nvSpPr>
          <p:spPr>
            <a:xfrm>
              <a:off x="1141201" y="7324186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E219282-36B2-20B8-A691-4D688636DFFF}"/>
                </a:ext>
              </a:extLst>
            </p:cNvPr>
            <p:cNvSpPr/>
            <p:nvPr/>
          </p:nvSpPr>
          <p:spPr>
            <a:xfrm>
              <a:off x="2528344" y="7231101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04461F1-8D11-C80E-9D6F-B8797A816C63}"/>
                </a:ext>
              </a:extLst>
            </p:cNvPr>
            <p:cNvSpPr/>
            <p:nvPr/>
          </p:nvSpPr>
          <p:spPr>
            <a:xfrm>
              <a:off x="6803001" y="7158570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DAF21A-B88C-320E-7282-32842642ACE4}"/>
                </a:ext>
              </a:extLst>
            </p:cNvPr>
            <p:cNvSpPr/>
            <p:nvPr/>
          </p:nvSpPr>
          <p:spPr>
            <a:xfrm>
              <a:off x="1195744" y="9119256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84A7A56-A760-A54C-7A8E-6944DCFCBC51}"/>
                </a:ext>
              </a:extLst>
            </p:cNvPr>
            <p:cNvSpPr/>
            <p:nvPr/>
          </p:nvSpPr>
          <p:spPr>
            <a:xfrm>
              <a:off x="2528344" y="9139770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3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3AC120-AE52-5F02-E446-AAC592F3A9CE}"/>
                </a:ext>
              </a:extLst>
            </p:cNvPr>
            <p:cNvSpPr/>
            <p:nvPr/>
          </p:nvSpPr>
          <p:spPr>
            <a:xfrm>
              <a:off x="3986571" y="9145506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4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FC7FFCB-D825-D3C1-D8D4-DFA37053B679}"/>
                </a:ext>
              </a:extLst>
            </p:cNvPr>
            <p:cNvSpPr/>
            <p:nvPr/>
          </p:nvSpPr>
          <p:spPr>
            <a:xfrm>
              <a:off x="5708572" y="9139769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5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85E7953-7895-FE73-8F93-3F226E7395EE}"/>
                </a:ext>
              </a:extLst>
            </p:cNvPr>
            <p:cNvSpPr/>
            <p:nvPr/>
          </p:nvSpPr>
          <p:spPr>
            <a:xfrm>
              <a:off x="5708571" y="7231100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D1D3D52-7108-15FC-022B-FC9F2B0B5E72}"/>
                </a:ext>
              </a:extLst>
            </p:cNvPr>
            <p:cNvSpPr/>
            <p:nvPr/>
          </p:nvSpPr>
          <p:spPr>
            <a:xfrm>
              <a:off x="7268354" y="7340320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7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6042E72-2CA4-DA43-6616-9AE4996B58D3}"/>
                </a:ext>
              </a:extLst>
            </p:cNvPr>
            <p:cNvSpPr/>
            <p:nvPr/>
          </p:nvSpPr>
          <p:spPr>
            <a:xfrm>
              <a:off x="6803001" y="5345723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166D0AF-E62E-F8B7-D4A4-7423C28EDF54}"/>
                </a:ext>
              </a:extLst>
            </p:cNvPr>
            <p:cNvSpPr/>
            <p:nvPr/>
          </p:nvSpPr>
          <p:spPr>
            <a:xfrm>
              <a:off x="8764343" y="4998412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56C151E-1621-B27B-281D-8CBAF4EC7B69}"/>
                </a:ext>
              </a:extLst>
            </p:cNvPr>
            <p:cNvSpPr/>
            <p:nvPr/>
          </p:nvSpPr>
          <p:spPr>
            <a:xfrm>
              <a:off x="6597750" y="4422412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52CDF6D-5ADB-ADAC-DC59-3A2D914014C6}"/>
                </a:ext>
              </a:extLst>
            </p:cNvPr>
            <p:cNvSpPr/>
            <p:nvPr/>
          </p:nvSpPr>
          <p:spPr>
            <a:xfrm>
              <a:off x="12567279" y="3118349"/>
              <a:ext cx="273713" cy="26377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3CDD7DF-6AAA-721D-F5E6-31E3B1247EA7}"/>
                </a:ext>
              </a:extLst>
            </p:cNvPr>
            <p:cNvSpPr/>
            <p:nvPr/>
          </p:nvSpPr>
          <p:spPr>
            <a:xfrm>
              <a:off x="3934050" y="5379450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EE92502-DACA-D74C-4232-F08B03608D3B}"/>
                </a:ext>
              </a:extLst>
            </p:cNvPr>
            <p:cNvSpPr/>
            <p:nvPr/>
          </p:nvSpPr>
          <p:spPr>
            <a:xfrm>
              <a:off x="3955458" y="6254510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D9A025B-487C-C981-CF96-4D378E3AB8B7}"/>
                </a:ext>
              </a:extLst>
            </p:cNvPr>
            <p:cNvSpPr/>
            <p:nvPr/>
          </p:nvSpPr>
          <p:spPr>
            <a:xfrm>
              <a:off x="3355011" y="6894799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9AA570E-253D-EDB9-3F1D-318D783F7039}"/>
                </a:ext>
              </a:extLst>
            </p:cNvPr>
            <p:cNvSpPr/>
            <p:nvPr/>
          </p:nvSpPr>
          <p:spPr>
            <a:xfrm>
              <a:off x="6529288" y="2741450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DFCB900-D050-86C7-A71E-D2ED62F053A7}"/>
                </a:ext>
              </a:extLst>
            </p:cNvPr>
            <p:cNvSpPr/>
            <p:nvPr/>
          </p:nvSpPr>
          <p:spPr>
            <a:xfrm>
              <a:off x="8743228" y="4451839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F3F384A-9475-B267-4E75-D57ABFEC7E93}"/>
                </a:ext>
              </a:extLst>
            </p:cNvPr>
            <p:cNvSpPr/>
            <p:nvPr/>
          </p:nvSpPr>
          <p:spPr>
            <a:xfrm>
              <a:off x="9564139" y="3511035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1B08BAB-35F9-0068-635E-048B9F87DA76}"/>
                </a:ext>
              </a:extLst>
            </p:cNvPr>
            <p:cNvSpPr/>
            <p:nvPr/>
          </p:nvSpPr>
          <p:spPr>
            <a:xfrm>
              <a:off x="11151326" y="3479472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1DAB109-F263-D958-5D7C-927E9C9BCDC3}"/>
                </a:ext>
              </a:extLst>
            </p:cNvPr>
            <p:cNvSpPr/>
            <p:nvPr/>
          </p:nvSpPr>
          <p:spPr>
            <a:xfrm>
              <a:off x="12110720" y="3571945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968ABD2-6AC5-A034-142F-9831BFC34626}"/>
                </a:ext>
              </a:extLst>
            </p:cNvPr>
            <p:cNvSpPr/>
            <p:nvPr/>
          </p:nvSpPr>
          <p:spPr>
            <a:xfrm>
              <a:off x="11837007" y="3164415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DC4E287-9DF2-F751-D6A4-47E4F216326F}"/>
                </a:ext>
              </a:extLst>
            </p:cNvPr>
            <p:cNvSpPr/>
            <p:nvPr/>
          </p:nvSpPr>
          <p:spPr>
            <a:xfrm>
              <a:off x="7822859" y="4451839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87F37FD-D026-753D-B944-12B46EC36ABB}"/>
                </a:ext>
              </a:extLst>
            </p:cNvPr>
            <p:cNvSpPr/>
            <p:nvPr/>
          </p:nvSpPr>
          <p:spPr>
            <a:xfrm>
              <a:off x="8096572" y="3032529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FCCFAE2-0CB0-9495-C438-660E2A3A9248}"/>
                </a:ext>
              </a:extLst>
            </p:cNvPr>
            <p:cNvSpPr/>
            <p:nvPr/>
          </p:nvSpPr>
          <p:spPr>
            <a:xfrm>
              <a:off x="9837852" y="7457273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8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C36D7CF-8151-9FEE-DD5E-971633121A50}"/>
                </a:ext>
              </a:extLst>
            </p:cNvPr>
            <p:cNvSpPr/>
            <p:nvPr/>
          </p:nvSpPr>
          <p:spPr>
            <a:xfrm>
              <a:off x="10551186" y="7158569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9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CEFC276-8CF3-8EDF-49CD-C909F580821C}"/>
                </a:ext>
              </a:extLst>
            </p:cNvPr>
            <p:cNvSpPr/>
            <p:nvPr/>
          </p:nvSpPr>
          <p:spPr>
            <a:xfrm>
              <a:off x="11502725" y="7604091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05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B632996-3E16-B964-49A6-F3ABCAE89F9F}"/>
                </a:ext>
              </a:extLst>
            </p:cNvPr>
            <p:cNvSpPr/>
            <p:nvPr/>
          </p:nvSpPr>
          <p:spPr>
            <a:xfrm>
              <a:off x="9224761" y="2609564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3E2AC07-7842-0434-65D4-F8C46B5DFAE3}"/>
                </a:ext>
              </a:extLst>
            </p:cNvPr>
            <p:cNvSpPr/>
            <p:nvPr/>
          </p:nvSpPr>
          <p:spPr>
            <a:xfrm>
              <a:off x="10414329" y="2810118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6D7E4BD-536F-AA7D-297A-8796BEA9257F}"/>
                </a:ext>
              </a:extLst>
            </p:cNvPr>
            <p:cNvSpPr/>
            <p:nvPr/>
          </p:nvSpPr>
          <p:spPr>
            <a:xfrm>
              <a:off x="11714284" y="2741450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1085388-6350-8F89-BEE7-81ECC07F07D4}"/>
                </a:ext>
              </a:extLst>
            </p:cNvPr>
            <p:cNvSpPr/>
            <p:nvPr/>
          </p:nvSpPr>
          <p:spPr>
            <a:xfrm>
              <a:off x="1667358" y="6278614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142CAF3-A6F2-8957-BCA8-F7647806D600}"/>
                </a:ext>
              </a:extLst>
            </p:cNvPr>
            <p:cNvSpPr/>
            <p:nvPr/>
          </p:nvSpPr>
          <p:spPr>
            <a:xfrm>
              <a:off x="1570771" y="5430156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DBE171D-C4E7-197A-4A06-377BFD43F86F}"/>
                </a:ext>
              </a:extLst>
            </p:cNvPr>
            <p:cNvSpPr/>
            <p:nvPr/>
          </p:nvSpPr>
          <p:spPr>
            <a:xfrm>
              <a:off x="1707627" y="7026684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29919DE-9162-4576-39C3-38C0B0BE271A}"/>
                </a:ext>
              </a:extLst>
            </p:cNvPr>
            <p:cNvCxnSpPr>
              <a:stCxn id="7" idx="0"/>
              <a:endCxn id="8" idx="4"/>
            </p:cNvCxnSpPr>
            <p:nvPr/>
          </p:nvCxnSpPr>
          <p:spPr>
            <a:xfrm flipH="1" flipV="1">
              <a:off x="1278058" y="7587957"/>
              <a:ext cx="47799" cy="5606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3B7748D-50B1-8618-BBE4-F05889C93E6F}"/>
                </a:ext>
              </a:extLst>
            </p:cNvPr>
            <p:cNvCxnSpPr>
              <a:cxnSpLocks/>
              <a:stCxn id="11" idx="0"/>
              <a:endCxn id="7" idx="4"/>
            </p:cNvCxnSpPr>
            <p:nvPr/>
          </p:nvCxnSpPr>
          <p:spPr>
            <a:xfrm flipH="1" flipV="1">
              <a:off x="1325857" y="8412427"/>
              <a:ext cx="6744" cy="70682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739F5BE-22C9-D3E4-1EA8-766306A8BC0D}"/>
                </a:ext>
              </a:extLst>
            </p:cNvPr>
            <p:cNvCxnSpPr>
              <a:cxnSpLocks/>
              <a:stCxn id="40" idx="2"/>
              <a:endCxn id="8" idx="7"/>
            </p:cNvCxnSpPr>
            <p:nvPr/>
          </p:nvCxnSpPr>
          <p:spPr>
            <a:xfrm flipH="1">
              <a:off x="1374830" y="7158570"/>
              <a:ext cx="332797" cy="20424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326049B-CE77-A5E7-1484-C4F0CDF6F3D1}"/>
                </a:ext>
              </a:extLst>
            </p:cNvPr>
            <p:cNvCxnSpPr>
              <a:cxnSpLocks/>
              <a:stCxn id="40" idx="0"/>
              <a:endCxn id="38" idx="4"/>
            </p:cNvCxnSpPr>
            <p:nvPr/>
          </p:nvCxnSpPr>
          <p:spPr>
            <a:xfrm flipH="1" flipV="1">
              <a:off x="1804215" y="6542385"/>
              <a:ext cx="40269" cy="4842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02E87F1-979C-CB46-D415-91AE71D53615}"/>
                </a:ext>
              </a:extLst>
            </p:cNvPr>
            <p:cNvCxnSpPr>
              <a:cxnSpLocks/>
              <a:stCxn id="12" idx="2"/>
              <a:endCxn id="11" idx="6"/>
            </p:cNvCxnSpPr>
            <p:nvPr/>
          </p:nvCxnSpPr>
          <p:spPr>
            <a:xfrm flipH="1" flipV="1">
              <a:off x="1469457" y="9251142"/>
              <a:ext cx="1058887" cy="2051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917B2CC-A143-275F-A372-9A0246328C55}"/>
                </a:ext>
              </a:extLst>
            </p:cNvPr>
            <p:cNvCxnSpPr>
              <a:cxnSpLocks/>
              <a:stCxn id="13" idx="2"/>
              <a:endCxn id="12" idx="6"/>
            </p:cNvCxnSpPr>
            <p:nvPr/>
          </p:nvCxnSpPr>
          <p:spPr>
            <a:xfrm flipH="1" flipV="1">
              <a:off x="2802057" y="9271656"/>
              <a:ext cx="1184514" cy="573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09E21DB-CA15-DE5A-EC4C-5A5BD348471B}"/>
                </a:ext>
              </a:extLst>
            </p:cNvPr>
            <p:cNvCxnSpPr>
              <a:cxnSpLocks/>
              <a:stCxn id="12" idx="0"/>
              <a:endCxn id="9" idx="4"/>
            </p:cNvCxnSpPr>
            <p:nvPr/>
          </p:nvCxnSpPr>
          <p:spPr>
            <a:xfrm flipV="1">
              <a:off x="2665201" y="7494872"/>
              <a:ext cx="0" cy="164489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620A92A-ACC5-3C6A-D5EA-34BD831417CD}"/>
                </a:ext>
              </a:extLst>
            </p:cNvPr>
            <p:cNvCxnSpPr>
              <a:cxnSpLocks/>
              <a:stCxn id="23" idx="2"/>
              <a:endCxn id="9" idx="6"/>
            </p:cNvCxnSpPr>
            <p:nvPr/>
          </p:nvCxnSpPr>
          <p:spPr>
            <a:xfrm flipH="1">
              <a:off x="2802057" y="7026685"/>
              <a:ext cx="552954" cy="33630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8B8E547-F083-6D1E-9831-89F244C4506B}"/>
                </a:ext>
              </a:extLst>
            </p:cNvPr>
            <p:cNvCxnSpPr>
              <a:cxnSpLocks/>
              <a:stCxn id="9" idx="2"/>
              <a:endCxn id="40" idx="6"/>
            </p:cNvCxnSpPr>
            <p:nvPr/>
          </p:nvCxnSpPr>
          <p:spPr>
            <a:xfrm flipH="1" flipV="1">
              <a:off x="1981340" y="7158570"/>
              <a:ext cx="547004" cy="20441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6A113FE-3281-2AB3-FDCA-D337595A9401}"/>
                </a:ext>
              </a:extLst>
            </p:cNvPr>
            <p:cNvCxnSpPr>
              <a:cxnSpLocks/>
              <a:stCxn id="22" idx="4"/>
              <a:endCxn id="13" idx="0"/>
            </p:cNvCxnSpPr>
            <p:nvPr/>
          </p:nvCxnSpPr>
          <p:spPr>
            <a:xfrm>
              <a:off x="4092315" y="6518281"/>
              <a:ext cx="31113" cy="262722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742868F-046D-8813-D073-FD99809343C0}"/>
                </a:ext>
              </a:extLst>
            </p:cNvPr>
            <p:cNvCxnSpPr>
              <a:cxnSpLocks/>
              <a:stCxn id="23" idx="7"/>
              <a:endCxn id="22" idx="3"/>
            </p:cNvCxnSpPr>
            <p:nvPr/>
          </p:nvCxnSpPr>
          <p:spPr>
            <a:xfrm flipV="1">
              <a:off x="3588640" y="6479653"/>
              <a:ext cx="406902" cy="45377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43A17041-F024-BBF4-6BB4-F69352C10567}"/>
                </a:ext>
              </a:extLst>
            </p:cNvPr>
            <p:cNvCxnSpPr>
              <a:cxnSpLocks/>
              <a:stCxn id="39" idx="4"/>
              <a:endCxn id="38" idx="0"/>
            </p:cNvCxnSpPr>
            <p:nvPr/>
          </p:nvCxnSpPr>
          <p:spPr>
            <a:xfrm>
              <a:off x="1707628" y="5693927"/>
              <a:ext cx="96587" cy="58468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3936C75-ADC2-B65B-DA35-45C685639D41}"/>
                </a:ext>
              </a:extLst>
            </p:cNvPr>
            <p:cNvCxnSpPr>
              <a:cxnSpLocks/>
              <a:stCxn id="39" idx="6"/>
              <a:endCxn id="21" idx="2"/>
            </p:cNvCxnSpPr>
            <p:nvPr/>
          </p:nvCxnSpPr>
          <p:spPr>
            <a:xfrm flipV="1">
              <a:off x="1844484" y="5511336"/>
              <a:ext cx="2089566" cy="5070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497E229-737B-4D0F-BCE4-059A2626ABF9}"/>
                </a:ext>
              </a:extLst>
            </p:cNvPr>
            <p:cNvCxnSpPr>
              <a:cxnSpLocks/>
              <a:stCxn id="22" idx="0"/>
              <a:endCxn id="21" idx="4"/>
            </p:cNvCxnSpPr>
            <p:nvPr/>
          </p:nvCxnSpPr>
          <p:spPr>
            <a:xfrm flipH="1" flipV="1">
              <a:off x="4070907" y="5643221"/>
              <a:ext cx="21408" cy="61128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AFF43A5-83FC-A53B-6A1B-AC0E3E6E00EA}"/>
                </a:ext>
              </a:extLst>
            </p:cNvPr>
            <p:cNvCxnSpPr>
              <a:cxnSpLocks/>
              <a:stCxn id="21" idx="6"/>
              <a:endCxn id="17" idx="2"/>
            </p:cNvCxnSpPr>
            <p:nvPr/>
          </p:nvCxnSpPr>
          <p:spPr>
            <a:xfrm flipV="1">
              <a:off x="4207763" y="5477609"/>
              <a:ext cx="2595238" cy="3372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6FD13F6-D7AD-B693-ECB4-F3B6CA792FE6}"/>
                </a:ext>
              </a:extLst>
            </p:cNvPr>
            <p:cNvCxnSpPr>
              <a:cxnSpLocks/>
              <a:stCxn id="16" idx="0"/>
              <a:endCxn id="17" idx="5"/>
            </p:cNvCxnSpPr>
            <p:nvPr/>
          </p:nvCxnSpPr>
          <p:spPr>
            <a:xfrm flipH="1" flipV="1">
              <a:off x="7036630" y="5570866"/>
              <a:ext cx="368581" cy="176945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74FDBCC-6C40-EBAE-B3EB-8AE03B272A67}"/>
                </a:ext>
              </a:extLst>
            </p:cNvPr>
            <p:cNvCxnSpPr>
              <a:cxnSpLocks/>
              <a:stCxn id="10" idx="6"/>
              <a:endCxn id="16" idx="1"/>
            </p:cNvCxnSpPr>
            <p:nvPr/>
          </p:nvCxnSpPr>
          <p:spPr>
            <a:xfrm>
              <a:off x="7076714" y="7290456"/>
              <a:ext cx="231724" cy="8849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AC6909F-307E-DD5D-A34F-8BCB704A3B75}"/>
                </a:ext>
              </a:extLst>
            </p:cNvPr>
            <p:cNvCxnSpPr>
              <a:cxnSpLocks/>
              <a:stCxn id="15" idx="6"/>
              <a:endCxn id="10" idx="2"/>
            </p:cNvCxnSpPr>
            <p:nvPr/>
          </p:nvCxnSpPr>
          <p:spPr>
            <a:xfrm flipV="1">
              <a:off x="5982284" y="7290456"/>
              <a:ext cx="820717" cy="7253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86E897E-03CB-8F3B-4350-B2D34A437ACE}"/>
                </a:ext>
              </a:extLst>
            </p:cNvPr>
            <p:cNvCxnSpPr>
              <a:cxnSpLocks/>
              <a:stCxn id="9" idx="6"/>
              <a:endCxn id="15" idx="2"/>
            </p:cNvCxnSpPr>
            <p:nvPr/>
          </p:nvCxnSpPr>
          <p:spPr>
            <a:xfrm flipV="1">
              <a:off x="2802057" y="7362986"/>
              <a:ext cx="2906514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4C43DD0-D58E-E9FE-AF5F-ECBFA5E53722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 flipV="1">
              <a:off x="4260284" y="9271655"/>
              <a:ext cx="1448288" cy="57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289FD1E-E6AD-B2BF-2362-CD73533209FA}"/>
                </a:ext>
              </a:extLst>
            </p:cNvPr>
            <p:cNvCxnSpPr>
              <a:cxnSpLocks/>
              <a:stCxn id="32" idx="1"/>
            </p:cNvCxnSpPr>
            <p:nvPr/>
          </p:nvCxnSpPr>
          <p:spPr>
            <a:xfrm flipH="1" flipV="1">
              <a:off x="7542067" y="7456071"/>
              <a:ext cx="2335869" cy="3983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A990C8C-3953-8553-0812-D8A3FC76298B}"/>
                </a:ext>
              </a:extLst>
            </p:cNvPr>
            <p:cNvCxnSpPr>
              <a:cxnSpLocks/>
              <a:stCxn id="33" idx="2"/>
              <a:endCxn id="32" idx="7"/>
            </p:cNvCxnSpPr>
            <p:nvPr/>
          </p:nvCxnSpPr>
          <p:spPr>
            <a:xfrm flipH="1">
              <a:off x="10071481" y="7290455"/>
              <a:ext cx="479705" cy="20544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BC3CE16-5305-EB86-3621-B02F1E1F42EF}"/>
                </a:ext>
              </a:extLst>
            </p:cNvPr>
            <p:cNvCxnSpPr>
              <a:cxnSpLocks/>
              <a:stCxn id="33" idx="6"/>
              <a:endCxn id="34" idx="1"/>
            </p:cNvCxnSpPr>
            <p:nvPr/>
          </p:nvCxnSpPr>
          <p:spPr>
            <a:xfrm>
              <a:off x="10824899" y="7290455"/>
              <a:ext cx="717910" cy="35226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DFB23B4-E123-7DD4-6A02-291ECD4C1F70}"/>
                </a:ext>
              </a:extLst>
            </p:cNvPr>
            <p:cNvSpPr/>
            <p:nvPr/>
          </p:nvSpPr>
          <p:spPr>
            <a:xfrm>
              <a:off x="7277825" y="9119256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6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04FD289-C3F4-CAFC-44D5-72DBFBBED31C}"/>
                </a:ext>
              </a:extLst>
            </p:cNvPr>
            <p:cNvCxnSpPr>
              <a:cxnSpLocks/>
              <a:stCxn id="64" idx="2"/>
              <a:endCxn id="14" idx="6"/>
            </p:cNvCxnSpPr>
            <p:nvPr/>
          </p:nvCxnSpPr>
          <p:spPr>
            <a:xfrm flipH="1">
              <a:off x="5982285" y="9251142"/>
              <a:ext cx="1295540" cy="2051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0CC0B2F-79AA-BD8A-7104-CA544AD84EC3}"/>
                </a:ext>
              </a:extLst>
            </p:cNvPr>
            <p:cNvCxnSpPr>
              <a:cxnSpLocks/>
              <a:stCxn id="64" idx="0"/>
              <a:endCxn id="16" idx="4"/>
            </p:cNvCxnSpPr>
            <p:nvPr/>
          </p:nvCxnSpPr>
          <p:spPr>
            <a:xfrm flipH="1" flipV="1">
              <a:off x="7405211" y="7604091"/>
              <a:ext cx="9471" cy="151516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B8C049A-FA2F-C57E-54E6-177D41DC0BB5}"/>
                </a:ext>
              </a:extLst>
            </p:cNvPr>
            <p:cNvCxnSpPr>
              <a:cxnSpLocks/>
              <a:stCxn id="17" idx="0"/>
              <a:endCxn id="19" idx="4"/>
            </p:cNvCxnSpPr>
            <p:nvPr/>
          </p:nvCxnSpPr>
          <p:spPr>
            <a:xfrm flipH="1" flipV="1">
              <a:off x="6734607" y="4686183"/>
              <a:ext cx="205251" cy="6595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EEF1BA8-DC7C-2D01-13DB-E4B4EC6951F0}"/>
                </a:ext>
              </a:extLst>
            </p:cNvPr>
            <p:cNvCxnSpPr>
              <a:cxnSpLocks/>
              <a:stCxn id="30" idx="2"/>
              <a:endCxn id="19" idx="6"/>
            </p:cNvCxnSpPr>
            <p:nvPr/>
          </p:nvCxnSpPr>
          <p:spPr>
            <a:xfrm flipH="1" flipV="1">
              <a:off x="6871463" y="4554298"/>
              <a:ext cx="951396" cy="2942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50090AC-5548-2D31-C610-2439626E1DA8}"/>
                </a:ext>
              </a:extLst>
            </p:cNvPr>
            <p:cNvCxnSpPr>
              <a:cxnSpLocks/>
              <a:stCxn id="30" idx="6"/>
              <a:endCxn id="25" idx="2"/>
            </p:cNvCxnSpPr>
            <p:nvPr/>
          </p:nvCxnSpPr>
          <p:spPr>
            <a:xfrm>
              <a:off x="8096572" y="4583725"/>
              <a:ext cx="64665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0B53E25-0E2A-4C74-2E6C-8169575AEE6E}"/>
                </a:ext>
              </a:extLst>
            </p:cNvPr>
            <p:cNvCxnSpPr>
              <a:cxnSpLocks/>
              <a:stCxn id="18" idx="0"/>
              <a:endCxn id="25" idx="4"/>
            </p:cNvCxnSpPr>
            <p:nvPr/>
          </p:nvCxnSpPr>
          <p:spPr>
            <a:xfrm flipH="1" flipV="1">
              <a:off x="8880085" y="4715610"/>
              <a:ext cx="21115" cy="28280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5DE1911-E6AE-5D4F-FDC9-C35BB956EDA3}"/>
                </a:ext>
              </a:extLst>
            </p:cNvPr>
            <p:cNvCxnSpPr>
              <a:cxnSpLocks/>
              <a:stCxn id="25" idx="7"/>
              <a:endCxn id="26" idx="3"/>
            </p:cNvCxnSpPr>
            <p:nvPr/>
          </p:nvCxnSpPr>
          <p:spPr>
            <a:xfrm flipV="1">
              <a:off x="8976857" y="3736178"/>
              <a:ext cx="627366" cy="75428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A42188F-D15E-AF7B-71B5-8A590303B6D4}"/>
                </a:ext>
              </a:extLst>
            </p:cNvPr>
            <p:cNvCxnSpPr>
              <a:cxnSpLocks/>
              <a:stCxn id="18" idx="7"/>
              <a:endCxn id="28" idx="3"/>
            </p:cNvCxnSpPr>
            <p:nvPr/>
          </p:nvCxnSpPr>
          <p:spPr>
            <a:xfrm flipV="1">
              <a:off x="8997972" y="3797088"/>
              <a:ext cx="3152832" cy="12399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F6ED396-DC3E-C6EB-B8A9-15E07BEC4B1F}"/>
                </a:ext>
              </a:extLst>
            </p:cNvPr>
            <p:cNvCxnSpPr>
              <a:cxnSpLocks/>
              <a:stCxn id="28" idx="7"/>
              <a:endCxn id="20" idx="3"/>
            </p:cNvCxnSpPr>
            <p:nvPr/>
          </p:nvCxnSpPr>
          <p:spPr>
            <a:xfrm flipV="1">
              <a:off x="12344349" y="3343492"/>
              <a:ext cx="263014" cy="26708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EF9B0FD-5221-4099-7B3D-5C6302D8BF0F}"/>
                </a:ext>
              </a:extLst>
            </p:cNvPr>
            <p:cNvCxnSpPr>
              <a:cxnSpLocks/>
              <a:stCxn id="28" idx="1"/>
              <a:endCxn id="29" idx="5"/>
            </p:cNvCxnSpPr>
            <p:nvPr/>
          </p:nvCxnSpPr>
          <p:spPr>
            <a:xfrm flipH="1" flipV="1">
              <a:off x="12070636" y="3389558"/>
              <a:ext cx="80168" cy="22101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2DAE91E-1BE0-9A6B-BADD-B23B952D7FAC}"/>
                </a:ext>
              </a:extLst>
            </p:cNvPr>
            <p:cNvCxnSpPr>
              <a:cxnSpLocks/>
              <a:stCxn id="29" idx="0"/>
              <a:endCxn id="37" idx="5"/>
            </p:cNvCxnSpPr>
            <p:nvPr/>
          </p:nvCxnSpPr>
          <p:spPr>
            <a:xfrm flipH="1" flipV="1">
              <a:off x="11947913" y="2966593"/>
              <a:ext cx="25951" cy="19782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74BBDB5-C24F-37DC-B10F-AA87B94D9623}"/>
                </a:ext>
              </a:extLst>
            </p:cNvPr>
            <p:cNvCxnSpPr>
              <a:cxnSpLocks/>
              <a:stCxn id="37" idx="2"/>
              <a:endCxn id="36" idx="6"/>
            </p:cNvCxnSpPr>
            <p:nvPr/>
          </p:nvCxnSpPr>
          <p:spPr>
            <a:xfrm flipH="1">
              <a:off x="10688042" y="2873336"/>
              <a:ext cx="1026242" cy="6866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FC1D884-97EA-7A2D-49A7-D6998B15263C}"/>
                </a:ext>
              </a:extLst>
            </p:cNvPr>
            <p:cNvCxnSpPr>
              <a:cxnSpLocks/>
              <a:stCxn id="29" idx="3"/>
              <a:endCxn id="27" idx="6"/>
            </p:cNvCxnSpPr>
            <p:nvPr/>
          </p:nvCxnSpPr>
          <p:spPr>
            <a:xfrm flipH="1">
              <a:off x="11425039" y="3389558"/>
              <a:ext cx="452052" cy="2218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FCEF808-AD37-90C1-1136-B6CCF79B6998}"/>
                </a:ext>
              </a:extLst>
            </p:cNvPr>
            <p:cNvCxnSpPr>
              <a:cxnSpLocks/>
              <a:stCxn id="27" idx="2"/>
              <a:endCxn id="26" idx="6"/>
            </p:cNvCxnSpPr>
            <p:nvPr/>
          </p:nvCxnSpPr>
          <p:spPr>
            <a:xfrm flipH="1">
              <a:off x="9837852" y="3611358"/>
              <a:ext cx="1313474" cy="3156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4DC46AE-A757-6947-8A89-A80855CF66BE}"/>
                </a:ext>
              </a:extLst>
            </p:cNvPr>
            <p:cNvCxnSpPr>
              <a:cxnSpLocks/>
              <a:stCxn id="36" idx="2"/>
              <a:endCxn id="35" idx="5"/>
            </p:cNvCxnSpPr>
            <p:nvPr/>
          </p:nvCxnSpPr>
          <p:spPr>
            <a:xfrm flipH="1" flipV="1">
              <a:off x="9458390" y="2834707"/>
              <a:ext cx="955939" cy="10729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686EFB0-D323-9F01-614C-9236BD335413}"/>
                </a:ext>
              </a:extLst>
            </p:cNvPr>
            <p:cNvCxnSpPr>
              <a:cxnSpLocks/>
              <a:stCxn id="35" idx="2"/>
              <a:endCxn id="31" idx="7"/>
            </p:cNvCxnSpPr>
            <p:nvPr/>
          </p:nvCxnSpPr>
          <p:spPr>
            <a:xfrm flipH="1">
              <a:off x="8330201" y="2741450"/>
              <a:ext cx="894560" cy="32970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461FDC4-F460-7009-EB3E-5877F4DCFAA7}"/>
                </a:ext>
              </a:extLst>
            </p:cNvPr>
            <p:cNvCxnSpPr>
              <a:cxnSpLocks/>
              <a:stCxn id="30" idx="0"/>
              <a:endCxn id="31" idx="4"/>
            </p:cNvCxnSpPr>
            <p:nvPr/>
          </p:nvCxnSpPr>
          <p:spPr>
            <a:xfrm flipV="1">
              <a:off x="7959716" y="3296300"/>
              <a:ext cx="273713" cy="11555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2E645FA-C29C-5603-0E3D-C9CA4D45546C}"/>
                </a:ext>
              </a:extLst>
            </p:cNvPr>
            <p:cNvCxnSpPr>
              <a:cxnSpLocks/>
              <a:stCxn id="19" idx="0"/>
              <a:endCxn id="24" idx="4"/>
            </p:cNvCxnSpPr>
            <p:nvPr/>
          </p:nvCxnSpPr>
          <p:spPr>
            <a:xfrm flipH="1" flipV="1">
              <a:off x="6666145" y="3005221"/>
              <a:ext cx="68462" cy="141719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AE15D67-C2BB-D7FE-6BF6-D413B04AA71D}"/>
                </a:ext>
              </a:extLst>
            </p:cNvPr>
            <p:cNvCxnSpPr>
              <a:cxnSpLocks/>
              <a:stCxn id="31" idx="1"/>
              <a:endCxn id="24" idx="6"/>
            </p:cNvCxnSpPr>
            <p:nvPr/>
          </p:nvCxnSpPr>
          <p:spPr>
            <a:xfrm flipH="1" flipV="1">
              <a:off x="6803001" y="2873336"/>
              <a:ext cx="1333655" cy="19782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707B606-8A08-BF5B-EB9B-D4D03F3CE7CB}"/>
                </a:ext>
              </a:extLst>
            </p:cNvPr>
            <p:cNvSpPr txBox="1"/>
            <p:nvPr/>
          </p:nvSpPr>
          <p:spPr>
            <a:xfrm>
              <a:off x="11469892" y="7613117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10</a:t>
              </a:r>
              <a:endParaRPr lang="en-US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AF13072-A83F-9561-C68A-DAE8D0FACEBD}"/>
                </a:ext>
              </a:extLst>
            </p:cNvPr>
            <p:cNvSpPr txBox="1"/>
            <p:nvPr/>
          </p:nvSpPr>
          <p:spPr>
            <a:xfrm>
              <a:off x="6771967" y="7160730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11</a:t>
              </a:r>
              <a:endParaRPr lang="en-US" b="1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D18DB20-21FE-5F6E-6158-97CACDCAE69C}"/>
                </a:ext>
              </a:extLst>
            </p:cNvPr>
            <p:cNvSpPr txBox="1"/>
            <p:nvPr/>
          </p:nvSpPr>
          <p:spPr>
            <a:xfrm>
              <a:off x="5681903" y="7219334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12</a:t>
              </a:r>
              <a:endParaRPr lang="en-US" b="1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40844A4-33E8-3135-83FE-06BA95BD8704}"/>
                </a:ext>
              </a:extLst>
            </p:cNvPr>
            <p:cNvSpPr txBox="1"/>
            <p:nvPr/>
          </p:nvSpPr>
          <p:spPr>
            <a:xfrm>
              <a:off x="2504574" y="7231100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13</a:t>
              </a:r>
              <a:endParaRPr lang="en-US" b="1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B33385A-9CA5-73BD-35F4-5322310F01F3}"/>
                </a:ext>
              </a:extLst>
            </p:cNvPr>
            <p:cNvSpPr txBox="1"/>
            <p:nvPr/>
          </p:nvSpPr>
          <p:spPr>
            <a:xfrm>
              <a:off x="1104352" y="7325266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14</a:t>
              </a:r>
              <a:endParaRPr lang="en-US" b="1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F063877-CD6E-A3F3-64F3-8149E79F8C1B}"/>
                </a:ext>
              </a:extLst>
            </p:cNvPr>
            <p:cNvSpPr txBox="1"/>
            <p:nvPr/>
          </p:nvSpPr>
          <p:spPr>
            <a:xfrm>
              <a:off x="1674795" y="7036342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15</a:t>
              </a:r>
              <a:endParaRPr lang="en-US" b="1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2E369FC-D3E6-8D4F-9A1E-13AE0D46FAC3}"/>
                </a:ext>
              </a:extLst>
            </p:cNvPr>
            <p:cNvSpPr txBox="1"/>
            <p:nvPr/>
          </p:nvSpPr>
          <p:spPr>
            <a:xfrm>
              <a:off x="1641962" y="6281220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16</a:t>
              </a:r>
              <a:endParaRPr lang="en-US" b="1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36250A2-213A-1493-6ED9-B237D0D766A0}"/>
                </a:ext>
              </a:extLst>
            </p:cNvPr>
            <p:cNvSpPr txBox="1"/>
            <p:nvPr/>
          </p:nvSpPr>
          <p:spPr>
            <a:xfrm>
              <a:off x="1547296" y="5430156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17</a:t>
              </a:r>
              <a:endParaRPr lang="en-US" b="1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7B8057C-15B2-E1CA-6200-31BCB63BCFF1}"/>
                </a:ext>
              </a:extLst>
            </p:cNvPr>
            <p:cNvSpPr txBox="1"/>
            <p:nvPr/>
          </p:nvSpPr>
          <p:spPr>
            <a:xfrm>
              <a:off x="3322179" y="6886596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18</a:t>
              </a:r>
              <a:endParaRPr lang="en-US" b="1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A389F04-03AD-3F85-23C2-39CEF9488531}"/>
                </a:ext>
              </a:extLst>
            </p:cNvPr>
            <p:cNvSpPr txBox="1"/>
            <p:nvPr/>
          </p:nvSpPr>
          <p:spPr>
            <a:xfrm>
              <a:off x="3938182" y="6265766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19</a:t>
              </a:r>
              <a:endParaRPr lang="en-US" b="1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916B0D3-EEA7-C3D4-1688-68A61B861753}"/>
                </a:ext>
              </a:extLst>
            </p:cNvPr>
            <p:cNvSpPr txBox="1"/>
            <p:nvPr/>
          </p:nvSpPr>
          <p:spPr>
            <a:xfrm>
              <a:off x="3911922" y="5390492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20</a:t>
              </a:r>
              <a:endParaRPr lang="en-US" b="1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082207C-888E-9787-9E73-A1D456FD695B}"/>
                </a:ext>
              </a:extLst>
            </p:cNvPr>
            <p:cNvSpPr txBox="1"/>
            <p:nvPr/>
          </p:nvSpPr>
          <p:spPr>
            <a:xfrm>
              <a:off x="6781587" y="5363304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21</a:t>
              </a:r>
              <a:endParaRPr lang="en-US" b="1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15F15F1-455D-3FDA-EC94-45E560BEEBBB}"/>
                </a:ext>
              </a:extLst>
            </p:cNvPr>
            <p:cNvSpPr txBox="1"/>
            <p:nvPr/>
          </p:nvSpPr>
          <p:spPr>
            <a:xfrm>
              <a:off x="8719639" y="4464596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24</a:t>
              </a:r>
              <a:endParaRPr lang="en-US" b="1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5CE5694-583D-5534-CCC5-0BEE3081BF5E}"/>
                </a:ext>
              </a:extLst>
            </p:cNvPr>
            <p:cNvSpPr txBox="1"/>
            <p:nvPr/>
          </p:nvSpPr>
          <p:spPr>
            <a:xfrm>
              <a:off x="8743228" y="5003896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25</a:t>
              </a:r>
              <a:endParaRPr lang="en-US" b="1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2A8928B-ACC6-B03E-9C87-43E83089F208}"/>
                </a:ext>
              </a:extLst>
            </p:cNvPr>
            <p:cNvSpPr txBox="1"/>
            <p:nvPr/>
          </p:nvSpPr>
          <p:spPr>
            <a:xfrm>
              <a:off x="9540244" y="3509461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26</a:t>
              </a:r>
              <a:endParaRPr lang="en-US" b="1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B9F1ADD-BD54-9523-43FC-0F0A18EA1A73}"/>
                </a:ext>
              </a:extLst>
            </p:cNvPr>
            <p:cNvSpPr txBox="1"/>
            <p:nvPr/>
          </p:nvSpPr>
          <p:spPr>
            <a:xfrm>
              <a:off x="6496455" y="2755070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27</a:t>
              </a:r>
              <a:endParaRPr lang="en-US" b="1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26DE655-FB9C-0F07-352B-59959011463A}"/>
                </a:ext>
              </a:extLst>
            </p:cNvPr>
            <p:cNvSpPr txBox="1"/>
            <p:nvPr/>
          </p:nvSpPr>
          <p:spPr>
            <a:xfrm>
              <a:off x="8063739" y="3030014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28</a:t>
              </a:r>
              <a:endParaRPr lang="en-US" b="1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929512C0-0D30-7801-EDDC-962BE0DA03A2}"/>
                </a:ext>
              </a:extLst>
            </p:cNvPr>
            <p:cNvSpPr txBox="1"/>
            <p:nvPr/>
          </p:nvSpPr>
          <p:spPr>
            <a:xfrm>
              <a:off x="7792790" y="4450892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23</a:t>
              </a:r>
              <a:endParaRPr lang="en-US" b="1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980E255-FAC3-7AE3-D5D4-A00CD2B02290}"/>
                </a:ext>
              </a:extLst>
            </p:cNvPr>
            <p:cNvSpPr txBox="1"/>
            <p:nvPr/>
          </p:nvSpPr>
          <p:spPr>
            <a:xfrm>
              <a:off x="6564918" y="4437677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22</a:t>
              </a:r>
              <a:endParaRPr lang="en-US" b="1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79B7857-2F10-FA64-F91E-45BDC73905AC}"/>
                </a:ext>
              </a:extLst>
            </p:cNvPr>
            <p:cNvSpPr txBox="1"/>
            <p:nvPr/>
          </p:nvSpPr>
          <p:spPr>
            <a:xfrm>
              <a:off x="9200787" y="2612741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29</a:t>
              </a:r>
              <a:endParaRPr lang="en-US" b="1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CF90670-4D52-0ED1-B1E0-A5A2076953A2}"/>
                </a:ext>
              </a:extLst>
            </p:cNvPr>
            <p:cNvSpPr txBox="1"/>
            <p:nvPr/>
          </p:nvSpPr>
          <p:spPr>
            <a:xfrm>
              <a:off x="10393034" y="2816307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30</a:t>
              </a:r>
              <a:endParaRPr lang="en-US" b="1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67D2774-A7D6-D82F-B308-4A844C480A17}"/>
                </a:ext>
              </a:extLst>
            </p:cNvPr>
            <p:cNvSpPr txBox="1"/>
            <p:nvPr/>
          </p:nvSpPr>
          <p:spPr>
            <a:xfrm>
              <a:off x="11707402" y="2742530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31</a:t>
              </a:r>
              <a:endParaRPr lang="en-US" b="1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E5B78A6-1E7A-4140-2155-61F1EA482C6E}"/>
                </a:ext>
              </a:extLst>
            </p:cNvPr>
            <p:cNvSpPr txBox="1"/>
            <p:nvPr/>
          </p:nvSpPr>
          <p:spPr>
            <a:xfrm>
              <a:off x="11818308" y="3165888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32</a:t>
              </a:r>
              <a:endParaRPr lang="en-US" b="1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DC956981-889E-C1B5-A443-608E3084CA36}"/>
                </a:ext>
              </a:extLst>
            </p:cNvPr>
            <p:cNvSpPr txBox="1"/>
            <p:nvPr/>
          </p:nvSpPr>
          <p:spPr>
            <a:xfrm>
              <a:off x="11127025" y="3474568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33</a:t>
              </a:r>
              <a:endParaRPr lang="en-US" b="1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31AC541-EDB4-7599-E688-C2936C64388F}"/>
                </a:ext>
              </a:extLst>
            </p:cNvPr>
            <p:cNvSpPr txBox="1"/>
            <p:nvPr/>
          </p:nvSpPr>
          <p:spPr>
            <a:xfrm>
              <a:off x="12100413" y="3575592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34</a:t>
              </a:r>
              <a:endParaRPr lang="en-US" b="1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07DCFEA-23C3-A6E5-B76D-7ECEB04C8D87}"/>
                </a:ext>
              </a:extLst>
            </p:cNvPr>
            <p:cNvSpPr txBox="1"/>
            <p:nvPr/>
          </p:nvSpPr>
          <p:spPr>
            <a:xfrm>
              <a:off x="12534446" y="3127948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bg1"/>
                  </a:solidFill>
                </a:rPr>
                <a:t>35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3AAE313-A42D-45E1-F490-FEF392E73F4E}"/>
                </a:ext>
              </a:extLst>
            </p:cNvPr>
            <p:cNvCxnSpPr>
              <a:cxnSpLocks/>
              <a:stCxn id="95" idx="3"/>
              <a:endCxn id="97" idx="1"/>
            </p:cNvCxnSpPr>
            <p:nvPr/>
          </p:nvCxnSpPr>
          <p:spPr>
            <a:xfrm flipV="1">
              <a:off x="7120965" y="5134701"/>
              <a:ext cx="1622263" cy="3594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931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5CE48-C73D-01D9-29EA-7A653C6C2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55F2B-78BC-8738-982B-483FE5EDA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Previously, we talked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B642D-570B-A132-5BC8-248EBB41D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DFS to find a path on a graph.</a:t>
            </a:r>
            <a:br>
              <a:rPr lang="en-US" dirty="0"/>
            </a:br>
            <a:endParaRPr lang="en-US" dirty="0"/>
          </a:p>
          <a:p>
            <a:r>
              <a:rPr lang="en-US" dirty="0"/>
              <a:t>Using BFS to find a path on a graph.</a:t>
            </a:r>
          </a:p>
        </p:txBody>
      </p:sp>
    </p:spTree>
    <p:extLst>
      <p:ext uri="{BB962C8B-B14F-4D97-AF65-F5344CB8AC3E}">
        <p14:creationId xmlns:p14="http://schemas.microsoft.com/office/powerpoint/2010/main" val="2089302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356DA-83DF-56A2-C8A4-C2EAECE84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C2EDEE-3F8D-0C4A-31B5-2785A15C5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Planning on Simple Graph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584A2-0A1F-29B9-2CAF-988BC4390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78" y="2596444"/>
            <a:ext cx="8380551" cy="61885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Compare the path in the tree to the visited order… </a:t>
            </a:r>
            <a:r>
              <a:rPr lang="en-US" b="1" dirty="0">
                <a:solidFill>
                  <a:srgbClr val="FF0000"/>
                </a:solidFill>
              </a:rPr>
              <a:t>they are NOT the same!</a:t>
            </a:r>
            <a:endParaRPr lang="en-US" dirty="0"/>
          </a:p>
          <a:p>
            <a:endParaRPr lang="en-US" dirty="0"/>
          </a:p>
          <a:p>
            <a:r>
              <a:rPr lang="en-US" dirty="0"/>
              <a:t>Path (according to the tree): 5 </a:t>
            </a:r>
            <a:r>
              <a:rPr lang="en-US" dirty="0">
                <a:sym typeface="Wingdings" pitchFamily="2" charset="2"/>
              </a:rPr>
              <a:t> 4  3  2  9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(We get the path via </a:t>
            </a:r>
            <a:r>
              <a:rPr lang="en-US" i="1" dirty="0"/>
              <a:t>backtracking from 9 to 5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Q: </a:t>
            </a:r>
          </a:p>
          <a:p>
            <a:r>
              <a:rPr lang="en-US" dirty="0"/>
              <a:t>V: </a:t>
            </a:r>
            <a:r>
              <a:rPr lang="en-US" dirty="0">
                <a:effectLst/>
              </a:rPr>
              <a:t>5, 4, 6, 3, 1, 7, 2, 8, 9</a:t>
            </a:r>
            <a:endParaRPr lang="en-US" dirty="0"/>
          </a:p>
        </p:txBody>
      </p:sp>
      <p:sp>
        <p:nvSpPr>
          <p:cNvPr id="51" name="Content Placeholder 3">
            <a:extLst>
              <a:ext uri="{FF2B5EF4-FFF2-40B4-BE49-F238E27FC236}">
                <a16:creationId xmlns:a16="http://schemas.microsoft.com/office/drawing/2014/main" id="{24FF764C-F308-7940-DFAC-CD08A64256E9}"/>
              </a:ext>
            </a:extLst>
          </p:cNvPr>
          <p:cNvSpPr txBox="1">
            <a:spLocks/>
          </p:cNvSpPr>
          <p:nvPr/>
        </p:nvSpPr>
        <p:spPr>
          <a:xfrm>
            <a:off x="8897449" y="6429868"/>
            <a:ext cx="3803108" cy="2355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3848" indent="-243848" algn="l" defTabSz="975390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29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4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38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93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62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32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001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71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410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C927CE-E58B-80BD-3402-14C479F17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620" y="519290"/>
            <a:ext cx="2197100" cy="45847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9307B4C-2FB4-1A75-ED2D-5214FA5FBE90}"/>
              </a:ext>
            </a:extLst>
          </p:cNvPr>
          <p:cNvGrpSpPr/>
          <p:nvPr/>
        </p:nvGrpSpPr>
        <p:grpSpPr>
          <a:xfrm>
            <a:off x="9476146" y="6346611"/>
            <a:ext cx="3022893" cy="2887699"/>
            <a:chOff x="9087828" y="4876800"/>
            <a:chExt cx="3022893" cy="288769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A8D8444-821C-8ED4-84A9-9DF88556D11F}"/>
                </a:ext>
              </a:extLst>
            </p:cNvPr>
            <p:cNvGrpSpPr/>
            <p:nvPr/>
          </p:nvGrpSpPr>
          <p:grpSpPr>
            <a:xfrm>
              <a:off x="9107514" y="7244307"/>
              <a:ext cx="3003206" cy="520192"/>
              <a:chOff x="1767841" y="4394201"/>
              <a:chExt cx="2815506" cy="487680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B2E623C-F1BF-65C8-5DB5-5CD207BAEF45}"/>
                  </a:ext>
                </a:extLst>
              </p:cNvPr>
              <p:cNvSpPr/>
              <p:nvPr/>
            </p:nvSpPr>
            <p:spPr>
              <a:xfrm>
                <a:off x="4095667" y="4394201"/>
                <a:ext cx="487680" cy="48768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75390" hangingPunct="1">
                  <a:spcBef>
                    <a:spcPts val="0"/>
                  </a:spcBef>
                </a:pPr>
                <a:r>
                  <a:rPr lang="en-US" sz="1920" kern="1200" dirty="0">
                    <a:solidFill>
                      <a:prstClr val="black"/>
                    </a:solidFill>
                    <a:latin typeface="Roboto"/>
                  </a:rPr>
                  <a:t>3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5E38364-D2DB-C4F3-6CB4-C36D7AA0538E}"/>
                  </a:ext>
                </a:extLst>
              </p:cNvPr>
              <p:cNvSpPr/>
              <p:nvPr/>
            </p:nvSpPr>
            <p:spPr>
              <a:xfrm>
                <a:off x="2923372" y="4394201"/>
                <a:ext cx="487680" cy="48768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75390" hangingPunct="1">
                  <a:spcBef>
                    <a:spcPts val="0"/>
                  </a:spcBef>
                </a:pPr>
                <a:r>
                  <a:rPr lang="en-US" sz="1920" kern="1200" dirty="0">
                    <a:solidFill>
                      <a:prstClr val="black"/>
                    </a:solidFill>
                    <a:latin typeface="Roboto"/>
                  </a:rPr>
                  <a:t>4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1722D33-FF94-A0F0-3548-21E609E0BAEC}"/>
                  </a:ext>
                </a:extLst>
              </p:cNvPr>
              <p:cNvSpPr/>
              <p:nvPr/>
            </p:nvSpPr>
            <p:spPr>
              <a:xfrm>
                <a:off x="1767841" y="4394201"/>
                <a:ext cx="487680" cy="487680"/>
              </a:xfrm>
              <a:prstGeom prst="ellipse">
                <a:avLst/>
              </a:prstGeom>
              <a:solidFill>
                <a:srgbClr val="C0000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75390" hangingPunct="1">
                  <a:spcBef>
                    <a:spcPts val="0"/>
                  </a:spcBef>
                </a:pPr>
                <a:r>
                  <a:rPr lang="en-US" sz="1920" kern="1200" dirty="0">
                    <a:solidFill>
                      <a:schemeClr val="bg1"/>
                    </a:solidFill>
                    <a:latin typeface="Roboto"/>
                  </a:rPr>
                  <a:t>5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08526B0-1621-72F4-ECA0-1EFA9FCCD413}"/>
                </a:ext>
              </a:extLst>
            </p:cNvPr>
            <p:cNvGrpSpPr/>
            <p:nvPr/>
          </p:nvGrpSpPr>
          <p:grpSpPr>
            <a:xfrm>
              <a:off x="9087828" y="6060553"/>
              <a:ext cx="3022893" cy="520192"/>
              <a:chOff x="1749385" y="3284432"/>
              <a:chExt cx="2833962" cy="48768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51FD026-3F56-324A-DE57-D17222AAF002}"/>
                  </a:ext>
                </a:extLst>
              </p:cNvPr>
              <p:cNvSpPr/>
              <p:nvPr/>
            </p:nvSpPr>
            <p:spPr>
              <a:xfrm>
                <a:off x="2923372" y="3284432"/>
                <a:ext cx="487680" cy="48768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75390" hangingPunct="1">
                  <a:spcBef>
                    <a:spcPts val="0"/>
                  </a:spcBef>
                </a:pPr>
                <a:r>
                  <a:rPr lang="en-US" sz="1920" kern="1200" dirty="0">
                    <a:solidFill>
                      <a:prstClr val="black"/>
                    </a:solidFill>
                    <a:latin typeface="Roboto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C4D75F4-BA85-6494-F880-EFDCC6112BDA}"/>
                  </a:ext>
                </a:extLst>
              </p:cNvPr>
              <p:cNvSpPr/>
              <p:nvPr/>
            </p:nvSpPr>
            <p:spPr>
              <a:xfrm>
                <a:off x="4095667" y="3284432"/>
                <a:ext cx="487680" cy="48768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75390" hangingPunct="1">
                  <a:spcBef>
                    <a:spcPts val="0"/>
                  </a:spcBef>
                </a:pPr>
                <a:r>
                  <a:rPr lang="en-US" sz="1920" kern="1200" dirty="0">
                    <a:solidFill>
                      <a:prstClr val="black"/>
                    </a:solidFill>
                    <a:latin typeface="Roboto"/>
                  </a:rPr>
                  <a:t>2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E3EA03B-D56D-472F-EC48-6FFC34797EC9}"/>
                  </a:ext>
                </a:extLst>
              </p:cNvPr>
              <p:cNvSpPr/>
              <p:nvPr/>
            </p:nvSpPr>
            <p:spPr>
              <a:xfrm>
                <a:off x="1749385" y="3284432"/>
                <a:ext cx="487680" cy="48768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75390" hangingPunct="1">
                  <a:spcBef>
                    <a:spcPts val="0"/>
                  </a:spcBef>
                </a:pPr>
                <a:r>
                  <a:rPr lang="en-US" sz="1920" kern="1200" dirty="0">
                    <a:solidFill>
                      <a:prstClr val="black"/>
                    </a:solidFill>
                    <a:latin typeface="Roboto"/>
                  </a:rPr>
                  <a:t>6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AD14768-25D0-F7EA-B894-D57D77D23A3A}"/>
                </a:ext>
              </a:extLst>
            </p:cNvPr>
            <p:cNvSpPr/>
            <p:nvPr/>
          </p:nvSpPr>
          <p:spPr>
            <a:xfrm>
              <a:off x="9087828" y="4876800"/>
              <a:ext cx="520192" cy="52019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920" kern="1200" dirty="0">
                  <a:solidFill>
                    <a:prstClr val="black"/>
                  </a:solidFill>
                  <a:latin typeface="Roboto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7E14E49-D80B-8A81-D86B-0263681D93BF}"/>
                </a:ext>
              </a:extLst>
            </p:cNvPr>
            <p:cNvSpPr/>
            <p:nvPr/>
          </p:nvSpPr>
          <p:spPr>
            <a:xfrm>
              <a:off x="10340080" y="4876800"/>
              <a:ext cx="520192" cy="52019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920" kern="1200" dirty="0">
                  <a:solidFill>
                    <a:prstClr val="black"/>
                  </a:solidFill>
                  <a:latin typeface="Roboto"/>
                </a:rPr>
                <a:t>8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C0458D-771C-3244-5760-771B31530E37}"/>
                </a:ext>
              </a:extLst>
            </p:cNvPr>
            <p:cNvSpPr/>
            <p:nvPr/>
          </p:nvSpPr>
          <p:spPr>
            <a:xfrm>
              <a:off x="11590528" y="4876800"/>
              <a:ext cx="520192" cy="520192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920" kern="1200" dirty="0">
                  <a:solidFill>
                    <a:prstClr val="black"/>
                  </a:solidFill>
                  <a:latin typeface="Roboto"/>
                </a:rPr>
                <a:t>9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FEEB37A-58C1-12CD-2591-5B96846597C8}"/>
                </a:ext>
              </a:extLst>
            </p:cNvPr>
            <p:cNvCxnSpPr>
              <a:cxnSpLocks/>
              <a:stCxn id="9" idx="4"/>
              <a:endCxn id="23" idx="0"/>
            </p:cNvCxnSpPr>
            <p:nvPr/>
          </p:nvCxnSpPr>
          <p:spPr>
            <a:xfrm>
              <a:off x="10600176" y="5396992"/>
              <a:ext cx="0" cy="66356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D1921B9-DE31-79AF-5416-36C111B96BB6}"/>
                </a:ext>
              </a:extLst>
            </p:cNvPr>
            <p:cNvCxnSpPr>
              <a:cxnSpLocks/>
              <a:stCxn id="24" idx="2"/>
              <a:endCxn id="23" idx="6"/>
            </p:cNvCxnSpPr>
            <p:nvPr/>
          </p:nvCxnSpPr>
          <p:spPr>
            <a:xfrm flipH="1">
              <a:off x="10860273" y="6320649"/>
              <a:ext cx="730256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7FBFED8-6ECA-5895-CD58-CE7EC6AF7E7A}"/>
                </a:ext>
              </a:extLst>
            </p:cNvPr>
            <p:cNvCxnSpPr>
              <a:cxnSpLocks/>
              <a:stCxn id="23" idx="2"/>
              <a:endCxn id="25" idx="6"/>
            </p:cNvCxnSpPr>
            <p:nvPr/>
          </p:nvCxnSpPr>
          <p:spPr>
            <a:xfrm flipH="1">
              <a:off x="9608020" y="6320649"/>
              <a:ext cx="732061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253001-5D90-D691-DCFE-1FF82E7C750E}"/>
                </a:ext>
              </a:extLst>
            </p:cNvPr>
            <p:cNvCxnSpPr>
              <a:cxnSpLocks/>
              <a:stCxn id="10" idx="4"/>
              <a:endCxn id="24" idx="0"/>
            </p:cNvCxnSpPr>
            <p:nvPr/>
          </p:nvCxnSpPr>
          <p:spPr>
            <a:xfrm>
              <a:off x="11850624" y="5396992"/>
              <a:ext cx="0" cy="66356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61E7C10-1206-5930-A179-8B72CE3543B5}"/>
                </a:ext>
              </a:extLst>
            </p:cNvPr>
            <p:cNvCxnSpPr>
              <a:cxnSpLocks/>
              <a:stCxn id="24" idx="4"/>
              <a:endCxn id="26" idx="0"/>
            </p:cNvCxnSpPr>
            <p:nvPr/>
          </p:nvCxnSpPr>
          <p:spPr>
            <a:xfrm>
              <a:off x="11850624" y="6580745"/>
              <a:ext cx="0" cy="66356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366484B-02B4-A30B-5EEA-57104D1963AE}"/>
                </a:ext>
              </a:extLst>
            </p:cNvPr>
            <p:cNvCxnSpPr>
              <a:cxnSpLocks/>
              <a:stCxn id="8" idx="4"/>
              <a:endCxn id="25" idx="0"/>
            </p:cNvCxnSpPr>
            <p:nvPr/>
          </p:nvCxnSpPr>
          <p:spPr>
            <a:xfrm>
              <a:off x="9347924" y="5396992"/>
              <a:ext cx="0" cy="66356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E94AF4-5EF9-CD6E-3B93-71AE416231AE}"/>
                </a:ext>
              </a:extLst>
            </p:cNvPr>
            <p:cNvCxnSpPr>
              <a:cxnSpLocks/>
              <a:stCxn id="25" idx="4"/>
              <a:endCxn id="28" idx="0"/>
            </p:cNvCxnSpPr>
            <p:nvPr/>
          </p:nvCxnSpPr>
          <p:spPr>
            <a:xfrm>
              <a:off x="9347924" y="6580745"/>
              <a:ext cx="19686" cy="66356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3C0BB5F-55C9-EEFF-742B-2ABCD04C65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08019" y="5136896"/>
              <a:ext cx="732061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1751284-A6D1-1B0A-31E6-65B828DDEB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57202" y="5136896"/>
              <a:ext cx="732061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B54C12A-27C9-F770-A0DC-8F661DF1DA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27707" y="7489998"/>
              <a:ext cx="732061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C9EC8C5-63EB-78C2-7DD3-7388036B99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57202" y="7489998"/>
              <a:ext cx="732061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6D3FDC3-7F2D-FE86-1C31-6A74853B03DF}"/>
                </a:ext>
              </a:extLst>
            </p:cNvPr>
            <p:cNvCxnSpPr>
              <a:cxnSpLocks/>
            </p:cNvCxnSpPr>
            <p:nvPr/>
          </p:nvCxnSpPr>
          <p:spPr>
            <a:xfrm>
              <a:off x="10597288" y="6580745"/>
              <a:ext cx="0" cy="663562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95683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26DC1-7157-16EB-EA7B-4BB2C2215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64A035-8407-EFE8-B424-E69670780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Planning on UMD Graph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3BBDC-E442-7E23-710D-A77BD7A20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78" y="2596444"/>
            <a:ext cx="8003371" cy="6188570"/>
          </a:xfrm>
        </p:spPr>
        <p:txBody>
          <a:bodyPr>
            <a:normAutofit/>
          </a:bodyPr>
          <a:lstStyle/>
          <a:p>
            <a:r>
              <a:rPr lang="en-US" dirty="0"/>
              <a:t>Q: </a:t>
            </a:r>
            <a:r>
              <a:rPr lang="en-US" dirty="0">
                <a:effectLst/>
              </a:rPr>
              <a:t>29, 33</a:t>
            </a:r>
          </a:p>
          <a:p>
            <a:r>
              <a:rPr lang="en-US" dirty="0"/>
              <a:t>V: </a:t>
            </a:r>
            <a:r>
              <a:rPr lang="en-US" dirty="0">
                <a:effectLst/>
              </a:rPr>
              <a:t>1, 2, 14, 3, 15, 4, 13, 16, 5, 19, 12, 18, 17, 6, 20, 11, 7, 21, 8, 22, 25, 9, 23, 27, 24, 34, 10, 28, 26, 35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33CE153-15F2-1D8B-2D05-94341B6C56E5}"/>
              </a:ext>
            </a:extLst>
          </p:cNvPr>
          <p:cNvGrpSpPr/>
          <p:nvPr/>
        </p:nvGrpSpPr>
        <p:grpSpPr>
          <a:xfrm>
            <a:off x="145335" y="4669971"/>
            <a:ext cx="8752114" cy="4898572"/>
            <a:chOff x="0" y="2511380"/>
            <a:chExt cx="13012228" cy="6991849"/>
          </a:xfrm>
        </p:grpSpPr>
        <p:pic>
          <p:nvPicPr>
            <p:cNvPr id="6" name="Picture 5" descr="A map of a city&#10;&#10;AI-generated content may be incorrect.">
              <a:extLst>
                <a:ext uri="{FF2B5EF4-FFF2-40B4-BE49-F238E27FC236}">
                  <a16:creationId xmlns:a16="http://schemas.microsoft.com/office/drawing/2014/main" id="{B57E4683-648B-FD0D-C26E-6FC932A01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801"/>
            <a:stretch/>
          </p:blipFill>
          <p:spPr>
            <a:xfrm>
              <a:off x="0" y="2511380"/>
              <a:ext cx="13012228" cy="6991849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6B2381F-121D-7BE6-38FE-77D4D57DDF38}"/>
                </a:ext>
              </a:extLst>
            </p:cNvPr>
            <p:cNvSpPr/>
            <p:nvPr/>
          </p:nvSpPr>
          <p:spPr>
            <a:xfrm>
              <a:off x="1189000" y="8148656"/>
              <a:ext cx="273713" cy="263771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CB25595-AA6E-B66C-82BF-A2D0F858708B}"/>
                </a:ext>
              </a:extLst>
            </p:cNvPr>
            <p:cNvSpPr/>
            <p:nvPr/>
          </p:nvSpPr>
          <p:spPr>
            <a:xfrm>
              <a:off x="1141201" y="7324186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A316385-BA08-F569-C80F-7AAD9AEFC1DE}"/>
                </a:ext>
              </a:extLst>
            </p:cNvPr>
            <p:cNvSpPr/>
            <p:nvPr/>
          </p:nvSpPr>
          <p:spPr>
            <a:xfrm>
              <a:off x="2528344" y="7231101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61E727C-5E60-24BF-C8FF-3587BF826F8B}"/>
                </a:ext>
              </a:extLst>
            </p:cNvPr>
            <p:cNvSpPr/>
            <p:nvPr/>
          </p:nvSpPr>
          <p:spPr>
            <a:xfrm>
              <a:off x="6803001" y="7158570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8057020-3F8E-A0D5-0CC1-AD9A9B40C84D}"/>
                </a:ext>
              </a:extLst>
            </p:cNvPr>
            <p:cNvSpPr/>
            <p:nvPr/>
          </p:nvSpPr>
          <p:spPr>
            <a:xfrm>
              <a:off x="1195744" y="9119256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CEB9DC7-B31D-6177-C231-6B7AFCB9D8E2}"/>
                </a:ext>
              </a:extLst>
            </p:cNvPr>
            <p:cNvSpPr/>
            <p:nvPr/>
          </p:nvSpPr>
          <p:spPr>
            <a:xfrm>
              <a:off x="2528344" y="9139770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3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78263DE-56C6-DA71-5F45-EF130D3931C2}"/>
                </a:ext>
              </a:extLst>
            </p:cNvPr>
            <p:cNvSpPr/>
            <p:nvPr/>
          </p:nvSpPr>
          <p:spPr>
            <a:xfrm>
              <a:off x="3986571" y="9145506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4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0FAE3C7-88C8-F6C1-8495-9E2952FA6916}"/>
                </a:ext>
              </a:extLst>
            </p:cNvPr>
            <p:cNvSpPr/>
            <p:nvPr/>
          </p:nvSpPr>
          <p:spPr>
            <a:xfrm>
              <a:off x="5708572" y="9139769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5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F28CBA8-0B03-1A6F-41CB-375F7D05F724}"/>
                </a:ext>
              </a:extLst>
            </p:cNvPr>
            <p:cNvSpPr/>
            <p:nvPr/>
          </p:nvSpPr>
          <p:spPr>
            <a:xfrm>
              <a:off x="5708571" y="7231100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416CA2F-B42B-6C49-F898-5119E5D74E7D}"/>
                </a:ext>
              </a:extLst>
            </p:cNvPr>
            <p:cNvSpPr/>
            <p:nvPr/>
          </p:nvSpPr>
          <p:spPr>
            <a:xfrm>
              <a:off x="7268354" y="7340320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7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D1B74AE-56D1-980D-B660-FAA8EF1D28D7}"/>
                </a:ext>
              </a:extLst>
            </p:cNvPr>
            <p:cNvSpPr/>
            <p:nvPr/>
          </p:nvSpPr>
          <p:spPr>
            <a:xfrm>
              <a:off x="6803001" y="5345723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9AF1FFA-B79F-5895-C4F9-91454480B989}"/>
                </a:ext>
              </a:extLst>
            </p:cNvPr>
            <p:cNvSpPr/>
            <p:nvPr/>
          </p:nvSpPr>
          <p:spPr>
            <a:xfrm>
              <a:off x="8764343" y="4998412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0A6A273-8295-BDD8-5CF3-A89425D99501}"/>
                </a:ext>
              </a:extLst>
            </p:cNvPr>
            <p:cNvSpPr/>
            <p:nvPr/>
          </p:nvSpPr>
          <p:spPr>
            <a:xfrm>
              <a:off x="6597750" y="4422412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D5DD157-3B69-98F2-1D69-97E22C3B68E6}"/>
                </a:ext>
              </a:extLst>
            </p:cNvPr>
            <p:cNvSpPr/>
            <p:nvPr/>
          </p:nvSpPr>
          <p:spPr>
            <a:xfrm>
              <a:off x="12567279" y="3118349"/>
              <a:ext cx="273713" cy="26377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4B6B9F1-48FE-2DA6-031E-9CCD16145548}"/>
                </a:ext>
              </a:extLst>
            </p:cNvPr>
            <p:cNvSpPr/>
            <p:nvPr/>
          </p:nvSpPr>
          <p:spPr>
            <a:xfrm>
              <a:off x="3934050" y="5379450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DAF06FE-87E7-E3EB-0994-AE233DD368AA}"/>
                </a:ext>
              </a:extLst>
            </p:cNvPr>
            <p:cNvSpPr/>
            <p:nvPr/>
          </p:nvSpPr>
          <p:spPr>
            <a:xfrm>
              <a:off x="3955458" y="6254510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2F5C25D-10B2-F7D4-B1CB-7F92121F8EB4}"/>
                </a:ext>
              </a:extLst>
            </p:cNvPr>
            <p:cNvSpPr/>
            <p:nvPr/>
          </p:nvSpPr>
          <p:spPr>
            <a:xfrm>
              <a:off x="3355011" y="6894799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D806F3C-AB1A-78E4-EE28-8B54FAAB78DC}"/>
                </a:ext>
              </a:extLst>
            </p:cNvPr>
            <p:cNvSpPr/>
            <p:nvPr/>
          </p:nvSpPr>
          <p:spPr>
            <a:xfrm>
              <a:off x="6529288" y="2741450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A39720A-151B-9D91-1B05-2D56489ADEDB}"/>
                </a:ext>
              </a:extLst>
            </p:cNvPr>
            <p:cNvSpPr/>
            <p:nvPr/>
          </p:nvSpPr>
          <p:spPr>
            <a:xfrm>
              <a:off x="8743228" y="4451839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39BD879-A53A-6D4C-9C5E-97C1DC2ED066}"/>
                </a:ext>
              </a:extLst>
            </p:cNvPr>
            <p:cNvSpPr/>
            <p:nvPr/>
          </p:nvSpPr>
          <p:spPr>
            <a:xfrm>
              <a:off x="9564139" y="3511035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2EB8E48-F7F1-CA0B-9CE3-8720A61554CD}"/>
                </a:ext>
              </a:extLst>
            </p:cNvPr>
            <p:cNvSpPr/>
            <p:nvPr/>
          </p:nvSpPr>
          <p:spPr>
            <a:xfrm>
              <a:off x="11151326" y="3479472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AA1CFAA-8D0C-EE60-2FB0-BBD51F0AC306}"/>
                </a:ext>
              </a:extLst>
            </p:cNvPr>
            <p:cNvSpPr/>
            <p:nvPr/>
          </p:nvSpPr>
          <p:spPr>
            <a:xfrm>
              <a:off x="12110720" y="3571945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6EFC2C9-196E-59A5-81A2-997CC2F36210}"/>
                </a:ext>
              </a:extLst>
            </p:cNvPr>
            <p:cNvSpPr/>
            <p:nvPr/>
          </p:nvSpPr>
          <p:spPr>
            <a:xfrm>
              <a:off x="11837007" y="3164415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55D1821-376F-592E-C85B-397639DD080B}"/>
                </a:ext>
              </a:extLst>
            </p:cNvPr>
            <p:cNvSpPr/>
            <p:nvPr/>
          </p:nvSpPr>
          <p:spPr>
            <a:xfrm>
              <a:off x="7822859" y="4451839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9E64817-4ADC-7375-45EC-445FEFB0E29B}"/>
                </a:ext>
              </a:extLst>
            </p:cNvPr>
            <p:cNvSpPr/>
            <p:nvPr/>
          </p:nvSpPr>
          <p:spPr>
            <a:xfrm>
              <a:off x="8096572" y="3032529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E4EC214-21EE-90A7-50AD-C94A6AF00744}"/>
                </a:ext>
              </a:extLst>
            </p:cNvPr>
            <p:cNvSpPr/>
            <p:nvPr/>
          </p:nvSpPr>
          <p:spPr>
            <a:xfrm>
              <a:off x="9837852" y="7457273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8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B78A2D7-56BC-4BF6-48A9-1D6A2133CCE2}"/>
                </a:ext>
              </a:extLst>
            </p:cNvPr>
            <p:cNvSpPr/>
            <p:nvPr/>
          </p:nvSpPr>
          <p:spPr>
            <a:xfrm>
              <a:off x="10551186" y="7158569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9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D0BEBF9-2C6D-99FE-53E1-5235F2BA1D74}"/>
                </a:ext>
              </a:extLst>
            </p:cNvPr>
            <p:cNvSpPr/>
            <p:nvPr/>
          </p:nvSpPr>
          <p:spPr>
            <a:xfrm>
              <a:off x="11502725" y="7604091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05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1ABC8BC-42E7-0B46-883B-7AF9B633F3BD}"/>
                </a:ext>
              </a:extLst>
            </p:cNvPr>
            <p:cNvSpPr/>
            <p:nvPr/>
          </p:nvSpPr>
          <p:spPr>
            <a:xfrm>
              <a:off x="9224761" y="2609564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6998917-9B88-B056-EC90-F5072B608452}"/>
                </a:ext>
              </a:extLst>
            </p:cNvPr>
            <p:cNvSpPr/>
            <p:nvPr/>
          </p:nvSpPr>
          <p:spPr>
            <a:xfrm>
              <a:off x="10414329" y="2810118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68A788B-C274-D20A-726F-9BCBB8BD424C}"/>
                </a:ext>
              </a:extLst>
            </p:cNvPr>
            <p:cNvSpPr/>
            <p:nvPr/>
          </p:nvSpPr>
          <p:spPr>
            <a:xfrm>
              <a:off x="11714284" y="2741450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CCB26E5-EC3B-9F84-509D-59CA0A3A41DC}"/>
                </a:ext>
              </a:extLst>
            </p:cNvPr>
            <p:cNvSpPr/>
            <p:nvPr/>
          </p:nvSpPr>
          <p:spPr>
            <a:xfrm>
              <a:off x="1667358" y="6278614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73E42D8-0538-745A-885C-AC25300AE99B}"/>
                </a:ext>
              </a:extLst>
            </p:cNvPr>
            <p:cNvSpPr/>
            <p:nvPr/>
          </p:nvSpPr>
          <p:spPr>
            <a:xfrm>
              <a:off x="1570771" y="5430156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1DE3683-8B3E-39B3-D18F-2896E5673E8F}"/>
                </a:ext>
              </a:extLst>
            </p:cNvPr>
            <p:cNvSpPr/>
            <p:nvPr/>
          </p:nvSpPr>
          <p:spPr>
            <a:xfrm>
              <a:off x="1707627" y="7026684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endParaRPr lang="en-US" sz="1100" kern="1200" dirty="0">
                <a:solidFill>
                  <a:prstClr val="black"/>
                </a:solidFill>
                <a:latin typeface="Roboto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B82C450-148A-97E0-9B59-8B42A380069D}"/>
                </a:ext>
              </a:extLst>
            </p:cNvPr>
            <p:cNvCxnSpPr>
              <a:stCxn id="7" idx="0"/>
              <a:endCxn id="8" idx="4"/>
            </p:cNvCxnSpPr>
            <p:nvPr/>
          </p:nvCxnSpPr>
          <p:spPr>
            <a:xfrm flipH="1" flipV="1">
              <a:off x="1278058" y="7587957"/>
              <a:ext cx="47799" cy="5606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B85BC80-AD46-A8C9-315B-1720000C9096}"/>
                </a:ext>
              </a:extLst>
            </p:cNvPr>
            <p:cNvCxnSpPr>
              <a:cxnSpLocks/>
              <a:stCxn id="11" idx="0"/>
              <a:endCxn id="7" idx="4"/>
            </p:cNvCxnSpPr>
            <p:nvPr/>
          </p:nvCxnSpPr>
          <p:spPr>
            <a:xfrm flipH="1" flipV="1">
              <a:off x="1325857" y="8412427"/>
              <a:ext cx="6744" cy="70682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3A31A8F-555B-F569-03F7-8F9FBD2551D0}"/>
                </a:ext>
              </a:extLst>
            </p:cNvPr>
            <p:cNvCxnSpPr>
              <a:cxnSpLocks/>
              <a:stCxn id="40" idx="2"/>
              <a:endCxn id="8" idx="7"/>
            </p:cNvCxnSpPr>
            <p:nvPr/>
          </p:nvCxnSpPr>
          <p:spPr>
            <a:xfrm flipH="1">
              <a:off x="1374830" y="7158570"/>
              <a:ext cx="332797" cy="20424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BFA5C21-8509-00D3-557B-5CB71759162E}"/>
                </a:ext>
              </a:extLst>
            </p:cNvPr>
            <p:cNvCxnSpPr>
              <a:cxnSpLocks/>
              <a:stCxn id="40" idx="0"/>
              <a:endCxn id="38" idx="4"/>
            </p:cNvCxnSpPr>
            <p:nvPr/>
          </p:nvCxnSpPr>
          <p:spPr>
            <a:xfrm flipH="1" flipV="1">
              <a:off x="1804215" y="6542385"/>
              <a:ext cx="40269" cy="4842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0A45B67-4882-76E4-5178-7305AECE59EF}"/>
                </a:ext>
              </a:extLst>
            </p:cNvPr>
            <p:cNvCxnSpPr>
              <a:cxnSpLocks/>
              <a:stCxn id="12" idx="2"/>
              <a:endCxn id="11" idx="6"/>
            </p:cNvCxnSpPr>
            <p:nvPr/>
          </p:nvCxnSpPr>
          <p:spPr>
            <a:xfrm flipH="1" flipV="1">
              <a:off x="1469457" y="9251142"/>
              <a:ext cx="1058887" cy="2051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09A0120-D284-98B4-41EC-BB9295CCF34E}"/>
                </a:ext>
              </a:extLst>
            </p:cNvPr>
            <p:cNvCxnSpPr>
              <a:cxnSpLocks/>
              <a:stCxn id="13" idx="2"/>
              <a:endCxn id="12" idx="6"/>
            </p:cNvCxnSpPr>
            <p:nvPr/>
          </p:nvCxnSpPr>
          <p:spPr>
            <a:xfrm flipH="1" flipV="1">
              <a:off x="2802057" y="9271656"/>
              <a:ext cx="1184514" cy="573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B3E79CA-21C5-6472-0D62-13990E61AF5F}"/>
                </a:ext>
              </a:extLst>
            </p:cNvPr>
            <p:cNvCxnSpPr>
              <a:cxnSpLocks/>
              <a:stCxn id="12" idx="0"/>
              <a:endCxn id="9" idx="4"/>
            </p:cNvCxnSpPr>
            <p:nvPr/>
          </p:nvCxnSpPr>
          <p:spPr>
            <a:xfrm flipV="1">
              <a:off x="2665201" y="7494872"/>
              <a:ext cx="0" cy="164489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53524D6-FE2A-108B-8059-B300A44D01DD}"/>
                </a:ext>
              </a:extLst>
            </p:cNvPr>
            <p:cNvCxnSpPr>
              <a:cxnSpLocks/>
              <a:stCxn id="23" idx="2"/>
              <a:endCxn id="9" idx="6"/>
            </p:cNvCxnSpPr>
            <p:nvPr/>
          </p:nvCxnSpPr>
          <p:spPr>
            <a:xfrm flipH="1">
              <a:off x="2802057" y="7026685"/>
              <a:ext cx="552954" cy="33630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E573BF1-DCA9-828A-FCEB-5FBA2A030E01}"/>
                </a:ext>
              </a:extLst>
            </p:cNvPr>
            <p:cNvCxnSpPr>
              <a:cxnSpLocks/>
              <a:stCxn id="9" idx="2"/>
              <a:endCxn id="40" idx="6"/>
            </p:cNvCxnSpPr>
            <p:nvPr/>
          </p:nvCxnSpPr>
          <p:spPr>
            <a:xfrm flipH="1" flipV="1">
              <a:off x="1981340" y="7158570"/>
              <a:ext cx="547004" cy="20441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A5F3CF3-E5E1-0BFC-C037-3E117060AE82}"/>
                </a:ext>
              </a:extLst>
            </p:cNvPr>
            <p:cNvCxnSpPr>
              <a:cxnSpLocks/>
              <a:stCxn id="22" idx="4"/>
              <a:endCxn id="13" idx="0"/>
            </p:cNvCxnSpPr>
            <p:nvPr/>
          </p:nvCxnSpPr>
          <p:spPr>
            <a:xfrm>
              <a:off x="4092315" y="6518281"/>
              <a:ext cx="31113" cy="262722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D345380-CE19-C249-511E-3BEC77B52722}"/>
                </a:ext>
              </a:extLst>
            </p:cNvPr>
            <p:cNvCxnSpPr>
              <a:cxnSpLocks/>
              <a:stCxn id="23" idx="7"/>
              <a:endCxn id="22" idx="3"/>
            </p:cNvCxnSpPr>
            <p:nvPr/>
          </p:nvCxnSpPr>
          <p:spPr>
            <a:xfrm flipV="1">
              <a:off x="3588640" y="6479653"/>
              <a:ext cx="406902" cy="45377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60C2653-9FF3-871E-A99F-5291FDC2DBB4}"/>
                </a:ext>
              </a:extLst>
            </p:cNvPr>
            <p:cNvCxnSpPr>
              <a:cxnSpLocks/>
              <a:stCxn id="39" idx="4"/>
              <a:endCxn id="38" idx="0"/>
            </p:cNvCxnSpPr>
            <p:nvPr/>
          </p:nvCxnSpPr>
          <p:spPr>
            <a:xfrm>
              <a:off x="1707628" y="5693927"/>
              <a:ext cx="96587" cy="58468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0C72CA5-2E85-40B3-A1F3-6248B98DCC89}"/>
                </a:ext>
              </a:extLst>
            </p:cNvPr>
            <p:cNvCxnSpPr>
              <a:cxnSpLocks/>
              <a:stCxn id="39" idx="6"/>
              <a:endCxn id="21" idx="2"/>
            </p:cNvCxnSpPr>
            <p:nvPr/>
          </p:nvCxnSpPr>
          <p:spPr>
            <a:xfrm flipV="1">
              <a:off x="1844484" y="5511336"/>
              <a:ext cx="2089566" cy="5070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F011480-0F10-B879-3B8F-59251EA54A4B}"/>
                </a:ext>
              </a:extLst>
            </p:cNvPr>
            <p:cNvCxnSpPr>
              <a:cxnSpLocks/>
              <a:stCxn id="22" idx="0"/>
              <a:endCxn id="21" idx="4"/>
            </p:cNvCxnSpPr>
            <p:nvPr/>
          </p:nvCxnSpPr>
          <p:spPr>
            <a:xfrm flipH="1" flipV="1">
              <a:off x="4070907" y="5643221"/>
              <a:ext cx="21408" cy="61128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C6ED832-AA03-431E-F2FA-1B966ECDC39D}"/>
                </a:ext>
              </a:extLst>
            </p:cNvPr>
            <p:cNvCxnSpPr>
              <a:cxnSpLocks/>
              <a:stCxn id="21" idx="6"/>
              <a:endCxn id="17" idx="2"/>
            </p:cNvCxnSpPr>
            <p:nvPr/>
          </p:nvCxnSpPr>
          <p:spPr>
            <a:xfrm flipV="1">
              <a:off x="4207763" y="5477609"/>
              <a:ext cx="2595238" cy="3372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28ADEC2-B9BD-C13D-4988-40650DE277A7}"/>
                </a:ext>
              </a:extLst>
            </p:cNvPr>
            <p:cNvCxnSpPr>
              <a:cxnSpLocks/>
              <a:stCxn id="16" idx="0"/>
              <a:endCxn id="17" idx="5"/>
            </p:cNvCxnSpPr>
            <p:nvPr/>
          </p:nvCxnSpPr>
          <p:spPr>
            <a:xfrm flipH="1" flipV="1">
              <a:off x="7036630" y="5570866"/>
              <a:ext cx="368581" cy="176945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8B582DC-7E79-CBE8-48B2-901A1183A2AF}"/>
                </a:ext>
              </a:extLst>
            </p:cNvPr>
            <p:cNvCxnSpPr>
              <a:cxnSpLocks/>
              <a:stCxn id="10" idx="6"/>
              <a:endCxn id="16" idx="1"/>
            </p:cNvCxnSpPr>
            <p:nvPr/>
          </p:nvCxnSpPr>
          <p:spPr>
            <a:xfrm>
              <a:off x="7076714" y="7290456"/>
              <a:ext cx="231724" cy="8849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6CAE2E2-0C74-C803-BAA8-93D5F0D71927}"/>
                </a:ext>
              </a:extLst>
            </p:cNvPr>
            <p:cNvCxnSpPr>
              <a:cxnSpLocks/>
              <a:stCxn id="15" idx="6"/>
              <a:endCxn id="10" idx="2"/>
            </p:cNvCxnSpPr>
            <p:nvPr/>
          </p:nvCxnSpPr>
          <p:spPr>
            <a:xfrm flipV="1">
              <a:off x="5982284" y="7290456"/>
              <a:ext cx="820717" cy="7253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C41D244-6032-8B2F-3FD2-EED2E22FDDAB}"/>
                </a:ext>
              </a:extLst>
            </p:cNvPr>
            <p:cNvCxnSpPr>
              <a:cxnSpLocks/>
              <a:stCxn id="9" idx="6"/>
              <a:endCxn id="15" idx="2"/>
            </p:cNvCxnSpPr>
            <p:nvPr/>
          </p:nvCxnSpPr>
          <p:spPr>
            <a:xfrm flipV="1">
              <a:off x="2802057" y="7362986"/>
              <a:ext cx="2906514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84D1B23-EEC0-6E00-3686-B89A26DD1A8F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 flipV="1">
              <a:off x="4260284" y="9271655"/>
              <a:ext cx="1448288" cy="573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8A81EF2-314C-9546-D858-1EC25040BD6D}"/>
                </a:ext>
              </a:extLst>
            </p:cNvPr>
            <p:cNvCxnSpPr>
              <a:cxnSpLocks/>
              <a:stCxn id="32" idx="1"/>
            </p:cNvCxnSpPr>
            <p:nvPr/>
          </p:nvCxnSpPr>
          <p:spPr>
            <a:xfrm flipH="1" flipV="1">
              <a:off x="7542067" y="7456071"/>
              <a:ext cx="2335869" cy="3983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B518E0C-8112-578A-ACBD-C41C72C17691}"/>
                </a:ext>
              </a:extLst>
            </p:cNvPr>
            <p:cNvCxnSpPr>
              <a:cxnSpLocks/>
              <a:stCxn id="33" idx="2"/>
              <a:endCxn id="32" idx="7"/>
            </p:cNvCxnSpPr>
            <p:nvPr/>
          </p:nvCxnSpPr>
          <p:spPr>
            <a:xfrm flipH="1">
              <a:off x="10071481" y="7290455"/>
              <a:ext cx="479705" cy="20544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299616B-7B9B-2FB3-7B31-D02E9D115C74}"/>
                </a:ext>
              </a:extLst>
            </p:cNvPr>
            <p:cNvCxnSpPr>
              <a:cxnSpLocks/>
              <a:stCxn id="33" idx="6"/>
              <a:endCxn id="34" idx="1"/>
            </p:cNvCxnSpPr>
            <p:nvPr/>
          </p:nvCxnSpPr>
          <p:spPr>
            <a:xfrm>
              <a:off x="10824899" y="7290455"/>
              <a:ext cx="717910" cy="35226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0002832-6FA4-7C5F-7B68-9D78A011DF4B}"/>
                </a:ext>
              </a:extLst>
            </p:cNvPr>
            <p:cNvSpPr/>
            <p:nvPr/>
          </p:nvSpPr>
          <p:spPr>
            <a:xfrm>
              <a:off x="7277825" y="9119256"/>
              <a:ext cx="273713" cy="26377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75390" hangingPunct="1">
                <a:spcBef>
                  <a:spcPts val="0"/>
                </a:spcBef>
              </a:pPr>
              <a:r>
                <a:rPr lang="en-US" sz="1100" kern="1200" dirty="0">
                  <a:solidFill>
                    <a:prstClr val="black"/>
                  </a:solidFill>
                  <a:latin typeface="Roboto"/>
                </a:rPr>
                <a:t>6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A99D2DE-F5CC-C30E-824F-9810F0F9EA5A}"/>
                </a:ext>
              </a:extLst>
            </p:cNvPr>
            <p:cNvCxnSpPr>
              <a:cxnSpLocks/>
              <a:stCxn id="64" idx="2"/>
              <a:endCxn id="14" idx="6"/>
            </p:cNvCxnSpPr>
            <p:nvPr/>
          </p:nvCxnSpPr>
          <p:spPr>
            <a:xfrm flipH="1">
              <a:off x="5982285" y="9251142"/>
              <a:ext cx="1295540" cy="2051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04C2773-92D2-3731-966D-D6EBEF0206D2}"/>
                </a:ext>
              </a:extLst>
            </p:cNvPr>
            <p:cNvCxnSpPr>
              <a:cxnSpLocks/>
              <a:stCxn id="64" idx="0"/>
              <a:endCxn id="16" idx="4"/>
            </p:cNvCxnSpPr>
            <p:nvPr/>
          </p:nvCxnSpPr>
          <p:spPr>
            <a:xfrm flipH="1" flipV="1">
              <a:off x="7405211" y="7604091"/>
              <a:ext cx="9471" cy="151516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5AE694F-6E21-E3A9-415B-28F9F20B705A}"/>
                </a:ext>
              </a:extLst>
            </p:cNvPr>
            <p:cNvCxnSpPr>
              <a:cxnSpLocks/>
              <a:stCxn id="17" idx="0"/>
              <a:endCxn id="19" idx="4"/>
            </p:cNvCxnSpPr>
            <p:nvPr/>
          </p:nvCxnSpPr>
          <p:spPr>
            <a:xfrm flipH="1" flipV="1">
              <a:off x="6734607" y="4686183"/>
              <a:ext cx="205251" cy="6595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0788E8D-3FF3-99AB-83D5-9411EA2C4AD7}"/>
                </a:ext>
              </a:extLst>
            </p:cNvPr>
            <p:cNvCxnSpPr>
              <a:cxnSpLocks/>
              <a:stCxn id="30" idx="2"/>
              <a:endCxn id="19" idx="6"/>
            </p:cNvCxnSpPr>
            <p:nvPr/>
          </p:nvCxnSpPr>
          <p:spPr>
            <a:xfrm flipH="1" flipV="1">
              <a:off x="6871463" y="4554298"/>
              <a:ext cx="951396" cy="2942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B316BCE-36A6-D8CF-0FBA-53BB076974CD}"/>
                </a:ext>
              </a:extLst>
            </p:cNvPr>
            <p:cNvCxnSpPr>
              <a:cxnSpLocks/>
              <a:stCxn id="30" idx="6"/>
              <a:endCxn id="25" idx="2"/>
            </p:cNvCxnSpPr>
            <p:nvPr/>
          </p:nvCxnSpPr>
          <p:spPr>
            <a:xfrm>
              <a:off x="8096572" y="4583725"/>
              <a:ext cx="64665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F32D15-17BB-FC86-1579-1229687DF60E}"/>
                </a:ext>
              </a:extLst>
            </p:cNvPr>
            <p:cNvCxnSpPr>
              <a:cxnSpLocks/>
              <a:stCxn id="18" idx="0"/>
              <a:endCxn id="25" idx="4"/>
            </p:cNvCxnSpPr>
            <p:nvPr/>
          </p:nvCxnSpPr>
          <p:spPr>
            <a:xfrm flipH="1" flipV="1">
              <a:off x="8880085" y="4715610"/>
              <a:ext cx="21115" cy="28280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1CC086B-12DB-8AD5-6021-CF801BC368DD}"/>
                </a:ext>
              </a:extLst>
            </p:cNvPr>
            <p:cNvCxnSpPr>
              <a:cxnSpLocks/>
              <a:stCxn id="25" idx="7"/>
              <a:endCxn id="26" idx="3"/>
            </p:cNvCxnSpPr>
            <p:nvPr/>
          </p:nvCxnSpPr>
          <p:spPr>
            <a:xfrm flipV="1">
              <a:off x="8976857" y="3736178"/>
              <a:ext cx="627366" cy="75428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69BCBC6-C124-C3A9-1F9E-EADB3654750F}"/>
                </a:ext>
              </a:extLst>
            </p:cNvPr>
            <p:cNvCxnSpPr>
              <a:cxnSpLocks/>
              <a:stCxn id="18" idx="7"/>
              <a:endCxn id="28" idx="3"/>
            </p:cNvCxnSpPr>
            <p:nvPr/>
          </p:nvCxnSpPr>
          <p:spPr>
            <a:xfrm flipV="1">
              <a:off x="8997972" y="3797088"/>
              <a:ext cx="3152832" cy="12399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A1807D7-FB9F-EE2D-7B9B-D454EC5E782B}"/>
                </a:ext>
              </a:extLst>
            </p:cNvPr>
            <p:cNvCxnSpPr>
              <a:cxnSpLocks/>
              <a:stCxn id="28" idx="7"/>
              <a:endCxn id="20" idx="3"/>
            </p:cNvCxnSpPr>
            <p:nvPr/>
          </p:nvCxnSpPr>
          <p:spPr>
            <a:xfrm flipV="1">
              <a:off x="12344349" y="3343492"/>
              <a:ext cx="263014" cy="26708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DA5FFB1-9145-E6D7-507D-28DA8BCC9DC7}"/>
                </a:ext>
              </a:extLst>
            </p:cNvPr>
            <p:cNvCxnSpPr>
              <a:cxnSpLocks/>
              <a:stCxn id="28" idx="1"/>
              <a:endCxn id="29" idx="5"/>
            </p:cNvCxnSpPr>
            <p:nvPr/>
          </p:nvCxnSpPr>
          <p:spPr>
            <a:xfrm flipH="1" flipV="1">
              <a:off x="12070636" y="3389558"/>
              <a:ext cx="80168" cy="22101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6D8BF87-F5ED-D03D-1072-BB3F30852E00}"/>
                </a:ext>
              </a:extLst>
            </p:cNvPr>
            <p:cNvCxnSpPr>
              <a:cxnSpLocks/>
              <a:stCxn id="29" idx="0"/>
              <a:endCxn id="37" idx="5"/>
            </p:cNvCxnSpPr>
            <p:nvPr/>
          </p:nvCxnSpPr>
          <p:spPr>
            <a:xfrm flipH="1" flipV="1">
              <a:off x="11947913" y="2966593"/>
              <a:ext cx="25951" cy="19782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3DC5E72-3E0A-85DA-F2B2-DE241D73E799}"/>
                </a:ext>
              </a:extLst>
            </p:cNvPr>
            <p:cNvCxnSpPr>
              <a:cxnSpLocks/>
              <a:stCxn id="37" idx="2"/>
              <a:endCxn id="36" idx="6"/>
            </p:cNvCxnSpPr>
            <p:nvPr/>
          </p:nvCxnSpPr>
          <p:spPr>
            <a:xfrm flipH="1">
              <a:off x="10688042" y="2873336"/>
              <a:ext cx="1026242" cy="6866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F12BA8F-48EB-221A-83F2-C6A406280137}"/>
                </a:ext>
              </a:extLst>
            </p:cNvPr>
            <p:cNvCxnSpPr>
              <a:cxnSpLocks/>
              <a:stCxn id="29" idx="3"/>
              <a:endCxn id="27" idx="6"/>
            </p:cNvCxnSpPr>
            <p:nvPr/>
          </p:nvCxnSpPr>
          <p:spPr>
            <a:xfrm flipH="1">
              <a:off x="11425039" y="3389558"/>
              <a:ext cx="452052" cy="2218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149BC12-170F-6A1D-7F3C-DF83C68CCE19}"/>
                </a:ext>
              </a:extLst>
            </p:cNvPr>
            <p:cNvCxnSpPr>
              <a:cxnSpLocks/>
              <a:stCxn id="27" idx="2"/>
              <a:endCxn id="26" idx="6"/>
            </p:cNvCxnSpPr>
            <p:nvPr/>
          </p:nvCxnSpPr>
          <p:spPr>
            <a:xfrm flipH="1">
              <a:off x="9837852" y="3611358"/>
              <a:ext cx="1313474" cy="3156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1DA0A5F-4356-8E03-CC71-BAC4B768ED16}"/>
                </a:ext>
              </a:extLst>
            </p:cNvPr>
            <p:cNvCxnSpPr>
              <a:cxnSpLocks/>
              <a:stCxn id="36" idx="2"/>
              <a:endCxn id="35" idx="5"/>
            </p:cNvCxnSpPr>
            <p:nvPr/>
          </p:nvCxnSpPr>
          <p:spPr>
            <a:xfrm flipH="1" flipV="1">
              <a:off x="9458390" y="2834707"/>
              <a:ext cx="955939" cy="10729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056F637-9FAE-0839-044C-0DD745A1622F}"/>
                </a:ext>
              </a:extLst>
            </p:cNvPr>
            <p:cNvCxnSpPr>
              <a:cxnSpLocks/>
              <a:stCxn id="35" idx="2"/>
              <a:endCxn id="31" idx="7"/>
            </p:cNvCxnSpPr>
            <p:nvPr/>
          </p:nvCxnSpPr>
          <p:spPr>
            <a:xfrm flipH="1">
              <a:off x="8330201" y="2741450"/>
              <a:ext cx="894560" cy="32970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EE715EB-85D6-2FBF-F5DD-DA2331E1AD8D}"/>
                </a:ext>
              </a:extLst>
            </p:cNvPr>
            <p:cNvCxnSpPr>
              <a:cxnSpLocks/>
              <a:stCxn id="30" idx="0"/>
              <a:endCxn id="31" idx="4"/>
            </p:cNvCxnSpPr>
            <p:nvPr/>
          </p:nvCxnSpPr>
          <p:spPr>
            <a:xfrm flipV="1">
              <a:off x="7959716" y="3296300"/>
              <a:ext cx="273713" cy="11555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ECD129A-F1D2-C789-1D93-B5506EC1912B}"/>
                </a:ext>
              </a:extLst>
            </p:cNvPr>
            <p:cNvCxnSpPr>
              <a:cxnSpLocks/>
              <a:stCxn id="19" idx="0"/>
              <a:endCxn id="24" idx="4"/>
            </p:cNvCxnSpPr>
            <p:nvPr/>
          </p:nvCxnSpPr>
          <p:spPr>
            <a:xfrm flipH="1" flipV="1">
              <a:off x="6666145" y="3005221"/>
              <a:ext cx="68462" cy="141719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93F94C3-8677-9B62-A2BD-942BA5860E0F}"/>
                </a:ext>
              </a:extLst>
            </p:cNvPr>
            <p:cNvCxnSpPr>
              <a:cxnSpLocks/>
              <a:stCxn id="31" idx="1"/>
              <a:endCxn id="24" idx="6"/>
            </p:cNvCxnSpPr>
            <p:nvPr/>
          </p:nvCxnSpPr>
          <p:spPr>
            <a:xfrm flipH="1" flipV="1">
              <a:off x="6803001" y="2873336"/>
              <a:ext cx="1333655" cy="19782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5478225-04F9-7497-BEBA-EC9C10463C32}"/>
                </a:ext>
              </a:extLst>
            </p:cNvPr>
            <p:cNvSpPr txBox="1"/>
            <p:nvPr/>
          </p:nvSpPr>
          <p:spPr>
            <a:xfrm>
              <a:off x="11469892" y="7613117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10</a:t>
              </a:r>
              <a:endParaRPr lang="en-US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EEEE790-9671-F7D1-A0D7-243E01B6BC2F}"/>
                </a:ext>
              </a:extLst>
            </p:cNvPr>
            <p:cNvSpPr txBox="1"/>
            <p:nvPr/>
          </p:nvSpPr>
          <p:spPr>
            <a:xfrm>
              <a:off x="6771967" y="7160730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11</a:t>
              </a:r>
              <a:endParaRPr lang="en-US" b="1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7EECF86-0346-1F6D-8B7D-9DD88F673B32}"/>
                </a:ext>
              </a:extLst>
            </p:cNvPr>
            <p:cNvSpPr txBox="1"/>
            <p:nvPr/>
          </p:nvSpPr>
          <p:spPr>
            <a:xfrm>
              <a:off x="5681903" y="7219334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12</a:t>
              </a:r>
              <a:endParaRPr lang="en-US" b="1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B639CF4-1ECA-6699-7192-7F9FE7C315E1}"/>
                </a:ext>
              </a:extLst>
            </p:cNvPr>
            <p:cNvSpPr txBox="1"/>
            <p:nvPr/>
          </p:nvSpPr>
          <p:spPr>
            <a:xfrm>
              <a:off x="2504574" y="7231100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13</a:t>
              </a:r>
              <a:endParaRPr lang="en-US" b="1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942F9A8-9CD8-9736-E33A-78C6F42271AC}"/>
                </a:ext>
              </a:extLst>
            </p:cNvPr>
            <p:cNvSpPr txBox="1"/>
            <p:nvPr/>
          </p:nvSpPr>
          <p:spPr>
            <a:xfrm>
              <a:off x="1104352" y="7325266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14</a:t>
              </a:r>
              <a:endParaRPr lang="en-US" b="1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94E82DF-69A4-2B30-865D-172629840892}"/>
                </a:ext>
              </a:extLst>
            </p:cNvPr>
            <p:cNvSpPr txBox="1"/>
            <p:nvPr/>
          </p:nvSpPr>
          <p:spPr>
            <a:xfrm>
              <a:off x="1674795" y="7036342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15</a:t>
              </a:r>
              <a:endParaRPr lang="en-US" b="1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DE9C187-72C1-0C55-DE1C-5848EC046117}"/>
                </a:ext>
              </a:extLst>
            </p:cNvPr>
            <p:cNvSpPr txBox="1"/>
            <p:nvPr/>
          </p:nvSpPr>
          <p:spPr>
            <a:xfrm>
              <a:off x="1641962" y="6281220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16</a:t>
              </a:r>
              <a:endParaRPr lang="en-US" b="1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6ABC0BA-B34A-757C-B9AC-A33A302E8F2B}"/>
                </a:ext>
              </a:extLst>
            </p:cNvPr>
            <p:cNvSpPr txBox="1"/>
            <p:nvPr/>
          </p:nvSpPr>
          <p:spPr>
            <a:xfrm>
              <a:off x="1547296" y="5430156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17</a:t>
              </a:r>
              <a:endParaRPr lang="en-US" b="1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9262DB0A-2AAC-F7A9-6B7C-56E96C751885}"/>
                </a:ext>
              </a:extLst>
            </p:cNvPr>
            <p:cNvSpPr txBox="1"/>
            <p:nvPr/>
          </p:nvSpPr>
          <p:spPr>
            <a:xfrm>
              <a:off x="3322179" y="6886596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18</a:t>
              </a:r>
              <a:endParaRPr lang="en-US" b="1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35D3240-01E5-7433-57AA-AD5AA7459AEA}"/>
                </a:ext>
              </a:extLst>
            </p:cNvPr>
            <p:cNvSpPr txBox="1"/>
            <p:nvPr/>
          </p:nvSpPr>
          <p:spPr>
            <a:xfrm>
              <a:off x="3938182" y="6265766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19</a:t>
              </a:r>
              <a:endParaRPr lang="en-US" b="1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94DAED8-6ACB-36C2-8A17-34F1EF1CE872}"/>
                </a:ext>
              </a:extLst>
            </p:cNvPr>
            <p:cNvSpPr txBox="1"/>
            <p:nvPr/>
          </p:nvSpPr>
          <p:spPr>
            <a:xfrm>
              <a:off x="3911922" y="5390492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20</a:t>
              </a:r>
              <a:endParaRPr lang="en-US" b="1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FC297F-C4C7-68EF-3D73-89556A3967C9}"/>
                </a:ext>
              </a:extLst>
            </p:cNvPr>
            <p:cNvSpPr txBox="1"/>
            <p:nvPr/>
          </p:nvSpPr>
          <p:spPr>
            <a:xfrm>
              <a:off x="6781587" y="5363304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21</a:t>
              </a:r>
              <a:endParaRPr lang="en-US" b="1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FA45C69-A198-D53C-0635-A7FB6DDBC1AD}"/>
                </a:ext>
              </a:extLst>
            </p:cNvPr>
            <p:cNvSpPr txBox="1"/>
            <p:nvPr/>
          </p:nvSpPr>
          <p:spPr>
            <a:xfrm>
              <a:off x="8719639" y="4464596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24</a:t>
              </a:r>
              <a:endParaRPr lang="en-US" b="1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63A2621-233B-623E-DFA9-AD2894A365B6}"/>
                </a:ext>
              </a:extLst>
            </p:cNvPr>
            <p:cNvSpPr txBox="1"/>
            <p:nvPr/>
          </p:nvSpPr>
          <p:spPr>
            <a:xfrm>
              <a:off x="8743228" y="5003896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25</a:t>
              </a:r>
              <a:endParaRPr lang="en-US" b="1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BA046C7E-B83B-14F4-9D81-457C31CF98F8}"/>
                </a:ext>
              </a:extLst>
            </p:cNvPr>
            <p:cNvSpPr txBox="1"/>
            <p:nvPr/>
          </p:nvSpPr>
          <p:spPr>
            <a:xfrm>
              <a:off x="9540244" y="3509461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26</a:t>
              </a:r>
              <a:endParaRPr lang="en-US" b="1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E625F5D-224B-6BA9-26F1-C18F6995A9FB}"/>
                </a:ext>
              </a:extLst>
            </p:cNvPr>
            <p:cNvSpPr txBox="1"/>
            <p:nvPr/>
          </p:nvSpPr>
          <p:spPr>
            <a:xfrm>
              <a:off x="6496455" y="2755070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27</a:t>
              </a:r>
              <a:endParaRPr lang="en-US" b="1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F446D17-D9D3-1529-FB1F-869CDBAA029D}"/>
                </a:ext>
              </a:extLst>
            </p:cNvPr>
            <p:cNvSpPr txBox="1"/>
            <p:nvPr/>
          </p:nvSpPr>
          <p:spPr>
            <a:xfrm>
              <a:off x="8063739" y="3030014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28</a:t>
              </a:r>
              <a:endParaRPr lang="en-US" b="1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997A7EFE-D2E6-F1D2-B513-08D803C553AA}"/>
                </a:ext>
              </a:extLst>
            </p:cNvPr>
            <p:cNvSpPr txBox="1"/>
            <p:nvPr/>
          </p:nvSpPr>
          <p:spPr>
            <a:xfrm>
              <a:off x="7792790" y="4450892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23</a:t>
              </a:r>
              <a:endParaRPr lang="en-US" b="1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0F62047-8144-6B5D-7C3B-0292FB3E7E2C}"/>
                </a:ext>
              </a:extLst>
            </p:cNvPr>
            <p:cNvSpPr txBox="1"/>
            <p:nvPr/>
          </p:nvSpPr>
          <p:spPr>
            <a:xfrm>
              <a:off x="6564918" y="4437677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22</a:t>
              </a:r>
              <a:endParaRPr lang="en-US" b="1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CB2792F-DA3F-6CA2-AB17-A6A92B43B635}"/>
                </a:ext>
              </a:extLst>
            </p:cNvPr>
            <p:cNvSpPr txBox="1"/>
            <p:nvPr/>
          </p:nvSpPr>
          <p:spPr>
            <a:xfrm>
              <a:off x="9200787" y="2612741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29</a:t>
              </a:r>
              <a:endParaRPr lang="en-US" b="1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B5A4941-C7C5-D338-237C-6F7E36DFB6BA}"/>
                </a:ext>
              </a:extLst>
            </p:cNvPr>
            <p:cNvSpPr txBox="1"/>
            <p:nvPr/>
          </p:nvSpPr>
          <p:spPr>
            <a:xfrm>
              <a:off x="10393034" y="2816307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30</a:t>
              </a:r>
              <a:endParaRPr lang="en-US" b="1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2F3DF2BE-6770-2D1D-02C7-FD767F0627D3}"/>
                </a:ext>
              </a:extLst>
            </p:cNvPr>
            <p:cNvSpPr txBox="1"/>
            <p:nvPr/>
          </p:nvSpPr>
          <p:spPr>
            <a:xfrm>
              <a:off x="11707402" y="2742530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31</a:t>
              </a:r>
              <a:endParaRPr lang="en-US" b="1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FB8851F-17C6-7FCF-C9E9-1B6F2CDC2452}"/>
                </a:ext>
              </a:extLst>
            </p:cNvPr>
            <p:cNvSpPr txBox="1"/>
            <p:nvPr/>
          </p:nvSpPr>
          <p:spPr>
            <a:xfrm>
              <a:off x="11818308" y="3165888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32</a:t>
              </a:r>
              <a:endParaRPr lang="en-US" b="1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108DA75-50A0-640B-8C8D-EF6264FAE441}"/>
                </a:ext>
              </a:extLst>
            </p:cNvPr>
            <p:cNvSpPr txBox="1"/>
            <p:nvPr/>
          </p:nvSpPr>
          <p:spPr>
            <a:xfrm>
              <a:off x="11127025" y="3474568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33</a:t>
              </a:r>
              <a:endParaRPr lang="en-US" b="1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D761DF5-8AB9-75C6-2296-C262096CCEC1}"/>
                </a:ext>
              </a:extLst>
            </p:cNvPr>
            <p:cNvSpPr txBox="1"/>
            <p:nvPr/>
          </p:nvSpPr>
          <p:spPr>
            <a:xfrm>
              <a:off x="12100413" y="3575592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34</a:t>
              </a:r>
              <a:endParaRPr lang="en-US" b="1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AF9454B-3C65-2274-CB3A-18FE48D08828}"/>
                </a:ext>
              </a:extLst>
            </p:cNvPr>
            <p:cNvSpPr txBox="1"/>
            <p:nvPr/>
          </p:nvSpPr>
          <p:spPr>
            <a:xfrm>
              <a:off x="12534446" y="3127948"/>
              <a:ext cx="3393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chemeClr val="bg1"/>
                  </a:solidFill>
                </a:rPr>
                <a:t>35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E2D9B5C5-4EA7-B91B-E344-A77A5CEBC64B}"/>
                </a:ext>
              </a:extLst>
            </p:cNvPr>
            <p:cNvCxnSpPr>
              <a:cxnSpLocks/>
              <a:stCxn id="95" idx="3"/>
              <a:endCxn id="97" idx="1"/>
            </p:cNvCxnSpPr>
            <p:nvPr/>
          </p:nvCxnSpPr>
          <p:spPr>
            <a:xfrm flipV="1">
              <a:off x="7120965" y="5134701"/>
              <a:ext cx="1622263" cy="3594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14" name="Picture 113" descr="A group of circles with numbers&#10;&#10;AI-generated content may be incorrect.">
            <a:extLst>
              <a:ext uri="{FF2B5EF4-FFF2-40B4-BE49-F238E27FC236}">
                <a16:creationId xmlns:a16="http://schemas.microsoft.com/office/drawing/2014/main" id="{F31F1B3F-19DE-BE21-A0F5-02C7E59A9C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127" y="0"/>
            <a:ext cx="4075673" cy="923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8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D6F1-0B9A-4F8A-4D8A-8418B7B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vs DFS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369E-3608-0989-9FFD-1FDA9B31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AE1C672-CEB2-4170-9980-C4B3BC37B36B}" type="datetime1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2/19/26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7C4F5-8B74-B8BA-7044-63218378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6FD9B65-ECD1-4560-A068-8F0F80DD5731}" type="slidenum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8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301133-B1B7-0BB3-2FC2-8B071D8E0F0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21799" y="2812352"/>
            <a:ext cx="5502275" cy="1171575"/>
          </a:xfrm>
        </p:spPr>
        <p:txBody>
          <a:bodyPr/>
          <a:lstStyle/>
          <a:p>
            <a:r>
              <a:rPr lang="en-US" dirty="0"/>
              <a:t>BFS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DFB64E-0694-D411-9E1B-B7B50237665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04622" y="2812352"/>
            <a:ext cx="5529262" cy="1171575"/>
          </a:xfrm>
        </p:spPr>
        <p:txBody>
          <a:bodyPr/>
          <a:lstStyle/>
          <a:p>
            <a:r>
              <a:rPr lang="en-US" dirty="0"/>
              <a:t>DFS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91436D-93E0-989E-4118-6E28AAA05A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4"/>
          <a:stretch/>
        </p:blipFill>
        <p:spPr bwMode="auto">
          <a:xfrm>
            <a:off x="3508" y="3534280"/>
            <a:ext cx="5750132" cy="3926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F521335B-EA73-FBA8-B0AF-2E4F49D17A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9"/>
          <a:stretch/>
        </p:blipFill>
        <p:spPr bwMode="auto">
          <a:xfrm>
            <a:off x="6124074" y="3534280"/>
            <a:ext cx="5759940" cy="3926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441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22545E-8469-51CF-DBD4-0265A93C7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vs DFS (Group Exercise)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785C2-FFA1-7574-BF94-E239A7249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one would you choose? Why?</a:t>
            </a:r>
          </a:p>
          <a:p>
            <a:endParaRPr lang="en-US" dirty="0"/>
          </a:p>
          <a:p>
            <a:r>
              <a:rPr lang="en-US" dirty="0"/>
              <a:t>Memory?</a:t>
            </a:r>
          </a:p>
          <a:p>
            <a:r>
              <a:rPr lang="en-US" dirty="0"/>
              <a:t>Optimal path?</a:t>
            </a:r>
          </a:p>
          <a:p>
            <a:r>
              <a:rPr lang="en-US" dirty="0"/>
              <a:t>Space Complexity (High or Low)?</a:t>
            </a:r>
          </a:p>
          <a:p>
            <a:r>
              <a:rPr lang="en-US" dirty="0"/>
              <a:t>Time (Fast or Slow)?</a:t>
            </a:r>
          </a:p>
          <a:p>
            <a:r>
              <a:rPr lang="en-US" dirty="0"/>
              <a:t>Which is better when the goal is close versus far?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D95CB4-332D-8F84-D6F4-EA1F2CCB11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4"/>
          <a:stretch/>
        </p:blipFill>
        <p:spPr bwMode="auto">
          <a:xfrm>
            <a:off x="2938380" y="6917737"/>
            <a:ext cx="3875237" cy="264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0123ECF-0A61-5D50-870E-5113A112A1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9"/>
          <a:stretch/>
        </p:blipFill>
        <p:spPr bwMode="auto">
          <a:xfrm>
            <a:off x="6502400" y="6917737"/>
            <a:ext cx="3875237" cy="264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216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D88A1-014B-A50D-CF02-8AB509637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25581-DA1C-CD31-28D7-E2EA50526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vs DFS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58D36-34BD-5D7C-AEC7-B93FEB90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AE1C672-CEB2-4170-9980-C4B3BC37B36B}" type="datetime1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2/19/26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75C6A-C6DB-2D96-1D88-3FFB60604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6FD9B65-ECD1-4560-A068-8F0F80DD5731}" type="slidenum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10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FDA6C2-6597-9DA2-5468-03AFD5EEC24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2434" y="2390775"/>
            <a:ext cx="5502275" cy="524033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Memory (less or more)?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5A4D54-C58D-BA39-4310-CBA3DEF182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4"/>
          <a:stretch/>
        </p:blipFill>
        <p:spPr bwMode="auto">
          <a:xfrm>
            <a:off x="2938380" y="6917737"/>
            <a:ext cx="3875237" cy="264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69E9297C-E858-D633-6639-17A3D85ED5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9"/>
          <a:stretch/>
        </p:blipFill>
        <p:spPr bwMode="auto">
          <a:xfrm>
            <a:off x="6502400" y="6917737"/>
            <a:ext cx="3875237" cy="264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384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5338D-FA6D-7189-FE6B-8BAF8C486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9828B-73F6-C7D5-ABF1-600C98D2C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vs DFS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4AB1E-B511-287D-D10B-7FA84C44A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AE1C672-CEB2-4170-9980-C4B3BC37B36B}" type="datetime1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2/19/26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0A5AF-16F3-F7D5-02FF-5494C87D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6FD9B65-ECD1-4560-A068-8F0F80DD5731}" type="slidenum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11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F715E35-4C71-E8E0-BA9C-EE375889C79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2434" y="2390775"/>
            <a:ext cx="5502275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more memory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73C0361-0827-D0B6-A0CC-73DD2B8320C0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7116310" y="2390775"/>
            <a:ext cx="5529262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less memory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3F79AA-7079-6C5D-00C5-90193519D0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4"/>
          <a:stretch/>
        </p:blipFill>
        <p:spPr bwMode="auto">
          <a:xfrm>
            <a:off x="2938380" y="6917737"/>
            <a:ext cx="3875237" cy="264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DF44FCCF-CC82-3A5F-EA59-81F0BBAC30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9"/>
          <a:stretch/>
        </p:blipFill>
        <p:spPr bwMode="auto">
          <a:xfrm>
            <a:off x="6502400" y="6917737"/>
            <a:ext cx="3875237" cy="264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820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F9C35-A417-C018-C0C5-6ECB4332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04D55-2964-7131-CEF0-825B621C5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vs DFS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43241-2C9D-91A8-2F97-2CCEB7E58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AE1C672-CEB2-4170-9980-C4B3BC37B36B}" type="datetime1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2/19/26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96E24-5FEE-FA33-6AEE-F35ED014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6FD9B65-ECD1-4560-A068-8F0F80DD5731}" type="slidenum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12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7F141B-30B5-EE08-B6D5-0E22F5980BA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2434" y="2390775"/>
            <a:ext cx="5502275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more memory</a:t>
            </a:r>
          </a:p>
          <a:p>
            <a:r>
              <a:rPr lang="en-US" sz="2800" dirty="0">
                <a:solidFill>
                  <a:srgbClr val="FF0000"/>
                </a:solidFill>
              </a:rPr>
              <a:t>Which finds the shortest path?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409807D-B87B-0E48-B6C1-0F0626E5424F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7116310" y="2390775"/>
            <a:ext cx="5529262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less memory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64BA4A-59C6-AAB4-5AFD-8224DF271C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4"/>
          <a:stretch/>
        </p:blipFill>
        <p:spPr bwMode="auto">
          <a:xfrm>
            <a:off x="2938380" y="6917737"/>
            <a:ext cx="3875237" cy="264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1A06A16D-4831-2A92-080A-439123F5C5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9"/>
          <a:stretch/>
        </p:blipFill>
        <p:spPr bwMode="auto">
          <a:xfrm>
            <a:off x="6502400" y="6917737"/>
            <a:ext cx="3875237" cy="264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037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AB5D3-FB7D-BBDA-994D-E1DF01CF6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DB5B-25C7-AA4C-7569-07D93F6FF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vs DFS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AAD8A-55D3-C838-700C-816117D43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AE1C672-CEB2-4170-9980-C4B3BC37B36B}" type="datetime1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2/19/26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8110C-B880-74AF-DF02-E061120C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6FD9B65-ECD1-4560-A068-8F0F80DD5731}" type="slidenum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13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16CADFA-D9C3-F9A1-3B91-8012B143194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2434" y="2390775"/>
            <a:ext cx="5502275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more memory</a:t>
            </a:r>
          </a:p>
          <a:p>
            <a:r>
              <a:rPr lang="en-US" sz="2800" dirty="0"/>
              <a:t>Optimal for finding the shortest path*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305C84E-800F-4DD9-2C27-1CCF3A2E074B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7116310" y="2390775"/>
            <a:ext cx="5529262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less memory</a:t>
            </a:r>
          </a:p>
          <a:p>
            <a:r>
              <a:rPr lang="en-US" sz="2800" b="1" dirty="0"/>
              <a:t>NOT </a:t>
            </a:r>
            <a:r>
              <a:rPr lang="en-US" sz="2800" dirty="0"/>
              <a:t>Optimal for finding shortest path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63EE6D-7836-514B-8F5D-EB55FADAC0A0}"/>
              </a:ext>
            </a:extLst>
          </p:cNvPr>
          <p:cNvSpPr txBox="1"/>
          <p:nvPr/>
        </p:nvSpPr>
        <p:spPr>
          <a:xfrm>
            <a:off x="622434" y="6085349"/>
            <a:ext cx="8755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*when the cost for all edges = 1, not optimal otherwise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8BC014-E8E4-86C7-44E3-AC15E75CD3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4"/>
          <a:stretch/>
        </p:blipFill>
        <p:spPr bwMode="auto">
          <a:xfrm>
            <a:off x="2938380" y="6917737"/>
            <a:ext cx="3875237" cy="264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EEDADFC4-AE7E-80AA-3985-F3D0AA9F52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9"/>
          <a:stretch/>
        </p:blipFill>
        <p:spPr bwMode="auto">
          <a:xfrm>
            <a:off x="6502400" y="6917737"/>
            <a:ext cx="3875237" cy="264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732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A5585-1086-9AE8-784A-067FC7FCC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9BC1-A5DB-FAC1-096F-862DF7EE9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vs DFS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54B0A-0012-7C55-9AE3-F5FE1857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AE1C672-CEB2-4170-9980-C4B3BC37B36B}" type="datetime1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2/19/26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8E09F-F793-A322-146F-AB0D8A03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6FD9B65-ECD1-4560-A068-8F0F80DD5731}" type="slidenum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14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011657-83C1-AD80-5C37-B5F626A3F54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2434" y="2390775"/>
            <a:ext cx="5502275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more memory</a:t>
            </a:r>
          </a:p>
          <a:p>
            <a:r>
              <a:rPr lang="en-US" sz="2800" dirty="0"/>
              <a:t>Optimal for finding the shortest path*</a:t>
            </a:r>
          </a:p>
          <a:p>
            <a:r>
              <a:rPr lang="en-US" sz="2800" dirty="0">
                <a:solidFill>
                  <a:srgbClr val="FF0000"/>
                </a:solidFill>
              </a:rPr>
              <a:t>Space complexity (less or more)?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1420CDD-A457-B424-4124-DAC6B70BA140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7116310" y="2390775"/>
            <a:ext cx="5529262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less memory</a:t>
            </a:r>
          </a:p>
          <a:p>
            <a:r>
              <a:rPr lang="en-US" sz="2800" b="1" dirty="0"/>
              <a:t>NOT </a:t>
            </a:r>
            <a:r>
              <a:rPr lang="en-US" sz="2800" dirty="0"/>
              <a:t>Optimal for finding shortest path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4026A7-0EB6-8EDC-1C05-68D08D128450}"/>
              </a:ext>
            </a:extLst>
          </p:cNvPr>
          <p:cNvSpPr txBox="1"/>
          <p:nvPr/>
        </p:nvSpPr>
        <p:spPr>
          <a:xfrm>
            <a:off x="622434" y="6085349"/>
            <a:ext cx="8755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*when the cost for all edges = 1, not optimal otherwise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4BCD1F-655C-4487-2ACE-9FADFBF98E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4"/>
          <a:stretch/>
        </p:blipFill>
        <p:spPr bwMode="auto">
          <a:xfrm>
            <a:off x="2938380" y="6917737"/>
            <a:ext cx="3875237" cy="264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53113658-48AF-DE51-0173-CB8CB92621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9"/>
          <a:stretch/>
        </p:blipFill>
        <p:spPr bwMode="auto">
          <a:xfrm>
            <a:off x="6502400" y="6917737"/>
            <a:ext cx="3875237" cy="264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102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ADA4C-F0B3-D1DD-C240-C61B70596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4AA1B-C37D-02D8-ACDB-F61D008B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vs DFS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748E4-14F4-4748-FB90-1AADB6843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AE1C672-CEB2-4170-9980-C4B3BC37B36B}" type="datetime1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2/19/26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2D570-9E20-FDE8-FF4A-4B84362C1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6FD9B65-ECD1-4560-A068-8F0F80DD5731}" type="slidenum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15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151B87-51DF-B022-910F-1F94204A640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2434" y="2390775"/>
            <a:ext cx="5502275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more memory</a:t>
            </a:r>
          </a:p>
          <a:p>
            <a:r>
              <a:rPr lang="en-US" sz="2800" dirty="0"/>
              <a:t>Optimal for finding the shortest path*</a:t>
            </a:r>
          </a:p>
          <a:p>
            <a:r>
              <a:rPr lang="en-US" sz="2800" dirty="0"/>
              <a:t>Higher Space Complexity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08EE55C-02D1-882D-8B11-C161B7CEEAC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7116310" y="2390775"/>
            <a:ext cx="5529262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less memory</a:t>
            </a:r>
          </a:p>
          <a:p>
            <a:r>
              <a:rPr lang="en-US" sz="2800" b="1" dirty="0"/>
              <a:t>NOT </a:t>
            </a:r>
            <a:r>
              <a:rPr lang="en-US" sz="2800" dirty="0"/>
              <a:t>Optimal for finding shortest path</a:t>
            </a:r>
          </a:p>
          <a:p>
            <a:r>
              <a:rPr lang="en-US" sz="2800" dirty="0"/>
              <a:t>Lower Space Complexity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E70F9C-7E72-636E-E969-43043B443F10}"/>
              </a:ext>
            </a:extLst>
          </p:cNvPr>
          <p:cNvSpPr txBox="1"/>
          <p:nvPr/>
        </p:nvSpPr>
        <p:spPr>
          <a:xfrm>
            <a:off x="622434" y="6085349"/>
            <a:ext cx="8755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*when the cost for all edges = 1, not optimal otherwise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75C444-82EB-D23C-E920-430C07D804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4"/>
          <a:stretch/>
        </p:blipFill>
        <p:spPr bwMode="auto">
          <a:xfrm>
            <a:off x="2938380" y="6917737"/>
            <a:ext cx="3875237" cy="264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832E03D6-2940-6364-4287-0D3C589C3D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9"/>
          <a:stretch/>
        </p:blipFill>
        <p:spPr bwMode="auto">
          <a:xfrm>
            <a:off x="6502400" y="6917737"/>
            <a:ext cx="3875237" cy="264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985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1B016-802D-9B64-7D87-6930A577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02542-C786-4C7E-6419-9266D91FB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vs DFS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38F48-767F-01AF-5008-C0C55171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AE1C672-CEB2-4170-9980-C4B3BC37B36B}" type="datetime1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2/19/26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05BC8-19A0-1993-8462-7D95C004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6FD9B65-ECD1-4560-A068-8F0F80DD5731}" type="slidenum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16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2492DF2-B8B9-8466-5B35-38C98BC6DD09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2434" y="2390775"/>
            <a:ext cx="5502275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more memory</a:t>
            </a:r>
          </a:p>
          <a:p>
            <a:r>
              <a:rPr lang="en-US" sz="2800" dirty="0"/>
              <a:t>Optimal for finding the shortest path*</a:t>
            </a:r>
          </a:p>
          <a:p>
            <a:r>
              <a:rPr lang="en-US" sz="2800" dirty="0"/>
              <a:t>Higher Space Complexity</a:t>
            </a:r>
          </a:p>
          <a:p>
            <a:r>
              <a:rPr lang="en-US" sz="2800" dirty="0">
                <a:solidFill>
                  <a:srgbClr val="FF0000"/>
                </a:solidFill>
              </a:rPr>
              <a:t>Time complexity (less or more)?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561E702-B4B3-6068-A551-BAC219CE36A1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7116310" y="2390775"/>
            <a:ext cx="5529262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less memory</a:t>
            </a:r>
          </a:p>
          <a:p>
            <a:r>
              <a:rPr lang="en-US" sz="2800" b="1" dirty="0"/>
              <a:t>NOT </a:t>
            </a:r>
            <a:r>
              <a:rPr lang="en-US" sz="2800" dirty="0"/>
              <a:t>Optimal for finding shortest path</a:t>
            </a:r>
          </a:p>
          <a:p>
            <a:r>
              <a:rPr lang="en-US" sz="2800" dirty="0"/>
              <a:t>Lower Space Complexity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16E8E-2FFB-FA49-0F65-CB7B039A2DF4}"/>
              </a:ext>
            </a:extLst>
          </p:cNvPr>
          <p:cNvSpPr txBox="1"/>
          <p:nvPr/>
        </p:nvSpPr>
        <p:spPr>
          <a:xfrm>
            <a:off x="622434" y="6085349"/>
            <a:ext cx="8755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*when the cost for all edges = 1, not optimal otherwise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747931-0A0D-77A9-4630-066E998757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4"/>
          <a:stretch/>
        </p:blipFill>
        <p:spPr bwMode="auto">
          <a:xfrm>
            <a:off x="2938380" y="6917737"/>
            <a:ext cx="3875237" cy="264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653F0A6C-55E8-265D-9816-402778E6B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9"/>
          <a:stretch/>
        </p:blipFill>
        <p:spPr bwMode="auto">
          <a:xfrm>
            <a:off x="6502400" y="6917737"/>
            <a:ext cx="3875237" cy="264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185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C57CA-AACD-A06A-39E8-02764F8F6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8FE26-CFB1-D809-C237-F1214830A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vs DFS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1903C-9253-8C47-011E-8ED266D0A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AE1C672-CEB2-4170-9980-C4B3BC37B36B}" type="datetime1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2/19/26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5845A-7021-F2D0-4BBB-168134C12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6FD9B65-ECD1-4560-A068-8F0F80DD5731}" type="slidenum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17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B6E3CB-B7F7-1C76-0428-C81ADCCD3BF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2434" y="2390775"/>
            <a:ext cx="5502275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more memory</a:t>
            </a:r>
          </a:p>
          <a:p>
            <a:r>
              <a:rPr lang="en-US" sz="2800" dirty="0"/>
              <a:t>Optimal for finding the shortest path*</a:t>
            </a:r>
          </a:p>
          <a:p>
            <a:r>
              <a:rPr lang="en-US" sz="2800" dirty="0"/>
              <a:t>Higher Space Complexity</a:t>
            </a:r>
          </a:p>
          <a:p>
            <a:r>
              <a:rPr lang="en-US" sz="2800" dirty="0"/>
              <a:t>Slower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62B17FE-9DD5-8098-F1BC-45FA66BB2479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7116310" y="2390775"/>
            <a:ext cx="5529262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less memory</a:t>
            </a:r>
          </a:p>
          <a:p>
            <a:r>
              <a:rPr lang="en-US" sz="2800" b="1" dirty="0"/>
              <a:t>NOT </a:t>
            </a:r>
            <a:r>
              <a:rPr lang="en-US" sz="2800" dirty="0"/>
              <a:t>Optimal for finding shortest path</a:t>
            </a:r>
          </a:p>
          <a:p>
            <a:r>
              <a:rPr lang="en-US" sz="2800" dirty="0"/>
              <a:t>Lower Space Complexity</a:t>
            </a:r>
          </a:p>
          <a:p>
            <a:r>
              <a:rPr lang="en-US" sz="2800" dirty="0"/>
              <a:t>Faster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2EAFDD-6CD7-251F-8FDF-50313B9146BF}"/>
              </a:ext>
            </a:extLst>
          </p:cNvPr>
          <p:cNvSpPr txBox="1"/>
          <p:nvPr/>
        </p:nvSpPr>
        <p:spPr>
          <a:xfrm>
            <a:off x="622434" y="6085349"/>
            <a:ext cx="8755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*when the cost for all edges = 1, not optimal otherwise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613847-FA34-E606-8801-50D37049F3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4"/>
          <a:stretch/>
        </p:blipFill>
        <p:spPr bwMode="auto">
          <a:xfrm>
            <a:off x="2938380" y="6917737"/>
            <a:ext cx="3875237" cy="264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9A93B141-77EC-D58E-C919-ACD56C9C7B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9"/>
          <a:stretch/>
        </p:blipFill>
        <p:spPr bwMode="auto">
          <a:xfrm>
            <a:off x="6502400" y="6917737"/>
            <a:ext cx="3875237" cy="264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773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D38C8-C6FC-1735-B1B8-642790F62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FE09-5D42-6CF3-FE8A-63040E42C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vs DFS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CC0D0-4882-9464-0AC9-79F274D6B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AE1C672-CEB2-4170-9980-C4B3BC37B36B}" type="datetime1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2/19/26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AACCF-4FD1-1CFE-8468-5AA0CCBB6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6FD9B65-ECD1-4560-A068-8F0F80DD5731}" type="slidenum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18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1849785-4B57-195F-3D98-CAE9507BDC6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2434" y="2390775"/>
            <a:ext cx="5502275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more memory</a:t>
            </a:r>
          </a:p>
          <a:p>
            <a:r>
              <a:rPr lang="en-US" sz="2800" dirty="0"/>
              <a:t>Optimal for finding the shortest path*</a:t>
            </a:r>
          </a:p>
          <a:p>
            <a:r>
              <a:rPr lang="en-US" sz="2800" dirty="0"/>
              <a:t>Higher Space Complexity</a:t>
            </a:r>
          </a:p>
          <a:p>
            <a:r>
              <a:rPr lang="en-US" sz="2800" dirty="0"/>
              <a:t>Slower</a:t>
            </a:r>
          </a:p>
          <a:p>
            <a:r>
              <a:rPr lang="en-US" sz="2800" dirty="0">
                <a:solidFill>
                  <a:srgbClr val="FF0000"/>
                </a:solidFill>
              </a:rPr>
              <a:t>Which is better when the goal is close versus far?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25B0665-BC6D-7266-CC0B-D4B609AADF6F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7116310" y="2390775"/>
            <a:ext cx="5529262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less memory</a:t>
            </a:r>
          </a:p>
          <a:p>
            <a:r>
              <a:rPr lang="en-US" sz="2800" b="1" dirty="0"/>
              <a:t>NOT </a:t>
            </a:r>
            <a:r>
              <a:rPr lang="en-US" sz="2800" dirty="0"/>
              <a:t>Optimal for finding shortest path</a:t>
            </a:r>
          </a:p>
          <a:p>
            <a:r>
              <a:rPr lang="en-US" sz="2800" dirty="0"/>
              <a:t>Lower Space Complexity</a:t>
            </a:r>
          </a:p>
          <a:p>
            <a:r>
              <a:rPr lang="en-US" sz="2800" dirty="0"/>
              <a:t>Faster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37DDE2-1286-ECFE-10F9-DD0E36B0587C}"/>
              </a:ext>
            </a:extLst>
          </p:cNvPr>
          <p:cNvSpPr txBox="1"/>
          <p:nvPr/>
        </p:nvSpPr>
        <p:spPr>
          <a:xfrm>
            <a:off x="622434" y="6085349"/>
            <a:ext cx="8755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*when the cost for all edges = 1, not optimal otherwise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5AEC19-9E81-4ED8-B03E-C057482DCC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4"/>
          <a:stretch/>
        </p:blipFill>
        <p:spPr bwMode="auto">
          <a:xfrm>
            <a:off x="2938380" y="6917737"/>
            <a:ext cx="3875237" cy="264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619A3497-4273-5B92-9946-9E83218352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9"/>
          <a:stretch/>
        </p:blipFill>
        <p:spPr bwMode="auto">
          <a:xfrm>
            <a:off x="6502400" y="6917737"/>
            <a:ext cx="3875237" cy="264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4176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07602-A6B9-D83B-6216-24256CF80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7F304-7E3B-B557-2F85-D0563EA68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vs DFS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8887F-691B-CBAA-0531-230F8AB66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AE1C672-CEB2-4170-9980-C4B3BC37B36B}" type="datetime1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2/19/26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AD962-1EC4-B333-3192-A74085D66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75390" hangingPunct="1">
              <a:spcBef>
                <a:spcPts val="0"/>
              </a:spcBef>
            </a:pPr>
            <a:fld id="{86FD9B65-ECD1-4560-A068-8F0F80DD5731}" type="slidenum">
              <a:rPr lang="en-US" sz="1920" kern="1200">
                <a:solidFill>
                  <a:prstClr val="white"/>
                </a:solidFill>
                <a:latin typeface="Roboto"/>
              </a:rPr>
              <a:pPr defTabSz="975390" hangingPunct="1">
                <a:spcBef>
                  <a:spcPts val="0"/>
                </a:spcBef>
              </a:pPr>
              <a:t>19</a:t>
            </a:fld>
            <a:endParaRPr lang="en-US" sz="1920" kern="1200" dirty="0">
              <a:solidFill>
                <a:prstClr val="white"/>
              </a:solidFill>
              <a:latin typeface="Roboto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1366470-6B95-BC87-E569-CC19CBE366F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22434" y="2390775"/>
            <a:ext cx="5502275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more memory</a:t>
            </a:r>
          </a:p>
          <a:p>
            <a:r>
              <a:rPr lang="en-US" sz="2800" dirty="0"/>
              <a:t>Optimal for finding the shortest path*</a:t>
            </a:r>
          </a:p>
          <a:p>
            <a:r>
              <a:rPr lang="en-US" sz="2800" dirty="0"/>
              <a:t>Higher Space Complexity</a:t>
            </a:r>
          </a:p>
          <a:p>
            <a:r>
              <a:rPr lang="en-US" sz="2800" dirty="0"/>
              <a:t>Slower</a:t>
            </a:r>
          </a:p>
          <a:p>
            <a:r>
              <a:rPr lang="en-US" sz="2800" dirty="0"/>
              <a:t>Better when target is close to the source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1ED7A86-F5A9-69D1-8CAD-CBA3435EE66A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7116310" y="2390775"/>
            <a:ext cx="5529262" cy="5240338"/>
          </a:xfrm>
        </p:spPr>
        <p:txBody>
          <a:bodyPr>
            <a:normAutofit/>
          </a:bodyPr>
          <a:lstStyle/>
          <a:p>
            <a:r>
              <a:rPr lang="en-US" sz="2800" dirty="0"/>
              <a:t>Requires less memory</a:t>
            </a:r>
          </a:p>
          <a:p>
            <a:r>
              <a:rPr lang="en-US" sz="2800" b="1" dirty="0"/>
              <a:t>NOT </a:t>
            </a:r>
            <a:r>
              <a:rPr lang="en-US" sz="2800" dirty="0"/>
              <a:t>Optimal for finding shortest path</a:t>
            </a:r>
          </a:p>
          <a:p>
            <a:r>
              <a:rPr lang="en-US" sz="2800" dirty="0"/>
              <a:t>Lower Space Complexity</a:t>
            </a:r>
          </a:p>
          <a:p>
            <a:r>
              <a:rPr lang="en-US" sz="2800" dirty="0"/>
              <a:t>Faster</a:t>
            </a:r>
          </a:p>
          <a:p>
            <a:r>
              <a:rPr lang="en-US" sz="2800" dirty="0"/>
              <a:t>Better when target is far from the source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23B9E-5007-A3C1-3635-7EDAD10CC7EB}"/>
              </a:ext>
            </a:extLst>
          </p:cNvPr>
          <p:cNvSpPr txBox="1"/>
          <p:nvPr/>
        </p:nvSpPr>
        <p:spPr>
          <a:xfrm>
            <a:off x="622434" y="6085349"/>
            <a:ext cx="8755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*when the cost for all edges = 1, not optimal otherwise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941AA7-9F9F-7C8D-1CD1-9AD27BC643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4"/>
          <a:stretch/>
        </p:blipFill>
        <p:spPr bwMode="auto">
          <a:xfrm>
            <a:off x="2938380" y="6917737"/>
            <a:ext cx="3875237" cy="264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2EFD5BF-2346-330A-9E35-BAD7CBCEF0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9"/>
          <a:stretch/>
        </p:blipFill>
        <p:spPr bwMode="auto">
          <a:xfrm>
            <a:off x="6502400" y="6917737"/>
            <a:ext cx="3875237" cy="264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140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E7844-8ACB-A023-5260-0CAE31BCF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D30D0-388F-4486-E63B-17E89ECCC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These algorithms can be used in real-world settings…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3A61F-83E2-5EB0-09ED-415BA0999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024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D18A5E5-611F-394B-B43F-23094E8BB8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24" t="10366" b="34818"/>
          <a:stretch/>
        </p:blipFill>
        <p:spPr>
          <a:xfrm>
            <a:off x="281280" y="1821420"/>
            <a:ext cx="12442240" cy="74128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FB71D6-5E61-CBBE-80F9-F6F737661EBC}"/>
              </a:ext>
            </a:extLst>
          </p:cNvPr>
          <p:cNvSpPr txBox="1">
            <a:spLocks/>
          </p:cNvSpPr>
          <p:nvPr/>
        </p:nvSpPr>
        <p:spPr>
          <a:xfrm>
            <a:off x="894080" y="314017"/>
            <a:ext cx="11216640" cy="1885245"/>
          </a:xfrm>
          <a:prstGeom prst="rect">
            <a:avLst/>
          </a:prstGeom>
        </p:spPr>
        <p:txBody>
          <a:bodyPr/>
          <a:lstStyle>
            <a:lvl1pPr algn="l" defTabSz="975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93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E.g., finding paths to cities…</a:t>
            </a:r>
          </a:p>
          <a:p>
            <a:r>
              <a:rPr lang="en-US" dirty="0"/>
              <a:t>Arad </a:t>
            </a:r>
            <a:r>
              <a:rPr lang="en-US" dirty="0">
                <a:sym typeface="Wingdings" pitchFamily="2" charset="2"/>
              </a:rPr>
              <a:t> Bucharest with varying distances.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346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8D1A1-03DC-2B7F-AFDF-05A98D5DC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16E6228-1C7C-9CB5-0EC0-D027E90B33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24" t="10366" b="34818"/>
          <a:stretch/>
        </p:blipFill>
        <p:spPr>
          <a:xfrm>
            <a:off x="281280" y="1821420"/>
            <a:ext cx="12442240" cy="74128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5DE395-67DF-B64F-AF76-CAD7ACEA7286}"/>
              </a:ext>
            </a:extLst>
          </p:cNvPr>
          <p:cNvSpPr txBox="1">
            <a:spLocks/>
          </p:cNvSpPr>
          <p:nvPr/>
        </p:nvSpPr>
        <p:spPr>
          <a:xfrm>
            <a:off x="894080" y="314017"/>
            <a:ext cx="11216640" cy="1885245"/>
          </a:xfrm>
          <a:prstGeom prst="rect">
            <a:avLst/>
          </a:prstGeom>
        </p:spPr>
        <p:txBody>
          <a:bodyPr/>
          <a:lstStyle>
            <a:lvl1pPr algn="l" defTabSz="975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93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E.g., finding paths to cities…</a:t>
            </a:r>
          </a:p>
          <a:p>
            <a:r>
              <a:rPr lang="en-US" dirty="0"/>
              <a:t>Arad </a:t>
            </a:r>
            <a:r>
              <a:rPr lang="en-US" dirty="0">
                <a:sym typeface="Wingdings" pitchFamily="2" charset="2"/>
              </a:rPr>
              <a:t> Bucharest with </a:t>
            </a:r>
            <a:r>
              <a:rPr lang="en-US" i="1" dirty="0">
                <a:solidFill>
                  <a:srgbClr val="FF0000"/>
                </a:solidFill>
                <a:sym typeface="Wingdings" pitchFamily="2" charset="2"/>
              </a:rPr>
              <a:t>varying distances</a:t>
            </a:r>
            <a:r>
              <a:rPr lang="en-US" dirty="0">
                <a:sym typeface="Wingdings" pitchFamily="2" charset="2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020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221A3-4C2D-8649-B561-E964A315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98385-537B-9928-D6B1-A389B7D2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see what these algorithms look like in general…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18ED3-7FF7-4A04-71B2-275E52A21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12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7A44A-DE93-2947-BAD3-732DF89DE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59EED0-782A-B3F1-CE1A-8ACA056CF6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17"/>
          <a:stretch/>
        </p:blipFill>
        <p:spPr>
          <a:xfrm>
            <a:off x="184897" y="1410305"/>
            <a:ext cx="12668871" cy="52125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876E4A-F38F-8D47-14B7-3D741A6A8C7D}"/>
              </a:ext>
            </a:extLst>
          </p:cNvPr>
          <p:cNvSpPr txBox="1"/>
          <p:nvPr/>
        </p:nvSpPr>
        <p:spPr>
          <a:xfrm>
            <a:off x="474133" y="8763000"/>
            <a:ext cx="1209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Frontier</a:t>
            </a:r>
            <a:r>
              <a:rPr lang="en-US" sz="2800" dirty="0"/>
              <a:t> is the </a:t>
            </a:r>
            <a:r>
              <a:rPr lang="en-US" sz="2800" i="1" dirty="0"/>
              <a:t>queue. </a:t>
            </a:r>
            <a:r>
              <a:rPr lang="en-US" sz="2800" dirty="0"/>
              <a:t>Think of it as the boundary between explored and unexplored.</a:t>
            </a:r>
            <a:endParaRPr lang="en-US" sz="2800" i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CA8369-6E92-5F9C-26DF-FBCD1CD7AAD6}"/>
              </a:ext>
            </a:extLst>
          </p:cNvPr>
          <p:cNvSpPr/>
          <p:nvPr/>
        </p:nvSpPr>
        <p:spPr>
          <a:xfrm>
            <a:off x="1399592" y="6064898"/>
            <a:ext cx="3228392" cy="557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B5477-F32B-B086-C913-5FEA4B7E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1A1A4C8-93BF-A32F-E651-0B8C2BA638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17"/>
          <a:stretch/>
        </p:blipFill>
        <p:spPr>
          <a:xfrm>
            <a:off x="184897" y="1410305"/>
            <a:ext cx="12668871" cy="52125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E2E52B-0FFF-9C2D-56F0-63AF814F8013}"/>
              </a:ext>
            </a:extLst>
          </p:cNvPr>
          <p:cNvSpPr txBox="1"/>
          <p:nvPr/>
        </p:nvSpPr>
        <p:spPr>
          <a:xfrm>
            <a:off x="474133" y="8763000"/>
            <a:ext cx="1209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Frontier</a:t>
            </a:r>
            <a:r>
              <a:rPr lang="en-US" sz="2800" dirty="0"/>
              <a:t> is the </a:t>
            </a:r>
            <a:r>
              <a:rPr lang="en-US" sz="2800" i="1" dirty="0"/>
              <a:t>queue. </a:t>
            </a:r>
            <a:r>
              <a:rPr lang="en-US" sz="2800" dirty="0"/>
              <a:t>Think of it as the boundary between explored and unexplored.</a:t>
            </a:r>
            <a:endParaRPr lang="en-US" sz="28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4E4999-D612-3FC2-CEA1-49708C08ED2A}"/>
              </a:ext>
            </a:extLst>
          </p:cNvPr>
          <p:cNvSpPr txBox="1"/>
          <p:nvPr/>
        </p:nvSpPr>
        <p:spPr>
          <a:xfrm>
            <a:off x="3974978" y="2547258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 state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086B48-CDB3-6CC4-D7DD-2891CCDFC4C4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152021" y="2947368"/>
            <a:ext cx="1521225" cy="4751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DB5BDC4-FD53-FE14-4DC5-92AF472447EC}"/>
                  </a:ext>
                </a:extLst>
              </p14:cNvPr>
              <p14:cNvContentPartPr/>
              <p14:nvPr/>
            </p14:nvContentPartPr>
            <p14:xfrm>
              <a:off x="1047372" y="4320110"/>
              <a:ext cx="789840" cy="15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DB5BDC4-FD53-FE14-4DC5-92AF472447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9372" y="4302470"/>
                <a:ext cx="82548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2DE5AA-722C-14B6-429A-13C64FFB6336}"/>
                  </a:ext>
                </a:extLst>
              </p14:cNvPr>
              <p14:cNvContentPartPr/>
              <p14:nvPr/>
            </p14:nvContentPartPr>
            <p14:xfrm>
              <a:off x="1849092" y="3635750"/>
              <a:ext cx="1171080" cy="5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2DE5AA-722C-14B6-429A-13C64FFB633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31092" y="3617750"/>
                <a:ext cx="12067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C501483-3553-F953-3A15-9C6D7D89B6E2}"/>
                  </a:ext>
                </a:extLst>
              </p14:cNvPr>
              <p14:cNvContentPartPr/>
              <p14:nvPr/>
            </p14:nvContentPartPr>
            <p14:xfrm>
              <a:off x="1160412" y="6080870"/>
              <a:ext cx="912960" cy="10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C501483-3553-F953-3A15-9C6D7D89B6E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42412" y="6063230"/>
                <a:ext cx="9486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AD6AB97-BD56-6D77-C2C1-2DEB92AC39BE}"/>
                  </a:ext>
                </a:extLst>
              </p14:cNvPr>
              <p14:cNvContentPartPr/>
              <p14:nvPr/>
            </p14:nvContentPartPr>
            <p14:xfrm>
              <a:off x="523212" y="3582470"/>
              <a:ext cx="833400" cy="5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AD6AB97-BD56-6D77-C2C1-2DEB92AC39B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5212" y="3564830"/>
                <a:ext cx="869040" cy="4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3938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AEF324-0675-3A46-98EB-87892DCAF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8133" y="157195"/>
            <a:ext cx="3199842" cy="199885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FA0E48D-5E00-DB4D-87A1-8F10CEEE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Strategies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97251F-EA33-7E4D-AA3E-6AC09BB46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2667" y="2156047"/>
            <a:ext cx="11802534" cy="6628968"/>
          </a:xfrm>
        </p:spPr>
        <p:txBody>
          <a:bodyPr>
            <a:normAutofit/>
          </a:bodyPr>
          <a:lstStyle/>
          <a:p>
            <a:r>
              <a:rPr lang="en-US" dirty="0"/>
              <a:t>W</a:t>
            </a:r>
            <a:r>
              <a:rPr lang="en-US" dirty="0">
                <a:sym typeface="Wingdings" pitchFamily="2" charset="2"/>
              </a:rPr>
              <a:t>hich node to choose from the </a:t>
            </a:r>
            <a:r>
              <a:rPr lang="en-US" i="1" dirty="0">
                <a:sym typeface="Wingdings" pitchFamily="2" charset="2"/>
              </a:rPr>
              <a:t>frontier?</a:t>
            </a:r>
          </a:p>
          <a:p>
            <a:endParaRPr lang="en-US" i="1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Uninformed strategies</a:t>
            </a:r>
          </a:p>
          <a:p>
            <a:pPr lvl="1"/>
            <a:r>
              <a:rPr lang="en-US" b="1" dirty="0">
                <a:sym typeface="Wingdings" pitchFamily="2" charset="2"/>
              </a:rPr>
              <a:t>BFS</a:t>
            </a:r>
            <a:r>
              <a:rPr lang="en-US" dirty="0">
                <a:sym typeface="Wingdings" pitchFamily="2" charset="2"/>
              </a:rPr>
              <a:t>: </a:t>
            </a:r>
            <a:r>
              <a:rPr lang="en-US" i="1" dirty="0">
                <a:sym typeface="Wingdings" pitchFamily="2" charset="2"/>
              </a:rPr>
              <a:t>frontier </a:t>
            </a:r>
            <a:r>
              <a:rPr lang="en-US" dirty="0">
                <a:sym typeface="Wingdings" pitchFamily="2" charset="2"/>
              </a:rPr>
              <a:t>is FIFO queue</a:t>
            </a:r>
          </a:p>
          <a:p>
            <a:pPr lvl="1"/>
            <a:r>
              <a:rPr lang="en-US" b="1" dirty="0">
                <a:sym typeface="Wingdings" pitchFamily="2" charset="2"/>
              </a:rPr>
              <a:t>DFS</a:t>
            </a:r>
            <a:r>
              <a:rPr lang="en-US" dirty="0">
                <a:sym typeface="Wingdings" pitchFamily="2" charset="2"/>
              </a:rPr>
              <a:t>: </a:t>
            </a:r>
            <a:r>
              <a:rPr lang="en-US" i="1" dirty="0">
                <a:sym typeface="Wingdings" pitchFamily="2" charset="2"/>
              </a:rPr>
              <a:t>frontier</a:t>
            </a:r>
            <a:r>
              <a:rPr lang="en-US" dirty="0">
                <a:sym typeface="Wingdings" pitchFamily="2" charset="2"/>
              </a:rPr>
              <a:t> is LIFO queue (pushdown stack)</a:t>
            </a:r>
          </a:p>
          <a:p>
            <a:pPr lvl="1"/>
            <a:r>
              <a:rPr lang="en-US" b="1" dirty="0">
                <a:sym typeface="Wingdings" pitchFamily="2" charset="2"/>
              </a:rPr>
              <a:t>Uniform-Cost Search (Dijkstra)</a:t>
            </a:r>
            <a:r>
              <a:rPr lang="en-US" dirty="0">
                <a:sym typeface="Wingdings" pitchFamily="2" charset="2"/>
              </a:rPr>
              <a:t>:</a:t>
            </a:r>
            <a:r>
              <a:rPr lang="en-US" i="1" dirty="0">
                <a:sym typeface="Wingdings" pitchFamily="2" charset="2"/>
              </a:rPr>
              <a:t> frontier</a:t>
            </a:r>
            <a:r>
              <a:rPr lang="en-US" dirty="0">
                <a:sym typeface="Wingdings" pitchFamily="2" charset="2"/>
              </a:rPr>
              <a:t> is priority queue</a:t>
            </a:r>
          </a:p>
          <a:p>
            <a:pPr lvl="1"/>
            <a:r>
              <a:rPr lang="en-US" b="1" dirty="0">
                <a:sym typeface="Wingdings" pitchFamily="2" charset="2"/>
              </a:rPr>
              <a:t>Iterative Deepening Search</a:t>
            </a:r>
          </a:p>
          <a:p>
            <a:pPr lvl="1"/>
            <a:endParaRPr lang="en-US" b="1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Informed strategies (extra information  heuristic)</a:t>
            </a:r>
          </a:p>
          <a:p>
            <a:pPr lvl="1"/>
            <a:r>
              <a:rPr lang="en-US" b="1" dirty="0">
                <a:sym typeface="Wingdings" pitchFamily="2" charset="2"/>
              </a:rPr>
              <a:t>A* search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54356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C49B188-2D79-0A43-9AF3-4F154C703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7463" y="330199"/>
            <a:ext cx="13011801" cy="9194799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EAF7D78-3B06-784A-A55D-8406567833A2}"/>
              </a:ext>
            </a:extLst>
          </p:cNvPr>
          <p:cNvSpPr/>
          <p:nvPr/>
        </p:nvSpPr>
        <p:spPr>
          <a:xfrm>
            <a:off x="897467" y="4927598"/>
            <a:ext cx="4402666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latino Linotype" panose="02040502050505030304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10641441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C49B188-2D79-0A43-9AF3-4F154C703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7462" y="262467"/>
            <a:ext cx="13011799" cy="9194799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3DF57D7-3FCE-BA49-9F99-B857179204C0}"/>
              </a:ext>
            </a:extLst>
          </p:cNvPr>
          <p:cNvSpPr/>
          <p:nvPr/>
        </p:nvSpPr>
        <p:spPr>
          <a:xfrm>
            <a:off x="897467" y="4927598"/>
            <a:ext cx="4402666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latino Linotype" panose="02040502050505030304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2980509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C49B188-2D79-0A43-9AF3-4F154C703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7462" y="262467"/>
            <a:ext cx="13011799" cy="9194798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FD1767E-EC1D-294A-A1D9-5CF34296F52C}"/>
              </a:ext>
            </a:extLst>
          </p:cNvPr>
          <p:cNvSpPr/>
          <p:nvPr/>
        </p:nvSpPr>
        <p:spPr>
          <a:xfrm>
            <a:off x="897467" y="4927598"/>
            <a:ext cx="4402666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latino Linotype" panose="02040502050505030304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1250998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C49B188-2D79-0A43-9AF3-4F154C703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7462" y="262467"/>
            <a:ext cx="13011798" cy="9194798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221A22-BDFB-5D42-A318-37AF37FDBF55}"/>
              </a:ext>
            </a:extLst>
          </p:cNvPr>
          <p:cNvSpPr/>
          <p:nvPr/>
        </p:nvSpPr>
        <p:spPr>
          <a:xfrm>
            <a:off x="897467" y="4927598"/>
            <a:ext cx="4402666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latino Linotype" panose="02040502050505030304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12369109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5ACE6-BFA8-0EBE-C2E4-BB64B91E1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1FABD90-07AA-86E9-16AB-7604C18A1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7462" y="262467"/>
            <a:ext cx="13011798" cy="9194798"/>
          </a:xfrm>
        </p:spPr>
      </p:pic>
      <p:pic>
        <p:nvPicPr>
          <p:cNvPr id="1026" name="Picture 2" descr="tired dog - Imgflip">
            <a:extLst>
              <a:ext uri="{FF2B5EF4-FFF2-40B4-BE49-F238E27FC236}">
                <a16:creationId xmlns:a16="http://schemas.microsoft.com/office/drawing/2014/main" id="{0691A2B4-0C3C-D726-CBD1-8A4C6B4172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50" b="20635"/>
          <a:stretch/>
        </p:blipFill>
        <p:spPr bwMode="auto">
          <a:xfrm>
            <a:off x="158794" y="1600199"/>
            <a:ext cx="8294741" cy="224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36A277A-F7C0-2D34-5AAC-9CB496DA4481}"/>
              </a:ext>
            </a:extLst>
          </p:cNvPr>
          <p:cNvSpPr/>
          <p:nvPr/>
        </p:nvSpPr>
        <p:spPr>
          <a:xfrm>
            <a:off x="858416" y="5038531"/>
            <a:ext cx="11439331" cy="32470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603985-1388-D577-E265-77D579DFEFE4}"/>
              </a:ext>
            </a:extLst>
          </p:cNvPr>
          <p:cNvSpPr txBox="1"/>
          <p:nvPr/>
        </p:nvSpPr>
        <p:spPr>
          <a:xfrm>
            <a:off x="158794" y="3844479"/>
            <a:ext cx="8294741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Exhaustive… explores everything/where!</a:t>
            </a:r>
          </a:p>
        </p:txBody>
      </p:sp>
    </p:spTree>
    <p:extLst>
      <p:ext uri="{BB962C8B-B14F-4D97-AF65-F5344CB8AC3E}">
        <p14:creationId xmlns:p14="http://schemas.microsoft.com/office/powerpoint/2010/main" val="33253820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0675" y="644238"/>
            <a:ext cx="5034463" cy="1437703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356024">
              <a:spcBef>
                <a:spcPts val="152"/>
              </a:spcBef>
            </a:pPr>
            <a:r>
              <a:rPr spc="-12" dirty="0"/>
              <a:t>Depth-first</a:t>
            </a:r>
            <a:r>
              <a:rPr spc="23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75050" y="1413072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888644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55777" y="1413072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0" y="0"/>
                </a:moveTo>
                <a:lnTo>
                  <a:pt x="888636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596144" y="2088525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11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36495" y="2088525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31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34685" y="2088525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23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75050" y="2088525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21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406659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65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676846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46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325958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46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596121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65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45228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5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15403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64499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7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34676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893660" y="1250963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6"/>
                </a:lnTo>
                <a:lnTo>
                  <a:pt x="54574" y="25722"/>
                </a:lnTo>
                <a:lnTo>
                  <a:pt x="25719" y="54580"/>
                </a:lnTo>
                <a:lnTo>
                  <a:pt x="6795" y="91172"/>
                </a:lnTo>
                <a:lnTo>
                  <a:pt x="0" y="133303"/>
                </a:lnTo>
                <a:lnTo>
                  <a:pt x="6795" y="175432"/>
                </a:lnTo>
                <a:lnTo>
                  <a:pt x="25719" y="212023"/>
                </a:lnTo>
                <a:lnTo>
                  <a:pt x="54574" y="240878"/>
                </a:lnTo>
                <a:lnTo>
                  <a:pt x="91165" y="259802"/>
                </a:lnTo>
                <a:lnTo>
                  <a:pt x="133295" y="266598"/>
                </a:lnTo>
                <a:lnTo>
                  <a:pt x="175425" y="259802"/>
                </a:lnTo>
                <a:lnTo>
                  <a:pt x="212016" y="240878"/>
                </a:lnTo>
                <a:lnTo>
                  <a:pt x="240872" y="212023"/>
                </a:lnTo>
                <a:lnTo>
                  <a:pt x="259796" y="175432"/>
                </a:lnTo>
                <a:lnTo>
                  <a:pt x="266592" y="133303"/>
                </a:lnTo>
                <a:lnTo>
                  <a:pt x="259796" y="91172"/>
                </a:lnTo>
                <a:lnTo>
                  <a:pt x="240872" y="54580"/>
                </a:lnTo>
                <a:lnTo>
                  <a:pt x="212016" y="25722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893660" y="1250963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303"/>
                </a:moveTo>
                <a:lnTo>
                  <a:pt x="259796" y="91172"/>
                </a:lnTo>
                <a:lnTo>
                  <a:pt x="240872" y="54580"/>
                </a:lnTo>
                <a:lnTo>
                  <a:pt x="212016" y="25722"/>
                </a:lnTo>
                <a:lnTo>
                  <a:pt x="175425" y="6796"/>
                </a:lnTo>
                <a:lnTo>
                  <a:pt x="133295" y="0"/>
                </a:lnTo>
                <a:lnTo>
                  <a:pt x="91165" y="6796"/>
                </a:lnTo>
                <a:lnTo>
                  <a:pt x="54574" y="25722"/>
                </a:lnTo>
                <a:lnTo>
                  <a:pt x="25719" y="54580"/>
                </a:lnTo>
                <a:lnTo>
                  <a:pt x="6795" y="91172"/>
                </a:lnTo>
                <a:lnTo>
                  <a:pt x="0" y="133303"/>
                </a:lnTo>
                <a:lnTo>
                  <a:pt x="6795" y="175432"/>
                </a:lnTo>
                <a:lnTo>
                  <a:pt x="25719" y="212023"/>
                </a:lnTo>
                <a:lnTo>
                  <a:pt x="54574" y="240878"/>
                </a:lnTo>
                <a:lnTo>
                  <a:pt x="91165" y="259802"/>
                </a:lnTo>
                <a:lnTo>
                  <a:pt x="133295" y="266598"/>
                </a:lnTo>
                <a:lnTo>
                  <a:pt x="175425" y="259802"/>
                </a:lnTo>
                <a:lnTo>
                  <a:pt x="212016" y="240878"/>
                </a:lnTo>
                <a:lnTo>
                  <a:pt x="240872" y="212023"/>
                </a:lnTo>
                <a:lnTo>
                  <a:pt x="259796" y="175432"/>
                </a:lnTo>
                <a:lnTo>
                  <a:pt x="266592" y="133303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74908" y="1229515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812931" y="192641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5"/>
                </a:lnTo>
                <a:lnTo>
                  <a:pt x="54576" y="240871"/>
                </a:lnTo>
                <a:lnTo>
                  <a:pt x="91167" y="259794"/>
                </a:lnTo>
                <a:lnTo>
                  <a:pt x="133297" y="266590"/>
                </a:lnTo>
                <a:lnTo>
                  <a:pt x="175426" y="259794"/>
                </a:lnTo>
                <a:lnTo>
                  <a:pt x="212016" y="240871"/>
                </a:lnTo>
                <a:lnTo>
                  <a:pt x="240872" y="212015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812931" y="192641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7" y="0"/>
                </a:ln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5"/>
                </a:lnTo>
                <a:lnTo>
                  <a:pt x="54576" y="240871"/>
                </a:lnTo>
                <a:lnTo>
                  <a:pt x="91167" y="259794"/>
                </a:lnTo>
                <a:lnTo>
                  <a:pt x="133297" y="266590"/>
                </a:lnTo>
                <a:lnTo>
                  <a:pt x="175426" y="259794"/>
                </a:lnTo>
                <a:lnTo>
                  <a:pt x="212016" y="240871"/>
                </a:lnTo>
                <a:lnTo>
                  <a:pt x="240872" y="212015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02365" y="1904948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974393" y="192641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4"/>
                </a:lnTo>
                <a:lnTo>
                  <a:pt x="133291" y="266590"/>
                </a:lnTo>
                <a:lnTo>
                  <a:pt x="175420" y="259794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5"/>
                </a:lnTo>
                <a:lnTo>
                  <a:pt x="266583" y="133295"/>
                </a:ln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974393" y="192641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5"/>
                </a:move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4"/>
                </a:lnTo>
                <a:lnTo>
                  <a:pt x="133291" y="266590"/>
                </a:lnTo>
                <a:lnTo>
                  <a:pt x="175420" y="259794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5"/>
                </a:lnTo>
                <a:lnTo>
                  <a:pt x="266583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055621" y="1904948"/>
            <a:ext cx="183797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72569" y="2601887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9" y="212016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6"/>
                </a:lnTo>
                <a:lnTo>
                  <a:pt x="259794" y="175426"/>
                </a:lnTo>
                <a:lnTo>
                  <a:pt x="266590" y="133297"/>
                </a:lnTo>
                <a:lnTo>
                  <a:pt x="259794" y="91167"/>
                </a:lnTo>
                <a:lnTo>
                  <a:pt x="240871" y="54576"/>
                </a:lnTo>
                <a:lnTo>
                  <a:pt x="212015" y="25720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272569" y="2601887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0" y="133297"/>
                </a:moveTo>
                <a:lnTo>
                  <a:pt x="259794" y="91167"/>
                </a:lnTo>
                <a:lnTo>
                  <a:pt x="240871" y="54576"/>
                </a:lnTo>
                <a:lnTo>
                  <a:pt x="212015" y="25720"/>
                </a:lnTo>
                <a:lnTo>
                  <a:pt x="175425" y="6796"/>
                </a:lnTo>
                <a:lnTo>
                  <a:pt x="133295" y="0"/>
                </a:lnTo>
                <a:lnTo>
                  <a:pt x="91165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9" y="212016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6"/>
                </a:lnTo>
                <a:lnTo>
                  <a:pt x="259794" y="175426"/>
                </a:lnTo>
                <a:lnTo>
                  <a:pt x="266590" y="133297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353296" y="2601887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6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6"/>
                </a:lnTo>
                <a:lnTo>
                  <a:pt x="266592" y="133297"/>
                </a:ln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353296" y="2601887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7"/>
                </a:move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6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6"/>
                </a:lnTo>
                <a:lnTo>
                  <a:pt x="266592" y="133297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434019" y="2601887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10" y="0"/>
                </a:moveTo>
                <a:lnTo>
                  <a:pt x="91172" y="6796"/>
                </a:lnTo>
                <a:lnTo>
                  <a:pt x="54577" y="25720"/>
                </a:lnTo>
                <a:lnTo>
                  <a:pt x="25720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20" y="212016"/>
                </a:lnTo>
                <a:lnTo>
                  <a:pt x="54577" y="240872"/>
                </a:lnTo>
                <a:lnTo>
                  <a:pt x="91172" y="259796"/>
                </a:lnTo>
                <a:lnTo>
                  <a:pt x="133310" y="266592"/>
                </a:lnTo>
                <a:lnTo>
                  <a:pt x="175439" y="259796"/>
                </a:lnTo>
                <a:lnTo>
                  <a:pt x="212029" y="240872"/>
                </a:lnTo>
                <a:lnTo>
                  <a:pt x="240883" y="212016"/>
                </a:lnTo>
                <a:lnTo>
                  <a:pt x="259806" y="175426"/>
                </a:lnTo>
                <a:lnTo>
                  <a:pt x="266602" y="133297"/>
                </a:lnTo>
                <a:lnTo>
                  <a:pt x="259806" y="91167"/>
                </a:lnTo>
                <a:lnTo>
                  <a:pt x="240883" y="54576"/>
                </a:lnTo>
                <a:lnTo>
                  <a:pt x="212029" y="25720"/>
                </a:lnTo>
                <a:lnTo>
                  <a:pt x="175439" y="6796"/>
                </a:lnTo>
                <a:lnTo>
                  <a:pt x="1333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434019" y="2601887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7"/>
                </a:moveTo>
                <a:lnTo>
                  <a:pt x="259806" y="91167"/>
                </a:lnTo>
                <a:lnTo>
                  <a:pt x="240883" y="54576"/>
                </a:lnTo>
                <a:lnTo>
                  <a:pt x="212029" y="25720"/>
                </a:lnTo>
                <a:lnTo>
                  <a:pt x="175439" y="6796"/>
                </a:lnTo>
                <a:lnTo>
                  <a:pt x="133310" y="0"/>
                </a:lnTo>
                <a:lnTo>
                  <a:pt x="91172" y="6796"/>
                </a:lnTo>
                <a:lnTo>
                  <a:pt x="54577" y="25720"/>
                </a:lnTo>
                <a:lnTo>
                  <a:pt x="25720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20" y="212016"/>
                </a:lnTo>
                <a:lnTo>
                  <a:pt x="54577" y="240872"/>
                </a:lnTo>
                <a:lnTo>
                  <a:pt x="91172" y="259796"/>
                </a:lnTo>
                <a:lnTo>
                  <a:pt x="133310" y="266592"/>
                </a:lnTo>
                <a:lnTo>
                  <a:pt x="175439" y="259796"/>
                </a:lnTo>
                <a:lnTo>
                  <a:pt x="212029" y="240872"/>
                </a:lnTo>
                <a:lnTo>
                  <a:pt x="240883" y="212016"/>
                </a:lnTo>
                <a:lnTo>
                  <a:pt x="259806" y="175426"/>
                </a:lnTo>
                <a:lnTo>
                  <a:pt x="266602" y="133297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514742" y="2601887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6"/>
                </a:lnTo>
                <a:lnTo>
                  <a:pt x="266583" y="133297"/>
                </a:lnTo>
                <a:lnTo>
                  <a:pt x="259787" y="91167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514742" y="2601887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7"/>
                </a:moveTo>
                <a:lnTo>
                  <a:pt x="259787" y="91167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6"/>
                </a:lnTo>
                <a:lnTo>
                  <a:pt x="266583" y="133297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587832" y="2580419"/>
            <a:ext cx="196925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002381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6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6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1" y="212016"/>
                </a:lnTo>
                <a:lnTo>
                  <a:pt x="259795" y="175425"/>
                </a:lnTo>
                <a:lnTo>
                  <a:pt x="266591" y="133296"/>
                </a:lnTo>
                <a:lnTo>
                  <a:pt x="259795" y="91166"/>
                </a:lnTo>
                <a:lnTo>
                  <a:pt x="240871" y="54575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002381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1" y="133296"/>
                </a:moveTo>
                <a:lnTo>
                  <a:pt x="259795" y="91166"/>
                </a:lnTo>
                <a:lnTo>
                  <a:pt x="240871" y="54575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6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6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1" y="212016"/>
                </a:lnTo>
                <a:lnTo>
                  <a:pt x="259795" y="175425"/>
                </a:lnTo>
                <a:lnTo>
                  <a:pt x="266591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542744" y="3277340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5"/>
                </a:lnTo>
                <a:lnTo>
                  <a:pt x="54576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1"/>
                </a:lnTo>
                <a:lnTo>
                  <a:pt x="91167" y="259795"/>
                </a:lnTo>
                <a:lnTo>
                  <a:pt x="133297" y="266592"/>
                </a:lnTo>
                <a:lnTo>
                  <a:pt x="175427" y="259795"/>
                </a:lnTo>
                <a:lnTo>
                  <a:pt x="212017" y="240871"/>
                </a:lnTo>
                <a:lnTo>
                  <a:pt x="240873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3" y="54575"/>
                </a:lnTo>
                <a:lnTo>
                  <a:pt x="212017" y="25719"/>
                </a:lnTo>
                <a:lnTo>
                  <a:pt x="175427" y="6795"/>
                </a:lnTo>
                <a:lnTo>
                  <a:pt x="133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542744" y="3277340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3" y="54575"/>
                </a:lnTo>
                <a:lnTo>
                  <a:pt x="212017" y="25719"/>
                </a:lnTo>
                <a:lnTo>
                  <a:pt x="175427" y="6795"/>
                </a:lnTo>
                <a:lnTo>
                  <a:pt x="133297" y="0"/>
                </a:lnTo>
                <a:lnTo>
                  <a:pt x="91167" y="6795"/>
                </a:lnTo>
                <a:lnTo>
                  <a:pt x="54576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1"/>
                </a:lnTo>
                <a:lnTo>
                  <a:pt x="91167" y="259795"/>
                </a:lnTo>
                <a:lnTo>
                  <a:pt x="133297" y="266592"/>
                </a:lnTo>
                <a:lnTo>
                  <a:pt x="175427" y="259795"/>
                </a:lnTo>
                <a:lnTo>
                  <a:pt x="212017" y="240871"/>
                </a:lnTo>
                <a:lnTo>
                  <a:pt x="240873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083099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6"/>
                </a:ln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083099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6"/>
                </a:move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623473" y="3277340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5"/>
                </a:lnTo>
                <a:lnTo>
                  <a:pt x="54575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1"/>
                </a:lnTo>
                <a:lnTo>
                  <a:pt x="91166" y="259795"/>
                </a:lnTo>
                <a:lnTo>
                  <a:pt x="133295" y="266592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623473" y="3277340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6" y="6795"/>
                </a:lnTo>
                <a:lnTo>
                  <a:pt x="54575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1"/>
                </a:lnTo>
                <a:lnTo>
                  <a:pt x="91166" y="259795"/>
                </a:lnTo>
                <a:lnTo>
                  <a:pt x="133295" y="266592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163838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05" y="0"/>
                </a:moveTo>
                <a:lnTo>
                  <a:pt x="91170" y="6796"/>
                </a:lnTo>
                <a:lnTo>
                  <a:pt x="54577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7" y="240872"/>
                </a:lnTo>
                <a:lnTo>
                  <a:pt x="91170" y="259796"/>
                </a:lnTo>
                <a:lnTo>
                  <a:pt x="133305" y="266592"/>
                </a:lnTo>
                <a:lnTo>
                  <a:pt x="175433" y="259796"/>
                </a:lnTo>
                <a:lnTo>
                  <a:pt x="212023" y="240872"/>
                </a:lnTo>
                <a:lnTo>
                  <a:pt x="240877" y="212016"/>
                </a:lnTo>
                <a:lnTo>
                  <a:pt x="259800" y="175425"/>
                </a:lnTo>
                <a:lnTo>
                  <a:pt x="266596" y="133296"/>
                </a:lnTo>
                <a:lnTo>
                  <a:pt x="259800" y="91166"/>
                </a:lnTo>
                <a:lnTo>
                  <a:pt x="240877" y="54575"/>
                </a:lnTo>
                <a:lnTo>
                  <a:pt x="212023" y="25720"/>
                </a:lnTo>
                <a:lnTo>
                  <a:pt x="175433" y="6796"/>
                </a:lnTo>
                <a:lnTo>
                  <a:pt x="1333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163838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6" y="133296"/>
                </a:moveTo>
                <a:lnTo>
                  <a:pt x="259800" y="91166"/>
                </a:lnTo>
                <a:lnTo>
                  <a:pt x="240877" y="54575"/>
                </a:lnTo>
                <a:lnTo>
                  <a:pt x="212023" y="25720"/>
                </a:lnTo>
                <a:lnTo>
                  <a:pt x="175433" y="6796"/>
                </a:lnTo>
                <a:lnTo>
                  <a:pt x="133305" y="0"/>
                </a:lnTo>
                <a:lnTo>
                  <a:pt x="91170" y="6796"/>
                </a:lnTo>
                <a:lnTo>
                  <a:pt x="54577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7" y="240872"/>
                </a:lnTo>
                <a:lnTo>
                  <a:pt x="91170" y="259796"/>
                </a:lnTo>
                <a:lnTo>
                  <a:pt x="133305" y="266592"/>
                </a:lnTo>
                <a:lnTo>
                  <a:pt x="175433" y="259796"/>
                </a:lnTo>
                <a:lnTo>
                  <a:pt x="212023" y="240872"/>
                </a:lnTo>
                <a:lnTo>
                  <a:pt x="240877" y="212016"/>
                </a:lnTo>
                <a:lnTo>
                  <a:pt x="259800" y="175425"/>
                </a:lnTo>
                <a:lnTo>
                  <a:pt x="266596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704205" y="3277340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5"/>
                </a:lnTo>
                <a:lnTo>
                  <a:pt x="54573" y="25719"/>
                </a:lnTo>
                <a:lnTo>
                  <a:pt x="25718" y="54575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1"/>
                </a:lnTo>
                <a:lnTo>
                  <a:pt x="91162" y="259795"/>
                </a:lnTo>
                <a:lnTo>
                  <a:pt x="133291" y="266592"/>
                </a:lnTo>
                <a:lnTo>
                  <a:pt x="175420" y="259795"/>
                </a:lnTo>
                <a:lnTo>
                  <a:pt x="212009" y="240871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5"/>
                </a:lnTo>
                <a:lnTo>
                  <a:pt x="259787" y="91165"/>
                </a:lnTo>
                <a:lnTo>
                  <a:pt x="240864" y="54575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704205" y="3277340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5"/>
                </a:moveTo>
                <a:lnTo>
                  <a:pt x="259787" y="91165"/>
                </a:lnTo>
                <a:lnTo>
                  <a:pt x="240864" y="54575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lnTo>
                  <a:pt x="91162" y="6795"/>
                </a:lnTo>
                <a:lnTo>
                  <a:pt x="54573" y="25719"/>
                </a:lnTo>
                <a:lnTo>
                  <a:pt x="25718" y="54575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1"/>
                </a:lnTo>
                <a:lnTo>
                  <a:pt x="91162" y="259795"/>
                </a:lnTo>
                <a:lnTo>
                  <a:pt x="133291" y="266592"/>
                </a:lnTo>
                <a:lnTo>
                  <a:pt x="175420" y="259795"/>
                </a:lnTo>
                <a:lnTo>
                  <a:pt x="212009" y="240871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244556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10" y="0"/>
                </a:moveTo>
                <a:lnTo>
                  <a:pt x="91180" y="6796"/>
                </a:lnTo>
                <a:lnTo>
                  <a:pt x="54585" y="25720"/>
                </a:lnTo>
                <a:lnTo>
                  <a:pt x="25725" y="54575"/>
                </a:lnTo>
                <a:lnTo>
                  <a:pt x="6797" y="91166"/>
                </a:lnTo>
                <a:lnTo>
                  <a:pt x="0" y="133296"/>
                </a:lnTo>
                <a:lnTo>
                  <a:pt x="6797" y="175425"/>
                </a:lnTo>
                <a:lnTo>
                  <a:pt x="25725" y="212016"/>
                </a:lnTo>
                <a:lnTo>
                  <a:pt x="54585" y="240872"/>
                </a:lnTo>
                <a:lnTo>
                  <a:pt x="91180" y="259796"/>
                </a:lnTo>
                <a:lnTo>
                  <a:pt x="133310" y="266592"/>
                </a:lnTo>
                <a:lnTo>
                  <a:pt x="175439" y="259796"/>
                </a:lnTo>
                <a:lnTo>
                  <a:pt x="212029" y="240872"/>
                </a:lnTo>
                <a:lnTo>
                  <a:pt x="240883" y="212016"/>
                </a:lnTo>
                <a:lnTo>
                  <a:pt x="259806" y="175425"/>
                </a:lnTo>
                <a:lnTo>
                  <a:pt x="266602" y="133296"/>
                </a:lnTo>
                <a:lnTo>
                  <a:pt x="259806" y="91166"/>
                </a:lnTo>
                <a:lnTo>
                  <a:pt x="240883" y="54575"/>
                </a:lnTo>
                <a:lnTo>
                  <a:pt x="212029" y="25720"/>
                </a:lnTo>
                <a:lnTo>
                  <a:pt x="175439" y="6796"/>
                </a:lnTo>
                <a:lnTo>
                  <a:pt x="1333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1244556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6"/>
                </a:moveTo>
                <a:lnTo>
                  <a:pt x="259806" y="91166"/>
                </a:lnTo>
                <a:lnTo>
                  <a:pt x="240883" y="54575"/>
                </a:lnTo>
                <a:lnTo>
                  <a:pt x="212029" y="25720"/>
                </a:lnTo>
                <a:lnTo>
                  <a:pt x="175439" y="6796"/>
                </a:lnTo>
                <a:lnTo>
                  <a:pt x="133310" y="0"/>
                </a:lnTo>
                <a:lnTo>
                  <a:pt x="91180" y="6796"/>
                </a:lnTo>
                <a:lnTo>
                  <a:pt x="54585" y="25720"/>
                </a:lnTo>
                <a:lnTo>
                  <a:pt x="25725" y="54575"/>
                </a:lnTo>
                <a:lnTo>
                  <a:pt x="6797" y="91166"/>
                </a:lnTo>
                <a:lnTo>
                  <a:pt x="0" y="133296"/>
                </a:lnTo>
                <a:lnTo>
                  <a:pt x="6797" y="175425"/>
                </a:lnTo>
                <a:lnTo>
                  <a:pt x="25725" y="212016"/>
                </a:lnTo>
                <a:lnTo>
                  <a:pt x="54585" y="240872"/>
                </a:lnTo>
                <a:lnTo>
                  <a:pt x="91180" y="259796"/>
                </a:lnTo>
                <a:lnTo>
                  <a:pt x="133310" y="266592"/>
                </a:lnTo>
                <a:lnTo>
                  <a:pt x="175439" y="259796"/>
                </a:lnTo>
                <a:lnTo>
                  <a:pt x="212029" y="240872"/>
                </a:lnTo>
                <a:lnTo>
                  <a:pt x="240883" y="212016"/>
                </a:lnTo>
                <a:lnTo>
                  <a:pt x="259806" y="175425"/>
                </a:lnTo>
                <a:lnTo>
                  <a:pt x="266602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784930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784930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6"/>
                </a:move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075449" y="2580420"/>
            <a:ext cx="3979437" cy="996696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284974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>
                <a:tab pos="1373899" algn="l"/>
                <a:tab pos="2455099" algn="l"/>
              </a:tabLst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	F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3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96206" algn="l"/>
                <a:tab pos="1128311" algn="l"/>
                <a:tab pos="1636476" algn="l"/>
                <a:tab pos="2192522" algn="l"/>
                <a:tab pos="2700688" algn="l"/>
                <a:tab pos="3249011" algn="l"/>
                <a:tab pos="3797335" algn="l"/>
              </a:tabLst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H	</a:t>
            </a:r>
            <a:r>
              <a:rPr kumimoji="0" sz="1763" b="0" i="1" u="none" strike="noStrike" kern="1200" cap="none" spc="12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	J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K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	</a:t>
            </a:r>
            <a:r>
              <a:rPr kumimoji="0" sz="1763" b="0" i="1" u="none" strike="noStrike" kern="1200" cap="none" spc="3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	O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9716966" y="1326525"/>
            <a:ext cx="138925" cy="1731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800331" y="3688855"/>
            <a:ext cx="3495233" cy="1012975"/>
          </a:xfrm>
          <a:prstGeom prst="rect">
            <a:avLst/>
          </a:prstGeom>
        </p:spPr>
        <p:txBody>
          <a:bodyPr vert="horz" wrap="square" lIns="0" tIns="14673" rIns="0" bIns="0" rtlCol="0">
            <a:spAutoFit/>
          </a:bodyPr>
          <a:lstStyle/>
          <a:p>
            <a:pPr marL="15446" marR="6178" lvl="0" indent="0" algn="l" defTabSz="1112093" rtl="0" eaLnBrk="1" fontAlgn="auto" latinLnBrk="0" hangingPunct="1">
              <a:lnSpc>
                <a:spcPct val="107400"/>
              </a:lnSpc>
              <a:spcBef>
                <a:spcPts val="11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maximum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branching factor 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shallowest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  </a:t>
            </a:r>
            <a:r>
              <a:rPr kumimoji="0" sz="2068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max.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any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112049" y="6125585"/>
            <a:ext cx="11120494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50269" y="4988105"/>
            <a:ext cx="7266934" cy="2156689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deepest</a:t>
            </a:r>
            <a:r>
              <a:rPr kumimoji="0" sz="2493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696603" marR="0" lvl="1" indent="-253309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697375" algn="l"/>
              </a:tabLst>
              <a:defRPr/>
            </a:pPr>
            <a:r>
              <a:rPr kumimoji="0" sz="2493" b="0" i="1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pushdown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stack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56047" marR="0" lvl="1" indent="0" algn="l" defTabSz="1112093" rtl="0" eaLnBrk="1" fontAlgn="auto" latinLnBrk="0" hangingPunct="1">
              <a:lnSpc>
                <a:spcPct val="100000"/>
              </a:lnSpc>
              <a:spcBef>
                <a:spcPts val="18"/>
              </a:spcBef>
              <a:spcAft>
                <a:spcPts val="0"/>
              </a:spcAft>
              <a:buClrTx/>
              <a:buSzTx/>
              <a:buFont typeface="Arial"/>
              <a:buChar char="►"/>
              <a:tabLst/>
              <a:defRPr/>
            </a:pPr>
            <a:endParaRPr kumimoji="0" sz="285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21624" lvl="0" indent="-399272" algn="l" defTabSz="1112093" rtl="0" eaLnBrk="1" fontAlgn="auto" latinLnBrk="0" hangingPunct="1">
              <a:lnSpc>
                <a:spcPct val="101200"/>
              </a:lnSpc>
              <a:spcBef>
                <a:spcPts val="6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Like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what </a:t>
            </a:r>
            <a:r>
              <a:rPr kumimoji="0" sz="2493" b="0" i="0" u="none" strike="noStrike" kern="1200" cap="none" spc="-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you’ve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seen in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previous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courses,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except  expanding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node generates all of its children at</a:t>
            </a:r>
            <a:r>
              <a:rPr kumimoji="0" sz="2493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once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73ADF1A-EDD0-3D4A-A28E-E8B1EA1756EC}"/>
              </a:ext>
            </a:extLst>
          </p:cNvPr>
          <p:cNvSpPr/>
          <p:nvPr/>
        </p:nvSpPr>
        <p:spPr>
          <a:xfrm>
            <a:off x="897467" y="4927598"/>
            <a:ext cx="4402666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2401654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0675" y="644238"/>
            <a:ext cx="5034463" cy="1437703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356024">
              <a:spcBef>
                <a:spcPts val="152"/>
              </a:spcBef>
            </a:pPr>
            <a:r>
              <a:rPr spc="-12" dirty="0"/>
              <a:t>Depth-first</a:t>
            </a:r>
            <a:r>
              <a:rPr spc="23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84361" y="1413081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888636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65078" y="1413081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0" y="0"/>
                </a:moveTo>
                <a:lnTo>
                  <a:pt x="88865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05438" y="2088535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31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45812" y="2088535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11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43995" y="2088535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23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84361" y="2088535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13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415976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65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686163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65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335274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46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605438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65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54539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5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24714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73809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7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43987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902970" y="1250963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6"/>
                </a:lnTo>
                <a:lnTo>
                  <a:pt x="54574" y="25722"/>
                </a:lnTo>
                <a:lnTo>
                  <a:pt x="25719" y="54580"/>
                </a:lnTo>
                <a:lnTo>
                  <a:pt x="6795" y="91172"/>
                </a:lnTo>
                <a:lnTo>
                  <a:pt x="0" y="133303"/>
                </a:lnTo>
                <a:lnTo>
                  <a:pt x="6795" y="175432"/>
                </a:lnTo>
                <a:lnTo>
                  <a:pt x="25719" y="212023"/>
                </a:lnTo>
                <a:lnTo>
                  <a:pt x="54574" y="240878"/>
                </a:lnTo>
                <a:lnTo>
                  <a:pt x="91165" y="259802"/>
                </a:lnTo>
                <a:lnTo>
                  <a:pt x="133295" y="266598"/>
                </a:lnTo>
                <a:lnTo>
                  <a:pt x="175425" y="259802"/>
                </a:lnTo>
                <a:lnTo>
                  <a:pt x="212016" y="240878"/>
                </a:lnTo>
                <a:lnTo>
                  <a:pt x="240872" y="212023"/>
                </a:lnTo>
                <a:lnTo>
                  <a:pt x="259796" y="175432"/>
                </a:lnTo>
                <a:lnTo>
                  <a:pt x="266592" y="133303"/>
                </a:lnTo>
                <a:lnTo>
                  <a:pt x="259796" y="91172"/>
                </a:lnTo>
                <a:lnTo>
                  <a:pt x="240872" y="54580"/>
                </a:lnTo>
                <a:lnTo>
                  <a:pt x="212016" y="25722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902970" y="1250963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303"/>
                </a:moveTo>
                <a:lnTo>
                  <a:pt x="259796" y="91172"/>
                </a:lnTo>
                <a:lnTo>
                  <a:pt x="240872" y="54580"/>
                </a:lnTo>
                <a:lnTo>
                  <a:pt x="212016" y="25722"/>
                </a:lnTo>
                <a:lnTo>
                  <a:pt x="175425" y="6796"/>
                </a:lnTo>
                <a:lnTo>
                  <a:pt x="133295" y="0"/>
                </a:lnTo>
                <a:lnTo>
                  <a:pt x="91165" y="6796"/>
                </a:lnTo>
                <a:lnTo>
                  <a:pt x="54574" y="25722"/>
                </a:lnTo>
                <a:lnTo>
                  <a:pt x="25719" y="54580"/>
                </a:lnTo>
                <a:lnTo>
                  <a:pt x="6795" y="91172"/>
                </a:lnTo>
                <a:lnTo>
                  <a:pt x="0" y="133303"/>
                </a:lnTo>
                <a:lnTo>
                  <a:pt x="6795" y="175432"/>
                </a:lnTo>
                <a:lnTo>
                  <a:pt x="25719" y="212023"/>
                </a:lnTo>
                <a:lnTo>
                  <a:pt x="54574" y="240878"/>
                </a:lnTo>
                <a:lnTo>
                  <a:pt x="91165" y="259802"/>
                </a:lnTo>
                <a:lnTo>
                  <a:pt x="133295" y="266598"/>
                </a:lnTo>
                <a:lnTo>
                  <a:pt x="175425" y="259802"/>
                </a:lnTo>
                <a:lnTo>
                  <a:pt x="212016" y="240878"/>
                </a:lnTo>
                <a:lnTo>
                  <a:pt x="240872" y="212023"/>
                </a:lnTo>
                <a:lnTo>
                  <a:pt x="259796" y="175432"/>
                </a:lnTo>
                <a:lnTo>
                  <a:pt x="266592" y="133303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84224" y="1229515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822241" y="192641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5"/>
                </a:lnTo>
                <a:lnTo>
                  <a:pt x="54576" y="240871"/>
                </a:lnTo>
                <a:lnTo>
                  <a:pt x="91167" y="259794"/>
                </a:lnTo>
                <a:lnTo>
                  <a:pt x="133297" y="266590"/>
                </a:lnTo>
                <a:lnTo>
                  <a:pt x="175426" y="259794"/>
                </a:lnTo>
                <a:lnTo>
                  <a:pt x="212016" y="240871"/>
                </a:lnTo>
                <a:lnTo>
                  <a:pt x="240872" y="212015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822241" y="192641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7" y="0"/>
                </a:ln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5"/>
                </a:lnTo>
                <a:lnTo>
                  <a:pt x="54576" y="240871"/>
                </a:lnTo>
                <a:lnTo>
                  <a:pt x="91167" y="259794"/>
                </a:lnTo>
                <a:lnTo>
                  <a:pt x="133297" y="266590"/>
                </a:lnTo>
                <a:lnTo>
                  <a:pt x="175426" y="259794"/>
                </a:lnTo>
                <a:lnTo>
                  <a:pt x="212016" y="240871"/>
                </a:lnTo>
                <a:lnTo>
                  <a:pt x="240872" y="212015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11676" y="1904948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983710" y="192641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4"/>
                </a:lnTo>
                <a:lnTo>
                  <a:pt x="133291" y="266590"/>
                </a:lnTo>
                <a:lnTo>
                  <a:pt x="175420" y="259794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5"/>
                </a:lnTo>
                <a:lnTo>
                  <a:pt x="266583" y="133295"/>
                </a:ln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983710" y="192641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5"/>
                </a:move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4"/>
                </a:lnTo>
                <a:lnTo>
                  <a:pt x="133291" y="266590"/>
                </a:lnTo>
                <a:lnTo>
                  <a:pt x="175420" y="259794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5"/>
                </a:lnTo>
                <a:lnTo>
                  <a:pt x="266583" y="133295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064938" y="1904948"/>
            <a:ext cx="183797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81878" y="260186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9" y="212016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6"/>
                </a:lnTo>
                <a:lnTo>
                  <a:pt x="259794" y="175426"/>
                </a:lnTo>
                <a:lnTo>
                  <a:pt x="266590" y="133297"/>
                </a:lnTo>
                <a:lnTo>
                  <a:pt x="259794" y="91167"/>
                </a:lnTo>
                <a:lnTo>
                  <a:pt x="240871" y="54576"/>
                </a:lnTo>
                <a:lnTo>
                  <a:pt x="212015" y="25720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281878" y="260186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0" y="133297"/>
                </a:moveTo>
                <a:lnTo>
                  <a:pt x="259794" y="91167"/>
                </a:lnTo>
                <a:lnTo>
                  <a:pt x="240871" y="54576"/>
                </a:lnTo>
                <a:lnTo>
                  <a:pt x="212015" y="25720"/>
                </a:lnTo>
                <a:lnTo>
                  <a:pt x="175425" y="6796"/>
                </a:lnTo>
                <a:lnTo>
                  <a:pt x="133295" y="0"/>
                </a:lnTo>
                <a:lnTo>
                  <a:pt x="91165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9" y="212016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6"/>
                </a:lnTo>
                <a:lnTo>
                  <a:pt x="259794" y="175426"/>
                </a:lnTo>
                <a:lnTo>
                  <a:pt x="266590" y="133297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362606" y="260186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6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6"/>
                </a:lnTo>
                <a:lnTo>
                  <a:pt x="266592" y="133297"/>
                </a:ln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362606" y="260186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7"/>
                </a:move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6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6"/>
                </a:lnTo>
                <a:lnTo>
                  <a:pt x="266592" y="133297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443336" y="260186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10" y="0"/>
                </a:moveTo>
                <a:lnTo>
                  <a:pt x="91180" y="6796"/>
                </a:lnTo>
                <a:lnTo>
                  <a:pt x="54585" y="25720"/>
                </a:lnTo>
                <a:lnTo>
                  <a:pt x="25725" y="54576"/>
                </a:lnTo>
                <a:lnTo>
                  <a:pt x="6797" y="91167"/>
                </a:lnTo>
                <a:lnTo>
                  <a:pt x="0" y="133297"/>
                </a:lnTo>
                <a:lnTo>
                  <a:pt x="6797" y="175426"/>
                </a:lnTo>
                <a:lnTo>
                  <a:pt x="25725" y="212016"/>
                </a:lnTo>
                <a:lnTo>
                  <a:pt x="54585" y="240872"/>
                </a:lnTo>
                <a:lnTo>
                  <a:pt x="91180" y="259796"/>
                </a:lnTo>
                <a:lnTo>
                  <a:pt x="133310" y="266592"/>
                </a:lnTo>
                <a:lnTo>
                  <a:pt x="175439" y="259796"/>
                </a:lnTo>
                <a:lnTo>
                  <a:pt x="212029" y="240872"/>
                </a:lnTo>
                <a:lnTo>
                  <a:pt x="240883" y="212016"/>
                </a:lnTo>
                <a:lnTo>
                  <a:pt x="259806" y="175426"/>
                </a:lnTo>
                <a:lnTo>
                  <a:pt x="266602" y="133297"/>
                </a:lnTo>
                <a:lnTo>
                  <a:pt x="259806" y="91167"/>
                </a:lnTo>
                <a:lnTo>
                  <a:pt x="240883" y="54576"/>
                </a:lnTo>
                <a:lnTo>
                  <a:pt x="212029" y="25720"/>
                </a:lnTo>
                <a:lnTo>
                  <a:pt x="175439" y="6796"/>
                </a:lnTo>
                <a:lnTo>
                  <a:pt x="1333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443336" y="260186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7"/>
                </a:moveTo>
                <a:lnTo>
                  <a:pt x="259806" y="91167"/>
                </a:lnTo>
                <a:lnTo>
                  <a:pt x="240883" y="54576"/>
                </a:lnTo>
                <a:lnTo>
                  <a:pt x="212029" y="25720"/>
                </a:lnTo>
                <a:lnTo>
                  <a:pt x="175439" y="6796"/>
                </a:lnTo>
                <a:lnTo>
                  <a:pt x="133310" y="0"/>
                </a:lnTo>
                <a:lnTo>
                  <a:pt x="91180" y="6796"/>
                </a:lnTo>
                <a:lnTo>
                  <a:pt x="54585" y="25720"/>
                </a:lnTo>
                <a:lnTo>
                  <a:pt x="25725" y="54576"/>
                </a:lnTo>
                <a:lnTo>
                  <a:pt x="6797" y="91167"/>
                </a:lnTo>
                <a:lnTo>
                  <a:pt x="0" y="133297"/>
                </a:lnTo>
                <a:lnTo>
                  <a:pt x="6797" y="175426"/>
                </a:lnTo>
                <a:lnTo>
                  <a:pt x="25725" y="212016"/>
                </a:lnTo>
                <a:lnTo>
                  <a:pt x="54585" y="240872"/>
                </a:lnTo>
                <a:lnTo>
                  <a:pt x="91180" y="259796"/>
                </a:lnTo>
                <a:lnTo>
                  <a:pt x="133310" y="266592"/>
                </a:lnTo>
                <a:lnTo>
                  <a:pt x="175439" y="259796"/>
                </a:lnTo>
                <a:lnTo>
                  <a:pt x="212029" y="240872"/>
                </a:lnTo>
                <a:lnTo>
                  <a:pt x="240883" y="212016"/>
                </a:lnTo>
                <a:lnTo>
                  <a:pt x="259806" y="175426"/>
                </a:lnTo>
                <a:lnTo>
                  <a:pt x="266602" y="133297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524059" y="260186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6"/>
                </a:lnTo>
                <a:lnTo>
                  <a:pt x="266583" y="133297"/>
                </a:lnTo>
                <a:lnTo>
                  <a:pt x="259787" y="91167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524059" y="260186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7"/>
                </a:moveTo>
                <a:lnTo>
                  <a:pt x="259787" y="91167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6"/>
                </a:lnTo>
                <a:lnTo>
                  <a:pt x="266583" y="133297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597126" y="2580401"/>
            <a:ext cx="196925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011709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6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6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5" y="175425"/>
                </a:lnTo>
                <a:lnTo>
                  <a:pt x="266591" y="133296"/>
                </a:lnTo>
                <a:lnTo>
                  <a:pt x="259795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011709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1" y="133296"/>
                </a:moveTo>
                <a:lnTo>
                  <a:pt x="259795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6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6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5" y="175425"/>
                </a:lnTo>
                <a:lnTo>
                  <a:pt x="266591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552073" y="327732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6"/>
                </a:ln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552073" y="327732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6"/>
                </a:move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092428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6"/>
                </a:ln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092428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6"/>
                </a:move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632792" y="3277340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5"/>
                </a:lnTo>
                <a:lnTo>
                  <a:pt x="54575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1"/>
                </a:lnTo>
                <a:lnTo>
                  <a:pt x="91166" y="259795"/>
                </a:lnTo>
                <a:lnTo>
                  <a:pt x="133295" y="266592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632792" y="3277340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6" y="6795"/>
                </a:lnTo>
                <a:lnTo>
                  <a:pt x="54575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1"/>
                </a:lnTo>
                <a:lnTo>
                  <a:pt x="91166" y="259795"/>
                </a:lnTo>
                <a:lnTo>
                  <a:pt x="133295" y="266592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173166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6"/>
                </a:lnTo>
                <a:lnTo>
                  <a:pt x="54574" y="25720"/>
                </a:lnTo>
                <a:lnTo>
                  <a:pt x="25719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9" y="212016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4" y="259796"/>
                </a:lnTo>
                <a:lnTo>
                  <a:pt x="212013" y="240872"/>
                </a:lnTo>
                <a:lnTo>
                  <a:pt x="240868" y="212016"/>
                </a:lnTo>
                <a:lnTo>
                  <a:pt x="259791" y="175425"/>
                </a:lnTo>
                <a:lnTo>
                  <a:pt x="266587" y="133296"/>
                </a:lnTo>
                <a:lnTo>
                  <a:pt x="259791" y="91166"/>
                </a:lnTo>
                <a:lnTo>
                  <a:pt x="240868" y="54575"/>
                </a:lnTo>
                <a:lnTo>
                  <a:pt x="212013" y="25720"/>
                </a:lnTo>
                <a:lnTo>
                  <a:pt x="175424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173166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7" y="133296"/>
                </a:moveTo>
                <a:lnTo>
                  <a:pt x="259791" y="91166"/>
                </a:lnTo>
                <a:lnTo>
                  <a:pt x="240868" y="54575"/>
                </a:lnTo>
                <a:lnTo>
                  <a:pt x="212013" y="25720"/>
                </a:lnTo>
                <a:lnTo>
                  <a:pt x="175424" y="6796"/>
                </a:lnTo>
                <a:lnTo>
                  <a:pt x="133295" y="0"/>
                </a:lnTo>
                <a:lnTo>
                  <a:pt x="91165" y="6796"/>
                </a:lnTo>
                <a:lnTo>
                  <a:pt x="54574" y="25720"/>
                </a:lnTo>
                <a:lnTo>
                  <a:pt x="25719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9" y="212016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4" y="259796"/>
                </a:lnTo>
                <a:lnTo>
                  <a:pt x="212013" y="240872"/>
                </a:lnTo>
                <a:lnTo>
                  <a:pt x="240868" y="212016"/>
                </a:lnTo>
                <a:lnTo>
                  <a:pt x="259791" y="175425"/>
                </a:lnTo>
                <a:lnTo>
                  <a:pt x="266587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713522" y="327732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713522" y="327732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6"/>
                </a:move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253896" y="327731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6"/>
                </a:lnTo>
                <a:lnTo>
                  <a:pt x="266583" y="133296"/>
                </a:lnTo>
                <a:lnTo>
                  <a:pt x="259787" y="91166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1253896" y="327731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6"/>
                </a:moveTo>
                <a:lnTo>
                  <a:pt x="259787" y="91166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6"/>
                </a:lnTo>
                <a:lnTo>
                  <a:pt x="266583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794247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794247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6"/>
                </a:move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084777" y="2580402"/>
            <a:ext cx="3979437" cy="996696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284974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>
                <a:tab pos="1373899" algn="l"/>
                <a:tab pos="2455099" algn="l"/>
              </a:tabLst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	F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3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96206" algn="l"/>
                <a:tab pos="1128311" algn="l"/>
                <a:tab pos="1636476" algn="l"/>
                <a:tab pos="2192522" algn="l"/>
                <a:tab pos="2700688" algn="l"/>
                <a:tab pos="3249011" algn="l"/>
                <a:tab pos="3797335" algn="l"/>
              </a:tabLst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H	</a:t>
            </a:r>
            <a:r>
              <a:rPr kumimoji="0" sz="1763" b="0" i="1" u="none" strike="noStrike" kern="1200" cap="none" spc="12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	J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K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	</a:t>
            </a:r>
            <a:r>
              <a:rPr kumimoji="0" sz="1763" b="0" i="1" u="none" strike="noStrike" kern="1200" cap="none" spc="3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	O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643598" y="2001960"/>
            <a:ext cx="138925" cy="1731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800331" y="3688855"/>
            <a:ext cx="3495233" cy="1012975"/>
          </a:xfrm>
          <a:prstGeom prst="rect">
            <a:avLst/>
          </a:prstGeom>
        </p:spPr>
        <p:txBody>
          <a:bodyPr vert="horz" wrap="square" lIns="0" tIns="14673" rIns="0" bIns="0" rtlCol="0">
            <a:spAutoFit/>
          </a:bodyPr>
          <a:lstStyle/>
          <a:p>
            <a:pPr marL="15446" marR="6178" lvl="0" indent="0" algn="l" defTabSz="1112093" rtl="0" eaLnBrk="1" fontAlgn="auto" latinLnBrk="0" hangingPunct="1">
              <a:lnSpc>
                <a:spcPct val="107400"/>
              </a:lnSpc>
              <a:spcBef>
                <a:spcPts val="11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maximum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branching factor 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shallowest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  </a:t>
            </a:r>
            <a:r>
              <a:rPr kumimoji="0" sz="2068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max.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any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112049" y="6125585"/>
            <a:ext cx="11120494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50269" y="4988105"/>
            <a:ext cx="7266934" cy="2156689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deepest</a:t>
            </a:r>
            <a:r>
              <a:rPr kumimoji="0" sz="2493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696603" marR="0" lvl="1" indent="-253309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697375" algn="l"/>
              </a:tabLst>
              <a:defRPr/>
            </a:pPr>
            <a:r>
              <a:rPr kumimoji="0" sz="2493" b="0" i="1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pushdown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stack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56047" marR="0" lvl="1" indent="0" algn="l" defTabSz="1112093" rtl="0" eaLnBrk="1" fontAlgn="auto" latinLnBrk="0" hangingPunct="1">
              <a:lnSpc>
                <a:spcPct val="100000"/>
              </a:lnSpc>
              <a:spcBef>
                <a:spcPts val="18"/>
              </a:spcBef>
              <a:spcAft>
                <a:spcPts val="0"/>
              </a:spcAft>
              <a:buClrTx/>
              <a:buSzTx/>
              <a:buFont typeface="Arial"/>
              <a:buChar char="►"/>
              <a:tabLst/>
              <a:defRPr/>
            </a:pPr>
            <a:endParaRPr kumimoji="0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21624" lvl="0" indent="-399272" algn="l" defTabSz="1112093" rtl="0" eaLnBrk="1" fontAlgn="auto" latinLnBrk="0" hangingPunct="1">
              <a:lnSpc>
                <a:spcPct val="101200"/>
              </a:lnSpc>
              <a:spcBef>
                <a:spcPts val="6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Like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what </a:t>
            </a:r>
            <a:r>
              <a:rPr kumimoji="0" sz="2493" b="0" i="0" u="none" strike="noStrike" kern="1200" cap="none" spc="-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you’ve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seen in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previous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courses,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except  expanding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node generates all of its children at</a:t>
            </a:r>
            <a:r>
              <a:rPr kumimoji="0" sz="2493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once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89F17F2-A1E6-1D42-8B37-AC893C339229}"/>
              </a:ext>
            </a:extLst>
          </p:cNvPr>
          <p:cNvSpPr/>
          <p:nvPr/>
        </p:nvSpPr>
        <p:spPr>
          <a:xfrm>
            <a:off x="897467" y="4927598"/>
            <a:ext cx="4402666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31283899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0675" y="1077273"/>
            <a:ext cx="5034463" cy="571633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356024">
              <a:spcBef>
                <a:spcPts val="152"/>
              </a:spcBef>
            </a:pPr>
            <a:r>
              <a:rPr spc="-12" dirty="0"/>
              <a:t>Depth-first</a:t>
            </a:r>
            <a:r>
              <a:rPr spc="23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93666" y="1413081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888636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74383" y="1413081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0" y="0"/>
                </a:moveTo>
                <a:lnTo>
                  <a:pt x="888636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14750" y="2088535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11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55101" y="2088535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31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53301" y="2088535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23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93665" y="2088535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15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425312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46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695475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65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344563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65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614750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46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63860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7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34038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83132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8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53311" y="2763988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912276" y="1250963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6"/>
                </a:lnTo>
                <a:lnTo>
                  <a:pt x="54574" y="25722"/>
                </a:lnTo>
                <a:lnTo>
                  <a:pt x="25719" y="54580"/>
                </a:lnTo>
                <a:lnTo>
                  <a:pt x="6795" y="91172"/>
                </a:lnTo>
                <a:lnTo>
                  <a:pt x="0" y="133303"/>
                </a:lnTo>
                <a:lnTo>
                  <a:pt x="6795" y="175432"/>
                </a:lnTo>
                <a:lnTo>
                  <a:pt x="25719" y="212023"/>
                </a:lnTo>
                <a:lnTo>
                  <a:pt x="54574" y="240878"/>
                </a:lnTo>
                <a:lnTo>
                  <a:pt x="91165" y="259802"/>
                </a:lnTo>
                <a:lnTo>
                  <a:pt x="133295" y="266598"/>
                </a:lnTo>
                <a:lnTo>
                  <a:pt x="175425" y="259802"/>
                </a:lnTo>
                <a:lnTo>
                  <a:pt x="212016" y="240878"/>
                </a:lnTo>
                <a:lnTo>
                  <a:pt x="240872" y="212023"/>
                </a:lnTo>
                <a:lnTo>
                  <a:pt x="259796" y="175432"/>
                </a:lnTo>
                <a:lnTo>
                  <a:pt x="266592" y="133303"/>
                </a:lnTo>
                <a:lnTo>
                  <a:pt x="259796" y="91172"/>
                </a:lnTo>
                <a:lnTo>
                  <a:pt x="240872" y="54580"/>
                </a:lnTo>
                <a:lnTo>
                  <a:pt x="212016" y="25722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912276" y="1250963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303"/>
                </a:moveTo>
                <a:lnTo>
                  <a:pt x="259796" y="91172"/>
                </a:lnTo>
                <a:lnTo>
                  <a:pt x="240872" y="54580"/>
                </a:lnTo>
                <a:lnTo>
                  <a:pt x="212016" y="25722"/>
                </a:lnTo>
                <a:lnTo>
                  <a:pt x="175425" y="6796"/>
                </a:lnTo>
                <a:lnTo>
                  <a:pt x="133295" y="0"/>
                </a:lnTo>
                <a:lnTo>
                  <a:pt x="91165" y="6796"/>
                </a:lnTo>
                <a:lnTo>
                  <a:pt x="54574" y="25722"/>
                </a:lnTo>
                <a:lnTo>
                  <a:pt x="25719" y="54580"/>
                </a:lnTo>
                <a:lnTo>
                  <a:pt x="6795" y="91172"/>
                </a:lnTo>
                <a:lnTo>
                  <a:pt x="0" y="133303"/>
                </a:lnTo>
                <a:lnTo>
                  <a:pt x="6795" y="175432"/>
                </a:lnTo>
                <a:lnTo>
                  <a:pt x="25719" y="212023"/>
                </a:lnTo>
                <a:lnTo>
                  <a:pt x="54574" y="240878"/>
                </a:lnTo>
                <a:lnTo>
                  <a:pt x="91165" y="259802"/>
                </a:lnTo>
                <a:lnTo>
                  <a:pt x="133295" y="266598"/>
                </a:lnTo>
                <a:lnTo>
                  <a:pt x="175425" y="259802"/>
                </a:lnTo>
                <a:lnTo>
                  <a:pt x="212016" y="240878"/>
                </a:lnTo>
                <a:lnTo>
                  <a:pt x="240872" y="212023"/>
                </a:lnTo>
                <a:lnTo>
                  <a:pt x="259796" y="175432"/>
                </a:lnTo>
                <a:lnTo>
                  <a:pt x="266592" y="133303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93532" y="1229515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831546" y="192641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5"/>
                </a:lnTo>
                <a:lnTo>
                  <a:pt x="54576" y="240871"/>
                </a:lnTo>
                <a:lnTo>
                  <a:pt x="91167" y="259794"/>
                </a:lnTo>
                <a:lnTo>
                  <a:pt x="133297" y="266590"/>
                </a:lnTo>
                <a:lnTo>
                  <a:pt x="175426" y="259794"/>
                </a:lnTo>
                <a:lnTo>
                  <a:pt x="212016" y="240871"/>
                </a:lnTo>
                <a:lnTo>
                  <a:pt x="240872" y="212015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831546" y="192641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7" y="0"/>
                </a:ln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5"/>
                </a:lnTo>
                <a:lnTo>
                  <a:pt x="54576" y="240871"/>
                </a:lnTo>
                <a:lnTo>
                  <a:pt x="91167" y="259794"/>
                </a:lnTo>
                <a:lnTo>
                  <a:pt x="133297" y="266590"/>
                </a:lnTo>
                <a:lnTo>
                  <a:pt x="175426" y="259794"/>
                </a:lnTo>
                <a:lnTo>
                  <a:pt x="212016" y="240871"/>
                </a:lnTo>
                <a:lnTo>
                  <a:pt x="240872" y="212015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20983" y="1904948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993021" y="192641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4"/>
                </a:lnTo>
                <a:lnTo>
                  <a:pt x="133291" y="266590"/>
                </a:lnTo>
                <a:lnTo>
                  <a:pt x="175420" y="259794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5"/>
                </a:lnTo>
                <a:lnTo>
                  <a:pt x="266583" y="133295"/>
                </a:ln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993022" y="192641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5"/>
                </a:move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4"/>
                </a:lnTo>
                <a:lnTo>
                  <a:pt x="133291" y="266590"/>
                </a:lnTo>
                <a:lnTo>
                  <a:pt x="175420" y="259794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5"/>
                </a:lnTo>
                <a:lnTo>
                  <a:pt x="266583" y="133295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074250" y="1904948"/>
            <a:ext cx="183797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91200" y="260186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6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7" y="259796"/>
                </a:lnTo>
                <a:lnTo>
                  <a:pt x="212017" y="240872"/>
                </a:lnTo>
                <a:lnTo>
                  <a:pt x="240873" y="212016"/>
                </a:lnTo>
                <a:lnTo>
                  <a:pt x="259796" y="175426"/>
                </a:lnTo>
                <a:lnTo>
                  <a:pt x="266592" y="133297"/>
                </a:lnTo>
                <a:lnTo>
                  <a:pt x="259796" y="91167"/>
                </a:lnTo>
                <a:lnTo>
                  <a:pt x="240873" y="54576"/>
                </a:lnTo>
                <a:lnTo>
                  <a:pt x="212017" y="25720"/>
                </a:lnTo>
                <a:lnTo>
                  <a:pt x="175427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291200" y="260186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7"/>
                </a:moveTo>
                <a:lnTo>
                  <a:pt x="259796" y="91167"/>
                </a:lnTo>
                <a:lnTo>
                  <a:pt x="240873" y="54576"/>
                </a:lnTo>
                <a:lnTo>
                  <a:pt x="212017" y="25720"/>
                </a:lnTo>
                <a:lnTo>
                  <a:pt x="175427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6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7" y="259796"/>
                </a:lnTo>
                <a:lnTo>
                  <a:pt x="212017" y="240872"/>
                </a:lnTo>
                <a:lnTo>
                  <a:pt x="240873" y="212016"/>
                </a:lnTo>
                <a:lnTo>
                  <a:pt x="259796" y="175426"/>
                </a:lnTo>
                <a:lnTo>
                  <a:pt x="266592" y="133297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371911" y="260186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6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6"/>
                </a:lnTo>
                <a:lnTo>
                  <a:pt x="266592" y="133297"/>
                </a:ln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371911" y="260186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7"/>
                </a:move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6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6"/>
                </a:lnTo>
                <a:lnTo>
                  <a:pt x="266592" y="133297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452646" y="260186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2" y="259796"/>
                </a:lnTo>
                <a:lnTo>
                  <a:pt x="212016" y="240872"/>
                </a:lnTo>
                <a:lnTo>
                  <a:pt x="240876" y="212016"/>
                </a:lnTo>
                <a:lnTo>
                  <a:pt x="259804" y="175426"/>
                </a:lnTo>
                <a:lnTo>
                  <a:pt x="266602" y="133297"/>
                </a:lnTo>
                <a:lnTo>
                  <a:pt x="259804" y="91167"/>
                </a:lnTo>
                <a:lnTo>
                  <a:pt x="240876" y="54576"/>
                </a:lnTo>
                <a:lnTo>
                  <a:pt x="212016" y="25720"/>
                </a:lnTo>
                <a:lnTo>
                  <a:pt x="175422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452648" y="260186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7"/>
                </a:moveTo>
                <a:lnTo>
                  <a:pt x="259804" y="91167"/>
                </a:lnTo>
                <a:lnTo>
                  <a:pt x="240876" y="54576"/>
                </a:lnTo>
                <a:lnTo>
                  <a:pt x="212016" y="25720"/>
                </a:lnTo>
                <a:lnTo>
                  <a:pt x="175422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2" y="259796"/>
                </a:lnTo>
                <a:lnTo>
                  <a:pt x="212016" y="240872"/>
                </a:lnTo>
                <a:lnTo>
                  <a:pt x="240876" y="212016"/>
                </a:lnTo>
                <a:lnTo>
                  <a:pt x="259804" y="175426"/>
                </a:lnTo>
                <a:lnTo>
                  <a:pt x="266602" y="133297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533373" y="260186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9" y="259796"/>
                </a:lnTo>
                <a:lnTo>
                  <a:pt x="212024" y="240872"/>
                </a:lnTo>
                <a:lnTo>
                  <a:pt x="240882" y="212016"/>
                </a:lnTo>
                <a:lnTo>
                  <a:pt x="259806" y="175426"/>
                </a:lnTo>
                <a:lnTo>
                  <a:pt x="266602" y="133297"/>
                </a:lnTo>
                <a:lnTo>
                  <a:pt x="259806" y="91167"/>
                </a:lnTo>
                <a:lnTo>
                  <a:pt x="240882" y="54576"/>
                </a:lnTo>
                <a:lnTo>
                  <a:pt x="212024" y="25720"/>
                </a:lnTo>
                <a:lnTo>
                  <a:pt x="175429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533373" y="260186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7"/>
                </a:moveTo>
                <a:lnTo>
                  <a:pt x="259806" y="91167"/>
                </a:lnTo>
                <a:lnTo>
                  <a:pt x="240882" y="54576"/>
                </a:lnTo>
                <a:lnTo>
                  <a:pt x="212024" y="25720"/>
                </a:lnTo>
                <a:lnTo>
                  <a:pt x="175429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9" y="259796"/>
                </a:lnTo>
                <a:lnTo>
                  <a:pt x="212024" y="240872"/>
                </a:lnTo>
                <a:lnTo>
                  <a:pt x="240882" y="212016"/>
                </a:lnTo>
                <a:lnTo>
                  <a:pt x="259806" y="175426"/>
                </a:lnTo>
                <a:lnTo>
                  <a:pt x="266602" y="133297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606461" y="2580401"/>
            <a:ext cx="196925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021023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6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6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5" y="175425"/>
                </a:lnTo>
                <a:lnTo>
                  <a:pt x="266591" y="133296"/>
                </a:lnTo>
                <a:lnTo>
                  <a:pt x="259795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021023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1" y="133296"/>
                </a:moveTo>
                <a:lnTo>
                  <a:pt x="259795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6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6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5" y="175425"/>
                </a:lnTo>
                <a:lnTo>
                  <a:pt x="266591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561378" y="327732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6"/>
                </a:ln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561378" y="327732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6"/>
                </a:move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101734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6"/>
                </a:ln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101734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6"/>
                </a:move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642108" y="3277340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5"/>
                </a:lnTo>
                <a:lnTo>
                  <a:pt x="54574" y="25719"/>
                </a:lnTo>
                <a:lnTo>
                  <a:pt x="25719" y="54575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9" y="212016"/>
                </a:lnTo>
                <a:lnTo>
                  <a:pt x="54574" y="240871"/>
                </a:lnTo>
                <a:lnTo>
                  <a:pt x="91165" y="259795"/>
                </a:lnTo>
                <a:lnTo>
                  <a:pt x="133295" y="266592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642108" y="3277340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5" y="6795"/>
                </a:lnTo>
                <a:lnTo>
                  <a:pt x="54574" y="25719"/>
                </a:lnTo>
                <a:lnTo>
                  <a:pt x="25719" y="54575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9" y="212016"/>
                </a:lnTo>
                <a:lnTo>
                  <a:pt x="54574" y="240871"/>
                </a:lnTo>
                <a:lnTo>
                  <a:pt x="91165" y="259795"/>
                </a:lnTo>
                <a:lnTo>
                  <a:pt x="133295" y="266592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182472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01" y="0"/>
                </a:moveTo>
                <a:lnTo>
                  <a:pt x="91168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8" y="259796"/>
                </a:lnTo>
                <a:lnTo>
                  <a:pt x="133301" y="266592"/>
                </a:lnTo>
                <a:lnTo>
                  <a:pt x="175429" y="259796"/>
                </a:lnTo>
                <a:lnTo>
                  <a:pt x="212019" y="240872"/>
                </a:lnTo>
                <a:lnTo>
                  <a:pt x="240873" y="212016"/>
                </a:lnTo>
                <a:lnTo>
                  <a:pt x="259797" y="175425"/>
                </a:lnTo>
                <a:lnTo>
                  <a:pt x="266592" y="133296"/>
                </a:lnTo>
                <a:lnTo>
                  <a:pt x="259797" y="91166"/>
                </a:lnTo>
                <a:lnTo>
                  <a:pt x="240873" y="54575"/>
                </a:lnTo>
                <a:lnTo>
                  <a:pt x="212019" y="25720"/>
                </a:lnTo>
                <a:lnTo>
                  <a:pt x="175429" y="6796"/>
                </a:lnTo>
                <a:lnTo>
                  <a:pt x="1333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182472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6"/>
                </a:moveTo>
                <a:lnTo>
                  <a:pt x="259797" y="91166"/>
                </a:lnTo>
                <a:lnTo>
                  <a:pt x="240873" y="54575"/>
                </a:lnTo>
                <a:lnTo>
                  <a:pt x="212019" y="25720"/>
                </a:lnTo>
                <a:lnTo>
                  <a:pt x="175429" y="6796"/>
                </a:lnTo>
                <a:lnTo>
                  <a:pt x="133301" y="0"/>
                </a:lnTo>
                <a:lnTo>
                  <a:pt x="91168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8" y="259796"/>
                </a:lnTo>
                <a:lnTo>
                  <a:pt x="133301" y="266592"/>
                </a:lnTo>
                <a:lnTo>
                  <a:pt x="175429" y="259796"/>
                </a:lnTo>
                <a:lnTo>
                  <a:pt x="212019" y="240872"/>
                </a:lnTo>
                <a:lnTo>
                  <a:pt x="240873" y="212016"/>
                </a:lnTo>
                <a:lnTo>
                  <a:pt x="259797" y="175425"/>
                </a:lnTo>
                <a:lnTo>
                  <a:pt x="266592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722834" y="327732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722835" y="327732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6"/>
                </a:move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263208" y="327731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6"/>
                </a:lnTo>
                <a:lnTo>
                  <a:pt x="266583" y="133296"/>
                </a:lnTo>
                <a:lnTo>
                  <a:pt x="259787" y="91166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1263209" y="327731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6"/>
                </a:moveTo>
                <a:lnTo>
                  <a:pt x="259787" y="91166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6"/>
                </a:lnTo>
                <a:lnTo>
                  <a:pt x="266583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803559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9" y="259796"/>
                </a:lnTo>
                <a:lnTo>
                  <a:pt x="212024" y="240872"/>
                </a:lnTo>
                <a:lnTo>
                  <a:pt x="240882" y="212016"/>
                </a:lnTo>
                <a:lnTo>
                  <a:pt x="259806" y="175425"/>
                </a:lnTo>
                <a:lnTo>
                  <a:pt x="266602" y="133296"/>
                </a:lnTo>
                <a:lnTo>
                  <a:pt x="259806" y="91166"/>
                </a:lnTo>
                <a:lnTo>
                  <a:pt x="240882" y="54575"/>
                </a:lnTo>
                <a:lnTo>
                  <a:pt x="212024" y="25720"/>
                </a:lnTo>
                <a:lnTo>
                  <a:pt x="175429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803559" y="32773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6"/>
                </a:moveTo>
                <a:lnTo>
                  <a:pt x="259806" y="91166"/>
                </a:lnTo>
                <a:lnTo>
                  <a:pt x="240882" y="54575"/>
                </a:lnTo>
                <a:lnTo>
                  <a:pt x="212024" y="25720"/>
                </a:lnTo>
                <a:lnTo>
                  <a:pt x="175429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9" y="259796"/>
                </a:lnTo>
                <a:lnTo>
                  <a:pt x="212024" y="240872"/>
                </a:lnTo>
                <a:lnTo>
                  <a:pt x="240882" y="212016"/>
                </a:lnTo>
                <a:lnTo>
                  <a:pt x="259806" y="175425"/>
                </a:lnTo>
                <a:lnTo>
                  <a:pt x="266602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094091" y="2580402"/>
            <a:ext cx="3979437" cy="996696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284974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>
                <a:tab pos="1373899" algn="l"/>
                <a:tab pos="2455099" algn="l"/>
              </a:tabLst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3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96206" algn="l"/>
                <a:tab pos="1128311" algn="l"/>
                <a:tab pos="1636476" algn="l"/>
                <a:tab pos="2192522" algn="l"/>
                <a:tab pos="2700688" algn="l"/>
                <a:tab pos="3249011" algn="l"/>
                <a:tab pos="3797335" algn="l"/>
              </a:tabLst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H	</a:t>
            </a:r>
            <a:r>
              <a:rPr kumimoji="0" sz="1763" b="0" i="1" u="none" strike="noStrike" kern="1200" cap="none" spc="12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	J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K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	</a:t>
            </a:r>
            <a:r>
              <a:rPr kumimoji="0" sz="1763" b="0" i="1" u="none" strike="noStrike" kern="1200" cap="none" spc="3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	O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118174" y="2677421"/>
            <a:ext cx="138925" cy="173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800331" y="3688855"/>
            <a:ext cx="3495233" cy="1012975"/>
          </a:xfrm>
          <a:prstGeom prst="rect">
            <a:avLst/>
          </a:prstGeom>
        </p:spPr>
        <p:txBody>
          <a:bodyPr vert="horz" wrap="square" lIns="0" tIns="14673" rIns="0" bIns="0" rtlCol="0">
            <a:spAutoFit/>
          </a:bodyPr>
          <a:lstStyle/>
          <a:p>
            <a:pPr marL="15446" marR="6178" lvl="0" indent="0" algn="l" defTabSz="1112093" rtl="0" eaLnBrk="1" fontAlgn="auto" latinLnBrk="0" hangingPunct="1">
              <a:lnSpc>
                <a:spcPct val="107400"/>
              </a:lnSpc>
              <a:spcBef>
                <a:spcPts val="11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maximum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branching factor 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shallowest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  </a:t>
            </a:r>
            <a:r>
              <a:rPr kumimoji="0" sz="2068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max.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any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112049" y="6125585"/>
            <a:ext cx="11120494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50269" y="4988105"/>
            <a:ext cx="7266934" cy="2156689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deepest</a:t>
            </a:r>
            <a:r>
              <a:rPr kumimoji="0" sz="2493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696603" marR="0" lvl="1" indent="-253309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697375" algn="l"/>
              </a:tabLst>
              <a:defRPr/>
            </a:pPr>
            <a:r>
              <a:rPr kumimoji="0" sz="2493" b="0" i="1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pushdown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stack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56047" marR="0" lvl="1" indent="0" algn="l" defTabSz="1112093" rtl="0" eaLnBrk="1" fontAlgn="auto" latinLnBrk="0" hangingPunct="1">
              <a:lnSpc>
                <a:spcPct val="100000"/>
              </a:lnSpc>
              <a:spcBef>
                <a:spcPts val="18"/>
              </a:spcBef>
              <a:spcAft>
                <a:spcPts val="0"/>
              </a:spcAft>
              <a:buClrTx/>
              <a:buSzTx/>
              <a:buFont typeface="Arial"/>
              <a:buChar char="►"/>
              <a:tabLst/>
              <a:defRPr/>
            </a:pPr>
            <a:endParaRPr kumimoji="0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21624" lvl="0" indent="-399272" algn="l" defTabSz="1112093" rtl="0" eaLnBrk="1" fontAlgn="auto" latinLnBrk="0" hangingPunct="1">
              <a:lnSpc>
                <a:spcPct val="101200"/>
              </a:lnSpc>
              <a:spcBef>
                <a:spcPts val="6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Like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what </a:t>
            </a:r>
            <a:r>
              <a:rPr kumimoji="0" sz="2493" b="0" i="0" u="none" strike="noStrike" kern="1200" cap="none" spc="-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you’ve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seen in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previous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courses,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except  expanding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node generates all of its children at</a:t>
            </a:r>
            <a:r>
              <a:rPr kumimoji="0" sz="2493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once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C2A3438-70FA-554B-8F21-0FCFD9D090D6}"/>
              </a:ext>
            </a:extLst>
          </p:cNvPr>
          <p:cNvSpPr/>
          <p:nvPr/>
        </p:nvSpPr>
        <p:spPr>
          <a:xfrm>
            <a:off x="897467" y="4927598"/>
            <a:ext cx="4402666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36236578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0675" y="1077273"/>
            <a:ext cx="5034463" cy="571633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356024">
              <a:spcBef>
                <a:spcPts val="152"/>
              </a:spcBef>
            </a:pPr>
            <a:r>
              <a:rPr spc="-12" dirty="0"/>
              <a:t>Depth-first</a:t>
            </a:r>
            <a:r>
              <a:rPr spc="23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90614" y="1412889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888636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71332" y="1412889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0" y="0"/>
                </a:moveTo>
                <a:lnTo>
                  <a:pt x="888644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11708" y="2088342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11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52059" y="2088342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31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50250" y="2088342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23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90614" y="2088342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13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422222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65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692409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46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341521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65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611708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46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60792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5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30967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80062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7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50240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909225" y="12507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6"/>
                </a:lnTo>
                <a:lnTo>
                  <a:pt x="54574" y="25721"/>
                </a:lnTo>
                <a:lnTo>
                  <a:pt x="25719" y="54577"/>
                </a:lnTo>
                <a:lnTo>
                  <a:pt x="6795" y="91169"/>
                </a:lnTo>
                <a:lnTo>
                  <a:pt x="0" y="133299"/>
                </a:lnTo>
                <a:lnTo>
                  <a:pt x="6795" y="175429"/>
                </a:lnTo>
                <a:lnTo>
                  <a:pt x="25719" y="212019"/>
                </a:lnTo>
                <a:lnTo>
                  <a:pt x="54574" y="240875"/>
                </a:lnTo>
                <a:lnTo>
                  <a:pt x="91165" y="259798"/>
                </a:lnTo>
                <a:lnTo>
                  <a:pt x="133295" y="266594"/>
                </a:lnTo>
                <a:lnTo>
                  <a:pt x="175425" y="259798"/>
                </a:lnTo>
                <a:lnTo>
                  <a:pt x="212015" y="240875"/>
                </a:lnTo>
                <a:lnTo>
                  <a:pt x="240869" y="212019"/>
                </a:lnTo>
                <a:lnTo>
                  <a:pt x="259793" y="175429"/>
                </a:lnTo>
                <a:lnTo>
                  <a:pt x="266588" y="133299"/>
                </a:lnTo>
                <a:lnTo>
                  <a:pt x="259793" y="91169"/>
                </a:lnTo>
                <a:lnTo>
                  <a:pt x="240869" y="54577"/>
                </a:lnTo>
                <a:lnTo>
                  <a:pt x="212015" y="25721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909225" y="12507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8" y="133299"/>
                </a:moveTo>
                <a:lnTo>
                  <a:pt x="259793" y="91169"/>
                </a:lnTo>
                <a:lnTo>
                  <a:pt x="240869" y="54577"/>
                </a:lnTo>
                <a:lnTo>
                  <a:pt x="212015" y="25721"/>
                </a:lnTo>
                <a:lnTo>
                  <a:pt x="175425" y="6796"/>
                </a:lnTo>
                <a:lnTo>
                  <a:pt x="133295" y="0"/>
                </a:lnTo>
                <a:lnTo>
                  <a:pt x="91165" y="6796"/>
                </a:lnTo>
                <a:lnTo>
                  <a:pt x="54574" y="25721"/>
                </a:lnTo>
                <a:lnTo>
                  <a:pt x="25719" y="54577"/>
                </a:lnTo>
                <a:lnTo>
                  <a:pt x="6795" y="91169"/>
                </a:lnTo>
                <a:lnTo>
                  <a:pt x="0" y="133299"/>
                </a:lnTo>
                <a:lnTo>
                  <a:pt x="6795" y="175429"/>
                </a:lnTo>
                <a:lnTo>
                  <a:pt x="25719" y="212019"/>
                </a:lnTo>
                <a:lnTo>
                  <a:pt x="54574" y="240875"/>
                </a:lnTo>
                <a:lnTo>
                  <a:pt x="91165" y="259798"/>
                </a:lnTo>
                <a:lnTo>
                  <a:pt x="133295" y="266594"/>
                </a:lnTo>
                <a:lnTo>
                  <a:pt x="175425" y="259798"/>
                </a:lnTo>
                <a:lnTo>
                  <a:pt x="212015" y="240875"/>
                </a:lnTo>
                <a:lnTo>
                  <a:pt x="240869" y="212019"/>
                </a:lnTo>
                <a:lnTo>
                  <a:pt x="259793" y="175429"/>
                </a:lnTo>
                <a:lnTo>
                  <a:pt x="266588" y="133299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90480" y="1229323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828495" y="19262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7"/>
                </a:lnTo>
                <a:lnTo>
                  <a:pt x="25720" y="212017"/>
                </a:lnTo>
                <a:lnTo>
                  <a:pt x="54576" y="240873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3"/>
                </a:lnTo>
                <a:lnTo>
                  <a:pt x="240872" y="212017"/>
                </a:lnTo>
                <a:lnTo>
                  <a:pt x="259796" y="175427"/>
                </a:lnTo>
                <a:lnTo>
                  <a:pt x="266592" y="133297"/>
                </a:ln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828495" y="19262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7"/>
                </a:move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7"/>
                </a:lnTo>
                <a:lnTo>
                  <a:pt x="25720" y="212017"/>
                </a:lnTo>
                <a:lnTo>
                  <a:pt x="54576" y="240873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3"/>
                </a:lnTo>
                <a:lnTo>
                  <a:pt x="240872" y="212017"/>
                </a:lnTo>
                <a:lnTo>
                  <a:pt x="259796" y="175427"/>
                </a:lnTo>
                <a:lnTo>
                  <a:pt x="266592" y="133297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17930" y="1904764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989933" y="19262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7"/>
                </a:lnTo>
                <a:lnTo>
                  <a:pt x="25718" y="212017"/>
                </a:lnTo>
                <a:lnTo>
                  <a:pt x="54573" y="240873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2" y="259796"/>
                </a:lnTo>
                <a:lnTo>
                  <a:pt x="212016" y="240873"/>
                </a:lnTo>
                <a:lnTo>
                  <a:pt x="240876" y="212017"/>
                </a:lnTo>
                <a:lnTo>
                  <a:pt x="259804" y="175427"/>
                </a:lnTo>
                <a:lnTo>
                  <a:pt x="266602" y="133297"/>
                </a:lnTo>
                <a:lnTo>
                  <a:pt x="259804" y="91167"/>
                </a:lnTo>
                <a:lnTo>
                  <a:pt x="240876" y="54576"/>
                </a:lnTo>
                <a:lnTo>
                  <a:pt x="212016" y="25720"/>
                </a:lnTo>
                <a:lnTo>
                  <a:pt x="175422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989933" y="19262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7"/>
                </a:moveTo>
                <a:lnTo>
                  <a:pt x="259804" y="91167"/>
                </a:lnTo>
                <a:lnTo>
                  <a:pt x="240876" y="54576"/>
                </a:lnTo>
                <a:lnTo>
                  <a:pt x="212016" y="25720"/>
                </a:lnTo>
                <a:lnTo>
                  <a:pt x="175422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7"/>
                </a:lnTo>
                <a:lnTo>
                  <a:pt x="25718" y="212017"/>
                </a:lnTo>
                <a:lnTo>
                  <a:pt x="54573" y="240873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2" y="259796"/>
                </a:lnTo>
                <a:lnTo>
                  <a:pt x="212016" y="240873"/>
                </a:lnTo>
                <a:lnTo>
                  <a:pt x="240876" y="212017"/>
                </a:lnTo>
                <a:lnTo>
                  <a:pt x="259804" y="175427"/>
                </a:lnTo>
                <a:lnTo>
                  <a:pt x="266602" y="133297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071185" y="1904764"/>
            <a:ext cx="183797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88133" y="26016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9" y="212016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6"/>
                </a:lnTo>
                <a:lnTo>
                  <a:pt x="259794" y="175426"/>
                </a:lnTo>
                <a:lnTo>
                  <a:pt x="266590" y="133297"/>
                </a:lnTo>
                <a:lnTo>
                  <a:pt x="259794" y="91167"/>
                </a:lnTo>
                <a:lnTo>
                  <a:pt x="240871" y="54576"/>
                </a:lnTo>
                <a:lnTo>
                  <a:pt x="212015" y="25720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288133" y="26016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0" y="133297"/>
                </a:moveTo>
                <a:lnTo>
                  <a:pt x="259794" y="91167"/>
                </a:lnTo>
                <a:lnTo>
                  <a:pt x="240871" y="54576"/>
                </a:lnTo>
                <a:lnTo>
                  <a:pt x="212015" y="25720"/>
                </a:lnTo>
                <a:lnTo>
                  <a:pt x="175425" y="6796"/>
                </a:lnTo>
                <a:lnTo>
                  <a:pt x="133295" y="0"/>
                </a:lnTo>
                <a:lnTo>
                  <a:pt x="91165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9" y="212016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6"/>
                </a:lnTo>
                <a:lnTo>
                  <a:pt x="259794" y="175426"/>
                </a:lnTo>
                <a:lnTo>
                  <a:pt x="266590" y="133297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368859" y="26016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6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6"/>
                </a:lnTo>
                <a:lnTo>
                  <a:pt x="266592" y="133297"/>
                </a:ln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368859" y="26016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7"/>
                </a:move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6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6"/>
                </a:lnTo>
                <a:lnTo>
                  <a:pt x="266592" y="133297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449582" y="26016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6"/>
                </a:lnTo>
                <a:lnTo>
                  <a:pt x="266583" y="133297"/>
                </a:lnTo>
                <a:lnTo>
                  <a:pt x="259787" y="91167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449582" y="26016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7"/>
                </a:moveTo>
                <a:lnTo>
                  <a:pt x="259787" y="91167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6"/>
                </a:lnTo>
                <a:lnTo>
                  <a:pt x="266583" y="133297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530307" y="26016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6"/>
                </a:lnTo>
                <a:lnTo>
                  <a:pt x="266583" y="133297"/>
                </a:lnTo>
                <a:lnTo>
                  <a:pt x="259787" y="91167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530307" y="26016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7"/>
                </a:moveTo>
                <a:lnTo>
                  <a:pt x="259787" y="91167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6"/>
                </a:lnTo>
                <a:lnTo>
                  <a:pt x="266583" y="133297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603396" y="2580217"/>
            <a:ext cx="196925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017945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6" y="0"/>
                </a:moveTo>
                <a:lnTo>
                  <a:pt x="91166" y="6795"/>
                </a:lnTo>
                <a:lnTo>
                  <a:pt x="54575" y="25719"/>
                </a:lnTo>
                <a:lnTo>
                  <a:pt x="25719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19" y="212016"/>
                </a:lnTo>
                <a:lnTo>
                  <a:pt x="54575" y="240871"/>
                </a:lnTo>
                <a:lnTo>
                  <a:pt x="91166" y="259795"/>
                </a:lnTo>
                <a:lnTo>
                  <a:pt x="133296" y="266592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1" y="212016"/>
                </a:lnTo>
                <a:lnTo>
                  <a:pt x="259795" y="175425"/>
                </a:lnTo>
                <a:lnTo>
                  <a:pt x="266591" y="133295"/>
                </a:lnTo>
                <a:lnTo>
                  <a:pt x="259795" y="91165"/>
                </a:lnTo>
                <a:lnTo>
                  <a:pt x="240871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017945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1" y="133295"/>
                </a:moveTo>
                <a:lnTo>
                  <a:pt x="259795" y="91165"/>
                </a:lnTo>
                <a:lnTo>
                  <a:pt x="240871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6" y="0"/>
                </a:lnTo>
                <a:lnTo>
                  <a:pt x="91166" y="6795"/>
                </a:lnTo>
                <a:lnTo>
                  <a:pt x="54575" y="25719"/>
                </a:lnTo>
                <a:lnTo>
                  <a:pt x="25719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19" y="212016"/>
                </a:lnTo>
                <a:lnTo>
                  <a:pt x="54575" y="240871"/>
                </a:lnTo>
                <a:lnTo>
                  <a:pt x="91166" y="259795"/>
                </a:lnTo>
                <a:lnTo>
                  <a:pt x="133296" y="266592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1" y="212016"/>
                </a:lnTo>
                <a:lnTo>
                  <a:pt x="259795" y="175425"/>
                </a:lnTo>
                <a:lnTo>
                  <a:pt x="266591" y="133295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558327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6"/>
                </a:ln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558327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6"/>
                </a:move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6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098683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5"/>
                </a:lnTo>
                <a:lnTo>
                  <a:pt x="54576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1"/>
                </a:lnTo>
                <a:lnTo>
                  <a:pt x="91167" y="259795"/>
                </a:lnTo>
                <a:lnTo>
                  <a:pt x="133297" y="266592"/>
                </a:lnTo>
                <a:lnTo>
                  <a:pt x="175426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098683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7" y="0"/>
                </a:lnTo>
                <a:lnTo>
                  <a:pt x="91167" y="6795"/>
                </a:lnTo>
                <a:lnTo>
                  <a:pt x="54576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1"/>
                </a:lnTo>
                <a:lnTo>
                  <a:pt x="91167" y="259795"/>
                </a:lnTo>
                <a:lnTo>
                  <a:pt x="133297" y="266592"/>
                </a:lnTo>
                <a:lnTo>
                  <a:pt x="175426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639057" y="327715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5"/>
                </a:lnTo>
                <a:lnTo>
                  <a:pt x="54574" y="25719"/>
                </a:lnTo>
                <a:lnTo>
                  <a:pt x="25719" y="54575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9" y="212016"/>
                </a:lnTo>
                <a:lnTo>
                  <a:pt x="54574" y="240871"/>
                </a:lnTo>
                <a:lnTo>
                  <a:pt x="91165" y="259795"/>
                </a:lnTo>
                <a:lnTo>
                  <a:pt x="133295" y="266591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639057" y="327715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5" y="6795"/>
                </a:lnTo>
                <a:lnTo>
                  <a:pt x="54574" y="25719"/>
                </a:lnTo>
                <a:lnTo>
                  <a:pt x="25719" y="54575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9" y="212016"/>
                </a:lnTo>
                <a:lnTo>
                  <a:pt x="54574" y="240871"/>
                </a:lnTo>
                <a:lnTo>
                  <a:pt x="91165" y="259795"/>
                </a:lnTo>
                <a:lnTo>
                  <a:pt x="133295" y="266591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179395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10" y="0"/>
                </a:moveTo>
                <a:lnTo>
                  <a:pt x="91172" y="6795"/>
                </a:lnTo>
                <a:lnTo>
                  <a:pt x="54577" y="25719"/>
                </a:lnTo>
                <a:lnTo>
                  <a:pt x="25720" y="54575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20" y="212016"/>
                </a:lnTo>
                <a:lnTo>
                  <a:pt x="54577" y="240871"/>
                </a:lnTo>
                <a:lnTo>
                  <a:pt x="91172" y="259795"/>
                </a:lnTo>
                <a:lnTo>
                  <a:pt x="133310" y="266592"/>
                </a:lnTo>
                <a:lnTo>
                  <a:pt x="175439" y="259795"/>
                </a:lnTo>
                <a:lnTo>
                  <a:pt x="212029" y="240871"/>
                </a:lnTo>
                <a:lnTo>
                  <a:pt x="240883" y="212016"/>
                </a:lnTo>
                <a:lnTo>
                  <a:pt x="259806" y="175425"/>
                </a:lnTo>
                <a:lnTo>
                  <a:pt x="266602" y="133295"/>
                </a:lnTo>
                <a:lnTo>
                  <a:pt x="259806" y="91165"/>
                </a:lnTo>
                <a:lnTo>
                  <a:pt x="240883" y="54575"/>
                </a:lnTo>
                <a:lnTo>
                  <a:pt x="212029" y="25719"/>
                </a:lnTo>
                <a:lnTo>
                  <a:pt x="175439" y="6795"/>
                </a:lnTo>
                <a:lnTo>
                  <a:pt x="1333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179395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5"/>
                </a:moveTo>
                <a:lnTo>
                  <a:pt x="259806" y="91165"/>
                </a:lnTo>
                <a:lnTo>
                  <a:pt x="240883" y="54575"/>
                </a:lnTo>
                <a:lnTo>
                  <a:pt x="212029" y="25719"/>
                </a:lnTo>
                <a:lnTo>
                  <a:pt x="175439" y="6795"/>
                </a:lnTo>
                <a:lnTo>
                  <a:pt x="133310" y="0"/>
                </a:lnTo>
                <a:lnTo>
                  <a:pt x="91172" y="6795"/>
                </a:lnTo>
                <a:lnTo>
                  <a:pt x="54577" y="25719"/>
                </a:lnTo>
                <a:lnTo>
                  <a:pt x="25720" y="54575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20" y="212016"/>
                </a:lnTo>
                <a:lnTo>
                  <a:pt x="54577" y="240871"/>
                </a:lnTo>
                <a:lnTo>
                  <a:pt x="91172" y="259795"/>
                </a:lnTo>
                <a:lnTo>
                  <a:pt x="133310" y="266592"/>
                </a:lnTo>
                <a:lnTo>
                  <a:pt x="175439" y="259795"/>
                </a:lnTo>
                <a:lnTo>
                  <a:pt x="212029" y="240871"/>
                </a:lnTo>
                <a:lnTo>
                  <a:pt x="240883" y="212016"/>
                </a:lnTo>
                <a:lnTo>
                  <a:pt x="259806" y="175425"/>
                </a:lnTo>
                <a:lnTo>
                  <a:pt x="26660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719769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719769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6"/>
                </a:move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260120" y="32771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10" y="0"/>
                </a:moveTo>
                <a:lnTo>
                  <a:pt x="91180" y="6796"/>
                </a:lnTo>
                <a:lnTo>
                  <a:pt x="54585" y="25720"/>
                </a:lnTo>
                <a:lnTo>
                  <a:pt x="25725" y="54575"/>
                </a:lnTo>
                <a:lnTo>
                  <a:pt x="6797" y="91166"/>
                </a:lnTo>
                <a:lnTo>
                  <a:pt x="0" y="133296"/>
                </a:lnTo>
                <a:lnTo>
                  <a:pt x="6797" y="175425"/>
                </a:lnTo>
                <a:lnTo>
                  <a:pt x="25725" y="212016"/>
                </a:lnTo>
                <a:lnTo>
                  <a:pt x="54585" y="240872"/>
                </a:lnTo>
                <a:lnTo>
                  <a:pt x="91180" y="259796"/>
                </a:lnTo>
                <a:lnTo>
                  <a:pt x="133310" y="266592"/>
                </a:lnTo>
                <a:lnTo>
                  <a:pt x="175439" y="259796"/>
                </a:lnTo>
                <a:lnTo>
                  <a:pt x="212029" y="240872"/>
                </a:lnTo>
                <a:lnTo>
                  <a:pt x="240883" y="212016"/>
                </a:lnTo>
                <a:lnTo>
                  <a:pt x="259806" y="175425"/>
                </a:lnTo>
                <a:lnTo>
                  <a:pt x="266602" y="133296"/>
                </a:lnTo>
                <a:lnTo>
                  <a:pt x="259806" y="91166"/>
                </a:lnTo>
                <a:lnTo>
                  <a:pt x="240883" y="54575"/>
                </a:lnTo>
                <a:lnTo>
                  <a:pt x="212029" y="25720"/>
                </a:lnTo>
                <a:lnTo>
                  <a:pt x="175439" y="6796"/>
                </a:lnTo>
                <a:lnTo>
                  <a:pt x="1333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1260120" y="32771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6"/>
                </a:moveTo>
                <a:lnTo>
                  <a:pt x="259806" y="91166"/>
                </a:lnTo>
                <a:lnTo>
                  <a:pt x="240883" y="54575"/>
                </a:lnTo>
                <a:lnTo>
                  <a:pt x="212029" y="25720"/>
                </a:lnTo>
                <a:lnTo>
                  <a:pt x="175439" y="6796"/>
                </a:lnTo>
                <a:lnTo>
                  <a:pt x="133310" y="0"/>
                </a:lnTo>
                <a:lnTo>
                  <a:pt x="91180" y="6796"/>
                </a:lnTo>
                <a:lnTo>
                  <a:pt x="54585" y="25720"/>
                </a:lnTo>
                <a:lnTo>
                  <a:pt x="25725" y="54575"/>
                </a:lnTo>
                <a:lnTo>
                  <a:pt x="6797" y="91166"/>
                </a:lnTo>
                <a:lnTo>
                  <a:pt x="0" y="133296"/>
                </a:lnTo>
                <a:lnTo>
                  <a:pt x="6797" y="175425"/>
                </a:lnTo>
                <a:lnTo>
                  <a:pt x="25725" y="212016"/>
                </a:lnTo>
                <a:lnTo>
                  <a:pt x="54585" y="240872"/>
                </a:lnTo>
                <a:lnTo>
                  <a:pt x="91180" y="259796"/>
                </a:lnTo>
                <a:lnTo>
                  <a:pt x="133310" y="266592"/>
                </a:lnTo>
                <a:lnTo>
                  <a:pt x="175439" y="259796"/>
                </a:lnTo>
                <a:lnTo>
                  <a:pt x="212029" y="240872"/>
                </a:lnTo>
                <a:lnTo>
                  <a:pt x="240883" y="212016"/>
                </a:lnTo>
                <a:lnTo>
                  <a:pt x="259806" y="175425"/>
                </a:lnTo>
                <a:lnTo>
                  <a:pt x="266602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800494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800494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6"/>
                </a:move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091013" y="2580218"/>
            <a:ext cx="3979437" cy="996696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284974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>
                <a:tab pos="1373899" algn="l"/>
                <a:tab pos="2455099" algn="l"/>
              </a:tabLst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3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96206" algn="l"/>
                <a:tab pos="1128311" algn="l"/>
                <a:tab pos="1636476" algn="l"/>
                <a:tab pos="2192522" algn="l"/>
                <a:tab pos="2700688" algn="l"/>
                <a:tab pos="3249011" algn="l"/>
                <a:tab pos="3797335" algn="l"/>
              </a:tabLst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H	</a:t>
            </a:r>
            <a:r>
              <a:rPr kumimoji="0" sz="1763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	</a:t>
            </a:r>
            <a:r>
              <a:rPr kumimoji="0" sz="1763" b="0" i="1" u="none" strike="noStrike" kern="1200" cap="none" spc="12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J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K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	</a:t>
            </a:r>
            <a:r>
              <a:rPr kumimoji="0" sz="1763" b="0" i="1" u="none" strike="noStrike" kern="1200" cap="none" spc="3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	O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838668" y="3352681"/>
            <a:ext cx="138923" cy="173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800331" y="3688855"/>
            <a:ext cx="3495233" cy="1012975"/>
          </a:xfrm>
          <a:prstGeom prst="rect">
            <a:avLst/>
          </a:prstGeom>
        </p:spPr>
        <p:txBody>
          <a:bodyPr vert="horz" wrap="square" lIns="0" tIns="14673" rIns="0" bIns="0" rtlCol="0">
            <a:spAutoFit/>
          </a:bodyPr>
          <a:lstStyle/>
          <a:p>
            <a:pPr marL="15446" marR="6178" lvl="0" indent="0" algn="l" defTabSz="1112093" rtl="0" eaLnBrk="1" fontAlgn="auto" latinLnBrk="0" hangingPunct="1">
              <a:lnSpc>
                <a:spcPct val="107400"/>
              </a:lnSpc>
              <a:spcBef>
                <a:spcPts val="11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maximum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branching factor 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shallowest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  </a:t>
            </a:r>
            <a:r>
              <a:rPr kumimoji="0" sz="2068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max.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any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112049" y="6125585"/>
            <a:ext cx="11120494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50269" y="4988105"/>
            <a:ext cx="7266934" cy="2156689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deepest</a:t>
            </a:r>
            <a:r>
              <a:rPr kumimoji="0" sz="2493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696603" marR="0" lvl="1" indent="-253309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697375" algn="l"/>
              </a:tabLst>
              <a:defRPr/>
            </a:pPr>
            <a:r>
              <a:rPr kumimoji="0" sz="2493" b="0" i="1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pushdown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stack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56047" marR="0" lvl="1" indent="0" algn="l" defTabSz="1112093" rtl="0" eaLnBrk="1" fontAlgn="auto" latinLnBrk="0" hangingPunct="1">
              <a:lnSpc>
                <a:spcPct val="100000"/>
              </a:lnSpc>
              <a:spcBef>
                <a:spcPts val="18"/>
              </a:spcBef>
              <a:spcAft>
                <a:spcPts val="0"/>
              </a:spcAft>
              <a:buClrTx/>
              <a:buSzTx/>
              <a:buFont typeface="Arial"/>
              <a:buChar char="►"/>
              <a:tabLst/>
              <a:defRPr/>
            </a:pPr>
            <a:endParaRPr kumimoji="0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21624" lvl="0" indent="-399272" algn="l" defTabSz="1112093" rtl="0" eaLnBrk="1" fontAlgn="auto" latinLnBrk="0" hangingPunct="1">
              <a:lnSpc>
                <a:spcPct val="101200"/>
              </a:lnSpc>
              <a:spcBef>
                <a:spcPts val="6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Like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what </a:t>
            </a:r>
            <a:r>
              <a:rPr kumimoji="0" sz="2493" b="0" i="0" u="none" strike="noStrike" kern="1200" cap="none" spc="-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you’ve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seen in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previous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courses,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except  expanding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node generates all of its children at</a:t>
            </a:r>
            <a:r>
              <a:rPr kumimoji="0" sz="2493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once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AD1798F-FF15-584A-8F2D-27A6741E6159}"/>
              </a:ext>
            </a:extLst>
          </p:cNvPr>
          <p:cNvSpPr/>
          <p:nvPr/>
        </p:nvSpPr>
        <p:spPr>
          <a:xfrm>
            <a:off x="897467" y="4927598"/>
            <a:ext cx="4402666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32489165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0675" y="1077273"/>
            <a:ext cx="5034463" cy="571633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356024">
              <a:spcBef>
                <a:spcPts val="152"/>
              </a:spcBef>
            </a:pPr>
            <a:r>
              <a:rPr spc="-12" dirty="0"/>
              <a:t>Depth-first</a:t>
            </a:r>
            <a:r>
              <a:rPr spc="23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84361" y="1412897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888636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65078" y="1412897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0" y="0"/>
                </a:moveTo>
                <a:lnTo>
                  <a:pt x="88865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05438" y="2088352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31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45812" y="2088352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11" y="555400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43995" y="2088352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23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84361" y="2088352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13" y="555400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415976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65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686163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65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335274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46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605438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65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54539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5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24714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73809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7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43987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902970" y="12507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6"/>
                </a:lnTo>
                <a:lnTo>
                  <a:pt x="54574" y="25721"/>
                </a:lnTo>
                <a:lnTo>
                  <a:pt x="25719" y="54577"/>
                </a:lnTo>
                <a:lnTo>
                  <a:pt x="6795" y="91169"/>
                </a:lnTo>
                <a:lnTo>
                  <a:pt x="0" y="133299"/>
                </a:lnTo>
                <a:lnTo>
                  <a:pt x="6795" y="175429"/>
                </a:lnTo>
                <a:lnTo>
                  <a:pt x="25719" y="212019"/>
                </a:lnTo>
                <a:lnTo>
                  <a:pt x="54574" y="240875"/>
                </a:lnTo>
                <a:lnTo>
                  <a:pt x="91165" y="259798"/>
                </a:lnTo>
                <a:lnTo>
                  <a:pt x="133295" y="266594"/>
                </a:lnTo>
                <a:lnTo>
                  <a:pt x="175425" y="259798"/>
                </a:lnTo>
                <a:lnTo>
                  <a:pt x="212016" y="240875"/>
                </a:lnTo>
                <a:lnTo>
                  <a:pt x="240872" y="212019"/>
                </a:lnTo>
                <a:lnTo>
                  <a:pt x="259796" y="175429"/>
                </a:lnTo>
                <a:lnTo>
                  <a:pt x="266592" y="133299"/>
                </a:lnTo>
                <a:lnTo>
                  <a:pt x="259796" y="91169"/>
                </a:lnTo>
                <a:lnTo>
                  <a:pt x="240872" y="54577"/>
                </a:lnTo>
                <a:lnTo>
                  <a:pt x="212016" y="25721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902970" y="12507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9"/>
                </a:moveTo>
                <a:lnTo>
                  <a:pt x="259796" y="91169"/>
                </a:lnTo>
                <a:lnTo>
                  <a:pt x="240872" y="54577"/>
                </a:lnTo>
                <a:lnTo>
                  <a:pt x="212016" y="25721"/>
                </a:lnTo>
                <a:lnTo>
                  <a:pt x="175425" y="6796"/>
                </a:lnTo>
                <a:lnTo>
                  <a:pt x="133295" y="0"/>
                </a:lnTo>
                <a:lnTo>
                  <a:pt x="91165" y="6796"/>
                </a:lnTo>
                <a:lnTo>
                  <a:pt x="54574" y="25721"/>
                </a:lnTo>
                <a:lnTo>
                  <a:pt x="25719" y="54577"/>
                </a:lnTo>
                <a:lnTo>
                  <a:pt x="6795" y="91169"/>
                </a:lnTo>
                <a:lnTo>
                  <a:pt x="0" y="133299"/>
                </a:lnTo>
                <a:lnTo>
                  <a:pt x="6795" y="175429"/>
                </a:lnTo>
                <a:lnTo>
                  <a:pt x="25719" y="212019"/>
                </a:lnTo>
                <a:lnTo>
                  <a:pt x="54574" y="240875"/>
                </a:lnTo>
                <a:lnTo>
                  <a:pt x="91165" y="259798"/>
                </a:lnTo>
                <a:lnTo>
                  <a:pt x="133295" y="266594"/>
                </a:lnTo>
                <a:lnTo>
                  <a:pt x="175425" y="259798"/>
                </a:lnTo>
                <a:lnTo>
                  <a:pt x="212016" y="240875"/>
                </a:lnTo>
                <a:lnTo>
                  <a:pt x="240872" y="212019"/>
                </a:lnTo>
                <a:lnTo>
                  <a:pt x="259796" y="175429"/>
                </a:lnTo>
                <a:lnTo>
                  <a:pt x="266592" y="133299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84224" y="1229323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822241" y="19262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7"/>
                </a:lnTo>
                <a:lnTo>
                  <a:pt x="25720" y="212017"/>
                </a:lnTo>
                <a:lnTo>
                  <a:pt x="54576" y="240873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3"/>
                </a:lnTo>
                <a:lnTo>
                  <a:pt x="240872" y="212017"/>
                </a:lnTo>
                <a:lnTo>
                  <a:pt x="259796" y="175427"/>
                </a:lnTo>
                <a:lnTo>
                  <a:pt x="266592" y="133297"/>
                </a:ln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822241" y="19262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7"/>
                </a:move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7"/>
                </a:lnTo>
                <a:lnTo>
                  <a:pt x="25720" y="212017"/>
                </a:lnTo>
                <a:lnTo>
                  <a:pt x="54576" y="240873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3"/>
                </a:lnTo>
                <a:lnTo>
                  <a:pt x="240872" y="212017"/>
                </a:lnTo>
                <a:lnTo>
                  <a:pt x="259796" y="175427"/>
                </a:lnTo>
                <a:lnTo>
                  <a:pt x="266592" y="133297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11676" y="1904764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983685" y="19262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7"/>
                </a:lnTo>
                <a:lnTo>
                  <a:pt x="25718" y="212017"/>
                </a:lnTo>
                <a:lnTo>
                  <a:pt x="54573" y="240873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2" y="259796"/>
                </a:lnTo>
                <a:lnTo>
                  <a:pt x="212016" y="240873"/>
                </a:lnTo>
                <a:lnTo>
                  <a:pt x="240876" y="212017"/>
                </a:lnTo>
                <a:lnTo>
                  <a:pt x="259804" y="175427"/>
                </a:lnTo>
                <a:lnTo>
                  <a:pt x="266602" y="133297"/>
                </a:lnTo>
                <a:lnTo>
                  <a:pt x="259804" y="91167"/>
                </a:lnTo>
                <a:lnTo>
                  <a:pt x="240876" y="54576"/>
                </a:lnTo>
                <a:lnTo>
                  <a:pt x="212016" y="25720"/>
                </a:lnTo>
                <a:lnTo>
                  <a:pt x="175422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983685" y="19262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7"/>
                </a:moveTo>
                <a:lnTo>
                  <a:pt x="259804" y="91167"/>
                </a:lnTo>
                <a:lnTo>
                  <a:pt x="240876" y="54576"/>
                </a:lnTo>
                <a:lnTo>
                  <a:pt x="212016" y="25720"/>
                </a:lnTo>
                <a:lnTo>
                  <a:pt x="175422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7"/>
                </a:lnTo>
                <a:lnTo>
                  <a:pt x="25718" y="212017"/>
                </a:lnTo>
                <a:lnTo>
                  <a:pt x="54573" y="240873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2" y="259796"/>
                </a:lnTo>
                <a:lnTo>
                  <a:pt x="212016" y="240873"/>
                </a:lnTo>
                <a:lnTo>
                  <a:pt x="240876" y="212017"/>
                </a:lnTo>
                <a:lnTo>
                  <a:pt x="259804" y="175427"/>
                </a:lnTo>
                <a:lnTo>
                  <a:pt x="266602" y="133297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064938" y="1904764"/>
            <a:ext cx="183797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81878" y="260168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9" y="212016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6"/>
                </a:lnTo>
                <a:lnTo>
                  <a:pt x="259794" y="175426"/>
                </a:lnTo>
                <a:lnTo>
                  <a:pt x="266590" y="133297"/>
                </a:lnTo>
                <a:lnTo>
                  <a:pt x="259794" y="91167"/>
                </a:lnTo>
                <a:lnTo>
                  <a:pt x="240871" y="54576"/>
                </a:lnTo>
                <a:lnTo>
                  <a:pt x="212015" y="25720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281878" y="260168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0" y="133297"/>
                </a:moveTo>
                <a:lnTo>
                  <a:pt x="259794" y="91167"/>
                </a:lnTo>
                <a:lnTo>
                  <a:pt x="240871" y="54576"/>
                </a:lnTo>
                <a:lnTo>
                  <a:pt x="212015" y="25720"/>
                </a:lnTo>
                <a:lnTo>
                  <a:pt x="175425" y="6796"/>
                </a:lnTo>
                <a:lnTo>
                  <a:pt x="133295" y="0"/>
                </a:lnTo>
                <a:lnTo>
                  <a:pt x="91165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9" y="212016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6"/>
                </a:lnTo>
                <a:lnTo>
                  <a:pt x="259794" y="175426"/>
                </a:lnTo>
                <a:lnTo>
                  <a:pt x="266590" y="133297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54957" y="2580217"/>
            <a:ext cx="196925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362606" y="260168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6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6"/>
                </a:lnTo>
                <a:lnTo>
                  <a:pt x="266592" y="133297"/>
                </a:ln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362606" y="260168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7"/>
                </a:move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6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6"/>
                </a:lnTo>
                <a:lnTo>
                  <a:pt x="266592" y="133297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443336" y="260168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6"/>
                </a:lnTo>
                <a:lnTo>
                  <a:pt x="266583" y="133297"/>
                </a:lnTo>
                <a:lnTo>
                  <a:pt x="259787" y="91167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443336" y="260168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7"/>
                </a:moveTo>
                <a:lnTo>
                  <a:pt x="259787" y="91167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6"/>
                </a:lnTo>
                <a:lnTo>
                  <a:pt x="266583" y="133297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524059" y="260168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6"/>
                </a:lnTo>
                <a:lnTo>
                  <a:pt x="266583" y="133297"/>
                </a:lnTo>
                <a:lnTo>
                  <a:pt x="259787" y="91167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524059" y="260168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7"/>
                </a:moveTo>
                <a:lnTo>
                  <a:pt x="259787" y="91167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6"/>
                </a:lnTo>
                <a:lnTo>
                  <a:pt x="266583" y="133297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597126" y="2580217"/>
            <a:ext cx="196925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011699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6" y="0"/>
                </a:moveTo>
                <a:lnTo>
                  <a:pt x="91166" y="6795"/>
                </a:lnTo>
                <a:lnTo>
                  <a:pt x="54575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1"/>
                </a:lnTo>
                <a:lnTo>
                  <a:pt x="91166" y="259795"/>
                </a:lnTo>
                <a:lnTo>
                  <a:pt x="133296" y="266592"/>
                </a:lnTo>
                <a:lnTo>
                  <a:pt x="175426" y="259795"/>
                </a:lnTo>
                <a:lnTo>
                  <a:pt x="212016" y="240871"/>
                </a:lnTo>
                <a:lnTo>
                  <a:pt x="240871" y="212016"/>
                </a:lnTo>
                <a:lnTo>
                  <a:pt x="259795" y="175425"/>
                </a:lnTo>
                <a:lnTo>
                  <a:pt x="266591" y="133295"/>
                </a:lnTo>
                <a:lnTo>
                  <a:pt x="259795" y="91165"/>
                </a:lnTo>
                <a:lnTo>
                  <a:pt x="240871" y="54575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011699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1" y="133295"/>
                </a:moveTo>
                <a:lnTo>
                  <a:pt x="259795" y="91165"/>
                </a:lnTo>
                <a:lnTo>
                  <a:pt x="240871" y="54575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6" y="0"/>
                </a:lnTo>
                <a:lnTo>
                  <a:pt x="91166" y="6795"/>
                </a:lnTo>
                <a:lnTo>
                  <a:pt x="54575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1"/>
                </a:lnTo>
                <a:lnTo>
                  <a:pt x="91166" y="259795"/>
                </a:lnTo>
                <a:lnTo>
                  <a:pt x="133296" y="266592"/>
                </a:lnTo>
                <a:lnTo>
                  <a:pt x="175426" y="259795"/>
                </a:lnTo>
                <a:lnTo>
                  <a:pt x="212016" y="240871"/>
                </a:lnTo>
                <a:lnTo>
                  <a:pt x="240871" y="212016"/>
                </a:lnTo>
                <a:lnTo>
                  <a:pt x="259795" y="175425"/>
                </a:lnTo>
                <a:lnTo>
                  <a:pt x="266591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552082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6"/>
                </a:ln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552082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6"/>
                </a:move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6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092438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5"/>
                </a:lnTo>
                <a:lnTo>
                  <a:pt x="54575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1"/>
                </a:lnTo>
                <a:lnTo>
                  <a:pt x="91166" y="259795"/>
                </a:lnTo>
                <a:lnTo>
                  <a:pt x="133295" y="266592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092438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6" y="6795"/>
                </a:lnTo>
                <a:lnTo>
                  <a:pt x="54575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1"/>
                </a:lnTo>
                <a:lnTo>
                  <a:pt x="91166" y="259795"/>
                </a:lnTo>
                <a:lnTo>
                  <a:pt x="133295" y="266592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632802" y="327715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5"/>
                </a:lnTo>
                <a:lnTo>
                  <a:pt x="54574" y="25719"/>
                </a:lnTo>
                <a:lnTo>
                  <a:pt x="25719" y="54575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9" y="212016"/>
                </a:lnTo>
                <a:lnTo>
                  <a:pt x="54574" y="240871"/>
                </a:lnTo>
                <a:lnTo>
                  <a:pt x="91165" y="259795"/>
                </a:lnTo>
                <a:lnTo>
                  <a:pt x="133295" y="266591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9632802" y="327715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5" y="6795"/>
                </a:lnTo>
                <a:lnTo>
                  <a:pt x="54574" y="25719"/>
                </a:lnTo>
                <a:lnTo>
                  <a:pt x="25719" y="54575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9" y="212016"/>
                </a:lnTo>
                <a:lnTo>
                  <a:pt x="54574" y="240871"/>
                </a:lnTo>
                <a:lnTo>
                  <a:pt x="91165" y="259795"/>
                </a:lnTo>
                <a:lnTo>
                  <a:pt x="133295" y="266591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173148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3" y="6795"/>
                </a:lnTo>
                <a:lnTo>
                  <a:pt x="54574" y="25719"/>
                </a:lnTo>
                <a:lnTo>
                  <a:pt x="25719" y="54575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9" y="212016"/>
                </a:lnTo>
                <a:lnTo>
                  <a:pt x="54574" y="240871"/>
                </a:lnTo>
                <a:lnTo>
                  <a:pt x="91163" y="259795"/>
                </a:lnTo>
                <a:lnTo>
                  <a:pt x="133291" y="266592"/>
                </a:lnTo>
                <a:lnTo>
                  <a:pt x="175420" y="259795"/>
                </a:lnTo>
                <a:lnTo>
                  <a:pt x="212009" y="240871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5"/>
                </a:lnTo>
                <a:lnTo>
                  <a:pt x="259787" y="91165"/>
                </a:lnTo>
                <a:lnTo>
                  <a:pt x="240864" y="54575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173148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5"/>
                </a:moveTo>
                <a:lnTo>
                  <a:pt x="259787" y="91165"/>
                </a:lnTo>
                <a:lnTo>
                  <a:pt x="240864" y="54575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lnTo>
                  <a:pt x="91163" y="6795"/>
                </a:lnTo>
                <a:lnTo>
                  <a:pt x="54574" y="25719"/>
                </a:lnTo>
                <a:lnTo>
                  <a:pt x="25719" y="54575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9" y="212016"/>
                </a:lnTo>
                <a:lnTo>
                  <a:pt x="54574" y="240871"/>
                </a:lnTo>
                <a:lnTo>
                  <a:pt x="91163" y="259795"/>
                </a:lnTo>
                <a:lnTo>
                  <a:pt x="133291" y="266592"/>
                </a:lnTo>
                <a:lnTo>
                  <a:pt x="175420" y="259795"/>
                </a:lnTo>
                <a:lnTo>
                  <a:pt x="212009" y="240871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713522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0713522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6"/>
                </a:move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1253896" y="32771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253896" y="32771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6"/>
                </a:move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794247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1794247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6"/>
                </a:move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666028" y="2580218"/>
            <a:ext cx="3397929" cy="996696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793139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>
                <a:tab pos="1873568" algn="l"/>
              </a:tabLst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3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7551" algn="l"/>
                <a:tab pos="1054944" algn="l"/>
                <a:tab pos="1611763" algn="l"/>
                <a:tab pos="2119154" algn="l"/>
                <a:tab pos="2667479" algn="l"/>
                <a:tab pos="3216575" algn="l"/>
              </a:tabLst>
              <a:defRPr/>
            </a:pPr>
            <a:r>
              <a:rPr kumimoji="0" sz="1763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	</a:t>
            </a:r>
            <a:r>
              <a:rPr kumimoji="0" sz="1763" b="0" i="1" u="none" strike="noStrike" kern="1200" cap="none" spc="12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J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K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	</a:t>
            </a:r>
            <a:r>
              <a:rPr kumimoji="0" sz="1763" b="0" i="1" u="none" strike="noStrike" kern="1200" cap="none" spc="3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	O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8384662" y="3352681"/>
            <a:ext cx="138922" cy="173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800331" y="3688855"/>
            <a:ext cx="3495233" cy="1012975"/>
          </a:xfrm>
          <a:prstGeom prst="rect">
            <a:avLst/>
          </a:prstGeom>
        </p:spPr>
        <p:txBody>
          <a:bodyPr vert="horz" wrap="square" lIns="0" tIns="14673" rIns="0" bIns="0" rtlCol="0">
            <a:spAutoFit/>
          </a:bodyPr>
          <a:lstStyle/>
          <a:p>
            <a:pPr marL="15446" marR="6178" lvl="0" indent="0" algn="l" defTabSz="1112093" rtl="0" eaLnBrk="1" fontAlgn="auto" latinLnBrk="0" hangingPunct="1">
              <a:lnSpc>
                <a:spcPct val="107400"/>
              </a:lnSpc>
              <a:spcBef>
                <a:spcPts val="11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maximum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branching factor 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shallowest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  </a:t>
            </a:r>
            <a:r>
              <a:rPr kumimoji="0" sz="2068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max.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any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112049" y="6125585"/>
            <a:ext cx="11120494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050269" y="4988105"/>
            <a:ext cx="7266934" cy="2156689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deepest</a:t>
            </a:r>
            <a:r>
              <a:rPr kumimoji="0" sz="2493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696603" marR="0" lvl="1" indent="-253309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697375" algn="l"/>
              </a:tabLst>
              <a:defRPr/>
            </a:pPr>
            <a:r>
              <a:rPr kumimoji="0" sz="2493" b="0" i="1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pushdown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stack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56047" marR="0" lvl="1" indent="0" algn="l" defTabSz="1112093" rtl="0" eaLnBrk="1" fontAlgn="auto" latinLnBrk="0" hangingPunct="1">
              <a:lnSpc>
                <a:spcPct val="100000"/>
              </a:lnSpc>
              <a:spcBef>
                <a:spcPts val="18"/>
              </a:spcBef>
              <a:spcAft>
                <a:spcPts val="0"/>
              </a:spcAft>
              <a:buClrTx/>
              <a:buSzTx/>
              <a:buFont typeface="Arial"/>
              <a:buChar char="►"/>
              <a:tabLst/>
              <a:defRPr/>
            </a:pPr>
            <a:endParaRPr kumimoji="0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21624" lvl="0" indent="-399272" algn="l" defTabSz="1112093" rtl="0" eaLnBrk="1" fontAlgn="auto" latinLnBrk="0" hangingPunct="1">
              <a:lnSpc>
                <a:spcPct val="101200"/>
              </a:lnSpc>
              <a:spcBef>
                <a:spcPts val="6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Like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what </a:t>
            </a:r>
            <a:r>
              <a:rPr kumimoji="0" sz="2493" b="0" i="0" u="none" strike="noStrike" kern="1200" cap="none" spc="-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you’ve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seen in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previous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courses,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except  expanding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node generates all of its children at</a:t>
            </a:r>
            <a:r>
              <a:rPr kumimoji="0" sz="2493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once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B667105-F88D-6949-8ED4-56B4EB8DF498}"/>
              </a:ext>
            </a:extLst>
          </p:cNvPr>
          <p:cNvSpPr/>
          <p:nvPr/>
        </p:nvSpPr>
        <p:spPr>
          <a:xfrm>
            <a:off x="897467" y="4927598"/>
            <a:ext cx="4402666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19945975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0675" y="1077273"/>
            <a:ext cx="5034463" cy="571633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356024">
              <a:spcBef>
                <a:spcPts val="152"/>
              </a:spcBef>
            </a:pPr>
            <a:r>
              <a:rPr spc="-12" dirty="0"/>
              <a:t>Depth-first</a:t>
            </a:r>
            <a:r>
              <a:rPr spc="23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93683" y="1412889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888638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74403" y="1412889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0" y="0"/>
                </a:moveTo>
                <a:lnTo>
                  <a:pt x="88864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14774" y="2088342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11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55124" y="2088342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31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53319" y="2088342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21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93682" y="2088342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15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425312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46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695475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65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344587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65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614774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46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63860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7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34038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83132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8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53311" y="276380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912294" y="12507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6"/>
                </a:lnTo>
                <a:lnTo>
                  <a:pt x="54574" y="25721"/>
                </a:lnTo>
                <a:lnTo>
                  <a:pt x="25719" y="54577"/>
                </a:lnTo>
                <a:lnTo>
                  <a:pt x="6795" y="91169"/>
                </a:lnTo>
                <a:lnTo>
                  <a:pt x="0" y="133299"/>
                </a:lnTo>
                <a:lnTo>
                  <a:pt x="6795" y="175429"/>
                </a:lnTo>
                <a:lnTo>
                  <a:pt x="25719" y="212019"/>
                </a:lnTo>
                <a:lnTo>
                  <a:pt x="54574" y="240875"/>
                </a:lnTo>
                <a:lnTo>
                  <a:pt x="91165" y="259798"/>
                </a:lnTo>
                <a:lnTo>
                  <a:pt x="133295" y="266594"/>
                </a:lnTo>
                <a:lnTo>
                  <a:pt x="175425" y="259798"/>
                </a:lnTo>
                <a:lnTo>
                  <a:pt x="212015" y="240875"/>
                </a:lnTo>
                <a:lnTo>
                  <a:pt x="240871" y="212019"/>
                </a:lnTo>
                <a:lnTo>
                  <a:pt x="259794" y="175429"/>
                </a:lnTo>
                <a:lnTo>
                  <a:pt x="266590" y="133299"/>
                </a:lnTo>
                <a:lnTo>
                  <a:pt x="259794" y="91169"/>
                </a:lnTo>
                <a:lnTo>
                  <a:pt x="240871" y="54577"/>
                </a:lnTo>
                <a:lnTo>
                  <a:pt x="212015" y="25721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912294" y="12507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0" y="133299"/>
                </a:moveTo>
                <a:lnTo>
                  <a:pt x="259794" y="91169"/>
                </a:lnTo>
                <a:lnTo>
                  <a:pt x="240871" y="54577"/>
                </a:lnTo>
                <a:lnTo>
                  <a:pt x="212015" y="25721"/>
                </a:lnTo>
                <a:lnTo>
                  <a:pt x="175425" y="6796"/>
                </a:lnTo>
                <a:lnTo>
                  <a:pt x="133295" y="0"/>
                </a:lnTo>
                <a:lnTo>
                  <a:pt x="91165" y="6796"/>
                </a:lnTo>
                <a:lnTo>
                  <a:pt x="54574" y="25721"/>
                </a:lnTo>
                <a:lnTo>
                  <a:pt x="25719" y="54577"/>
                </a:lnTo>
                <a:lnTo>
                  <a:pt x="6795" y="91169"/>
                </a:lnTo>
                <a:lnTo>
                  <a:pt x="0" y="133299"/>
                </a:lnTo>
                <a:lnTo>
                  <a:pt x="6795" y="175429"/>
                </a:lnTo>
                <a:lnTo>
                  <a:pt x="25719" y="212019"/>
                </a:lnTo>
                <a:lnTo>
                  <a:pt x="54574" y="240875"/>
                </a:lnTo>
                <a:lnTo>
                  <a:pt x="91165" y="259798"/>
                </a:lnTo>
                <a:lnTo>
                  <a:pt x="133295" y="266594"/>
                </a:lnTo>
                <a:lnTo>
                  <a:pt x="175425" y="259798"/>
                </a:lnTo>
                <a:lnTo>
                  <a:pt x="212015" y="240875"/>
                </a:lnTo>
                <a:lnTo>
                  <a:pt x="240871" y="212019"/>
                </a:lnTo>
                <a:lnTo>
                  <a:pt x="259794" y="175429"/>
                </a:lnTo>
                <a:lnTo>
                  <a:pt x="266590" y="133299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93548" y="1229323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831566" y="19262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7"/>
                </a:lnTo>
                <a:lnTo>
                  <a:pt x="25720" y="212017"/>
                </a:lnTo>
                <a:lnTo>
                  <a:pt x="54576" y="240873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3"/>
                </a:lnTo>
                <a:lnTo>
                  <a:pt x="240872" y="212017"/>
                </a:lnTo>
                <a:lnTo>
                  <a:pt x="259796" y="175427"/>
                </a:lnTo>
                <a:lnTo>
                  <a:pt x="266592" y="133297"/>
                </a:ln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831566" y="19262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7"/>
                </a:move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7"/>
                </a:lnTo>
                <a:lnTo>
                  <a:pt x="25720" y="212017"/>
                </a:lnTo>
                <a:lnTo>
                  <a:pt x="54576" y="240873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3"/>
                </a:lnTo>
                <a:lnTo>
                  <a:pt x="240872" y="212017"/>
                </a:lnTo>
                <a:lnTo>
                  <a:pt x="259796" y="175427"/>
                </a:lnTo>
                <a:lnTo>
                  <a:pt x="266592" y="133297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21000" y="1904764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993021" y="19262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7"/>
                </a:lnTo>
                <a:lnTo>
                  <a:pt x="25718" y="212017"/>
                </a:lnTo>
                <a:lnTo>
                  <a:pt x="54573" y="240873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3"/>
                </a:lnTo>
                <a:lnTo>
                  <a:pt x="240864" y="212017"/>
                </a:lnTo>
                <a:lnTo>
                  <a:pt x="259787" y="175427"/>
                </a:lnTo>
                <a:lnTo>
                  <a:pt x="266583" y="133297"/>
                </a:lnTo>
                <a:lnTo>
                  <a:pt x="259787" y="91167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993022" y="1926231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7"/>
                </a:moveTo>
                <a:lnTo>
                  <a:pt x="259787" y="91167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7"/>
                </a:lnTo>
                <a:lnTo>
                  <a:pt x="25718" y="212017"/>
                </a:lnTo>
                <a:lnTo>
                  <a:pt x="54573" y="240873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3"/>
                </a:lnTo>
                <a:lnTo>
                  <a:pt x="240864" y="212017"/>
                </a:lnTo>
                <a:lnTo>
                  <a:pt x="259787" y="175427"/>
                </a:lnTo>
                <a:lnTo>
                  <a:pt x="266583" y="133297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074250" y="1904764"/>
            <a:ext cx="183797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91200" y="26016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6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7" y="259796"/>
                </a:lnTo>
                <a:lnTo>
                  <a:pt x="212017" y="240872"/>
                </a:lnTo>
                <a:lnTo>
                  <a:pt x="240873" y="212016"/>
                </a:lnTo>
                <a:lnTo>
                  <a:pt x="259796" y="175426"/>
                </a:lnTo>
                <a:lnTo>
                  <a:pt x="266592" y="133297"/>
                </a:lnTo>
                <a:lnTo>
                  <a:pt x="259796" y="91167"/>
                </a:lnTo>
                <a:lnTo>
                  <a:pt x="240873" y="54576"/>
                </a:lnTo>
                <a:lnTo>
                  <a:pt x="212017" y="25720"/>
                </a:lnTo>
                <a:lnTo>
                  <a:pt x="175427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291200" y="26016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7"/>
                </a:moveTo>
                <a:lnTo>
                  <a:pt x="259796" y="91167"/>
                </a:lnTo>
                <a:lnTo>
                  <a:pt x="240873" y="54576"/>
                </a:lnTo>
                <a:lnTo>
                  <a:pt x="212017" y="25720"/>
                </a:lnTo>
                <a:lnTo>
                  <a:pt x="175427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6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7" y="259796"/>
                </a:lnTo>
                <a:lnTo>
                  <a:pt x="212017" y="240872"/>
                </a:lnTo>
                <a:lnTo>
                  <a:pt x="240873" y="212016"/>
                </a:lnTo>
                <a:lnTo>
                  <a:pt x="259796" y="175426"/>
                </a:lnTo>
                <a:lnTo>
                  <a:pt x="266592" y="133297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371930" y="26016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6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6"/>
                </a:lnTo>
                <a:lnTo>
                  <a:pt x="266592" y="133297"/>
                </a:ln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371930" y="26016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7"/>
                </a:move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7"/>
                </a:lnTo>
                <a:lnTo>
                  <a:pt x="6796" y="175426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6"/>
                </a:lnTo>
                <a:lnTo>
                  <a:pt x="266592" y="133297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452646" y="26016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2" y="259796"/>
                </a:lnTo>
                <a:lnTo>
                  <a:pt x="212016" y="240872"/>
                </a:lnTo>
                <a:lnTo>
                  <a:pt x="240876" y="212016"/>
                </a:lnTo>
                <a:lnTo>
                  <a:pt x="259804" y="175426"/>
                </a:lnTo>
                <a:lnTo>
                  <a:pt x="266602" y="133297"/>
                </a:lnTo>
                <a:lnTo>
                  <a:pt x="259804" y="91167"/>
                </a:lnTo>
                <a:lnTo>
                  <a:pt x="240876" y="54576"/>
                </a:lnTo>
                <a:lnTo>
                  <a:pt x="212016" y="25720"/>
                </a:lnTo>
                <a:lnTo>
                  <a:pt x="175422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452648" y="26016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7"/>
                </a:moveTo>
                <a:lnTo>
                  <a:pt x="259804" y="91167"/>
                </a:lnTo>
                <a:lnTo>
                  <a:pt x="240876" y="54576"/>
                </a:lnTo>
                <a:lnTo>
                  <a:pt x="212016" y="25720"/>
                </a:lnTo>
                <a:lnTo>
                  <a:pt x="175422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2" y="259796"/>
                </a:lnTo>
                <a:lnTo>
                  <a:pt x="212016" y="240872"/>
                </a:lnTo>
                <a:lnTo>
                  <a:pt x="240876" y="212016"/>
                </a:lnTo>
                <a:lnTo>
                  <a:pt x="259804" y="175426"/>
                </a:lnTo>
                <a:lnTo>
                  <a:pt x="266602" y="133297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533373" y="26016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9" y="259796"/>
                </a:lnTo>
                <a:lnTo>
                  <a:pt x="212024" y="240872"/>
                </a:lnTo>
                <a:lnTo>
                  <a:pt x="240882" y="212016"/>
                </a:lnTo>
                <a:lnTo>
                  <a:pt x="259806" y="175426"/>
                </a:lnTo>
                <a:lnTo>
                  <a:pt x="266602" y="133297"/>
                </a:lnTo>
                <a:lnTo>
                  <a:pt x="259806" y="91167"/>
                </a:lnTo>
                <a:lnTo>
                  <a:pt x="240882" y="54576"/>
                </a:lnTo>
                <a:lnTo>
                  <a:pt x="212024" y="25720"/>
                </a:lnTo>
                <a:lnTo>
                  <a:pt x="175429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533373" y="26016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7"/>
                </a:moveTo>
                <a:lnTo>
                  <a:pt x="259806" y="91167"/>
                </a:lnTo>
                <a:lnTo>
                  <a:pt x="240882" y="54576"/>
                </a:lnTo>
                <a:lnTo>
                  <a:pt x="212024" y="25720"/>
                </a:lnTo>
                <a:lnTo>
                  <a:pt x="175429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7"/>
                </a:lnTo>
                <a:lnTo>
                  <a:pt x="6795" y="175426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9" y="259796"/>
                </a:lnTo>
                <a:lnTo>
                  <a:pt x="212024" y="240872"/>
                </a:lnTo>
                <a:lnTo>
                  <a:pt x="240882" y="212016"/>
                </a:lnTo>
                <a:lnTo>
                  <a:pt x="259806" y="175426"/>
                </a:lnTo>
                <a:lnTo>
                  <a:pt x="266602" y="133297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606461" y="2580217"/>
            <a:ext cx="196925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021023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6" y="0"/>
                </a:moveTo>
                <a:lnTo>
                  <a:pt x="91166" y="6795"/>
                </a:lnTo>
                <a:lnTo>
                  <a:pt x="54575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1"/>
                </a:lnTo>
                <a:lnTo>
                  <a:pt x="91166" y="259795"/>
                </a:lnTo>
                <a:lnTo>
                  <a:pt x="133296" y="266592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5" y="175425"/>
                </a:lnTo>
                <a:lnTo>
                  <a:pt x="266591" y="133295"/>
                </a:lnTo>
                <a:lnTo>
                  <a:pt x="259795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021023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1" y="133295"/>
                </a:moveTo>
                <a:lnTo>
                  <a:pt x="259795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6" y="0"/>
                </a:lnTo>
                <a:lnTo>
                  <a:pt x="91166" y="6795"/>
                </a:lnTo>
                <a:lnTo>
                  <a:pt x="54575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1"/>
                </a:lnTo>
                <a:lnTo>
                  <a:pt x="91166" y="259795"/>
                </a:lnTo>
                <a:lnTo>
                  <a:pt x="133296" y="266592"/>
                </a:lnTo>
                <a:lnTo>
                  <a:pt x="175426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5" y="175425"/>
                </a:lnTo>
                <a:lnTo>
                  <a:pt x="266591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561398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6"/>
                </a:ln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561398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6"/>
                </a:move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6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6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101752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5"/>
                </a:lnTo>
                <a:lnTo>
                  <a:pt x="54575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1"/>
                </a:lnTo>
                <a:lnTo>
                  <a:pt x="91166" y="259795"/>
                </a:lnTo>
                <a:lnTo>
                  <a:pt x="133295" y="266592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101752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5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6" y="6795"/>
                </a:lnTo>
                <a:lnTo>
                  <a:pt x="54575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1"/>
                </a:lnTo>
                <a:lnTo>
                  <a:pt x="91166" y="259795"/>
                </a:lnTo>
                <a:lnTo>
                  <a:pt x="133295" y="266592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642126" y="327715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5"/>
                </a:lnTo>
                <a:lnTo>
                  <a:pt x="54574" y="25719"/>
                </a:lnTo>
                <a:lnTo>
                  <a:pt x="25719" y="54575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9" y="212016"/>
                </a:lnTo>
                <a:lnTo>
                  <a:pt x="54574" y="240871"/>
                </a:lnTo>
                <a:lnTo>
                  <a:pt x="91165" y="259795"/>
                </a:lnTo>
                <a:lnTo>
                  <a:pt x="133295" y="266591"/>
                </a:lnTo>
                <a:lnTo>
                  <a:pt x="175425" y="259795"/>
                </a:lnTo>
                <a:lnTo>
                  <a:pt x="212015" y="240871"/>
                </a:lnTo>
                <a:lnTo>
                  <a:pt x="240871" y="212016"/>
                </a:lnTo>
                <a:lnTo>
                  <a:pt x="259794" y="175425"/>
                </a:lnTo>
                <a:lnTo>
                  <a:pt x="266590" y="133295"/>
                </a:lnTo>
                <a:lnTo>
                  <a:pt x="259794" y="91165"/>
                </a:lnTo>
                <a:lnTo>
                  <a:pt x="240871" y="54575"/>
                </a:lnTo>
                <a:lnTo>
                  <a:pt x="212015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642126" y="3277156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0" y="133295"/>
                </a:moveTo>
                <a:lnTo>
                  <a:pt x="259794" y="91165"/>
                </a:lnTo>
                <a:lnTo>
                  <a:pt x="240871" y="54575"/>
                </a:lnTo>
                <a:lnTo>
                  <a:pt x="212015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5" y="6795"/>
                </a:lnTo>
                <a:lnTo>
                  <a:pt x="54574" y="25719"/>
                </a:lnTo>
                <a:lnTo>
                  <a:pt x="25719" y="54575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9" y="212016"/>
                </a:lnTo>
                <a:lnTo>
                  <a:pt x="54574" y="240871"/>
                </a:lnTo>
                <a:lnTo>
                  <a:pt x="91165" y="259795"/>
                </a:lnTo>
                <a:lnTo>
                  <a:pt x="133295" y="266591"/>
                </a:lnTo>
                <a:lnTo>
                  <a:pt x="175425" y="259795"/>
                </a:lnTo>
                <a:lnTo>
                  <a:pt x="212015" y="240871"/>
                </a:lnTo>
                <a:lnTo>
                  <a:pt x="240871" y="212016"/>
                </a:lnTo>
                <a:lnTo>
                  <a:pt x="259794" y="175425"/>
                </a:lnTo>
                <a:lnTo>
                  <a:pt x="266590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182472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01" y="0"/>
                </a:moveTo>
                <a:lnTo>
                  <a:pt x="91168" y="6795"/>
                </a:lnTo>
                <a:lnTo>
                  <a:pt x="54576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1"/>
                </a:lnTo>
                <a:lnTo>
                  <a:pt x="91168" y="259795"/>
                </a:lnTo>
                <a:lnTo>
                  <a:pt x="133301" y="266592"/>
                </a:lnTo>
                <a:lnTo>
                  <a:pt x="175429" y="259795"/>
                </a:lnTo>
                <a:lnTo>
                  <a:pt x="212019" y="240871"/>
                </a:lnTo>
                <a:lnTo>
                  <a:pt x="240873" y="212016"/>
                </a:lnTo>
                <a:lnTo>
                  <a:pt x="259797" y="175425"/>
                </a:lnTo>
                <a:lnTo>
                  <a:pt x="266592" y="133295"/>
                </a:lnTo>
                <a:lnTo>
                  <a:pt x="259797" y="91165"/>
                </a:lnTo>
                <a:lnTo>
                  <a:pt x="240873" y="54575"/>
                </a:lnTo>
                <a:lnTo>
                  <a:pt x="212019" y="25719"/>
                </a:lnTo>
                <a:lnTo>
                  <a:pt x="175429" y="6795"/>
                </a:lnTo>
                <a:lnTo>
                  <a:pt x="1333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182472" y="327714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7" y="91165"/>
                </a:lnTo>
                <a:lnTo>
                  <a:pt x="240873" y="54575"/>
                </a:lnTo>
                <a:lnTo>
                  <a:pt x="212019" y="25719"/>
                </a:lnTo>
                <a:lnTo>
                  <a:pt x="175429" y="6795"/>
                </a:lnTo>
                <a:lnTo>
                  <a:pt x="133301" y="0"/>
                </a:lnTo>
                <a:lnTo>
                  <a:pt x="91168" y="6795"/>
                </a:lnTo>
                <a:lnTo>
                  <a:pt x="54576" y="25719"/>
                </a:lnTo>
                <a:lnTo>
                  <a:pt x="25720" y="54575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1"/>
                </a:lnTo>
                <a:lnTo>
                  <a:pt x="91168" y="259795"/>
                </a:lnTo>
                <a:lnTo>
                  <a:pt x="133301" y="266592"/>
                </a:lnTo>
                <a:lnTo>
                  <a:pt x="175429" y="259795"/>
                </a:lnTo>
                <a:lnTo>
                  <a:pt x="212019" y="240871"/>
                </a:lnTo>
                <a:lnTo>
                  <a:pt x="240873" y="212016"/>
                </a:lnTo>
                <a:lnTo>
                  <a:pt x="259797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722834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10" y="0"/>
                </a:moveTo>
                <a:lnTo>
                  <a:pt x="91180" y="6796"/>
                </a:lnTo>
                <a:lnTo>
                  <a:pt x="54585" y="25720"/>
                </a:lnTo>
                <a:lnTo>
                  <a:pt x="25725" y="54575"/>
                </a:lnTo>
                <a:lnTo>
                  <a:pt x="6797" y="91166"/>
                </a:lnTo>
                <a:lnTo>
                  <a:pt x="0" y="133296"/>
                </a:lnTo>
                <a:lnTo>
                  <a:pt x="6797" y="175425"/>
                </a:lnTo>
                <a:lnTo>
                  <a:pt x="25725" y="212016"/>
                </a:lnTo>
                <a:lnTo>
                  <a:pt x="54585" y="240872"/>
                </a:lnTo>
                <a:lnTo>
                  <a:pt x="91180" y="259796"/>
                </a:lnTo>
                <a:lnTo>
                  <a:pt x="133310" y="266592"/>
                </a:lnTo>
                <a:lnTo>
                  <a:pt x="175439" y="259796"/>
                </a:lnTo>
                <a:lnTo>
                  <a:pt x="212029" y="240872"/>
                </a:lnTo>
                <a:lnTo>
                  <a:pt x="240883" y="212016"/>
                </a:lnTo>
                <a:lnTo>
                  <a:pt x="259806" y="175425"/>
                </a:lnTo>
                <a:lnTo>
                  <a:pt x="266602" y="133296"/>
                </a:lnTo>
                <a:lnTo>
                  <a:pt x="259806" y="91166"/>
                </a:lnTo>
                <a:lnTo>
                  <a:pt x="240883" y="54575"/>
                </a:lnTo>
                <a:lnTo>
                  <a:pt x="212029" y="25720"/>
                </a:lnTo>
                <a:lnTo>
                  <a:pt x="175439" y="6796"/>
                </a:lnTo>
                <a:lnTo>
                  <a:pt x="1333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722835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6"/>
                </a:moveTo>
                <a:lnTo>
                  <a:pt x="259806" y="91166"/>
                </a:lnTo>
                <a:lnTo>
                  <a:pt x="240883" y="54575"/>
                </a:lnTo>
                <a:lnTo>
                  <a:pt x="212029" y="25720"/>
                </a:lnTo>
                <a:lnTo>
                  <a:pt x="175439" y="6796"/>
                </a:lnTo>
                <a:lnTo>
                  <a:pt x="133310" y="0"/>
                </a:lnTo>
                <a:lnTo>
                  <a:pt x="91180" y="6796"/>
                </a:lnTo>
                <a:lnTo>
                  <a:pt x="54585" y="25720"/>
                </a:lnTo>
                <a:lnTo>
                  <a:pt x="25725" y="54575"/>
                </a:lnTo>
                <a:lnTo>
                  <a:pt x="6797" y="91166"/>
                </a:lnTo>
                <a:lnTo>
                  <a:pt x="0" y="133296"/>
                </a:lnTo>
                <a:lnTo>
                  <a:pt x="6797" y="175425"/>
                </a:lnTo>
                <a:lnTo>
                  <a:pt x="25725" y="212016"/>
                </a:lnTo>
                <a:lnTo>
                  <a:pt x="54585" y="240872"/>
                </a:lnTo>
                <a:lnTo>
                  <a:pt x="91180" y="259796"/>
                </a:lnTo>
                <a:lnTo>
                  <a:pt x="133310" y="266592"/>
                </a:lnTo>
                <a:lnTo>
                  <a:pt x="175439" y="259796"/>
                </a:lnTo>
                <a:lnTo>
                  <a:pt x="212029" y="240872"/>
                </a:lnTo>
                <a:lnTo>
                  <a:pt x="240883" y="212016"/>
                </a:lnTo>
                <a:lnTo>
                  <a:pt x="259806" y="175425"/>
                </a:lnTo>
                <a:lnTo>
                  <a:pt x="266602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263208" y="32771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1263209" y="32771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6"/>
                </a:move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803559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9" y="259796"/>
                </a:lnTo>
                <a:lnTo>
                  <a:pt x="212024" y="240872"/>
                </a:lnTo>
                <a:lnTo>
                  <a:pt x="240882" y="212016"/>
                </a:lnTo>
                <a:lnTo>
                  <a:pt x="259806" y="175425"/>
                </a:lnTo>
                <a:lnTo>
                  <a:pt x="266602" y="133296"/>
                </a:lnTo>
                <a:lnTo>
                  <a:pt x="259806" y="91166"/>
                </a:lnTo>
                <a:lnTo>
                  <a:pt x="240882" y="54575"/>
                </a:lnTo>
                <a:lnTo>
                  <a:pt x="212024" y="25720"/>
                </a:lnTo>
                <a:lnTo>
                  <a:pt x="175429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803559" y="32771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6"/>
                </a:moveTo>
                <a:lnTo>
                  <a:pt x="259806" y="91166"/>
                </a:lnTo>
                <a:lnTo>
                  <a:pt x="240882" y="54575"/>
                </a:lnTo>
                <a:lnTo>
                  <a:pt x="212024" y="25720"/>
                </a:lnTo>
                <a:lnTo>
                  <a:pt x="175429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6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9" y="259796"/>
                </a:lnTo>
                <a:lnTo>
                  <a:pt x="212024" y="240872"/>
                </a:lnTo>
                <a:lnTo>
                  <a:pt x="240882" y="212016"/>
                </a:lnTo>
                <a:lnTo>
                  <a:pt x="259806" y="175425"/>
                </a:lnTo>
                <a:lnTo>
                  <a:pt x="266602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207546" y="2580218"/>
            <a:ext cx="2865844" cy="996696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261032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>
                <a:tab pos="1341463" algn="l"/>
              </a:tabLst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3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2838" algn="l"/>
                <a:tab pos="1079657" algn="l"/>
                <a:tab pos="1587050" algn="l"/>
                <a:tab pos="2135374" algn="l"/>
                <a:tab pos="2684470" algn="l"/>
              </a:tabLst>
              <a:defRPr/>
            </a:pPr>
            <a:r>
              <a:rPr kumimoji="0" sz="1763" b="0" i="1" u="none" strike="noStrike" kern="1200" cap="none" spc="12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J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K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	</a:t>
            </a:r>
            <a:r>
              <a:rPr kumimoji="0" sz="1763" b="0" i="1" u="none" strike="noStrike" kern="1200" cap="none" spc="3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	O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9204536" y="2677209"/>
            <a:ext cx="138925" cy="173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800331" y="3688855"/>
            <a:ext cx="3495233" cy="1012975"/>
          </a:xfrm>
          <a:prstGeom prst="rect">
            <a:avLst/>
          </a:prstGeom>
        </p:spPr>
        <p:txBody>
          <a:bodyPr vert="horz" wrap="square" lIns="0" tIns="14673" rIns="0" bIns="0" rtlCol="0">
            <a:spAutoFit/>
          </a:bodyPr>
          <a:lstStyle/>
          <a:p>
            <a:pPr marL="15446" marR="6178" lvl="0" indent="0" algn="l" defTabSz="1112093" rtl="0" eaLnBrk="1" fontAlgn="auto" latinLnBrk="0" hangingPunct="1">
              <a:lnSpc>
                <a:spcPct val="107400"/>
              </a:lnSpc>
              <a:spcBef>
                <a:spcPts val="11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maximum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branching factor 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shallowest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  </a:t>
            </a:r>
            <a:r>
              <a:rPr kumimoji="0" sz="2068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max.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any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112049" y="6125585"/>
            <a:ext cx="11120494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50269" y="4988105"/>
            <a:ext cx="7266934" cy="2156689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deepest</a:t>
            </a:r>
            <a:r>
              <a:rPr kumimoji="0" sz="2493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696603" marR="0" lvl="1" indent="-253309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697375" algn="l"/>
              </a:tabLst>
              <a:defRPr/>
            </a:pPr>
            <a:r>
              <a:rPr kumimoji="0" sz="2493" b="0" i="1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pushdown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stack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56047" marR="0" lvl="1" indent="0" algn="l" defTabSz="1112093" rtl="0" eaLnBrk="1" fontAlgn="auto" latinLnBrk="0" hangingPunct="1">
              <a:lnSpc>
                <a:spcPct val="100000"/>
              </a:lnSpc>
              <a:spcBef>
                <a:spcPts val="18"/>
              </a:spcBef>
              <a:spcAft>
                <a:spcPts val="0"/>
              </a:spcAft>
              <a:buClrTx/>
              <a:buSzTx/>
              <a:buFont typeface="Arial"/>
              <a:buChar char="►"/>
              <a:tabLst/>
              <a:defRPr/>
            </a:pPr>
            <a:endParaRPr kumimoji="0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21624" lvl="0" indent="-399272" algn="l" defTabSz="1112093" rtl="0" eaLnBrk="1" fontAlgn="auto" latinLnBrk="0" hangingPunct="1">
              <a:lnSpc>
                <a:spcPct val="101200"/>
              </a:lnSpc>
              <a:spcBef>
                <a:spcPts val="6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Like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what </a:t>
            </a:r>
            <a:r>
              <a:rPr kumimoji="0" sz="2493" b="0" i="0" u="none" strike="noStrike" kern="1200" cap="none" spc="-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you’ve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seen in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previous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courses,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except  expanding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node generates all of its children at</a:t>
            </a:r>
            <a:r>
              <a:rPr kumimoji="0" sz="2493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once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A07D44D-D4C2-F24F-AF9D-83ED4BA09197}"/>
              </a:ext>
            </a:extLst>
          </p:cNvPr>
          <p:cNvSpPr/>
          <p:nvPr/>
        </p:nvSpPr>
        <p:spPr>
          <a:xfrm>
            <a:off x="897467" y="4927598"/>
            <a:ext cx="4402666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24044609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0675" y="1077273"/>
            <a:ext cx="5034463" cy="571633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356024">
              <a:spcBef>
                <a:spcPts val="152"/>
              </a:spcBef>
            </a:pPr>
            <a:r>
              <a:rPr spc="-12" dirty="0"/>
              <a:t>Depth-first</a:t>
            </a:r>
            <a:r>
              <a:rPr spc="23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75050" y="1395189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888636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55769" y="1395189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0" y="0"/>
                </a:moveTo>
                <a:lnTo>
                  <a:pt x="888644" y="555400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596144" y="2070640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11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36495" y="2070640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31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34685" y="2070640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23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75050" y="2070640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13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406659" y="2746103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46" y="0"/>
                </a:moveTo>
                <a:lnTo>
                  <a:pt x="0" y="555401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676823" y="2746103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65" y="555401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325958" y="2746103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46" y="0"/>
                </a:moveTo>
                <a:lnTo>
                  <a:pt x="0" y="555401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596121" y="2746103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65" y="555401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45218" y="2746103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7" y="0"/>
                </a:moveTo>
                <a:lnTo>
                  <a:pt x="0" y="555401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15396" y="2746103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5" y="555401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64489" y="2746103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7" y="0"/>
                </a:moveTo>
                <a:lnTo>
                  <a:pt x="0" y="555401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34667" y="2746103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1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893651" y="1233083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5"/>
                </a:lnTo>
                <a:lnTo>
                  <a:pt x="54575" y="25719"/>
                </a:lnTo>
                <a:lnTo>
                  <a:pt x="25720" y="54573"/>
                </a:lnTo>
                <a:lnTo>
                  <a:pt x="6796" y="91163"/>
                </a:lnTo>
                <a:lnTo>
                  <a:pt x="0" y="133293"/>
                </a:lnTo>
                <a:lnTo>
                  <a:pt x="6796" y="175422"/>
                </a:lnTo>
                <a:lnTo>
                  <a:pt x="25720" y="212013"/>
                </a:lnTo>
                <a:lnTo>
                  <a:pt x="54575" y="240868"/>
                </a:lnTo>
                <a:lnTo>
                  <a:pt x="91166" y="259792"/>
                </a:lnTo>
                <a:lnTo>
                  <a:pt x="133295" y="266588"/>
                </a:lnTo>
                <a:lnTo>
                  <a:pt x="175425" y="259792"/>
                </a:lnTo>
                <a:lnTo>
                  <a:pt x="212016" y="240868"/>
                </a:lnTo>
                <a:lnTo>
                  <a:pt x="240872" y="212013"/>
                </a:lnTo>
                <a:lnTo>
                  <a:pt x="259796" y="175422"/>
                </a:lnTo>
                <a:lnTo>
                  <a:pt x="266592" y="133293"/>
                </a:lnTo>
                <a:lnTo>
                  <a:pt x="259796" y="91163"/>
                </a:lnTo>
                <a:lnTo>
                  <a:pt x="240872" y="54573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893651" y="123308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3"/>
                </a:moveTo>
                <a:lnTo>
                  <a:pt x="259796" y="91163"/>
                </a:lnTo>
                <a:lnTo>
                  <a:pt x="240872" y="54573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6" y="6795"/>
                </a:lnTo>
                <a:lnTo>
                  <a:pt x="54575" y="25719"/>
                </a:lnTo>
                <a:lnTo>
                  <a:pt x="25720" y="54573"/>
                </a:lnTo>
                <a:lnTo>
                  <a:pt x="6796" y="91163"/>
                </a:lnTo>
                <a:lnTo>
                  <a:pt x="0" y="133293"/>
                </a:lnTo>
                <a:lnTo>
                  <a:pt x="6796" y="175422"/>
                </a:lnTo>
                <a:lnTo>
                  <a:pt x="25720" y="212013"/>
                </a:lnTo>
                <a:lnTo>
                  <a:pt x="54575" y="240868"/>
                </a:lnTo>
                <a:lnTo>
                  <a:pt x="91166" y="259792"/>
                </a:lnTo>
                <a:lnTo>
                  <a:pt x="133295" y="266588"/>
                </a:lnTo>
                <a:lnTo>
                  <a:pt x="175425" y="259792"/>
                </a:lnTo>
                <a:lnTo>
                  <a:pt x="212016" y="240868"/>
                </a:lnTo>
                <a:lnTo>
                  <a:pt x="240872" y="212013"/>
                </a:lnTo>
                <a:lnTo>
                  <a:pt x="259796" y="175422"/>
                </a:lnTo>
                <a:lnTo>
                  <a:pt x="266592" y="133293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74908" y="1211621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812922" y="190853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7" y="259796"/>
                </a:lnTo>
                <a:lnTo>
                  <a:pt x="212017" y="240872"/>
                </a:lnTo>
                <a:lnTo>
                  <a:pt x="240873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6"/>
                </a:lnTo>
                <a:lnTo>
                  <a:pt x="240873" y="54575"/>
                </a:lnTo>
                <a:lnTo>
                  <a:pt x="212017" y="25720"/>
                </a:lnTo>
                <a:lnTo>
                  <a:pt x="175427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812922" y="190853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6"/>
                </a:lnTo>
                <a:lnTo>
                  <a:pt x="240873" y="54575"/>
                </a:lnTo>
                <a:lnTo>
                  <a:pt x="212017" y="25720"/>
                </a:lnTo>
                <a:lnTo>
                  <a:pt x="175427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7" y="259796"/>
                </a:lnTo>
                <a:lnTo>
                  <a:pt x="212017" y="240872"/>
                </a:lnTo>
                <a:lnTo>
                  <a:pt x="240873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02359" y="1887064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974368" y="190853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5"/>
                </a:ln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974368" y="190853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5"/>
                </a:move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5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055598" y="1887064"/>
            <a:ext cx="183797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72550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5"/>
                </a:lnTo>
                <a:lnTo>
                  <a:pt x="54574" y="25719"/>
                </a:lnTo>
                <a:lnTo>
                  <a:pt x="25719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9" y="212016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6"/>
                </a:lnTo>
                <a:lnTo>
                  <a:pt x="259794" y="175425"/>
                </a:lnTo>
                <a:lnTo>
                  <a:pt x="266590" y="133295"/>
                </a:lnTo>
                <a:lnTo>
                  <a:pt x="259794" y="91165"/>
                </a:lnTo>
                <a:lnTo>
                  <a:pt x="240871" y="54574"/>
                </a:lnTo>
                <a:lnTo>
                  <a:pt x="212015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272550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0" y="133295"/>
                </a:moveTo>
                <a:lnTo>
                  <a:pt x="259794" y="91165"/>
                </a:lnTo>
                <a:lnTo>
                  <a:pt x="240871" y="54574"/>
                </a:lnTo>
                <a:lnTo>
                  <a:pt x="212015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5" y="6795"/>
                </a:lnTo>
                <a:lnTo>
                  <a:pt x="54574" y="25719"/>
                </a:lnTo>
                <a:lnTo>
                  <a:pt x="25719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9" y="212016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6"/>
                </a:lnTo>
                <a:lnTo>
                  <a:pt x="259794" y="175425"/>
                </a:lnTo>
                <a:lnTo>
                  <a:pt x="266590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353286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353286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7" y="0"/>
                </a:ln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433994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10" y="0"/>
                </a:moveTo>
                <a:lnTo>
                  <a:pt x="91180" y="6795"/>
                </a:lnTo>
                <a:lnTo>
                  <a:pt x="54585" y="25719"/>
                </a:lnTo>
                <a:lnTo>
                  <a:pt x="25725" y="54574"/>
                </a:lnTo>
                <a:lnTo>
                  <a:pt x="6797" y="91165"/>
                </a:lnTo>
                <a:lnTo>
                  <a:pt x="0" y="133295"/>
                </a:lnTo>
                <a:lnTo>
                  <a:pt x="6797" y="175425"/>
                </a:lnTo>
                <a:lnTo>
                  <a:pt x="25725" y="212016"/>
                </a:lnTo>
                <a:lnTo>
                  <a:pt x="54585" y="240872"/>
                </a:lnTo>
                <a:lnTo>
                  <a:pt x="91180" y="259796"/>
                </a:lnTo>
                <a:lnTo>
                  <a:pt x="133310" y="266592"/>
                </a:lnTo>
                <a:lnTo>
                  <a:pt x="175439" y="259796"/>
                </a:lnTo>
                <a:lnTo>
                  <a:pt x="212029" y="240872"/>
                </a:lnTo>
                <a:lnTo>
                  <a:pt x="240883" y="212016"/>
                </a:lnTo>
                <a:lnTo>
                  <a:pt x="259806" y="175425"/>
                </a:lnTo>
                <a:lnTo>
                  <a:pt x="266602" y="133295"/>
                </a:lnTo>
                <a:lnTo>
                  <a:pt x="259806" y="91165"/>
                </a:lnTo>
                <a:lnTo>
                  <a:pt x="240883" y="54574"/>
                </a:lnTo>
                <a:lnTo>
                  <a:pt x="212029" y="25719"/>
                </a:lnTo>
                <a:lnTo>
                  <a:pt x="175439" y="6795"/>
                </a:lnTo>
                <a:lnTo>
                  <a:pt x="1333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433994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5"/>
                </a:moveTo>
                <a:lnTo>
                  <a:pt x="259806" y="91165"/>
                </a:lnTo>
                <a:lnTo>
                  <a:pt x="240883" y="54574"/>
                </a:lnTo>
                <a:lnTo>
                  <a:pt x="212029" y="25719"/>
                </a:lnTo>
                <a:lnTo>
                  <a:pt x="175439" y="6795"/>
                </a:lnTo>
                <a:lnTo>
                  <a:pt x="133310" y="0"/>
                </a:lnTo>
                <a:lnTo>
                  <a:pt x="91180" y="6795"/>
                </a:lnTo>
                <a:lnTo>
                  <a:pt x="54585" y="25719"/>
                </a:lnTo>
                <a:lnTo>
                  <a:pt x="25725" y="54574"/>
                </a:lnTo>
                <a:lnTo>
                  <a:pt x="6797" y="91165"/>
                </a:lnTo>
                <a:lnTo>
                  <a:pt x="0" y="133295"/>
                </a:lnTo>
                <a:lnTo>
                  <a:pt x="6797" y="175425"/>
                </a:lnTo>
                <a:lnTo>
                  <a:pt x="25725" y="212016"/>
                </a:lnTo>
                <a:lnTo>
                  <a:pt x="54585" y="240872"/>
                </a:lnTo>
                <a:lnTo>
                  <a:pt x="91180" y="259796"/>
                </a:lnTo>
                <a:lnTo>
                  <a:pt x="133310" y="266592"/>
                </a:lnTo>
                <a:lnTo>
                  <a:pt x="175439" y="259796"/>
                </a:lnTo>
                <a:lnTo>
                  <a:pt x="212029" y="240872"/>
                </a:lnTo>
                <a:lnTo>
                  <a:pt x="240883" y="212016"/>
                </a:lnTo>
                <a:lnTo>
                  <a:pt x="259806" y="175425"/>
                </a:lnTo>
                <a:lnTo>
                  <a:pt x="26660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514719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9" y="259796"/>
                </a:lnTo>
                <a:lnTo>
                  <a:pt x="212024" y="240872"/>
                </a:lnTo>
                <a:lnTo>
                  <a:pt x="240882" y="212016"/>
                </a:lnTo>
                <a:lnTo>
                  <a:pt x="259806" y="175425"/>
                </a:lnTo>
                <a:lnTo>
                  <a:pt x="266602" y="133295"/>
                </a:lnTo>
                <a:lnTo>
                  <a:pt x="259806" y="91165"/>
                </a:lnTo>
                <a:lnTo>
                  <a:pt x="240882" y="54574"/>
                </a:lnTo>
                <a:lnTo>
                  <a:pt x="212024" y="25719"/>
                </a:lnTo>
                <a:lnTo>
                  <a:pt x="175429" y="6795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514719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5"/>
                </a:moveTo>
                <a:lnTo>
                  <a:pt x="259806" y="91165"/>
                </a:lnTo>
                <a:lnTo>
                  <a:pt x="240882" y="54574"/>
                </a:lnTo>
                <a:lnTo>
                  <a:pt x="212024" y="25719"/>
                </a:lnTo>
                <a:lnTo>
                  <a:pt x="175429" y="6795"/>
                </a:lnTo>
                <a:lnTo>
                  <a:pt x="133291" y="0"/>
                </a:ln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9" y="259796"/>
                </a:lnTo>
                <a:lnTo>
                  <a:pt x="212024" y="240872"/>
                </a:lnTo>
                <a:lnTo>
                  <a:pt x="240882" y="212016"/>
                </a:lnTo>
                <a:lnTo>
                  <a:pt x="259806" y="175425"/>
                </a:lnTo>
                <a:lnTo>
                  <a:pt x="26660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587809" y="2562517"/>
            <a:ext cx="196925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002381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6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6" y="266593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1" y="212017"/>
                </a:lnTo>
                <a:lnTo>
                  <a:pt x="259795" y="175426"/>
                </a:lnTo>
                <a:lnTo>
                  <a:pt x="266591" y="133296"/>
                </a:lnTo>
                <a:lnTo>
                  <a:pt x="259795" y="91167"/>
                </a:lnTo>
                <a:lnTo>
                  <a:pt x="240871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002381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1" y="133296"/>
                </a:moveTo>
                <a:lnTo>
                  <a:pt x="259795" y="91167"/>
                </a:lnTo>
                <a:lnTo>
                  <a:pt x="240871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6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6" y="266593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1" y="212017"/>
                </a:lnTo>
                <a:lnTo>
                  <a:pt x="259795" y="175426"/>
                </a:lnTo>
                <a:lnTo>
                  <a:pt x="266591" y="133296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542762" y="32594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4"/>
                </a:lnTo>
                <a:lnTo>
                  <a:pt x="25720" y="212015"/>
                </a:lnTo>
                <a:lnTo>
                  <a:pt x="54576" y="240871"/>
                </a:lnTo>
                <a:lnTo>
                  <a:pt x="91167" y="259795"/>
                </a:lnTo>
                <a:lnTo>
                  <a:pt x="133297" y="266591"/>
                </a:lnTo>
                <a:lnTo>
                  <a:pt x="175426" y="259795"/>
                </a:lnTo>
                <a:lnTo>
                  <a:pt x="212016" y="240871"/>
                </a:lnTo>
                <a:lnTo>
                  <a:pt x="240872" y="212015"/>
                </a:lnTo>
                <a:lnTo>
                  <a:pt x="259796" y="175424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542762" y="32594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7" y="0"/>
                </a:ln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4"/>
                </a:lnTo>
                <a:lnTo>
                  <a:pt x="25720" y="212015"/>
                </a:lnTo>
                <a:lnTo>
                  <a:pt x="54576" y="240871"/>
                </a:lnTo>
                <a:lnTo>
                  <a:pt x="91167" y="259795"/>
                </a:lnTo>
                <a:lnTo>
                  <a:pt x="133297" y="266591"/>
                </a:lnTo>
                <a:lnTo>
                  <a:pt x="175426" y="259795"/>
                </a:lnTo>
                <a:lnTo>
                  <a:pt x="212016" y="240871"/>
                </a:lnTo>
                <a:lnTo>
                  <a:pt x="240872" y="212015"/>
                </a:lnTo>
                <a:lnTo>
                  <a:pt x="259796" y="175424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083118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3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7"/>
                </a:lnTo>
                <a:lnTo>
                  <a:pt x="259796" y="175426"/>
                </a:lnTo>
                <a:lnTo>
                  <a:pt x="266592" y="133296"/>
                </a:ln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083118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6"/>
                </a:move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3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7"/>
                </a:lnTo>
                <a:lnTo>
                  <a:pt x="259796" y="175426"/>
                </a:lnTo>
                <a:lnTo>
                  <a:pt x="266592" y="133296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623492" y="325945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9" y="212017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7"/>
                </a:lnTo>
                <a:lnTo>
                  <a:pt x="259796" y="175426"/>
                </a:lnTo>
                <a:lnTo>
                  <a:pt x="266592" y="133296"/>
                </a:ln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623492" y="325945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6"/>
                </a:move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lnTo>
                  <a:pt x="91165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9" y="212017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7"/>
                </a:lnTo>
                <a:lnTo>
                  <a:pt x="259796" y="175426"/>
                </a:lnTo>
                <a:lnTo>
                  <a:pt x="266592" y="133296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163819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01" y="0"/>
                </a:moveTo>
                <a:lnTo>
                  <a:pt x="91169" y="6796"/>
                </a:lnTo>
                <a:lnTo>
                  <a:pt x="54577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7" y="240872"/>
                </a:lnTo>
                <a:lnTo>
                  <a:pt x="91169" y="259796"/>
                </a:lnTo>
                <a:lnTo>
                  <a:pt x="133301" y="266593"/>
                </a:lnTo>
                <a:lnTo>
                  <a:pt x="175429" y="259796"/>
                </a:lnTo>
                <a:lnTo>
                  <a:pt x="212019" y="240872"/>
                </a:lnTo>
                <a:lnTo>
                  <a:pt x="240873" y="212017"/>
                </a:lnTo>
                <a:lnTo>
                  <a:pt x="259797" y="175426"/>
                </a:lnTo>
                <a:lnTo>
                  <a:pt x="266592" y="133296"/>
                </a:lnTo>
                <a:lnTo>
                  <a:pt x="259797" y="91167"/>
                </a:lnTo>
                <a:lnTo>
                  <a:pt x="240873" y="54576"/>
                </a:lnTo>
                <a:lnTo>
                  <a:pt x="212019" y="25720"/>
                </a:lnTo>
                <a:lnTo>
                  <a:pt x="175429" y="6796"/>
                </a:lnTo>
                <a:lnTo>
                  <a:pt x="1333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163819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6"/>
                </a:moveTo>
                <a:lnTo>
                  <a:pt x="259797" y="91167"/>
                </a:lnTo>
                <a:lnTo>
                  <a:pt x="240873" y="54576"/>
                </a:lnTo>
                <a:lnTo>
                  <a:pt x="212019" y="25720"/>
                </a:lnTo>
                <a:lnTo>
                  <a:pt x="175429" y="6796"/>
                </a:lnTo>
                <a:lnTo>
                  <a:pt x="133301" y="0"/>
                </a:lnTo>
                <a:lnTo>
                  <a:pt x="91169" y="6796"/>
                </a:lnTo>
                <a:lnTo>
                  <a:pt x="54577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7" y="240872"/>
                </a:lnTo>
                <a:lnTo>
                  <a:pt x="91169" y="259796"/>
                </a:lnTo>
                <a:lnTo>
                  <a:pt x="133301" y="266593"/>
                </a:lnTo>
                <a:lnTo>
                  <a:pt x="175429" y="259796"/>
                </a:lnTo>
                <a:lnTo>
                  <a:pt x="212019" y="240872"/>
                </a:lnTo>
                <a:lnTo>
                  <a:pt x="240873" y="212017"/>
                </a:lnTo>
                <a:lnTo>
                  <a:pt x="259797" y="175426"/>
                </a:lnTo>
                <a:lnTo>
                  <a:pt x="266592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704205" y="32594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5"/>
                </a:lnTo>
                <a:lnTo>
                  <a:pt x="133291" y="266591"/>
                </a:lnTo>
                <a:lnTo>
                  <a:pt x="175420" y="259795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5"/>
                </a:lnTo>
                <a:lnTo>
                  <a:pt x="266583" y="133295"/>
                </a:ln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704205" y="32594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5"/>
                </a:move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5"/>
                </a:lnTo>
                <a:lnTo>
                  <a:pt x="133291" y="266591"/>
                </a:lnTo>
                <a:lnTo>
                  <a:pt x="175420" y="259795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5"/>
                </a:lnTo>
                <a:lnTo>
                  <a:pt x="266583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244556" y="32594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10" y="0"/>
                </a:moveTo>
                <a:lnTo>
                  <a:pt x="91180" y="6795"/>
                </a:lnTo>
                <a:lnTo>
                  <a:pt x="54585" y="25719"/>
                </a:lnTo>
                <a:lnTo>
                  <a:pt x="25725" y="54574"/>
                </a:lnTo>
                <a:lnTo>
                  <a:pt x="6797" y="91165"/>
                </a:lnTo>
                <a:lnTo>
                  <a:pt x="0" y="133295"/>
                </a:lnTo>
                <a:lnTo>
                  <a:pt x="6797" y="175425"/>
                </a:lnTo>
                <a:lnTo>
                  <a:pt x="25725" y="212015"/>
                </a:lnTo>
                <a:lnTo>
                  <a:pt x="54585" y="240871"/>
                </a:lnTo>
                <a:lnTo>
                  <a:pt x="91180" y="259795"/>
                </a:lnTo>
                <a:lnTo>
                  <a:pt x="133310" y="266591"/>
                </a:lnTo>
                <a:lnTo>
                  <a:pt x="175439" y="259795"/>
                </a:lnTo>
                <a:lnTo>
                  <a:pt x="212029" y="240871"/>
                </a:lnTo>
                <a:lnTo>
                  <a:pt x="240883" y="212015"/>
                </a:lnTo>
                <a:lnTo>
                  <a:pt x="259806" y="175425"/>
                </a:lnTo>
                <a:lnTo>
                  <a:pt x="266602" y="133295"/>
                </a:lnTo>
                <a:lnTo>
                  <a:pt x="259806" y="91165"/>
                </a:lnTo>
                <a:lnTo>
                  <a:pt x="240883" y="54574"/>
                </a:lnTo>
                <a:lnTo>
                  <a:pt x="212029" y="25719"/>
                </a:lnTo>
                <a:lnTo>
                  <a:pt x="175439" y="6795"/>
                </a:lnTo>
                <a:lnTo>
                  <a:pt x="1333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1244556" y="32594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5"/>
                </a:moveTo>
                <a:lnTo>
                  <a:pt x="259806" y="91165"/>
                </a:lnTo>
                <a:lnTo>
                  <a:pt x="240883" y="54574"/>
                </a:lnTo>
                <a:lnTo>
                  <a:pt x="212029" y="25719"/>
                </a:lnTo>
                <a:lnTo>
                  <a:pt x="175439" y="6795"/>
                </a:lnTo>
                <a:lnTo>
                  <a:pt x="133310" y="0"/>
                </a:lnTo>
                <a:lnTo>
                  <a:pt x="91180" y="6795"/>
                </a:lnTo>
                <a:lnTo>
                  <a:pt x="54585" y="25719"/>
                </a:lnTo>
                <a:lnTo>
                  <a:pt x="25725" y="54574"/>
                </a:lnTo>
                <a:lnTo>
                  <a:pt x="6797" y="91165"/>
                </a:lnTo>
                <a:lnTo>
                  <a:pt x="0" y="133295"/>
                </a:lnTo>
                <a:lnTo>
                  <a:pt x="6797" y="175425"/>
                </a:lnTo>
                <a:lnTo>
                  <a:pt x="25725" y="212015"/>
                </a:lnTo>
                <a:lnTo>
                  <a:pt x="54585" y="240871"/>
                </a:lnTo>
                <a:lnTo>
                  <a:pt x="91180" y="259795"/>
                </a:lnTo>
                <a:lnTo>
                  <a:pt x="133310" y="266591"/>
                </a:lnTo>
                <a:lnTo>
                  <a:pt x="175439" y="259795"/>
                </a:lnTo>
                <a:lnTo>
                  <a:pt x="212029" y="240871"/>
                </a:lnTo>
                <a:lnTo>
                  <a:pt x="240883" y="212015"/>
                </a:lnTo>
                <a:lnTo>
                  <a:pt x="259806" y="175425"/>
                </a:lnTo>
                <a:lnTo>
                  <a:pt x="26660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784930" y="32594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4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5"/>
                </a:lnTo>
                <a:lnTo>
                  <a:pt x="133291" y="266591"/>
                </a:lnTo>
                <a:lnTo>
                  <a:pt x="175420" y="259795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4"/>
                </a:lnTo>
                <a:lnTo>
                  <a:pt x="266583" y="133295"/>
                </a:ln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784930" y="32594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5"/>
                </a:move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4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5"/>
                </a:lnTo>
                <a:lnTo>
                  <a:pt x="133291" y="266591"/>
                </a:lnTo>
                <a:lnTo>
                  <a:pt x="175420" y="259795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4"/>
                </a:lnTo>
                <a:lnTo>
                  <a:pt x="266583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188912" y="2562518"/>
            <a:ext cx="2865844" cy="996696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261032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>
                <a:tab pos="1341463" algn="l"/>
              </a:tabLst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3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2838" algn="l"/>
                <a:tab pos="1079657" algn="l"/>
                <a:tab pos="1587050" algn="l"/>
                <a:tab pos="2135374" algn="l"/>
                <a:tab pos="2684470" algn="l"/>
              </a:tabLst>
              <a:defRPr/>
            </a:pPr>
            <a:r>
              <a:rPr kumimoji="0" sz="1763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J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K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	</a:t>
            </a:r>
            <a:r>
              <a:rPr kumimoji="0" sz="1763" b="0" i="1" u="none" strike="noStrike" kern="1200" cap="none" spc="3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	O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926975" y="3334981"/>
            <a:ext cx="138922" cy="1731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800331" y="3688855"/>
            <a:ext cx="3495233" cy="1012975"/>
          </a:xfrm>
          <a:prstGeom prst="rect">
            <a:avLst/>
          </a:prstGeom>
        </p:spPr>
        <p:txBody>
          <a:bodyPr vert="horz" wrap="square" lIns="0" tIns="14673" rIns="0" bIns="0" rtlCol="0">
            <a:spAutoFit/>
          </a:bodyPr>
          <a:lstStyle/>
          <a:p>
            <a:pPr marL="15446" marR="6178" lvl="0" indent="0" algn="l" defTabSz="1112093" rtl="0" eaLnBrk="1" fontAlgn="auto" latinLnBrk="0" hangingPunct="1">
              <a:lnSpc>
                <a:spcPct val="107400"/>
              </a:lnSpc>
              <a:spcBef>
                <a:spcPts val="11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maximum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branching factor 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shallowest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  </a:t>
            </a:r>
            <a:r>
              <a:rPr kumimoji="0" sz="2068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max.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any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112049" y="6125585"/>
            <a:ext cx="11120494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50269" y="4988105"/>
            <a:ext cx="7266934" cy="2156689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deepest</a:t>
            </a:r>
            <a:r>
              <a:rPr kumimoji="0" sz="2493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696603" marR="0" lvl="1" indent="-253309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697375" algn="l"/>
              </a:tabLst>
              <a:defRPr/>
            </a:pPr>
            <a:r>
              <a:rPr kumimoji="0" sz="2493" b="0" i="1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pushdown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stack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56047" marR="0" lvl="1" indent="0" algn="l" defTabSz="1112093" rtl="0" eaLnBrk="1" fontAlgn="auto" latinLnBrk="0" hangingPunct="1">
              <a:lnSpc>
                <a:spcPct val="100000"/>
              </a:lnSpc>
              <a:spcBef>
                <a:spcPts val="18"/>
              </a:spcBef>
              <a:spcAft>
                <a:spcPts val="0"/>
              </a:spcAft>
              <a:buClrTx/>
              <a:buSzTx/>
              <a:buFont typeface="Arial"/>
              <a:buChar char="►"/>
              <a:tabLst/>
              <a:defRPr/>
            </a:pPr>
            <a:endParaRPr kumimoji="0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21624" lvl="0" indent="-399272" algn="l" defTabSz="1112093" rtl="0" eaLnBrk="1" fontAlgn="auto" latinLnBrk="0" hangingPunct="1">
              <a:lnSpc>
                <a:spcPct val="101200"/>
              </a:lnSpc>
              <a:spcBef>
                <a:spcPts val="6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Like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what </a:t>
            </a:r>
            <a:r>
              <a:rPr kumimoji="0" sz="2493" b="0" i="0" u="none" strike="noStrike" kern="1200" cap="none" spc="-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you’ve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seen in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previous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courses,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except  expanding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node generates all of its children at</a:t>
            </a:r>
            <a:r>
              <a:rPr kumimoji="0" sz="2493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once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E663A0C-0D31-3A49-8876-2E0FFE696B7F}"/>
              </a:ext>
            </a:extLst>
          </p:cNvPr>
          <p:cNvSpPr/>
          <p:nvPr/>
        </p:nvSpPr>
        <p:spPr>
          <a:xfrm>
            <a:off x="897467" y="4927598"/>
            <a:ext cx="4402666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22971158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0675" y="1077273"/>
            <a:ext cx="5034463" cy="571633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356024">
              <a:spcBef>
                <a:spcPts val="152"/>
              </a:spcBef>
            </a:pPr>
            <a:r>
              <a:rPr spc="-12" dirty="0"/>
              <a:t>Depth-first</a:t>
            </a:r>
            <a:r>
              <a:rPr spc="23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84377" y="1395189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888638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65097" y="1395189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0" y="0"/>
                </a:moveTo>
                <a:lnTo>
                  <a:pt x="888654" y="555400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05462" y="2070640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31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45836" y="2070640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11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44014" y="2070640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21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84376" y="2070640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15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415976" y="2746103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65" y="0"/>
                </a:moveTo>
                <a:lnTo>
                  <a:pt x="0" y="555401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686163" y="2746103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65" y="555401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335274" y="2746103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46" y="0"/>
                </a:moveTo>
                <a:lnTo>
                  <a:pt x="0" y="555401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605438" y="2746103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65" y="555401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54539" y="2746103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5" y="0"/>
                </a:moveTo>
                <a:lnTo>
                  <a:pt x="0" y="555401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24714" y="2746103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1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73809" y="2746103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7" y="0"/>
                </a:moveTo>
                <a:lnTo>
                  <a:pt x="0" y="555401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43987" y="2746103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1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902970" y="1233083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5"/>
                </a:lnTo>
                <a:lnTo>
                  <a:pt x="54574" y="25719"/>
                </a:lnTo>
                <a:lnTo>
                  <a:pt x="25719" y="54573"/>
                </a:lnTo>
                <a:lnTo>
                  <a:pt x="6795" y="91163"/>
                </a:lnTo>
                <a:lnTo>
                  <a:pt x="0" y="133293"/>
                </a:lnTo>
                <a:lnTo>
                  <a:pt x="6795" y="175422"/>
                </a:lnTo>
                <a:lnTo>
                  <a:pt x="25719" y="212013"/>
                </a:lnTo>
                <a:lnTo>
                  <a:pt x="54574" y="240868"/>
                </a:lnTo>
                <a:lnTo>
                  <a:pt x="91165" y="259792"/>
                </a:lnTo>
                <a:lnTo>
                  <a:pt x="133295" y="266588"/>
                </a:lnTo>
                <a:lnTo>
                  <a:pt x="175425" y="259792"/>
                </a:lnTo>
                <a:lnTo>
                  <a:pt x="212016" y="240868"/>
                </a:lnTo>
                <a:lnTo>
                  <a:pt x="240872" y="212013"/>
                </a:lnTo>
                <a:lnTo>
                  <a:pt x="259796" y="175422"/>
                </a:lnTo>
                <a:lnTo>
                  <a:pt x="266592" y="133293"/>
                </a:lnTo>
                <a:lnTo>
                  <a:pt x="259796" y="91163"/>
                </a:lnTo>
                <a:lnTo>
                  <a:pt x="240872" y="54573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902970" y="123308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3"/>
                </a:moveTo>
                <a:lnTo>
                  <a:pt x="259796" y="91163"/>
                </a:lnTo>
                <a:lnTo>
                  <a:pt x="240872" y="54573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5" y="6795"/>
                </a:lnTo>
                <a:lnTo>
                  <a:pt x="54574" y="25719"/>
                </a:lnTo>
                <a:lnTo>
                  <a:pt x="25719" y="54573"/>
                </a:lnTo>
                <a:lnTo>
                  <a:pt x="6795" y="91163"/>
                </a:lnTo>
                <a:lnTo>
                  <a:pt x="0" y="133293"/>
                </a:lnTo>
                <a:lnTo>
                  <a:pt x="6795" y="175422"/>
                </a:lnTo>
                <a:lnTo>
                  <a:pt x="25719" y="212013"/>
                </a:lnTo>
                <a:lnTo>
                  <a:pt x="54574" y="240868"/>
                </a:lnTo>
                <a:lnTo>
                  <a:pt x="91165" y="259792"/>
                </a:lnTo>
                <a:lnTo>
                  <a:pt x="133295" y="266588"/>
                </a:lnTo>
                <a:lnTo>
                  <a:pt x="175425" y="259792"/>
                </a:lnTo>
                <a:lnTo>
                  <a:pt x="212016" y="240868"/>
                </a:lnTo>
                <a:lnTo>
                  <a:pt x="240872" y="212013"/>
                </a:lnTo>
                <a:lnTo>
                  <a:pt x="259796" y="175422"/>
                </a:lnTo>
                <a:lnTo>
                  <a:pt x="266592" y="133293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84224" y="1211621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822241" y="190853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822241" y="190853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11676" y="1887064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983685" y="190853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2" y="259796"/>
                </a:lnTo>
                <a:lnTo>
                  <a:pt x="212016" y="240872"/>
                </a:lnTo>
                <a:lnTo>
                  <a:pt x="240876" y="212016"/>
                </a:lnTo>
                <a:lnTo>
                  <a:pt x="259804" y="175425"/>
                </a:lnTo>
                <a:lnTo>
                  <a:pt x="266602" y="133295"/>
                </a:lnTo>
                <a:lnTo>
                  <a:pt x="259804" y="91166"/>
                </a:lnTo>
                <a:lnTo>
                  <a:pt x="240876" y="54575"/>
                </a:lnTo>
                <a:lnTo>
                  <a:pt x="212016" y="25720"/>
                </a:lnTo>
                <a:lnTo>
                  <a:pt x="175422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983685" y="190853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5"/>
                </a:moveTo>
                <a:lnTo>
                  <a:pt x="259804" y="91166"/>
                </a:lnTo>
                <a:lnTo>
                  <a:pt x="240876" y="54575"/>
                </a:lnTo>
                <a:lnTo>
                  <a:pt x="212016" y="25720"/>
                </a:lnTo>
                <a:lnTo>
                  <a:pt x="175422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2" y="259796"/>
                </a:lnTo>
                <a:lnTo>
                  <a:pt x="212016" y="240872"/>
                </a:lnTo>
                <a:lnTo>
                  <a:pt x="240876" y="212016"/>
                </a:lnTo>
                <a:lnTo>
                  <a:pt x="259804" y="175425"/>
                </a:lnTo>
                <a:lnTo>
                  <a:pt x="266602" y="133295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064938" y="1887064"/>
            <a:ext cx="183797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81878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5"/>
                </a:lnTo>
                <a:lnTo>
                  <a:pt x="54574" y="25719"/>
                </a:lnTo>
                <a:lnTo>
                  <a:pt x="25719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9" y="212016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6"/>
                </a:lnTo>
                <a:lnTo>
                  <a:pt x="259794" y="175425"/>
                </a:lnTo>
                <a:lnTo>
                  <a:pt x="266590" y="133295"/>
                </a:lnTo>
                <a:lnTo>
                  <a:pt x="259794" y="91165"/>
                </a:lnTo>
                <a:lnTo>
                  <a:pt x="240871" y="54574"/>
                </a:lnTo>
                <a:lnTo>
                  <a:pt x="212015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281878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0" y="133295"/>
                </a:moveTo>
                <a:lnTo>
                  <a:pt x="259794" y="91165"/>
                </a:lnTo>
                <a:lnTo>
                  <a:pt x="240871" y="54574"/>
                </a:lnTo>
                <a:lnTo>
                  <a:pt x="212015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5" y="6795"/>
                </a:lnTo>
                <a:lnTo>
                  <a:pt x="54574" y="25719"/>
                </a:lnTo>
                <a:lnTo>
                  <a:pt x="25719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9" y="212016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6"/>
                </a:lnTo>
                <a:lnTo>
                  <a:pt x="259794" y="175425"/>
                </a:lnTo>
                <a:lnTo>
                  <a:pt x="266590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362606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5"/>
                </a:lnTo>
                <a:lnTo>
                  <a:pt x="54575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362606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6" y="6795"/>
                </a:lnTo>
                <a:lnTo>
                  <a:pt x="54575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443853" y="2562517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443336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5"/>
                </a:ln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443336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5"/>
                </a:move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524587" y="2562517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524059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5"/>
                </a:ln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524059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5"/>
                </a:move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597126" y="2562517"/>
            <a:ext cx="196925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011709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6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6" y="266593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7"/>
                </a:lnTo>
                <a:lnTo>
                  <a:pt x="259795" y="175426"/>
                </a:lnTo>
                <a:lnTo>
                  <a:pt x="266591" y="133296"/>
                </a:lnTo>
                <a:lnTo>
                  <a:pt x="259795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011709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1" y="133296"/>
                </a:moveTo>
                <a:lnTo>
                  <a:pt x="259795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6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6" y="266593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7"/>
                </a:lnTo>
                <a:lnTo>
                  <a:pt x="259795" y="175426"/>
                </a:lnTo>
                <a:lnTo>
                  <a:pt x="266591" y="133296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552092" y="32594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5"/>
                </a:lnTo>
                <a:lnTo>
                  <a:pt x="54575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4"/>
                </a:lnTo>
                <a:lnTo>
                  <a:pt x="25720" y="212015"/>
                </a:lnTo>
                <a:lnTo>
                  <a:pt x="54575" y="240871"/>
                </a:lnTo>
                <a:lnTo>
                  <a:pt x="91166" y="259795"/>
                </a:lnTo>
                <a:lnTo>
                  <a:pt x="133295" y="266591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5"/>
                </a:lnTo>
                <a:lnTo>
                  <a:pt x="259796" y="175424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552092" y="32594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6" y="6795"/>
                </a:lnTo>
                <a:lnTo>
                  <a:pt x="54575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4"/>
                </a:lnTo>
                <a:lnTo>
                  <a:pt x="25720" y="212015"/>
                </a:lnTo>
                <a:lnTo>
                  <a:pt x="54575" y="240871"/>
                </a:lnTo>
                <a:lnTo>
                  <a:pt x="91166" y="259795"/>
                </a:lnTo>
                <a:lnTo>
                  <a:pt x="133295" y="266591"/>
                </a:lnTo>
                <a:lnTo>
                  <a:pt x="175425" y="259795"/>
                </a:lnTo>
                <a:lnTo>
                  <a:pt x="212016" y="240871"/>
                </a:lnTo>
                <a:lnTo>
                  <a:pt x="240872" y="212015"/>
                </a:lnTo>
                <a:lnTo>
                  <a:pt x="259796" y="175424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092447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3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7"/>
                </a:lnTo>
                <a:lnTo>
                  <a:pt x="259796" y="175426"/>
                </a:lnTo>
                <a:lnTo>
                  <a:pt x="266592" y="133296"/>
                </a:ln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092447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6"/>
                </a:move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3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7"/>
                </a:lnTo>
                <a:lnTo>
                  <a:pt x="259796" y="175426"/>
                </a:lnTo>
                <a:lnTo>
                  <a:pt x="266592" y="133296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9632812" y="325945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9" y="212017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7"/>
                </a:lnTo>
                <a:lnTo>
                  <a:pt x="259794" y="175426"/>
                </a:lnTo>
                <a:lnTo>
                  <a:pt x="266590" y="133296"/>
                </a:lnTo>
                <a:lnTo>
                  <a:pt x="259794" y="91167"/>
                </a:lnTo>
                <a:lnTo>
                  <a:pt x="240871" y="54576"/>
                </a:lnTo>
                <a:lnTo>
                  <a:pt x="212015" y="25720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9632812" y="325945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0" y="133296"/>
                </a:moveTo>
                <a:lnTo>
                  <a:pt x="259794" y="91167"/>
                </a:lnTo>
                <a:lnTo>
                  <a:pt x="240871" y="54576"/>
                </a:lnTo>
                <a:lnTo>
                  <a:pt x="212015" y="25720"/>
                </a:lnTo>
                <a:lnTo>
                  <a:pt x="175425" y="6796"/>
                </a:lnTo>
                <a:lnTo>
                  <a:pt x="133295" y="0"/>
                </a:lnTo>
                <a:lnTo>
                  <a:pt x="91165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9" y="212017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7"/>
                </a:lnTo>
                <a:lnTo>
                  <a:pt x="259794" y="175426"/>
                </a:lnTo>
                <a:lnTo>
                  <a:pt x="266590" y="133296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173148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3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9" y="212017"/>
                </a:lnTo>
                <a:lnTo>
                  <a:pt x="54574" y="240872"/>
                </a:lnTo>
                <a:lnTo>
                  <a:pt x="91163" y="259796"/>
                </a:lnTo>
                <a:lnTo>
                  <a:pt x="133291" y="266593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7"/>
                </a:lnTo>
                <a:lnTo>
                  <a:pt x="259787" y="175426"/>
                </a:lnTo>
                <a:lnTo>
                  <a:pt x="266583" y="133296"/>
                </a:lnTo>
                <a:lnTo>
                  <a:pt x="259787" y="91167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173148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6"/>
                </a:moveTo>
                <a:lnTo>
                  <a:pt x="259787" y="91167"/>
                </a:lnTo>
                <a:lnTo>
                  <a:pt x="240864" y="54576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3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9" y="212017"/>
                </a:lnTo>
                <a:lnTo>
                  <a:pt x="54574" y="240872"/>
                </a:lnTo>
                <a:lnTo>
                  <a:pt x="91163" y="259796"/>
                </a:lnTo>
                <a:lnTo>
                  <a:pt x="133291" y="266593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7"/>
                </a:lnTo>
                <a:lnTo>
                  <a:pt x="259787" y="175426"/>
                </a:lnTo>
                <a:lnTo>
                  <a:pt x="266583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0713522" y="32594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10" y="0"/>
                </a:moveTo>
                <a:lnTo>
                  <a:pt x="91172" y="6795"/>
                </a:lnTo>
                <a:lnTo>
                  <a:pt x="54577" y="25719"/>
                </a:lnTo>
                <a:lnTo>
                  <a:pt x="25720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20" y="212015"/>
                </a:lnTo>
                <a:lnTo>
                  <a:pt x="54577" y="240871"/>
                </a:lnTo>
                <a:lnTo>
                  <a:pt x="91172" y="259795"/>
                </a:lnTo>
                <a:lnTo>
                  <a:pt x="133310" y="266591"/>
                </a:lnTo>
                <a:lnTo>
                  <a:pt x="175439" y="259795"/>
                </a:lnTo>
                <a:lnTo>
                  <a:pt x="212029" y="240871"/>
                </a:lnTo>
                <a:lnTo>
                  <a:pt x="240883" y="212015"/>
                </a:lnTo>
                <a:lnTo>
                  <a:pt x="259806" y="175425"/>
                </a:lnTo>
                <a:lnTo>
                  <a:pt x="266602" y="133295"/>
                </a:lnTo>
                <a:lnTo>
                  <a:pt x="259806" y="91165"/>
                </a:lnTo>
                <a:lnTo>
                  <a:pt x="240883" y="54574"/>
                </a:lnTo>
                <a:lnTo>
                  <a:pt x="212029" y="25719"/>
                </a:lnTo>
                <a:lnTo>
                  <a:pt x="175439" y="6795"/>
                </a:lnTo>
                <a:lnTo>
                  <a:pt x="1333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0713522" y="32594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5"/>
                </a:moveTo>
                <a:lnTo>
                  <a:pt x="259806" y="91165"/>
                </a:lnTo>
                <a:lnTo>
                  <a:pt x="240883" y="54574"/>
                </a:lnTo>
                <a:lnTo>
                  <a:pt x="212029" y="25719"/>
                </a:lnTo>
                <a:lnTo>
                  <a:pt x="175439" y="6795"/>
                </a:lnTo>
                <a:lnTo>
                  <a:pt x="133310" y="0"/>
                </a:lnTo>
                <a:lnTo>
                  <a:pt x="91172" y="6795"/>
                </a:lnTo>
                <a:lnTo>
                  <a:pt x="54577" y="25719"/>
                </a:lnTo>
                <a:lnTo>
                  <a:pt x="25720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20" y="212015"/>
                </a:lnTo>
                <a:lnTo>
                  <a:pt x="54577" y="240871"/>
                </a:lnTo>
                <a:lnTo>
                  <a:pt x="91172" y="259795"/>
                </a:lnTo>
                <a:lnTo>
                  <a:pt x="133310" y="266591"/>
                </a:lnTo>
                <a:lnTo>
                  <a:pt x="175439" y="259795"/>
                </a:lnTo>
                <a:lnTo>
                  <a:pt x="212029" y="240871"/>
                </a:lnTo>
                <a:lnTo>
                  <a:pt x="240883" y="212015"/>
                </a:lnTo>
                <a:lnTo>
                  <a:pt x="259806" y="175425"/>
                </a:lnTo>
                <a:lnTo>
                  <a:pt x="26660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253896" y="32594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5"/>
                </a:lnTo>
                <a:lnTo>
                  <a:pt x="133291" y="266591"/>
                </a:lnTo>
                <a:lnTo>
                  <a:pt x="175420" y="259795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5"/>
                </a:lnTo>
                <a:lnTo>
                  <a:pt x="266583" y="133295"/>
                </a:ln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253896" y="32594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5"/>
                </a:move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5"/>
                </a:lnTo>
                <a:lnTo>
                  <a:pt x="133291" y="266591"/>
                </a:lnTo>
                <a:lnTo>
                  <a:pt x="175420" y="259795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5"/>
                </a:lnTo>
                <a:lnTo>
                  <a:pt x="266583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1794247" y="32594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4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5"/>
                </a:lnTo>
                <a:lnTo>
                  <a:pt x="133291" y="266591"/>
                </a:lnTo>
                <a:lnTo>
                  <a:pt x="175420" y="259795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4"/>
                </a:lnTo>
                <a:lnTo>
                  <a:pt x="266583" y="133295"/>
                </a:ln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1794247" y="32594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5"/>
                </a:move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4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5"/>
                </a:lnTo>
                <a:lnTo>
                  <a:pt x="133291" y="266591"/>
                </a:lnTo>
                <a:lnTo>
                  <a:pt x="175420" y="259795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4"/>
                </a:lnTo>
                <a:lnTo>
                  <a:pt x="266583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9465399" y="3334988"/>
            <a:ext cx="138925" cy="173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800332" y="3237998"/>
            <a:ext cx="4263628" cy="1469261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920678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>
                <a:tab pos="2477497" algn="l"/>
                <a:tab pos="2984889" algn="l"/>
                <a:tab pos="3533213" algn="l"/>
                <a:tab pos="4082309" algn="l"/>
              </a:tabLst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K	</a:t>
            </a: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	</a:t>
            </a:r>
            <a:r>
              <a:rPr kumimoji="0" sz="1763" b="0" i="1" u="none" strike="noStrike" kern="1200" cap="none" spc="3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	O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774604" lvl="0" indent="0" algn="l" defTabSz="1112093" rtl="0" eaLnBrk="1" fontAlgn="auto" latinLnBrk="0" hangingPunct="1">
              <a:lnSpc>
                <a:spcPct val="107400"/>
              </a:lnSpc>
              <a:spcBef>
                <a:spcPts val="13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maximum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branching factor 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shallowest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  </a:t>
            </a:r>
            <a:r>
              <a:rPr kumimoji="0" sz="2068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max.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any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112049" y="6125585"/>
            <a:ext cx="11120494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050269" y="4988105"/>
            <a:ext cx="7266934" cy="2156689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deepest</a:t>
            </a:r>
            <a:r>
              <a:rPr kumimoji="0" sz="2493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696603" marR="0" lvl="1" indent="-253309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697375" algn="l"/>
              </a:tabLst>
              <a:defRPr/>
            </a:pPr>
            <a:r>
              <a:rPr kumimoji="0" sz="2493" b="0" i="1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pushdown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stack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56047" marR="0" lvl="1" indent="0" algn="l" defTabSz="1112093" rtl="0" eaLnBrk="1" fontAlgn="auto" latinLnBrk="0" hangingPunct="1">
              <a:lnSpc>
                <a:spcPct val="100000"/>
              </a:lnSpc>
              <a:spcBef>
                <a:spcPts val="18"/>
              </a:spcBef>
              <a:spcAft>
                <a:spcPts val="0"/>
              </a:spcAft>
              <a:buClrTx/>
              <a:buSzTx/>
              <a:buFont typeface="Arial"/>
              <a:buChar char="►"/>
              <a:tabLst/>
              <a:defRPr/>
            </a:pPr>
            <a:endParaRPr kumimoji="0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21624" lvl="0" indent="-399272" algn="l" defTabSz="1112093" rtl="0" eaLnBrk="1" fontAlgn="auto" latinLnBrk="0" hangingPunct="1">
              <a:lnSpc>
                <a:spcPct val="101200"/>
              </a:lnSpc>
              <a:spcBef>
                <a:spcPts val="6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Like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what </a:t>
            </a:r>
            <a:r>
              <a:rPr kumimoji="0" sz="2493" b="0" i="0" u="none" strike="noStrike" kern="1200" cap="none" spc="-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you’ve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seen in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previous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courses,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except  expanding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node generates all of its children at</a:t>
            </a:r>
            <a:r>
              <a:rPr kumimoji="0" sz="2493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once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151A457-5124-274B-8CB7-0B058C36DE67}"/>
              </a:ext>
            </a:extLst>
          </p:cNvPr>
          <p:cNvSpPr/>
          <p:nvPr/>
        </p:nvSpPr>
        <p:spPr>
          <a:xfrm>
            <a:off x="897467" y="4927598"/>
            <a:ext cx="4402666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29793672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0675" y="1077273"/>
            <a:ext cx="5034463" cy="571633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356024">
              <a:spcBef>
                <a:spcPts val="152"/>
              </a:spcBef>
            </a:pPr>
            <a:r>
              <a:rPr spc="-12" dirty="0"/>
              <a:t>Depth-first</a:t>
            </a:r>
            <a:r>
              <a:rPr spc="23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93683" y="1395189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888638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74403" y="1395189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0" y="0"/>
                </a:moveTo>
                <a:lnTo>
                  <a:pt x="888640" y="555400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14774" y="2070640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11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55124" y="2070640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31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53319" y="2070640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21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93682" y="2070640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15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425287" y="274611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65" y="0"/>
                </a:moveTo>
                <a:lnTo>
                  <a:pt x="0" y="555401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695475" y="274611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46" y="555401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344587" y="274611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65" y="0"/>
                </a:moveTo>
                <a:lnTo>
                  <a:pt x="0" y="555401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614774" y="274611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46" y="555401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63860" y="274611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7" y="0"/>
                </a:moveTo>
                <a:lnTo>
                  <a:pt x="0" y="555401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34038" y="274611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1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83132" y="274611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8" y="0"/>
                </a:moveTo>
                <a:lnTo>
                  <a:pt x="0" y="555401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53311" y="274611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1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912294" y="1233083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5"/>
                </a:lnTo>
                <a:lnTo>
                  <a:pt x="54574" y="25719"/>
                </a:lnTo>
                <a:lnTo>
                  <a:pt x="25719" y="54573"/>
                </a:lnTo>
                <a:lnTo>
                  <a:pt x="6795" y="91163"/>
                </a:lnTo>
                <a:lnTo>
                  <a:pt x="0" y="133293"/>
                </a:lnTo>
                <a:lnTo>
                  <a:pt x="6795" y="175422"/>
                </a:lnTo>
                <a:lnTo>
                  <a:pt x="25719" y="212013"/>
                </a:lnTo>
                <a:lnTo>
                  <a:pt x="54574" y="240868"/>
                </a:lnTo>
                <a:lnTo>
                  <a:pt x="91165" y="259792"/>
                </a:lnTo>
                <a:lnTo>
                  <a:pt x="133295" y="266588"/>
                </a:lnTo>
                <a:lnTo>
                  <a:pt x="175425" y="259792"/>
                </a:lnTo>
                <a:lnTo>
                  <a:pt x="212015" y="240868"/>
                </a:lnTo>
                <a:lnTo>
                  <a:pt x="240871" y="212013"/>
                </a:lnTo>
                <a:lnTo>
                  <a:pt x="259794" y="175422"/>
                </a:lnTo>
                <a:lnTo>
                  <a:pt x="266590" y="133293"/>
                </a:lnTo>
                <a:lnTo>
                  <a:pt x="259794" y="91163"/>
                </a:lnTo>
                <a:lnTo>
                  <a:pt x="240871" y="54573"/>
                </a:lnTo>
                <a:lnTo>
                  <a:pt x="212015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912294" y="123308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0" y="133293"/>
                </a:moveTo>
                <a:lnTo>
                  <a:pt x="259794" y="91163"/>
                </a:lnTo>
                <a:lnTo>
                  <a:pt x="240871" y="54573"/>
                </a:lnTo>
                <a:lnTo>
                  <a:pt x="212015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5" y="6795"/>
                </a:lnTo>
                <a:lnTo>
                  <a:pt x="54574" y="25719"/>
                </a:lnTo>
                <a:lnTo>
                  <a:pt x="25719" y="54573"/>
                </a:lnTo>
                <a:lnTo>
                  <a:pt x="6795" y="91163"/>
                </a:lnTo>
                <a:lnTo>
                  <a:pt x="0" y="133293"/>
                </a:lnTo>
                <a:lnTo>
                  <a:pt x="6795" y="175422"/>
                </a:lnTo>
                <a:lnTo>
                  <a:pt x="25719" y="212013"/>
                </a:lnTo>
                <a:lnTo>
                  <a:pt x="54574" y="240868"/>
                </a:lnTo>
                <a:lnTo>
                  <a:pt x="91165" y="259792"/>
                </a:lnTo>
                <a:lnTo>
                  <a:pt x="133295" y="266588"/>
                </a:lnTo>
                <a:lnTo>
                  <a:pt x="175425" y="259792"/>
                </a:lnTo>
                <a:lnTo>
                  <a:pt x="212015" y="240868"/>
                </a:lnTo>
                <a:lnTo>
                  <a:pt x="240871" y="212013"/>
                </a:lnTo>
                <a:lnTo>
                  <a:pt x="259794" y="175422"/>
                </a:lnTo>
                <a:lnTo>
                  <a:pt x="266590" y="133293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93548" y="1211621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831566" y="190853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831566" y="190853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993021" y="190853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5"/>
                </a:ln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993022" y="190853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5"/>
                </a:move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5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074250" y="1887064"/>
            <a:ext cx="183797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291200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7" y="259796"/>
                </a:lnTo>
                <a:lnTo>
                  <a:pt x="212017" y="240872"/>
                </a:lnTo>
                <a:lnTo>
                  <a:pt x="240873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3" y="54574"/>
                </a:lnTo>
                <a:lnTo>
                  <a:pt x="212017" y="25719"/>
                </a:lnTo>
                <a:lnTo>
                  <a:pt x="175427" y="6795"/>
                </a:lnTo>
                <a:lnTo>
                  <a:pt x="1332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291200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3" y="54574"/>
                </a:lnTo>
                <a:lnTo>
                  <a:pt x="212017" y="25719"/>
                </a:lnTo>
                <a:lnTo>
                  <a:pt x="175427" y="6795"/>
                </a:lnTo>
                <a:lnTo>
                  <a:pt x="133297" y="0"/>
                </a:ln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7" y="259796"/>
                </a:lnTo>
                <a:lnTo>
                  <a:pt x="212017" y="240872"/>
                </a:lnTo>
                <a:lnTo>
                  <a:pt x="240873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371930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5"/>
                </a:lnTo>
                <a:lnTo>
                  <a:pt x="54575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371930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6" y="6795"/>
                </a:lnTo>
                <a:lnTo>
                  <a:pt x="54575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452646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2" y="259796"/>
                </a:lnTo>
                <a:lnTo>
                  <a:pt x="212016" y="240872"/>
                </a:lnTo>
                <a:lnTo>
                  <a:pt x="240876" y="212016"/>
                </a:lnTo>
                <a:lnTo>
                  <a:pt x="259804" y="175425"/>
                </a:lnTo>
                <a:lnTo>
                  <a:pt x="266602" y="133295"/>
                </a:lnTo>
                <a:lnTo>
                  <a:pt x="259804" y="91165"/>
                </a:lnTo>
                <a:lnTo>
                  <a:pt x="240876" y="54574"/>
                </a:lnTo>
                <a:lnTo>
                  <a:pt x="212016" y="25719"/>
                </a:lnTo>
                <a:lnTo>
                  <a:pt x="175422" y="6795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452648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5"/>
                </a:moveTo>
                <a:lnTo>
                  <a:pt x="259804" y="91165"/>
                </a:lnTo>
                <a:lnTo>
                  <a:pt x="240876" y="54574"/>
                </a:lnTo>
                <a:lnTo>
                  <a:pt x="212016" y="25719"/>
                </a:lnTo>
                <a:lnTo>
                  <a:pt x="175422" y="6795"/>
                </a:lnTo>
                <a:lnTo>
                  <a:pt x="133291" y="0"/>
                </a:ln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2" y="259796"/>
                </a:lnTo>
                <a:lnTo>
                  <a:pt x="212016" y="240872"/>
                </a:lnTo>
                <a:lnTo>
                  <a:pt x="240876" y="212016"/>
                </a:lnTo>
                <a:lnTo>
                  <a:pt x="259804" y="175425"/>
                </a:lnTo>
                <a:lnTo>
                  <a:pt x="26660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533900" y="2562517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533348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10" y="0"/>
                </a:moveTo>
                <a:lnTo>
                  <a:pt x="91180" y="6795"/>
                </a:lnTo>
                <a:lnTo>
                  <a:pt x="54585" y="25719"/>
                </a:lnTo>
                <a:lnTo>
                  <a:pt x="25725" y="54574"/>
                </a:lnTo>
                <a:lnTo>
                  <a:pt x="6797" y="91165"/>
                </a:lnTo>
                <a:lnTo>
                  <a:pt x="0" y="133295"/>
                </a:lnTo>
                <a:lnTo>
                  <a:pt x="6797" y="175425"/>
                </a:lnTo>
                <a:lnTo>
                  <a:pt x="25725" y="212016"/>
                </a:lnTo>
                <a:lnTo>
                  <a:pt x="54585" y="240872"/>
                </a:lnTo>
                <a:lnTo>
                  <a:pt x="91180" y="259796"/>
                </a:lnTo>
                <a:lnTo>
                  <a:pt x="133310" y="266592"/>
                </a:lnTo>
                <a:lnTo>
                  <a:pt x="175439" y="259796"/>
                </a:lnTo>
                <a:lnTo>
                  <a:pt x="212029" y="240872"/>
                </a:lnTo>
                <a:lnTo>
                  <a:pt x="240883" y="212016"/>
                </a:lnTo>
                <a:lnTo>
                  <a:pt x="259806" y="175425"/>
                </a:lnTo>
                <a:lnTo>
                  <a:pt x="266602" y="133295"/>
                </a:lnTo>
                <a:lnTo>
                  <a:pt x="259806" y="91165"/>
                </a:lnTo>
                <a:lnTo>
                  <a:pt x="240883" y="54574"/>
                </a:lnTo>
                <a:lnTo>
                  <a:pt x="212029" y="25719"/>
                </a:lnTo>
                <a:lnTo>
                  <a:pt x="175439" y="6795"/>
                </a:lnTo>
                <a:lnTo>
                  <a:pt x="1333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1533348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5"/>
                </a:moveTo>
                <a:lnTo>
                  <a:pt x="259806" y="91165"/>
                </a:lnTo>
                <a:lnTo>
                  <a:pt x="240883" y="54574"/>
                </a:lnTo>
                <a:lnTo>
                  <a:pt x="212029" y="25719"/>
                </a:lnTo>
                <a:lnTo>
                  <a:pt x="175439" y="6795"/>
                </a:lnTo>
                <a:lnTo>
                  <a:pt x="133310" y="0"/>
                </a:lnTo>
                <a:lnTo>
                  <a:pt x="91180" y="6795"/>
                </a:lnTo>
                <a:lnTo>
                  <a:pt x="54585" y="25719"/>
                </a:lnTo>
                <a:lnTo>
                  <a:pt x="25725" y="54574"/>
                </a:lnTo>
                <a:lnTo>
                  <a:pt x="6797" y="91165"/>
                </a:lnTo>
                <a:lnTo>
                  <a:pt x="0" y="133295"/>
                </a:lnTo>
                <a:lnTo>
                  <a:pt x="6797" y="175425"/>
                </a:lnTo>
                <a:lnTo>
                  <a:pt x="25725" y="212016"/>
                </a:lnTo>
                <a:lnTo>
                  <a:pt x="54585" y="240872"/>
                </a:lnTo>
                <a:lnTo>
                  <a:pt x="91180" y="259796"/>
                </a:lnTo>
                <a:lnTo>
                  <a:pt x="133310" y="266592"/>
                </a:lnTo>
                <a:lnTo>
                  <a:pt x="175439" y="259796"/>
                </a:lnTo>
                <a:lnTo>
                  <a:pt x="212029" y="240872"/>
                </a:lnTo>
                <a:lnTo>
                  <a:pt x="240883" y="212016"/>
                </a:lnTo>
                <a:lnTo>
                  <a:pt x="259806" y="175425"/>
                </a:lnTo>
                <a:lnTo>
                  <a:pt x="26660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606438" y="2562517"/>
            <a:ext cx="196925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021023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6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6" y="266593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7"/>
                </a:lnTo>
                <a:lnTo>
                  <a:pt x="259795" y="175426"/>
                </a:lnTo>
                <a:lnTo>
                  <a:pt x="266591" y="133296"/>
                </a:lnTo>
                <a:lnTo>
                  <a:pt x="259795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021023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1" y="133296"/>
                </a:moveTo>
                <a:lnTo>
                  <a:pt x="259795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6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6" y="266593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7"/>
                </a:lnTo>
                <a:lnTo>
                  <a:pt x="259795" y="175426"/>
                </a:lnTo>
                <a:lnTo>
                  <a:pt x="266591" y="133296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561398" y="32594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4"/>
                </a:lnTo>
                <a:lnTo>
                  <a:pt x="25720" y="212015"/>
                </a:lnTo>
                <a:lnTo>
                  <a:pt x="54576" y="240871"/>
                </a:lnTo>
                <a:lnTo>
                  <a:pt x="91167" y="259795"/>
                </a:lnTo>
                <a:lnTo>
                  <a:pt x="133297" y="266591"/>
                </a:lnTo>
                <a:lnTo>
                  <a:pt x="175426" y="259795"/>
                </a:lnTo>
                <a:lnTo>
                  <a:pt x="212016" y="240871"/>
                </a:lnTo>
                <a:lnTo>
                  <a:pt x="240872" y="212015"/>
                </a:lnTo>
                <a:lnTo>
                  <a:pt x="259796" y="175424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561398" y="32594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7" y="0"/>
                </a:ln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4"/>
                </a:lnTo>
                <a:lnTo>
                  <a:pt x="25720" y="212015"/>
                </a:lnTo>
                <a:lnTo>
                  <a:pt x="54576" y="240871"/>
                </a:lnTo>
                <a:lnTo>
                  <a:pt x="91167" y="259795"/>
                </a:lnTo>
                <a:lnTo>
                  <a:pt x="133297" y="266591"/>
                </a:lnTo>
                <a:lnTo>
                  <a:pt x="175426" y="259795"/>
                </a:lnTo>
                <a:lnTo>
                  <a:pt x="212016" y="240871"/>
                </a:lnTo>
                <a:lnTo>
                  <a:pt x="240872" y="212015"/>
                </a:lnTo>
                <a:lnTo>
                  <a:pt x="259796" y="175424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101752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3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7"/>
                </a:lnTo>
                <a:lnTo>
                  <a:pt x="259796" y="175426"/>
                </a:lnTo>
                <a:lnTo>
                  <a:pt x="266592" y="133296"/>
                </a:ln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101752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6"/>
                </a:move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3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7"/>
                </a:lnTo>
                <a:lnTo>
                  <a:pt x="259796" y="175426"/>
                </a:lnTo>
                <a:lnTo>
                  <a:pt x="266592" y="133296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642126" y="325945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9" y="212017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7"/>
                </a:lnTo>
                <a:lnTo>
                  <a:pt x="259794" y="175426"/>
                </a:lnTo>
                <a:lnTo>
                  <a:pt x="266590" y="133296"/>
                </a:lnTo>
                <a:lnTo>
                  <a:pt x="259794" y="91167"/>
                </a:lnTo>
                <a:lnTo>
                  <a:pt x="240871" y="54576"/>
                </a:lnTo>
                <a:lnTo>
                  <a:pt x="212015" y="25720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642126" y="325945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0" y="133296"/>
                </a:moveTo>
                <a:lnTo>
                  <a:pt x="259794" y="91167"/>
                </a:lnTo>
                <a:lnTo>
                  <a:pt x="240871" y="54576"/>
                </a:lnTo>
                <a:lnTo>
                  <a:pt x="212015" y="25720"/>
                </a:lnTo>
                <a:lnTo>
                  <a:pt x="175425" y="6796"/>
                </a:lnTo>
                <a:lnTo>
                  <a:pt x="133295" y="0"/>
                </a:lnTo>
                <a:lnTo>
                  <a:pt x="91165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9" y="212017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7"/>
                </a:lnTo>
                <a:lnTo>
                  <a:pt x="259794" y="175426"/>
                </a:lnTo>
                <a:lnTo>
                  <a:pt x="266590" y="133296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182453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9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7" y="266593"/>
                </a:lnTo>
                <a:lnTo>
                  <a:pt x="175426" y="259796"/>
                </a:lnTo>
                <a:lnTo>
                  <a:pt x="212015" y="240872"/>
                </a:lnTo>
                <a:lnTo>
                  <a:pt x="240870" y="212017"/>
                </a:lnTo>
                <a:lnTo>
                  <a:pt x="259793" y="175426"/>
                </a:lnTo>
                <a:lnTo>
                  <a:pt x="266588" y="133296"/>
                </a:lnTo>
                <a:lnTo>
                  <a:pt x="259793" y="91167"/>
                </a:lnTo>
                <a:lnTo>
                  <a:pt x="240870" y="54576"/>
                </a:lnTo>
                <a:lnTo>
                  <a:pt x="212015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182453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8" y="133296"/>
                </a:moveTo>
                <a:lnTo>
                  <a:pt x="259793" y="91167"/>
                </a:lnTo>
                <a:lnTo>
                  <a:pt x="240870" y="54576"/>
                </a:lnTo>
                <a:lnTo>
                  <a:pt x="212015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9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7" y="266593"/>
                </a:lnTo>
                <a:lnTo>
                  <a:pt x="175426" y="259796"/>
                </a:lnTo>
                <a:lnTo>
                  <a:pt x="212015" y="240872"/>
                </a:lnTo>
                <a:lnTo>
                  <a:pt x="240870" y="212017"/>
                </a:lnTo>
                <a:lnTo>
                  <a:pt x="259793" y="175426"/>
                </a:lnTo>
                <a:lnTo>
                  <a:pt x="266588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722834" y="32594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10" y="0"/>
                </a:moveTo>
                <a:lnTo>
                  <a:pt x="91180" y="6795"/>
                </a:lnTo>
                <a:lnTo>
                  <a:pt x="54585" y="25719"/>
                </a:lnTo>
                <a:lnTo>
                  <a:pt x="25725" y="54574"/>
                </a:lnTo>
                <a:lnTo>
                  <a:pt x="6797" y="91165"/>
                </a:lnTo>
                <a:lnTo>
                  <a:pt x="0" y="133295"/>
                </a:lnTo>
                <a:lnTo>
                  <a:pt x="6797" y="175425"/>
                </a:lnTo>
                <a:lnTo>
                  <a:pt x="25725" y="212015"/>
                </a:lnTo>
                <a:lnTo>
                  <a:pt x="54585" y="240871"/>
                </a:lnTo>
                <a:lnTo>
                  <a:pt x="91180" y="259795"/>
                </a:lnTo>
                <a:lnTo>
                  <a:pt x="133310" y="266591"/>
                </a:lnTo>
                <a:lnTo>
                  <a:pt x="175439" y="259795"/>
                </a:lnTo>
                <a:lnTo>
                  <a:pt x="212029" y="240871"/>
                </a:lnTo>
                <a:lnTo>
                  <a:pt x="240883" y="212015"/>
                </a:lnTo>
                <a:lnTo>
                  <a:pt x="259806" y="175425"/>
                </a:lnTo>
                <a:lnTo>
                  <a:pt x="266602" y="133295"/>
                </a:lnTo>
                <a:lnTo>
                  <a:pt x="259806" y="91165"/>
                </a:lnTo>
                <a:lnTo>
                  <a:pt x="240883" y="54574"/>
                </a:lnTo>
                <a:lnTo>
                  <a:pt x="212029" y="25719"/>
                </a:lnTo>
                <a:lnTo>
                  <a:pt x="175439" y="6795"/>
                </a:lnTo>
                <a:lnTo>
                  <a:pt x="1333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722835" y="32594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5"/>
                </a:moveTo>
                <a:lnTo>
                  <a:pt x="259806" y="91165"/>
                </a:lnTo>
                <a:lnTo>
                  <a:pt x="240883" y="54574"/>
                </a:lnTo>
                <a:lnTo>
                  <a:pt x="212029" y="25719"/>
                </a:lnTo>
                <a:lnTo>
                  <a:pt x="175439" y="6795"/>
                </a:lnTo>
                <a:lnTo>
                  <a:pt x="133310" y="0"/>
                </a:lnTo>
                <a:lnTo>
                  <a:pt x="91180" y="6795"/>
                </a:lnTo>
                <a:lnTo>
                  <a:pt x="54585" y="25719"/>
                </a:lnTo>
                <a:lnTo>
                  <a:pt x="25725" y="54574"/>
                </a:lnTo>
                <a:lnTo>
                  <a:pt x="6797" y="91165"/>
                </a:lnTo>
                <a:lnTo>
                  <a:pt x="0" y="133295"/>
                </a:lnTo>
                <a:lnTo>
                  <a:pt x="6797" y="175425"/>
                </a:lnTo>
                <a:lnTo>
                  <a:pt x="25725" y="212015"/>
                </a:lnTo>
                <a:lnTo>
                  <a:pt x="54585" y="240871"/>
                </a:lnTo>
                <a:lnTo>
                  <a:pt x="91180" y="259795"/>
                </a:lnTo>
                <a:lnTo>
                  <a:pt x="133310" y="266591"/>
                </a:lnTo>
                <a:lnTo>
                  <a:pt x="175439" y="259795"/>
                </a:lnTo>
                <a:lnTo>
                  <a:pt x="212029" y="240871"/>
                </a:lnTo>
                <a:lnTo>
                  <a:pt x="240883" y="212015"/>
                </a:lnTo>
                <a:lnTo>
                  <a:pt x="259806" y="175425"/>
                </a:lnTo>
                <a:lnTo>
                  <a:pt x="26660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263208" y="32594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5"/>
                </a:lnTo>
                <a:lnTo>
                  <a:pt x="133291" y="266591"/>
                </a:lnTo>
                <a:lnTo>
                  <a:pt x="175420" y="259795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5"/>
                </a:lnTo>
                <a:lnTo>
                  <a:pt x="266583" y="133295"/>
                </a:ln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1263209" y="32594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5"/>
                </a:move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5"/>
                </a:lnTo>
                <a:lnTo>
                  <a:pt x="133291" y="266591"/>
                </a:lnTo>
                <a:lnTo>
                  <a:pt x="175420" y="259795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5"/>
                </a:lnTo>
                <a:lnTo>
                  <a:pt x="266583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803559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8" y="212017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3"/>
                </a:lnTo>
                <a:lnTo>
                  <a:pt x="175429" y="259796"/>
                </a:lnTo>
                <a:lnTo>
                  <a:pt x="212024" y="240872"/>
                </a:lnTo>
                <a:lnTo>
                  <a:pt x="240882" y="212017"/>
                </a:lnTo>
                <a:lnTo>
                  <a:pt x="259806" y="175426"/>
                </a:lnTo>
                <a:lnTo>
                  <a:pt x="266602" y="133296"/>
                </a:lnTo>
                <a:lnTo>
                  <a:pt x="259806" y="91167"/>
                </a:lnTo>
                <a:lnTo>
                  <a:pt x="240882" y="54576"/>
                </a:lnTo>
                <a:lnTo>
                  <a:pt x="212024" y="25720"/>
                </a:lnTo>
                <a:lnTo>
                  <a:pt x="175429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803559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6"/>
                </a:moveTo>
                <a:lnTo>
                  <a:pt x="259806" y="91167"/>
                </a:lnTo>
                <a:lnTo>
                  <a:pt x="240882" y="54576"/>
                </a:lnTo>
                <a:lnTo>
                  <a:pt x="212024" y="25720"/>
                </a:lnTo>
                <a:lnTo>
                  <a:pt x="175429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8" y="212017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3"/>
                </a:lnTo>
                <a:lnTo>
                  <a:pt x="175429" y="259796"/>
                </a:lnTo>
                <a:lnTo>
                  <a:pt x="212024" y="240872"/>
                </a:lnTo>
                <a:lnTo>
                  <a:pt x="240882" y="212017"/>
                </a:lnTo>
                <a:lnTo>
                  <a:pt x="259806" y="175426"/>
                </a:lnTo>
                <a:lnTo>
                  <a:pt x="266602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0814372" y="1984074"/>
            <a:ext cx="138920" cy="173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800331" y="3237988"/>
            <a:ext cx="4272894" cy="1469261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2486764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>
                <a:tab pos="2994157" algn="l"/>
                <a:tab pos="3543253" algn="l"/>
                <a:tab pos="4091575" algn="l"/>
              </a:tabLst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	</a:t>
            </a:r>
            <a:r>
              <a:rPr kumimoji="0" sz="1763" b="0" i="1" u="none" strike="noStrike" kern="1200" cap="none" spc="3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	O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783871" lvl="0" indent="0" algn="l" defTabSz="1112093" rtl="0" eaLnBrk="1" fontAlgn="auto" latinLnBrk="0" hangingPunct="1">
              <a:lnSpc>
                <a:spcPct val="107400"/>
              </a:lnSpc>
              <a:spcBef>
                <a:spcPts val="13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maximum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branching factor 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shallowest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  </a:t>
            </a:r>
            <a:r>
              <a:rPr kumimoji="0" sz="2068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max.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any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112049" y="6125585"/>
            <a:ext cx="11120494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50269" y="4988105"/>
            <a:ext cx="7266934" cy="2156689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deepest</a:t>
            </a:r>
            <a:r>
              <a:rPr kumimoji="0" sz="2493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696603" marR="0" lvl="1" indent="-253309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697375" algn="l"/>
              </a:tabLst>
              <a:defRPr/>
            </a:pPr>
            <a:r>
              <a:rPr kumimoji="0" sz="2493" b="0" i="1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pushdown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stack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56047" marR="0" lvl="1" indent="0" algn="l" defTabSz="1112093" rtl="0" eaLnBrk="1" fontAlgn="auto" latinLnBrk="0" hangingPunct="1">
              <a:lnSpc>
                <a:spcPct val="100000"/>
              </a:lnSpc>
              <a:spcBef>
                <a:spcPts val="18"/>
              </a:spcBef>
              <a:spcAft>
                <a:spcPts val="0"/>
              </a:spcAft>
              <a:buClrTx/>
              <a:buSzTx/>
              <a:buFont typeface="Arial"/>
              <a:buChar char="►"/>
              <a:tabLst/>
              <a:defRPr/>
            </a:pPr>
            <a:endParaRPr kumimoji="0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21624" lvl="0" indent="-399272" algn="l" defTabSz="1112093" rtl="0" eaLnBrk="1" fontAlgn="auto" latinLnBrk="0" hangingPunct="1">
              <a:lnSpc>
                <a:spcPct val="101200"/>
              </a:lnSpc>
              <a:spcBef>
                <a:spcPts val="6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Like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what </a:t>
            </a:r>
            <a:r>
              <a:rPr kumimoji="0" sz="2493" b="0" i="0" u="none" strike="noStrike" kern="1200" cap="none" spc="-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you’ve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seen in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previous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courses,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except  expanding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node generates all of its children at</a:t>
            </a:r>
            <a:r>
              <a:rPr kumimoji="0" sz="2493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once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C9CAF55-64D3-E845-8577-0838DE3536E2}"/>
              </a:ext>
            </a:extLst>
          </p:cNvPr>
          <p:cNvSpPr/>
          <p:nvPr/>
        </p:nvSpPr>
        <p:spPr>
          <a:xfrm>
            <a:off x="897467" y="4927598"/>
            <a:ext cx="4402666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32299193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A2E35-08EA-0FB6-5146-307DBF86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E1466A-F968-C3DC-D77F-3AEE402FA9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0675" y="1077273"/>
            <a:ext cx="5034463" cy="571633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356024">
              <a:spcBef>
                <a:spcPts val="152"/>
              </a:spcBef>
            </a:pPr>
            <a:r>
              <a:rPr spc="-12" dirty="0"/>
              <a:t>Depth-first</a:t>
            </a:r>
            <a:r>
              <a:rPr spc="23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2D0DEBDF-919E-9B80-BA52-DDC863A1F9B7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3896BDD0-2DD2-A76D-1BA4-C9BFBFE48006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1265F13-34D5-76A6-0537-57CEECA0758A}"/>
              </a:ext>
            </a:extLst>
          </p:cNvPr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74C4C89-3DBD-909A-FAF3-6E8DC6A44ACF}"/>
              </a:ext>
            </a:extLst>
          </p:cNvPr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16BD963-1BB7-D4FA-91F9-3C5A0F743543}"/>
              </a:ext>
            </a:extLst>
          </p:cNvPr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FC46442-80B9-65B3-DE26-3AF40C070A98}"/>
              </a:ext>
            </a:extLst>
          </p:cNvPr>
          <p:cNvSpPr/>
          <p:nvPr/>
        </p:nvSpPr>
        <p:spPr>
          <a:xfrm>
            <a:off x="8993683" y="1395189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888638" y="0"/>
                </a:moveTo>
                <a:lnTo>
                  <a:pt x="0" y="555400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788E9BB-3A70-50A2-E1BE-A91A7109A540}"/>
              </a:ext>
            </a:extLst>
          </p:cNvPr>
          <p:cNvSpPr/>
          <p:nvPr/>
        </p:nvSpPr>
        <p:spPr>
          <a:xfrm>
            <a:off x="10074403" y="1395189"/>
            <a:ext cx="1081159" cy="675724"/>
          </a:xfrm>
          <a:custGeom>
            <a:avLst/>
            <a:gdLst/>
            <a:ahLst/>
            <a:cxnLst/>
            <a:rect l="l" t="t" r="r" b="b"/>
            <a:pathLst>
              <a:path w="889000" h="555625">
                <a:moveTo>
                  <a:pt x="0" y="0"/>
                </a:moveTo>
                <a:lnTo>
                  <a:pt x="888640" y="555400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B170063-E500-8133-2AD7-3D96628B8416}"/>
              </a:ext>
            </a:extLst>
          </p:cNvPr>
          <p:cNvSpPr/>
          <p:nvPr/>
        </p:nvSpPr>
        <p:spPr>
          <a:xfrm>
            <a:off x="10614774" y="2070640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11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E954FF2-DACD-3E69-99A2-EC9B024DDCDC}"/>
              </a:ext>
            </a:extLst>
          </p:cNvPr>
          <p:cNvSpPr/>
          <p:nvPr/>
        </p:nvSpPr>
        <p:spPr>
          <a:xfrm>
            <a:off x="11155124" y="2070640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31" y="555402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5D7C74C-F33A-86B0-70DA-EA2147EEE052}"/>
              </a:ext>
            </a:extLst>
          </p:cNvPr>
          <p:cNvSpPr/>
          <p:nvPr/>
        </p:nvSpPr>
        <p:spPr>
          <a:xfrm>
            <a:off x="8453319" y="2070640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444321" y="0"/>
                </a:moveTo>
                <a:lnTo>
                  <a:pt x="0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CA9BCF5-4619-8F13-0E8D-F0B0C80DAE6B}"/>
              </a:ext>
            </a:extLst>
          </p:cNvPr>
          <p:cNvSpPr/>
          <p:nvPr/>
        </p:nvSpPr>
        <p:spPr>
          <a:xfrm>
            <a:off x="8993682" y="2070640"/>
            <a:ext cx="540580" cy="675724"/>
          </a:xfrm>
          <a:custGeom>
            <a:avLst/>
            <a:gdLst/>
            <a:ahLst/>
            <a:cxnLst/>
            <a:rect l="l" t="t" r="r" b="b"/>
            <a:pathLst>
              <a:path w="444500" h="555625">
                <a:moveTo>
                  <a:pt x="0" y="0"/>
                </a:moveTo>
                <a:lnTo>
                  <a:pt x="444315" y="555402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734B1FE-C1DB-6953-4A13-BBE48D27E90C}"/>
              </a:ext>
            </a:extLst>
          </p:cNvPr>
          <p:cNvSpPr/>
          <p:nvPr/>
        </p:nvSpPr>
        <p:spPr>
          <a:xfrm>
            <a:off x="11425287" y="274611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65" y="0"/>
                </a:moveTo>
                <a:lnTo>
                  <a:pt x="0" y="555401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0148481-5AD1-4683-FCCB-9FD9C11AE34D}"/>
              </a:ext>
            </a:extLst>
          </p:cNvPr>
          <p:cNvSpPr/>
          <p:nvPr/>
        </p:nvSpPr>
        <p:spPr>
          <a:xfrm>
            <a:off x="11695475" y="274611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46" y="555401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93B0F78-4233-09C9-C1F7-26B12F2A8D3A}"/>
              </a:ext>
            </a:extLst>
          </p:cNvPr>
          <p:cNvSpPr/>
          <p:nvPr/>
        </p:nvSpPr>
        <p:spPr>
          <a:xfrm>
            <a:off x="10344587" y="274611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65" y="0"/>
                </a:moveTo>
                <a:lnTo>
                  <a:pt x="0" y="555401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8772703-0A12-E99E-A967-55DF50BF3534}"/>
              </a:ext>
            </a:extLst>
          </p:cNvPr>
          <p:cNvSpPr/>
          <p:nvPr/>
        </p:nvSpPr>
        <p:spPr>
          <a:xfrm>
            <a:off x="10614774" y="274611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46" y="555401"/>
                </a:lnTo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946DB3D-2316-B879-FA95-4D87E47FA0DA}"/>
              </a:ext>
            </a:extLst>
          </p:cNvPr>
          <p:cNvSpPr/>
          <p:nvPr/>
        </p:nvSpPr>
        <p:spPr>
          <a:xfrm>
            <a:off x="9263860" y="274611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7" y="0"/>
                </a:moveTo>
                <a:lnTo>
                  <a:pt x="0" y="555401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BBC613EE-04A2-7554-449A-9BE48518BCA8}"/>
              </a:ext>
            </a:extLst>
          </p:cNvPr>
          <p:cNvSpPr/>
          <p:nvPr/>
        </p:nvSpPr>
        <p:spPr>
          <a:xfrm>
            <a:off x="9534038" y="274611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1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B457EF52-1915-8D75-17B5-D70F6AA2FE6D}"/>
              </a:ext>
            </a:extLst>
          </p:cNvPr>
          <p:cNvSpPr/>
          <p:nvPr/>
        </p:nvSpPr>
        <p:spPr>
          <a:xfrm>
            <a:off x="8183132" y="274611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222158" y="0"/>
                </a:moveTo>
                <a:lnTo>
                  <a:pt x="0" y="555401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3AE03301-5E44-B9C8-769A-5BDC39AEA061}"/>
              </a:ext>
            </a:extLst>
          </p:cNvPr>
          <p:cNvSpPr/>
          <p:nvPr/>
        </p:nvSpPr>
        <p:spPr>
          <a:xfrm>
            <a:off x="8453311" y="2746112"/>
            <a:ext cx="270290" cy="675724"/>
          </a:xfrm>
          <a:custGeom>
            <a:avLst/>
            <a:gdLst/>
            <a:ahLst/>
            <a:cxnLst/>
            <a:rect l="l" t="t" r="r" b="b"/>
            <a:pathLst>
              <a:path w="222250" h="555625">
                <a:moveTo>
                  <a:pt x="0" y="0"/>
                </a:moveTo>
                <a:lnTo>
                  <a:pt x="222157" y="555401"/>
                </a:lnTo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BB2BE25A-BC99-FCC3-CF21-014BC0ABE938}"/>
              </a:ext>
            </a:extLst>
          </p:cNvPr>
          <p:cNvSpPr/>
          <p:nvPr/>
        </p:nvSpPr>
        <p:spPr>
          <a:xfrm>
            <a:off x="9912294" y="1233083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5"/>
                </a:lnTo>
                <a:lnTo>
                  <a:pt x="54574" y="25719"/>
                </a:lnTo>
                <a:lnTo>
                  <a:pt x="25719" y="54573"/>
                </a:lnTo>
                <a:lnTo>
                  <a:pt x="6795" y="91163"/>
                </a:lnTo>
                <a:lnTo>
                  <a:pt x="0" y="133293"/>
                </a:lnTo>
                <a:lnTo>
                  <a:pt x="6795" y="175422"/>
                </a:lnTo>
                <a:lnTo>
                  <a:pt x="25719" y="212013"/>
                </a:lnTo>
                <a:lnTo>
                  <a:pt x="54574" y="240868"/>
                </a:lnTo>
                <a:lnTo>
                  <a:pt x="91165" y="259792"/>
                </a:lnTo>
                <a:lnTo>
                  <a:pt x="133295" y="266588"/>
                </a:lnTo>
                <a:lnTo>
                  <a:pt x="175425" y="259792"/>
                </a:lnTo>
                <a:lnTo>
                  <a:pt x="212015" y="240868"/>
                </a:lnTo>
                <a:lnTo>
                  <a:pt x="240871" y="212013"/>
                </a:lnTo>
                <a:lnTo>
                  <a:pt x="259794" y="175422"/>
                </a:lnTo>
                <a:lnTo>
                  <a:pt x="266590" y="133293"/>
                </a:lnTo>
                <a:lnTo>
                  <a:pt x="259794" y="91163"/>
                </a:lnTo>
                <a:lnTo>
                  <a:pt x="240871" y="54573"/>
                </a:lnTo>
                <a:lnTo>
                  <a:pt x="212015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76A8CBD0-1E37-7E49-254A-0D5F7C587080}"/>
              </a:ext>
            </a:extLst>
          </p:cNvPr>
          <p:cNvSpPr/>
          <p:nvPr/>
        </p:nvSpPr>
        <p:spPr>
          <a:xfrm>
            <a:off x="9912294" y="123308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0" y="133293"/>
                </a:moveTo>
                <a:lnTo>
                  <a:pt x="259794" y="91163"/>
                </a:lnTo>
                <a:lnTo>
                  <a:pt x="240871" y="54573"/>
                </a:lnTo>
                <a:lnTo>
                  <a:pt x="212015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5" y="6795"/>
                </a:lnTo>
                <a:lnTo>
                  <a:pt x="54574" y="25719"/>
                </a:lnTo>
                <a:lnTo>
                  <a:pt x="25719" y="54573"/>
                </a:lnTo>
                <a:lnTo>
                  <a:pt x="6795" y="91163"/>
                </a:lnTo>
                <a:lnTo>
                  <a:pt x="0" y="133293"/>
                </a:lnTo>
                <a:lnTo>
                  <a:pt x="6795" y="175422"/>
                </a:lnTo>
                <a:lnTo>
                  <a:pt x="25719" y="212013"/>
                </a:lnTo>
                <a:lnTo>
                  <a:pt x="54574" y="240868"/>
                </a:lnTo>
                <a:lnTo>
                  <a:pt x="91165" y="259792"/>
                </a:lnTo>
                <a:lnTo>
                  <a:pt x="133295" y="266588"/>
                </a:lnTo>
                <a:lnTo>
                  <a:pt x="175425" y="259792"/>
                </a:lnTo>
                <a:lnTo>
                  <a:pt x="212015" y="240868"/>
                </a:lnTo>
                <a:lnTo>
                  <a:pt x="240871" y="212013"/>
                </a:lnTo>
                <a:lnTo>
                  <a:pt x="259794" y="175422"/>
                </a:lnTo>
                <a:lnTo>
                  <a:pt x="266590" y="133293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9110BA51-F9F5-EC66-E300-67F16C84EDC0}"/>
              </a:ext>
            </a:extLst>
          </p:cNvPr>
          <p:cNvSpPr txBox="1"/>
          <p:nvPr/>
        </p:nvSpPr>
        <p:spPr>
          <a:xfrm>
            <a:off x="9993548" y="1211621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C8D27D67-953C-88D8-C6E7-BC0910BF7FA6}"/>
              </a:ext>
            </a:extLst>
          </p:cNvPr>
          <p:cNvSpPr/>
          <p:nvPr/>
        </p:nvSpPr>
        <p:spPr>
          <a:xfrm>
            <a:off x="8831566" y="190853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4B21604-6FF5-C084-7B34-27D4412A0603}"/>
              </a:ext>
            </a:extLst>
          </p:cNvPr>
          <p:cNvSpPr/>
          <p:nvPr/>
        </p:nvSpPr>
        <p:spPr>
          <a:xfrm>
            <a:off x="8831566" y="190853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6"/>
                </a:lnTo>
                <a:lnTo>
                  <a:pt x="240872" y="54575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7" y="6796"/>
                </a:lnTo>
                <a:lnTo>
                  <a:pt x="54576" y="25720"/>
                </a:lnTo>
                <a:lnTo>
                  <a:pt x="25720" y="54575"/>
                </a:lnTo>
                <a:lnTo>
                  <a:pt x="6796" y="91166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18D97090-4A94-3E72-C94B-6A6624DD8442}"/>
              </a:ext>
            </a:extLst>
          </p:cNvPr>
          <p:cNvSpPr/>
          <p:nvPr/>
        </p:nvSpPr>
        <p:spPr>
          <a:xfrm>
            <a:off x="10993021" y="190853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5"/>
                </a:ln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C1E599A-ACFE-9103-5E7E-A979746DDA59}"/>
              </a:ext>
            </a:extLst>
          </p:cNvPr>
          <p:cNvSpPr/>
          <p:nvPr/>
        </p:nvSpPr>
        <p:spPr>
          <a:xfrm>
            <a:off x="10993022" y="1908532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5"/>
                </a:moveTo>
                <a:lnTo>
                  <a:pt x="259787" y="91166"/>
                </a:lnTo>
                <a:lnTo>
                  <a:pt x="240864" y="54575"/>
                </a:lnTo>
                <a:lnTo>
                  <a:pt x="212009" y="25720"/>
                </a:lnTo>
                <a:lnTo>
                  <a:pt x="175420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5"/>
                </a:lnTo>
                <a:lnTo>
                  <a:pt x="6795" y="91166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0" y="259796"/>
                </a:lnTo>
                <a:lnTo>
                  <a:pt x="212009" y="240872"/>
                </a:lnTo>
                <a:lnTo>
                  <a:pt x="240864" y="212016"/>
                </a:lnTo>
                <a:lnTo>
                  <a:pt x="259787" y="175425"/>
                </a:lnTo>
                <a:lnTo>
                  <a:pt x="266583" y="133295"/>
                </a:lnTo>
                <a:close/>
              </a:path>
            </a:pathLst>
          </a:custGeom>
          <a:ln w="2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AA6932D5-9F0D-B842-4E54-86D0091F33F4}"/>
              </a:ext>
            </a:extLst>
          </p:cNvPr>
          <p:cNvSpPr txBox="1"/>
          <p:nvPr/>
        </p:nvSpPr>
        <p:spPr>
          <a:xfrm>
            <a:off x="11074250" y="1887064"/>
            <a:ext cx="183797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5943904-C313-334C-60E4-5DF6E3951B78}"/>
              </a:ext>
            </a:extLst>
          </p:cNvPr>
          <p:cNvSpPr/>
          <p:nvPr/>
        </p:nvSpPr>
        <p:spPr>
          <a:xfrm>
            <a:off x="8291200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7" y="259796"/>
                </a:lnTo>
                <a:lnTo>
                  <a:pt x="212017" y="240872"/>
                </a:lnTo>
                <a:lnTo>
                  <a:pt x="240873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3" y="54574"/>
                </a:lnTo>
                <a:lnTo>
                  <a:pt x="212017" y="25719"/>
                </a:lnTo>
                <a:lnTo>
                  <a:pt x="175427" y="6795"/>
                </a:lnTo>
                <a:lnTo>
                  <a:pt x="1332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9FF2EC69-5361-7EBC-3468-137CF00EBDB1}"/>
              </a:ext>
            </a:extLst>
          </p:cNvPr>
          <p:cNvSpPr/>
          <p:nvPr/>
        </p:nvSpPr>
        <p:spPr>
          <a:xfrm>
            <a:off x="8291200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3" y="54574"/>
                </a:lnTo>
                <a:lnTo>
                  <a:pt x="212017" y="25719"/>
                </a:lnTo>
                <a:lnTo>
                  <a:pt x="175427" y="6795"/>
                </a:lnTo>
                <a:lnTo>
                  <a:pt x="133297" y="0"/>
                </a:ln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6" y="240872"/>
                </a:lnTo>
                <a:lnTo>
                  <a:pt x="91167" y="259796"/>
                </a:lnTo>
                <a:lnTo>
                  <a:pt x="133297" y="266592"/>
                </a:lnTo>
                <a:lnTo>
                  <a:pt x="175427" y="259796"/>
                </a:lnTo>
                <a:lnTo>
                  <a:pt x="212017" y="240872"/>
                </a:lnTo>
                <a:lnTo>
                  <a:pt x="240873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DB8D6154-B812-3F82-A0DD-341C3C892FEC}"/>
              </a:ext>
            </a:extLst>
          </p:cNvPr>
          <p:cNvSpPr/>
          <p:nvPr/>
        </p:nvSpPr>
        <p:spPr>
          <a:xfrm>
            <a:off x="9371930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5"/>
                </a:lnTo>
                <a:lnTo>
                  <a:pt x="54575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5608AB27-4BE8-F257-2E62-11A3EB36182A}"/>
              </a:ext>
            </a:extLst>
          </p:cNvPr>
          <p:cNvSpPr/>
          <p:nvPr/>
        </p:nvSpPr>
        <p:spPr>
          <a:xfrm>
            <a:off x="9371930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5" y="6795"/>
                </a:lnTo>
                <a:lnTo>
                  <a:pt x="133295" y="0"/>
                </a:lnTo>
                <a:lnTo>
                  <a:pt x="91166" y="6795"/>
                </a:lnTo>
                <a:lnTo>
                  <a:pt x="54575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5"/>
                </a:lnTo>
                <a:lnTo>
                  <a:pt x="25720" y="212016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6"/>
                </a:lnTo>
                <a:lnTo>
                  <a:pt x="259796" y="175425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67BA4D48-FC18-B327-D286-7009B36C9D42}"/>
              </a:ext>
            </a:extLst>
          </p:cNvPr>
          <p:cNvSpPr/>
          <p:nvPr/>
        </p:nvSpPr>
        <p:spPr>
          <a:xfrm>
            <a:off x="10452646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2" y="259796"/>
                </a:lnTo>
                <a:lnTo>
                  <a:pt x="212016" y="240872"/>
                </a:lnTo>
                <a:lnTo>
                  <a:pt x="240876" y="212016"/>
                </a:lnTo>
                <a:lnTo>
                  <a:pt x="259804" y="175425"/>
                </a:lnTo>
                <a:lnTo>
                  <a:pt x="266602" y="133295"/>
                </a:lnTo>
                <a:lnTo>
                  <a:pt x="259804" y="91165"/>
                </a:lnTo>
                <a:lnTo>
                  <a:pt x="240876" y="54574"/>
                </a:lnTo>
                <a:lnTo>
                  <a:pt x="212016" y="25719"/>
                </a:lnTo>
                <a:lnTo>
                  <a:pt x="175422" y="6795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298E5D09-0817-6D91-4B0C-EC62F62BD39F}"/>
              </a:ext>
            </a:extLst>
          </p:cNvPr>
          <p:cNvSpPr/>
          <p:nvPr/>
        </p:nvSpPr>
        <p:spPr>
          <a:xfrm>
            <a:off x="10452648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5"/>
                </a:moveTo>
                <a:lnTo>
                  <a:pt x="259804" y="91165"/>
                </a:lnTo>
                <a:lnTo>
                  <a:pt x="240876" y="54574"/>
                </a:lnTo>
                <a:lnTo>
                  <a:pt x="212016" y="25719"/>
                </a:lnTo>
                <a:lnTo>
                  <a:pt x="175422" y="6795"/>
                </a:lnTo>
                <a:lnTo>
                  <a:pt x="133291" y="0"/>
                </a:ln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6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2"/>
                </a:lnTo>
                <a:lnTo>
                  <a:pt x="175422" y="259796"/>
                </a:lnTo>
                <a:lnTo>
                  <a:pt x="212016" y="240872"/>
                </a:lnTo>
                <a:lnTo>
                  <a:pt x="240876" y="212016"/>
                </a:lnTo>
                <a:lnTo>
                  <a:pt x="259804" y="175425"/>
                </a:lnTo>
                <a:lnTo>
                  <a:pt x="26660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CAD9408C-F8F2-49BA-3CCF-9ED53DB63516}"/>
              </a:ext>
            </a:extLst>
          </p:cNvPr>
          <p:cNvSpPr txBox="1"/>
          <p:nvPr/>
        </p:nvSpPr>
        <p:spPr>
          <a:xfrm>
            <a:off x="10533900" y="2562517"/>
            <a:ext cx="171441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60C83ABE-A974-1465-8F58-8F3ECD375DD4}"/>
              </a:ext>
            </a:extLst>
          </p:cNvPr>
          <p:cNvSpPr/>
          <p:nvPr/>
        </p:nvSpPr>
        <p:spPr>
          <a:xfrm>
            <a:off x="11533348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10" y="0"/>
                </a:moveTo>
                <a:lnTo>
                  <a:pt x="91180" y="6795"/>
                </a:lnTo>
                <a:lnTo>
                  <a:pt x="54585" y="25719"/>
                </a:lnTo>
                <a:lnTo>
                  <a:pt x="25725" y="54574"/>
                </a:lnTo>
                <a:lnTo>
                  <a:pt x="6797" y="91165"/>
                </a:lnTo>
                <a:lnTo>
                  <a:pt x="0" y="133295"/>
                </a:lnTo>
                <a:lnTo>
                  <a:pt x="6797" y="175425"/>
                </a:lnTo>
                <a:lnTo>
                  <a:pt x="25725" y="212016"/>
                </a:lnTo>
                <a:lnTo>
                  <a:pt x="54585" y="240872"/>
                </a:lnTo>
                <a:lnTo>
                  <a:pt x="91180" y="259796"/>
                </a:lnTo>
                <a:lnTo>
                  <a:pt x="133310" y="266592"/>
                </a:lnTo>
                <a:lnTo>
                  <a:pt x="175439" y="259796"/>
                </a:lnTo>
                <a:lnTo>
                  <a:pt x="212029" y="240872"/>
                </a:lnTo>
                <a:lnTo>
                  <a:pt x="240883" y="212016"/>
                </a:lnTo>
                <a:lnTo>
                  <a:pt x="259806" y="175425"/>
                </a:lnTo>
                <a:lnTo>
                  <a:pt x="266602" y="133295"/>
                </a:lnTo>
                <a:lnTo>
                  <a:pt x="259806" y="91165"/>
                </a:lnTo>
                <a:lnTo>
                  <a:pt x="240883" y="54574"/>
                </a:lnTo>
                <a:lnTo>
                  <a:pt x="212029" y="25719"/>
                </a:lnTo>
                <a:lnTo>
                  <a:pt x="175439" y="6795"/>
                </a:lnTo>
                <a:lnTo>
                  <a:pt x="1333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1A9C4B14-0FFD-170F-26CF-C5853481666D}"/>
              </a:ext>
            </a:extLst>
          </p:cNvPr>
          <p:cNvSpPr/>
          <p:nvPr/>
        </p:nvSpPr>
        <p:spPr>
          <a:xfrm>
            <a:off x="11533348" y="258397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5"/>
                </a:moveTo>
                <a:lnTo>
                  <a:pt x="259806" y="91165"/>
                </a:lnTo>
                <a:lnTo>
                  <a:pt x="240883" y="54574"/>
                </a:lnTo>
                <a:lnTo>
                  <a:pt x="212029" y="25719"/>
                </a:lnTo>
                <a:lnTo>
                  <a:pt x="175439" y="6795"/>
                </a:lnTo>
                <a:lnTo>
                  <a:pt x="133310" y="0"/>
                </a:lnTo>
                <a:lnTo>
                  <a:pt x="91180" y="6795"/>
                </a:lnTo>
                <a:lnTo>
                  <a:pt x="54585" y="25719"/>
                </a:lnTo>
                <a:lnTo>
                  <a:pt x="25725" y="54574"/>
                </a:lnTo>
                <a:lnTo>
                  <a:pt x="6797" y="91165"/>
                </a:lnTo>
                <a:lnTo>
                  <a:pt x="0" y="133295"/>
                </a:lnTo>
                <a:lnTo>
                  <a:pt x="6797" y="175425"/>
                </a:lnTo>
                <a:lnTo>
                  <a:pt x="25725" y="212016"/>
                </a:lnTo>
                <a:lnTo>
                  <a:pt x="54585" y="240872"/>
                </a:lnTo>
                <a:lnTo>
                  <a:pt x="91180" y="259796"/>
                </a:lnTo>
                <a:lnTo>
                  <a:pt x="133310" y="266592"/>
                </a:lnTo>
                <a:lnTo>
                  <a:pt x="175439" y="259796"/>
                </a:lnTo>
                <a:lnTo>
                  <a:pt x="212029" y="240872"/>
                </a:lnTo>
                <a:lnTo>
                  <a:pt x="240883" y="212016"/>
                </a:lnTo>
                <a:lnTo>
                  <a:pt x="259806" y="175425"/>
                </a:lnTo>
                <a:lnTo>
                  <a:pt x="26660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F38EBE6D-60B2-3E45-8589-77DB3145D2F5}"/>
              </a:ext>
            </a:extLst>
          </p:cNvPr>
          <p:cNvSpPr txBox="1"/>
          <p:nvPr/>
        </p:nvSpPr>
        <p:spPr>
          <a:xfrm>
            <a:off x="11606438" y="2562517"/>
            <a:ext cx="196925" cy="291568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E95452CD-B953-CBE4-50DE-0431EAC33115}"/>
              </a:ext>
            </a:extLst>
          </p:cNvPr>
          <p:cNvSpPr/>
          <p:nvPr/>
        </p:nvSpPr>
        <p:spPr>
          <a:xfrm>
            <a:off x="8021023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6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6" y="266593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7"/>
                </a:lnTo>
                <a:lnTo>
                  <a:pt x="259795" y="175426"/>
                </a:lnTo>
                <a:lnTo>
                  <a:pt x="266591" y="133296"/>
                </a:lnTo>
                <a:lnTo>
                  <a:pt x="259795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B50F00DA-495F-4E30-A9DC-F71B602D9904}"/>
              </a:ext>
            </a:extLst>
          </p:cNvPr>
          <p:cNvSpPr/>
          <p:nvPr/>
        </p:nvSpPr>
        <p:spPr>
          <a:xfrm>
            <a:off x="8021023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1" y="133296"/>
                </a:moveTo>
                <a:lnTo>
                  <a:pt x="259795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6" y="6796"/>
                </a:lnTo>
                <a:lnTo>
                  <a:pt x="133296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6" y="266593"/>
                </a:lnTo>
                <a:lnTo>
                  <a:pt x="175426" y="259796"/>
                </a:lnTo>
                <a:lnTo>
                  <a:pt x="212016" y="240872"/>
                </a:lnTo>
                <a:lnTo>
                  <a:pt x="240872" y="212017"/>
                </a:lnTo>
                <a:lnTo>
                  <a:pt x="259795" y="175426"/>
                </a:lnTo>
                <a:lnTo>
                  <a:pt x="266591" y="133296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2E058F3F-073B-8776-A346-36B958180AA5}"/>
              </a:ext>
            </a:extLst>
          </p:cNvPr>
          <p:cNvSpPr/>
          <p:nvPr/>
        </p:nvSpPr>
        <p:spPr>
          <a:xfrm>
            <a:off x="8561398" y="32594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4"/>
                </a:lnTo>
                <a:lnTo>
                  <a:pt x="25720" y="212015"/>
                </a:lnTo>
                <a:lnTo>
                  <a:pt x="54576" y="240871"/>
                </a:lnTo>
                <a:lnTo>
                  <a:pt x="91167" y="259795"/>
                </a:lnTo>
                <a:lnTo>
                  <a:pt x="133297" y="266591"/>
                </a:lnTo>
                <a:lnTo>
                  <a:pt x="175426" y="259795"/>
                </a:lnTo>
                <a:lnTo>
                  <a:pt x="212016" y="240871"/>
                </a:lnTo>
                <a:lnTo>
                  <a:pt x="240872" y="212015"/>
                </a:lnTo>
                <a:lnTo>
                  <a:pt x="259796" y="175424"/>
                </a:lnTo>
                <a:lnTo>
                  <a:pt x="266592" y="133295"/>
                </a:ln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17681198-EC46-4715-698F-7A17E9E4C176}"/>
              </a:ext>
            </a:extLst>
          </p:cNvPr>
          <p:cNvSpPr/>
          <p:nvPr/>
        </p:nvSpPr>
        <p:spPr>
          <a:xfrm>
            <a:off x="8561398" y="325943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5"/>
                </a:moveTo>
                <a:lnTo>
                  <a:pt x="259796" y="91165"/>
                </a:lnTo>
                <a:lnTo>
                  <a:pt x="240872" y="54574"/>
                </a:lnTo>
                <a:lnTo>
                  <a:pt x="212016" y="25719"/>
                </a:lnTo>
                <a:lnTo>
                  <a:pt x="175426" y="6795"/>
                </a:lnTo>
                <a:lnTo>
                  <a:pt x="133297" y="0"/>
                </a:lnTo>
                <a:lnTo>
                  <a:pt x="91167" y="6795"/>
                </a:lnTo>
                <a:lnTo>
                  <a:pt x="54576" y="25719"/>
                </a:lnTo>
                <a:lnTo>
                  <a:pt x="25720" y="54574"/>
                </a:lnTo>
                <a:lnTo>
                  <a:pt x="6796" y="91165"/>
                </a:lnTo>
                <a:lnTo>
                  <a:pt x="0" y="133295"/>
                </a:lnTo>
                <a:lnTo>
                  <a:pt x="6796" y="175424"/>
                </a:lnTo>
                <a:lnTo>
                  <a:pt x="25720" y="212015"/>
                </a:lnTo>
                <a:lnTo>
                  <a:pt x="54576" y="240871"/>
                </a:lnTo>
                <a:lnTo>
                  <a:pt x="91167" y="259795"/>
                </a:lnTo>
                <a:lnTo>
                  <a:pt x="133297" y="266591"/>
                </a:lnTo>
                <a:lnTo>
                  <a:pt x="175426" y="259795"/>
                </a:lnTo>
                <a:lnTo>
                  <a:pt x="212016" y="240871"/>
                </a:lnTo>
                <a:lnTo>
                  <a:pt x="240872" y="212015"/>
                </a:lnTo>
                <a:lnTo>
                  <a:pt x="259796" y="175424"/>
                </a:lnTo>
                <a:lnTo>
                  <a:pt x="266592" y="133295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F7A54177-149C-9B0E-407C-8205C0245A88}"/>
              </a:ext>
            </a:extLst>
          </p:cNvPr>
          <p:cNvSpPr/>
          <p:nvPr/>
        </p:nvSpPr>
        <p:spPr>
          <a:xfrm>
            <a:off x="9101752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3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7"/>
                </a:lnTo>
                <a:lnTo>
                  <a:pt x="259796" y="175426"/>
                </a:lnTo>
                <a:lnTo>
                  <a:pt x="266592" y="133296"/>
                </a:ln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CD3F192B-B42E-83A0-CF13-4A0007724720}"/>
              </a:ext>
            </a:extLst>
          </p:cNvPr>
          <p:cNvSpPr/>
          <p:nvPr/>
        </p:nvSpPr>
        <p:spPr>
          <a:xfrm>
            <a:off x="9101752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2" y="133296"/>
                </a:moveTo>
                <a:lnTo>
                  <a:pt x="259796" y="91167"/>
                </a:lnTo>
                <a:lnTo>
                  <a:pt x="240872" y="54576"/>
                </a:lnTo>
                <a:lnTo>
                  <a:pt x="212016" y="25720"/>
                </a:lnTo>
                <a:lnTo>
                  <a:pt x="175425" y="6796"/>
                </a:lnTo>
                <a:lnTo>
                  <a:pt x="133295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20" y="54576"/>
                </a:lnTo>
                <a:lnTo>
                  <a:pt x="6796" y="91167"/>
                </a:lnTo>
                <a:lnTo>
                  <a:pt x="0" y="133296"/>
                </a:lnTo>
                <a:lnTo>
                  <a:pt x="6796" y="175426"/>
                </a:lnTo>
                <a:lnTo>
                  <a:pt x="25720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5" y="266593"/>
                </a:lnTo>
                <a:lnTo>
                  <a:pt x="175425" y="259796"/>
                </a:lnTo>
                <a:lnTo>
                  <a:pt x="212016" y="240872"/>
                </a:lnTo>
                <a:lnTo>
                  <a:pt x="240872" y="212017"/>
                </a:lnTo>
                <a:lnTo>
                  <a:pt x="259796" y="175426"/>
                </a:lnTo>
                <a:lnTo>
                  <a:pt x="266592" y="133296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3AD00B5E-9F39-D509-431C-A3EB5A910DDC}"/>
              </a:ext>
            </a:extLst>
          </p:cNvPr>
          <p:cNvSpPr/>
          <p:nvPr/>
        </p:nvSpPr>
        <p:spPr>
          <a:xfrm>
            <a:off x="9642126" y="325945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5" y="0"/>
                </a:moveTo>
                <a:lnTo>
                  <a:pt x="91165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9" y="212017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7"/>
                </a:lnTo>
                <a:lnTo>
                  <a:pt x="259794" y="175426"/>
                </a:lnTo>
                <a:lnTo>
                  <a:pt x="266590" y="133296"/>
                </a:lnTo>
                <a:lnTo>
                  <a:pt x="259794" y="91167"/>
                </a:lnTo>
                <a:lnTo>
                  <a:pt x="240871" y="54576"/>
                </a:lnTo>
                <a:lnTo>
                  <a:pt x="212015" y="25720"/>
                </a:lnTo>
                <a:lnTo>
                  <a:pt x="175425" y="6796"/>
                </a:lnTo>
                <a:lnTo>
                  <a:pt x="1332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C49593C3-6068-8711-66CE-769698823BEA}"/>
              </a:ext>
            </a:extLst>
          </p:cNvPr>
          <p:cNvSpPr/>
          <p:nvPr/>
        </p:nvSpPr>
        <p:spPr>
          <a:xfrm>
            <a:off x="9642126" y="325945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90" y="133296"/>
                </a:moveTo>
                <a:lnTo>
                  <a:pt x="259794" y="91167"/>
                </a:lnTo>
                <a:lnTo>
                  <a:pt x="240871" y="54576"/>
                </a:lnTo>
                <a:lnTo>
                  <a:pt x="212015" y="25720"/>
                </a:lnTo>
                <a:lnTo>
                  <a:pt x="175425" y="6796"/>
                </a:lnTo>
                <a:lnTo>
                  <a:pt x="133295" y="0"/>
                </a:lnTo>
                <a:lnTo>
                  <a:pt x="91165" y="6796"/>
                </a:lnTo>
                <a:lnTo>
                  <a:pt x="54574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9" y="212017"/>
                </a:lnTo>
                <a:lnTo>
                  <a:pt x="54574" y="240872"/>
                </a:lnTo>
                <a:lnTo>
                  <a:pt x="91165" y="259796"/>
                </a:lnTo>
                <a:lnTo>
                  <a:pt x="133295" y="266592"/>
                </a:lnTo>
                <a:lnTo>
                  <a:pt x="175425" y="259796"/>
                </a:lnTo>
                <a:lnTo>
                  <a:pt x="212015" y="240872"/>
                </a:lnTo>
                <a:lnTo>
                  <a:pt x="240871" y="212017"/>
                </a:lnTo>
                <a:lnTo>
                  <a:pt x="259794" y="175426"/>
                </a:lnTo>
                <a:lnTo>
                  <a:pt x="266590" y="133296"/>
                </a:lnTo>
                <a:close/>
              </a:path>
            </a:pathLst>
          </a:custGeom>
          <a:ln w="14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17A251D5-31D4-EF5E-11CD-68765406B772}"/>
              </a:ext>
            </a:extLst>
          </p:cNvPr>
          <p:cNvSpPr/>
          <p:nvPr/>
        </p:nvSpPr>
        <p:spPr>
          <a:xfrm>
            <a:off x="10182453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7" y="0"/>
                </a:moveTo>
                <a:lnTo>
                  <a:pt x="91166" y="6796"/>
                </a:lnTo>
                <a:lnTo>
                  <a:pt x="54575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9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7" y="266593"/>
                </a:lnTo>
                <a:lnTo>
                  <a:pt x="175426" y="259796"/>
                </a:lnTo>
                <a:lnTo>
                  <a:pt x="212015" y="240872"/>
                </a:lnTo>
                <a:lnTo>
                  <a:pt x="240870" y="212017"/>
                </a:lnTo>
                <a:lnTo>
                  <a:pt x="259793" y="175426"/>
                </a:lnTo>
                <a:lnTo>
                  <a:pt x="266588" y="133296"/>
                </a:lnTo>
                <a:lnTo>
                  <a:pt x="259793" y="91167"/>
                </a:lnTo>
                <a:lnTo>
                  <a:pt x="240870" y="54576"/>
                </a:lnTo>
                <a:lnTo>
                  <a:pt x="212015" y="25720"/>
                </a:lnTo>
                <a:lnTo>
                  <a:pt x="175426" y="6796"/>
                </a:lnTo>
                <a:lnTo>
                  <a:pt x="133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F62A610A-F614-4FE4-A10D-43CA4046A675}"/>
              </a:ext>
            </a:extLst>
          </p:cNvPr>
          <p:cNvSpPr/>
          <p:nvPr/>
        </p:nvSpPr>
        <p:spPr>
          <a:xfrm>
            <a:off x="10182453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8" y="133296"/>
                </a:moveTo>
                <a:lnTo>
                  <a:pt x="259793" y="91167"/>
                </a:lnTo>
                <a:lnTo>
                  <a:pt x="240870" y="54576"/>
                </a:lnTo>
                <a:lnTo>
                  <a:pt x="212015" y="25720"/>
                </a:lnTo>
                <a:lnTo>
                  <a:pt x="175426" y="6796"/>
                </a:lnTo>
                <a:lnTo>
                  <a:pt x="133297" y="0"/>
                </a:lnTo>
                <a:lnTo>
                  <a:pt x="91166" y="6796"/>
                </a:lnTo>
                <a:lnTo>
                  <a:pt x="54575" y="25720"/>
                </a:lnTo>
                <a:lnTo>
                  <a:pt x="25719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9" y="212017"/>
                </a:lnTo>
                <a:lnTo>
                  <a:pt x="54575" y="240872"/>
                </a:lnTo>
                <a:lnTo>
                  <a:pt x="91166" y="259796"/>
                </a:lnTo>
                <a:lnTo>
                  <a:pt x="133297" y="266593"/>
                </a:lnTo>
                <a:lnTo>
                  <a:pt x="175426" y="259796"/>
                </a:lnTo>
                <a:lnTo>
                  <a:pt x="212015" y="240872"/>
                </a:lnTo>
                <a:lnTo>
                  <a:pt x="240870" y="212017"/>
                </a:lnTo>
                <a:lnTo>
                  <a:pt x="259793" y="175426"/>
                </a:lnTo>
                <a:lnTo>
                  <a:pt x="266588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F9D3CB22-4C54-31F8-02C0-773C0C7E20DB}"/>
              </a:ext>
            </a:extLst>
          </p:cNvPr>
          <p:cNvSpPr/>
          <p:nvPr/>
        </p:nvSpPr>
        <p:spPr>
          <a:xfrm>
            <a:off x="10722834" y="32594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10" y="0"/>
                </a:moveTo>
                <a:lnTo>
                  <a:pt x="91180" y="6795"/>
                </a:lnTo>
                <a:lnTo>
                  <a:pt x="54585" y="25719"/>
                </a:lnTo>
                <a:lnTo>
                  <a:pt x="25725" y="54574"/>
                </a:lnTo>
                <a:lnTo>
                  <a:pt x="6797" y="91165"/>
                </a:lnTo>
                <a:lnTo>
                  <a:pt x="0" y="133295"/>
                </a:lnTo>
                <a:lnTo>
                  <a:pt x="6797" y="175425"/>
                </a:lnTo>
                <a:lnTo>
                  <a:pt x="25725" y="212015"/>
                </a:lnTo>
                <a:lnTo>
                  <a:pt x="54585" y="240871"/>
                </a:lnTo>
                <a:lnTo>
                  <a:pt x="91180" y="259795"/>
                </a:lnTo>
                <a:lnTo>
                  <a:pt x="133310" y="266591"/>
                </a:lnTo>
                <a:lnTo>
                  <a:pt x="175439" y="259795"/>
                </a:lnTo>
                <a:lnTo>
                  <a:pt x="212029" y="240871"/>
                </a:lnTo>
                <a:lnTo>
                  <a:pt x="240883" y="212015"/>
                </a:lnTo>
                <a:lnTo>
                  <a:pt x="259806" y="175425"/>
                </a:lnTo>
                <a:lnTo>
                  <a:pt x="266602" y="133295"/>
                </a:lnTo>
                <a:lnTo>
                  <a:pt x="259806" y="91165"/>
                </a:lnTo>
                <a:lnTo>
                  <a:pt x="240883" y="54574"/>
                </a:lnTo>
                <a:lnTo>
                  <a:pt x="212029" y="25719"/>
                </a:lnTo>
                <a:lnTo>
                  <a:pt x="175439" y="6795"/>
                </a:lnTo>
                <a:lnTo>
                  <a:pt x="1333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90243861-517D-8E09-AE4E-5FD1DDC9F70C}"/>
              </a:ext>
            </a:extLst>
          </p:cNvPr>
          <p:cNvSpPr/>
          <p:nvPr/>
        </p:nvSpPr>
        <p:spPr>
          <a:xfrm>
            <a:off x="10722835" y="32594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5"/>
                </a:moveTo>
                <a:lnTo>
                  <a:pt x="259806" y="91165"/>
                </a:lnTo>
                <a:lnTo>
                  <a:pt x="240883" y="54574"/>
                </a:lnTo>
                <a:lnTo>
                  <a:pt x="212029" y="25719"/>
                </a:lnTo>
                <a:lnTo>
                  <a:pt x="175439" y="6795"/>
                </a:lnTo>
                <a:lnTo>
                  <a:pt x="133310" y="0"/>
                </a:lnTo>
                <a:lnTo>
                  <a:pt x="91180" y="6795"/>
                </a:lnTo>
                <a:lnTo>
                  <a:pt x="54585" y="25719"/>
                </a:lnTo>
                <a:lnTo>
                  <a:pt x="25725" y="54574"/>
                </a:lnTo>
                <a:lnTo>
                  <a:pt x="6797" y="91165"/>
                </a:lnTo>
                <a:lnTo>
                  <a:pt x="0" y="133295"/>
                </a:lnTo>
                <a:lnTo>
                  <a:pt x="6797" y="175425"/>
                </a:lnTo>
                <a:lnTo>
                  <a:pt x="25725" y="212015"/>
                </a:lnTo>
                <a:lnTo>
                  <a:pt x="54585" y="240871"/>
                </a:lnTo>
                <a:lnTo>
                  <a:pt x="91180" y="259795"/>
                </a:lnTo>
                <a:lnTo>
                  <a:pt x="133310" y="266591"/>
                </a:lnTo>
                <a:lnTo>
                  <a:pt x="175439" y="259795"/>
                </a:lnTo>
                <a:lnTo>
                  <a:pt x="212029" y="240871"/>
                </a:lnTo>
                <a:lnTo>
                  <a:pt x="240883" y="212015"/>
                </a:lnTo>
                <a:lnTo>
                  <a:pt x="259806" y="175425"/>
                </a:lnTo>
                <a:lnTo>
                  <a:pt x="266602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F5E32B46-30A9-3418-A8D6-096440922105}"/>
              </a:ext>
            </a:extLst>
          </p:cNvPr>
          <p:cNvSpPr/>
          <p:nvPr/>
        </p:nvSpPr>
        <p:spPr>
          <a:xfrm>
            <a:off x="11263208" y="32594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5"/>
                </a:lnTo>
                <a:lnTo>
                  <a:pt x="133291" y="266591"/>
                </a:lnTo>
                <a:lnTo>
                  <a:pt x="175420" y="259795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5"/>
                </a:lnTo>
                <a:lnTo>
                  <a:pt x="266583" y="133295"/>
                </a:ln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51063A7C-E349-D6E9-DAB3-D61B8B27F121}"/>
              </a:ext>
            </a:extLst>
          </p:cNvPr>
          <p:cNvSpPr/>
          <p:nvPr/>
        </p:nvSpPr>
        <p:spPr>
          <a:xfrm>
            <a:off x="11263209" y="3259428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583" y="133295"/>
                </a:moveTo>
                <a:lnTo>
                  <a:pt x="259787" y="91165"/>
                </a:lnTo>
                <a:lnTo>
                  <a:pt x="240864" y="54574"/>
                </a:lnTo>
                <a:lnTo>
                  <a:pt x="212009" y="25719"/>
                </a:lnTo>
                <a:lnTo>
                  <a:pt x="175420" y="6795"/>
                </a:lnTo>
                <a:lnTo>
                  <a:pt x="133291" y="0"/>
                </a:lnTo>
                <a:lnTo>
                  <a:pt x="91162" y="6795"/>
                </a:lnTo>
                <a:lnTo>
                  <a:pt x="54573" y="25719"/>
                </a:lnTo>
                <a:lnTo>
                  <a:pt x="25718" y="54574"/>
                </a:lnTo>
                <a:lnTo>
                  <a:pt x="6795" y="91165"/>
                </a:lnTo>
                <a:lnTo>
                  <a:pt x="0" y="133295"/>
                </a:lnTo>
                <a:lnTo>
                  <a:pt x="6795" y="175425"/>
                </a:lnTo>
                <a:lnTo>
                  <a:pt x="25718" y="212015"/>
                </a:lnTo>
                <a:lnTo>
                  <a:pt x="54573" y="240871"/>
                </a:lnTo>
                <a:lnTo>
                  <a:pt x="91162" y="259795"/>
                </a:lnTo>
                <a:lnTo>
                  <a:pt x="133291" y="266591"/>
                </a:lnTo>
                <a:lnTo>
                  <a:pt x="175420" y="259795"/>
                </a:lnTo>
                <a:lnTo>
                  <a:pt x="212009" y="240871"/>
                </a:lnTo>
                <a:lnTo>
                  <a:pt x="240864" y="212015"/>
                </a:lnTo>
                <a:lnTo>
                  <a:pt x="259787" y="175425"/>
                </a:lnTo>
                <a:lnTo>
                  <a:pt x="266583" y="133295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769636B4-414B-815C-184F-649D58212A1A}"/>
              </a:ext>
            </a:extLst>
          </p:cNvPr>
          <p:cNvSpPr/>
          <p:nvPr/>
        </p:nvSpPr>
        <p:spPr>
          <a:xfrm>
            <a:off x="11803559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291" y="0"/>
                </a:move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8" y="212017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3"/>
                </a:lnTo>
                <a:lnTo>
                  <a:pt x="175429" y="259796"/>
                </a:lnTo>
                <a:lnTo>
                  <a:pt x="212024" y="240872"/>
                </a:lnTo>
                <a:lnTo>
                  <a:pt x="240882" y="212017"/>
                </a:lnTo>
                <a:lnTo>
                  <a:pt x="259806" y="175426"/>
                </a:lnTo>
                <a:lnTo>
                  <a:pt x="266602" y="133296"/>
                </a:lnTo>
                <a:lnTo>
                  <a:pt x="259806" y="91167"/>
                </a:lnTo>
                <a:lnTo>
                  <a:pt x="240882" y="54576"/>
                </a:lnTo>
                <a:lnTo>
                  <a:pt x="212024" y="25720"/>
                </a:lnTo>
                <a:lnTo>
                  <a:pt x="175429" y="6796"/>
                </a:lnTo>
                <a:lnTo>
                  <a:pt x="1332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9737A9A9-5E72-7F8A-D568-125B7783FDB2}"/>
              </a:ext>
            </a:extLst>
          </p:cNvPr>
          <p:cNvSpPr/>
          <p:nvPr/>
        </p:nvSpPr>
        <p:spPr>
          <a:xfrm>
            <a:off x="11803559" y="3259445"/>
            <a:ext cx="324348" cy="324348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602" y="133296"/>
                </a:moveTo>
                <a:lnTo>
                  <a:pt x="259806" y="91167"/>
                </a:lnTo>
                <a:lnTo>
                  <a:pt x="240882" y="54576"/>
                </a:lnTo>
                <a:lnTo>
                  <a:pt x="212024" y="25720"/>
                </a:lnTo>
                <a:lnTo>
                  <a:pt x="175429" y="6796"/>
                </a:lnTo>
                <a:lnTo>
                  <a:pt x="133291" y="0"/>
                </a:lnTo>
                <a:lnTo>
                  <a:pt x="91162" y="6796"/>
                </a:lnTo>
                <a:lnTo>
                  <a:pt x="54573" y="25720"/>
                </a:lnTo>
                <a:lnTo>
                  <a:pt x="25718" y="54576"/>
                </a:lnTo>
                <a:lnTo>
                  <a:pt x="6795" y="91167"/>
                </a:lnTo>
                <a:lnTo>
                  <a:pt x="0" y="133296"/>
                </a:lnTo>
                <a:lnTo>
                  <a:pt x="6795" y="175426"/>
                </a:lnTo>
                <a:lnTo>
                  <a:pt x="25718" y="212017"/>
                </a:lnTo>
                <a:lnTo>
                  <a:pt x="54573" y="240872"/>
                </a:lnTo>
                <a:lnTo>
                  <a:pt x="91162" y="259796"/>
                </a:lnTo>
                <a:lnTo>
                  <a:pt x="133291" y="266593"/>
                </a:lnTo>
                <a:lnTo>
                  <a:pt x="175429" y="259796"/>
                </a:lnTo>
                <a:lnTo>
                  <a:pt x="212024" y="240872"/>
                </a:lnTo>
                <a:lnTo>
                  <a:pt x="240882" y="212017"/>
                </a:lnTo>
                <a:lnTo>
                  <a:pt x="259806" y="175426"/>
                </a:lnTo>
                <a:lnTo>
                  <a:pt x="266602" y="133296"/>
                </a:lnTo>
                <a:close/>
              </a:path>
            </a:pathLst>
          </a:custGeom>
          <a:ln w="14941">
            <a:solidFill>
              <a:srgbClr val="00FF0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DD8D6A23-51DD-0C7D-3A8C-7A227589BCC0}"/>
              </a:ext>
            </a:extLst>
          </p:cNvPr>
          <p:cNvSpPr/>
          <p:nvPr/>
        </p:nvSpPr>
        <p:spPr>
          <a:xfrm>
            <a:off x="10814372" y="1984074"/>
            <a:ext cx="138920" cy="173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9491EF32-BFC8-B4F2-050F-57DA024A0829}"/>
              </a:ext>
            </a:extLst>
          </p:cNvPr>
          <p:cNvSpPr txBox="1"/>
          <p:nvPr/>
        </p:nvSpPr>
        <p:spPr>
          <a:xfrm>
            <a:off x="7800331" y="3237988"/>
            <a:ext cx="4272894" cy="1469261"/>
          </a:xfrm>
          <a:prstGeom prst="rect">
            <a:avLst/>
          </a:prstGeom>
        </p:spPr>
        <p:txBody>
          <a:bodyPr vert="horz" wrap="square" lIns="0" tIns="20079" rIns="0" bIns="0" rtlCol="0">
            <a:spAutoFit/>
          </a:bodyPr>
          <a:lstStyle/>
          <a:p>
            <a:pPr marL="2486764" marR="0" lvl="0" indent="0" algn="l" defTabSz="1112093" rtl="0" eaLnBrk="1" fontAlgn="auto" latinLnBrk="0" hangingPunct="1">
              <a:lnSpc>
                <a:spcPct val="100000"/>
              </a:lnSpc>
              <a:spcBef>
                <a:spcPts val="158"/>
              </a:spcBef>
              <a:spcAft>
                <a:spcPts val="0"/>
              </a:spcAft>
              <a:buClrTx/>
              <a:buSzTx/>
              <a:buFontTx/>
              <a:buNone/>
              <a:tabLst>
                <a:tab pos="2994157" algn="l"/>
                <a:tab pos="3543253" algn="l"/>
                <a:tab pos="4091575" algn="l"/>
              </a:tabLst>
              <a:defRPr/>
            </a:pPr>
            <a:r>
              <a:rPr kumimoji="0" sz="1763" b="0" i="1" u="none" strike="noStrike" kern="1200" cap="none" spc="18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	</a:t>
            </a:r>
            <a:r>
              <a:rPr kumimoji="0" sz="1763" b="0" i="1" u="none" strike="noStrike" kern="1200" cap="none" spc="3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	</a:t>
            </a:r>
            <a:r>
              <a:rPr kumimoji="0" sz="1763" b="0" i="1" u="none" strike="noStrike" kern="1200" cap="none" spc="24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	O</a:t>
            </a:r>
            <a:endParaRPr kumimoji="0" sz="176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783871" lvl="0" indent="0" algn="l" defTabSz="1112093" rtl="0" eaLnBrk="1" fontAlgn="auto" latinLnBrk="0" hangingPunct="1">
              <a:lnSpc>
                <a:spcPct val="107400"/>
              </a:lnSpc>
              <a:spcBef>
                <a:spcPts val="13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maximum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branching factor 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shallowest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  </a:t>
            </a:r>
            <a:r>
              <a:rPr kumimoji="0" sz="2068" b="0" i="1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max.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 of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any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671181C8-0D0B-1A86-3A5D-FAD4A4EE6CD3}"/>
              </a:ext>
            </a:extLst>
          </p:cNvPr>
          <p:cNvSpPr/>
          <p:nvPr/>
        </p:nvSpPr>
        <p:spPr>
          <a:xfrm>
            <a:off x="1112049" y="6125585"/>
            <a:ext cx="11120494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6FAFBB50-B515-4D85-A145-605D8B87D6C7}"/>
              </a:ext>
            </a:extLst>
          </p:cNvPr>
          <p:cNvSpPr txBox="1"/>
          <p:nvPr/>
        </p:nvSpPr>
        <p:spPr>
          <a:xfrm>
            <a:off x="1050269" y="4988105"/>
            <a:ext cx="7266934" cy="2156689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deepest</a:t>
            </a:r>
            <a:r>
              <a:rPr kumimoji="0" sz="2493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696603" marR="0" lvl="1" indent="-253309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697375" algn="l"/>
              </a:tabLst>
              <a:defRPr/>
            </a:pPr>
            <a:r>
              <a:rPr kumimoji="0" sz="2493" b="0" i="1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pushdown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stack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56047" marR="0" lvl="1" indent="0" algn="l" defTabSz="1112093" rtl="0" eaLnBrk="1" fontAlgn="auto" latinLnBrk="0" hangingPunct="1">
              <a:lnSpc>
                <a:spcPct val="100000"/>
              </a:lnSpc>
              <a:spcBef>
                <a:spcPts val="18"/>
              </a:spcBef>
              <a:spcAft>
                <a:spcPts val="0"/>
              </a:spcAft>
              <a:buClrTx/>
              <a:buSzTx/>
              <a:buFont typeface="Arial"/>
              <a:buChar char="►"/>
              <a:tabLst/>
              <a:defRPr/>
            </a:pPr>
            <a:endParaRPr kumimoji="0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21624" lvl="0" indent="-399272" algn="l" defTabSz="1112093" rtl="0" eaLnBrk="1" fontAlgn="auto" latinLnBrk="0" hangingPunct="1">
              <a:lnSpc>
                <a:spcPct val="101200"/>
              </a:lnSpc>
              <a:spcBef>
                <a:spcPts val="6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Like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what </a:t>
            </a:r>
            <a:r>
              <a:rPr kumimoji="0" sz="2493" b="0" i="0" u="none" strike="noStrike" kern="1200" cap="none" spc="-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you’ve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seen in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previous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courses,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except  expanding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node generates all of its children at</a:t>
            </a:r>
            <a:r>
              <a:rPr kumimoji="0" sz="2493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once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6FDD0F7-D48F-D398-0B11-4BBCBEA0CEE1}"/>
              </a:ext>
            </a:extLst>
          </p:cNvPr>
          <p:cNvSpPr/>
          <p:nvPr/>
        </p:nvSpPr>
        <p:spPr>
          <a:xfrm>
            <a:off x="897467" y="4927598"/>
            <a:ext cx="4402666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F73B26E-F3E2-7414-A66A-569B396F82FD}"/>
              </a:ext>
            </a:extLst>
          </p:cNvPr>
          <p:cNvSpPr/>
          <p:nvPr/>
        </p:nvSpPr>
        <p:spPr>
          <a:xfrm>
            <a:off x="858416" y="5038531"/>
            <a:ext cx="11439331" cy="32470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Funny Dive GIFs | Tenor">
            <a:extLst>
              <a:ext uri="{FF2B5EF4-FFF2-40B4-BE49-F238E27FC236}">
                <a16:creationId xmlns:a16="http://schemas.microsoft.com/office/drawing/2014/main" id="{21ED619A-21ED-A6AE-5935-5753EB787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38" y="1699332"/>
            <a:ext cx="5968850" cy="553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58378A6C-E01F-C06D-5F0A-3ADCBC1EB8F8}"/>
              </a:ext>
            </a:extLst>
          </p:cNvPr>
          <p:cNvSpPr txBox="1"/>
          <p:nvPr/>
        </p:nvSpPr>
        <p:spPr>
          <a:xfrm>
            <a:off x="303870" y="7313138"/>
            <a:ext cx="829474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Deep dives along a path…</a:t>
            </a:r>
          </a:p>
        </p:txBody>
      </p:sp>
    </p:spTree>
    <p:extLst>
      <p:ext uri="{BB962C8B-B14F-4D97-AF65-F5344CB8AC3E}">
        <p14:creationId xmlns:p14="http://schemas.microsoft.com/office/powerpoint/2010/main" val="11800564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BBA18-0ECA-C867-6FFA-50897927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1D9F-F772-B8BF-E429-9A5695A91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Is this algorithm guaranteed to terminate?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6E4E7-43E5-8F90-A8BD-7F76461E6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4320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2920" y="550253"/>
            <a:ext cx="8548212" cy="728599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356024">
              <a:spcBef>
                <a:spcPts val="152"/>
              </a:spcBef>
            </a:pPr>
            <a:r>
              <a:rPr spc="-12" dirty="0"/>
              <a:t>Depth-first</a:t>
            </a:r>
            <a:r>
              <a:rPr spc="23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110" name="object 1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109" name="object 109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0545" y="3400697"/>
            <a:ext cx="1281174" cy="1621739"/>
          </a:xfrm>
          <a:custGeom>
            <a:avLst/>
            <a:gdLst/>
            <a:ahLst/>
            <a:cxnLst/>
            <a:rect l="l" t="t" r="r" b="b"/>
            <a:pathLst>
              <a:path w="1053465" h="1333500">
                <a:moveTo>
                  <a:pt x="0" y="0"/>
                </a:moveTo>
                <a:lnTo>
                  <a:pt x="1052961" y="1332936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06712" y="4756837"/>
            <a:ext cx="664913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Urziceni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80196" y="1853953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Neamt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72356" y="2204767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73412" y="2668585"/>
            <a:ext cx="40234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27255" y="3709023"/>
            <a:ext cx="800058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53965" y="4210434"/>
            <a:ext cx="47416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75633" y="4749455"/>
            <a:ext cx="6826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94852" y="5526667"/>
            <a:ext cx="62861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94771" y="2981951"/>
            <a:ext cx="4293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50616" y="3013294"/>
            <a:ext cx="65564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54724" y="4143227"/>
            <a:ext cx="519729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613617" y="3320432"/>
            <a:ext cx="366050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Vasl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162201" y="2480554"/>
            <a:ext cx="30272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Iasi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154885" y="2218551"/>
            <a:ext cx="884234" cy="383039"/>
          </a:xfrm>
          <a:custGeom>
            <a:avLst/>
            <a:gdLst/>
            <a:ahLst/>
            <a:cxnLst/>
            <a:rect l="l" t="t" r="r" b="b"/>
            <a:pathLst>
              <a:path w="727075" h="314960">
                <a:moveTo>
                  <a:pt x="726680" y="314380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844331" y="3490901"/>
            <a:ext cx="695803" cy="1234838"/>
          </a:xfrm>
          <a:custGeom>
            <a:avLst/>
            <a:gdLst/>
            <a:ahLst/>
            <a:cxnLst/>
            <a:rect l="l" t="t" r="r" b="b"/>
            <a:pathLst>
              <a:path w="572134" h="1015364">
                <a:moveTo>
                  <a:pt x="0" y="1015281"/>
                </a:moveTo>
                <a:lnTo>
                  <a:pt x="572071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038636" y="2638488"/>
            <a:ext cx="501967" cy="771484"/>
          </a:xfrm>
          <a:custGeom>
            <a:avLst/>
            <a:gdLst/>
            <a:ahLst/>
            <a:cxnLst/>
            <a:rect l="l" t="t" r="r" b="b"/>
            <a:pathLst>
              <a:path w="412750" h="634364">
                <a:moveTo>
                  <a:pt x="412299" y="633909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885078" y="4763243"/>
            <a:ext cx="925163" cy="0"/>
          </a:xfrm>
          <a:custGeom>
            <a:avLst/>
            <a:gdLst/>
            <a:ahLst/>
            <a:cxnLst/>
            <a:rect l="l" t="t" r="r" b="b"/>
            <a:pathLst>
              <a:path w="760729">
                <a:moveTo>
                  <a:pt x="0" y="0"/>
                </a:moveTo>
                <a:lnTo>
                  <a:pt x="760175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847170" y="4719370"/>
            <a:ext cx="155996" cy="305041"/>
          </a:xfrm>
          <a:custGeom>
            <a:avLst/>
            <a:gdLst/>
            <a:ahLst/>
            <a:cxnLst/>
            <a:rect l="l" t="t" r="r" b="b"/>
            <a:pathLst>
              <a:path w="128270" h="250825">
                <a:moveTo>
                  <a:pt x="0" y="0"/>
                </a:moveTo>
                <a:lnTo>
                  <a:pt x="128215" y="250331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73401" y="4763243"/>
            <a:ext cx="733644" cy="269518"/>
          </a:xfrm>
          <a:custGeom>
            <a:avLst/>
            <a:gdLst/>
            <a:ahLst/>
            <a:cxnLst/>
            <a:rect l="l" t="t" r="r" b="b"/>
            <a:pathLst>
              <a:path w="603250" h="221614">
                <a:moveTo>
                  <a:pt x="0" y="221612"/>
                </a:moveTo>
                <a:lnTo>
                  <a:pt x="60299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105082" y="5115102"/>
            <a:ext cx="82708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691083" y="5070362"/>
            <a:ext cx="383039" cy="771484"/>
          </a:xfrm>
          <a:custGeom>
            <a:avLst/>
            <a:gdLst/>
            <a:ahLst/>
            <a:cxnLst/>
            <a:rect l="l" t="t" r="r" b="b"/>
            <a:pathLst>
              <a:path w="314959" h="634364">
                <a:moveTo>
                  <a:pt x="314366" y="0"/>
                </a:moveTo>
                <a:lnTo>
                  <a:pt x="0" y="633909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995358" y="4487468"/>
            <a:ext cx="1041002" cy="545985"/>
          </a:xfrm>
          <a:custGeom>
            <a:avLst/>
            <a:gdLst/>
            <a:ahLst/>
            <a:cxnLst/>
            <a:rect l="l" t="t" r="r" b="b"/>
            <a:pathLst>
              <a:path w="855979" h="448945">
                <a:moveTo>
                  <a:pt x="0" y="0"/>
                </a:moveTo>
                <a:lnTo>
                  <a:pt x="855518" y="448373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074018" y="4531340"/>
            <a:ext cx="884234" cy="1078070"/>
          </a:xfrm>
          <a:custGeom>
            <a:avLst/>
            <a:gdLst/>
            <a:ahLst/>
            <a:cxnLst/>
            <a:rect l="l" t="t" r="r" b="b"/>
            <a:pathLst>
              <a:path w="727075" h="886460">
                <a:moveTo>
                  <a:pt x="0" y="886437"/>
                </a:moveTo>
                <a:lnTo>
                  <a:pt x="726666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798230" y="3948439"/>
            <a:ext cx="1122089" cy="539035"/>
          </a:xfrm>
          <a:custGeom>
            <a:avLst/>
            <a:gdLst/>
            <a:ahLst/>
            <a:cxnLst/>
            <a:rect l="l" t="t" r="r" b="b"/>
            <a:pathLst>
              <a:path w="922654" h="443229">
                <a:moveTo>
                  <a:pt x="0" y="0"/>
                </a:moveTo>
                <a:lnTo>
                  <a:pt x="922505" y="443224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459777" y="3296594"/>
            <a:ext cx="1304341" cy="75681"/>
          </a:xfrm>
          <a:custGeom>
            <a:avLst/>
            <a:gdLst/>
            <a:ahLst/>
            <a:cxnLst/>
            <a:rect l="l" t="t" r="r" b="b"/>
            <a:pathLst>
              <a:path w="1072515" h="62230">
                <a:moveTo>
                  <a:pt x="0" y="0"/>
                </a:moveTo>
                <a:lnTo>
                  <a:pt x="1071966" y="61851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04491" y="3986057"/>
            <a:ext cx="226271" cy="1586215"/>
          </a:xfrm>
          <a:custGeom>
            <a:avLst/>
            <a:gdLst/>
            <a:ahLst/>
            <a:cxnLst/>
            <a:rect l="l" t="t" r="r" b="b"/>
            <a:pathLst>
              <a:path w="186054" h="1304289">
                <a:moveTo>
                  <a:pt x="185541" y="1303883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876873" y="5452689"/>
            <a:ext cx="1153751" cy="119700"/>
          </a:xfrm>
          <a:custGeom>
            <a:avLst/>
            <a:gdLst/>
            <a:ahLst/>
            <a:cxnLst/>
            <a:rect l="l" t="t" r="r" b="b"/>
            <a:pathLst>
              <a:path w="948690" h="98425">
                <a:moveTo>
                  <a:pt x="0" y="0"/>
                </a:moveTo>
                <a:lnTo>
                  <a:pt x="948289" y="97923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858070" y="4906558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43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440974" y="3296595"/>
            <a:ext cx="319714" cy="576876"/>
          </a:xfrm>
          <a:custGeom>
            <a:avLst/>
            <a:gdLst/>
            <a:ahLst/>
            <a:cxnLst/>
            <a:rect l="l" t="t" r="r" b="b"/>
            <a:pathLst>
              <a:path w="262890" h="474344">
                <a:moveTo>
                  <a:pt x="262839" y="474151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74047" y="2795175"/>
            <a:ext cx="1542196" cy="464126"/>
          </a:xfrm>
          <a:custGeom>
            <a:avLst/>
            <a:gdLst/>
            <a:ahLst/>
            <a:cxnLst/>
            <a:rect l="l" t="t" r="r" b="b"/>
            <a:pathLst>
              <a:path w="1268095" h="381635">
                <a:moveTo>
                  <a:pt x="0" y="0"/>
                </a:moveTo>
                <a:lnTo>
                  <a:pt x="1267809" y="38138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413063" y="1754750"/>
            <a:ext cx="1003161" cy="1504356"/>
          </a:xfrm>
          <a:custGeom>
            <a:avLst/>
            <a:gdLst/>
            <a:ahLst/>
            <a:cxnLst/>
            <a:rect l="l" t="t" r="r" b="b"/>
            <a:pathLst>
              <a:path w="824865" h="1236980">
                <a:moveTo>
                  <a:pt x="824595" y="1236886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858077" y="4415396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37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911657" y="3948440"/>
            <a:ext cx="928252" cy="389217"/>
          </a:xfrm>
          <a:custGeom>
            <a:avLst/>
            <a:gdLst/>
            <a:ahLst/>
            <a:cxnLst/>
            <a:rect l="l" t="t" r="r" b="b"/>
            <a:pathLst>
              <a:path w="763270" h="320039">
                <a:moveTo>
                  <a:pt x="0" y="0"/>
                </a:moveTo>
                <a:lnTo>
                  <a:pt x="762747" y="319534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855243" y="2873527"/>
            <a:ext cx="0" cy="1044863"/>
          </a:xfrm>
          <a:custGeom>
            <a:avLst/>
            <a:gdLst/>
            <a:ahLst/>
            <a:cxnLst/>
            <a:rect l="l" t="t" r="r" b="b"/>
            <a:pathLst>
              <a:path h="859155">
                <a:moveTo>
                  <a:pt x="0" y="0"/>
                </a:moveTo>
                <a:lnTo>
                  <a:pt x="0" y="858790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836441" y="2256153"/>
            <a:ext cx="232449" cy="539035"/>
          </a:xfrm>
          <a:custGeom>
            <a:avLst/>
            <a:gdLst/>
            <a:ahLst/>
            <a:cxnLst/>
            <a:rect l="l" t="t" r="r" b="b"/>
            <a:pathLst>
              <a:path w="191135" h="443230">
                <a:moveTo>
                  <a:pt x="190691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068351" y="1717131"/>
            <a:ext cx="307357" cy="539035"/>
          </a:xfrm>
          <a:custGeom>
            <a:avLst/>
            <a:gdLst/>
            <a:ahLst/>
            <a:cxnLst/>
            <a:rect l="l" t="t" r="r" b="b"/>
            <a:pathLst>
              <a:path w="252729" h="443230">
                <a:moveTo>
                  <a:pt x="252527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989389" y="55341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989389" y="55341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723026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723025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647203" y="576295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647203" y="576295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769127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769127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9917023" y="445300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9917023" y="445300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073401" y="214336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1073401" y="214336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9725848" y="333421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9725848" y="333421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839262" y="483219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839262" y="483219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798521" y="537434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798521" y="537434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798521" y="429944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798521" y="429944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795700" y="275757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795700" y="275757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833297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833297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7030735" y="221543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030735" y="221543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334722" y="167640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7334722" y="167640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8378293" y="3221408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378293" y="3221410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2809568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2809568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2478441" y="33989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2478441" y="33989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11994758" y="256017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1994758" y="256017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0998181" y="499201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0998180" y="499201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028184" y="1590543"/>
            <a:ext cx="1043319" cy="400317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466461" marR="0" lvl="0" indent="0" algn="l" defTabSz="1112093" rtl="0" eaLnBrk="1" fontAlgn="auto" latinLnBrk="0" hangingPunct="1">
              <a:lnSpc>
                <a:spcPts val="1453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ts val="14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739193" y="2348444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553301" y="3243221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146211" y="4117105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638991" y="4482849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108960" y="4943798"/>
            <a:ext cx="719743" cy="561237"/>
          </a:xfrm>
          <a:prstGeom prst="rect">
            <a:avLst/>
          </a:prstGeom>
        </p:spPr>
        <p:txBody>
          <a:bodyPr vert="horz" wrap="square" lIns="0" tIns="90354" rIns="0" bIns="0" rtlCol="0">
            <a:spAutoFit/>
          </a:bodyPr>
          <a:lstStyle/>
          <a:p>
            <a:pPr marL="0" marR="6178" lvl="0" indent="0" algn="r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5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308094" y="5248844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120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947665" y="2277128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151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496697" y="274707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100544" y="3083044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99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656563" y="3434247"/>
            <a:ext cx="1315925" cy="409432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41329" marR="0" lvl="0" indent="0" algn="l" defTabSz="1112093" rtl="0" eaLnBrk="1" fontAlgn="auto" latinLnBrk="0" hangingPunct="1">
              <a:lnSpc>
                <a:spcPct val="100000"/>
              </a:lnSpc>
              <a:spcBef>
                <a:spcPts val="3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1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208372" y="4226469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0234263" y="4730855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101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0507284" y="407790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211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9511039" y="502724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138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8964054" y="467969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146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1308759" y="4661025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0789774" y="5321572"/>
            <a:ext cx="610083" cy="566696"/>
          </a:xfrm>
          <a:prstGeom prst="rect">
            <a:avLst/>
          </a:prstGeom>
        </p:spPr>
        <p:txBody>
          <a:bodyPr vert="horz" wrap="square" lIns="0" tIns="95760" rIns="0" bIns="0" rtlCol="0">
            <a:spAutoFit/>
          </a:bodyPr>
          <a:lstStyle/>
          <a:p>
            <a:pPr marL="134377" marR="0" lvl="0" indent="0" algn="l" defTabSz="1112093" rtl="0" eaLnBrk="1" fontAlgn="auto" latinLnBrk="0" hangingPunct="1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Giurgiu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2295969" y="4502877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2248831" y="398404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142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2357041" y="2858513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92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1590343" y="2164910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44059" y="2705939"/>
            <a:ext cx="219321" cy="219321"/>
          </a:xfrm>
          <a:custGeom>
            <a:avLst/>
            <a:gdLst/>
            <a:ahLst/>
            <a:cxnLst/>
            <a:rect l="l" t="t" r="r" b="b"/>
            <a:pathLst>
              <a:path w="180339" h="180339">
                <a:moveTo>
                  <a:pt x="180260" y="90129"/>
                </a:moveTo>
                <a:lnTo>
                  <a:pt x="173177" y="55047"/>
                </a:lnTo>
                <a:lnTo>
                  <a:pt x="153861" y="26398"/>
                </a:lnTo>
                <a:lnTo>
                  <a:pt x="125212" y="7083"/>
                </a:lnTo>
                <a:lnTo>
                  <a:pt x="90130" y="0"/>
                </a:lnTo>
                <a:lnTo>
                  <a:pt x="55048" y="7083"/>
                </a:lnTo>
                <a:lnTo>
                  <a:pt x="26399" y="26398"/>
                </a:lnTo>
                <a:lnTo>
                  <a:pt x="7083" y="55047"/>
                </a:lnTo>
                <a:lnTo>
                  <a:pt x="0" y="90129"/>
                </a:lnTo>
                <a:lnTo>
                  <a:pt x="7083" y="125210"/>
                </a:lnTo>
                <a:lnTo>
                  <a:pt x="26399" y="153859"/>
                </a:lnTo>
                <a:lnTo>
                  <a:pt x="55048" y="173175"/>
                </a:lnTo>
                <a:lnTo>
                  <a:pt x="90130" y="180258"/>
                </a:lnTo>
                <a:lnTo>
                  <a:pt x="125212" y="173175"/>
                </a:lnTo>
                <a:lnTo>
                  <a:pt x="153861" y="153859"/>
                </a:lnTo>
                <a:lnTo>
                  <a:pt x="173177" y="125210"/>
                </a:lnTo>
                <a:lnTo>
                  <a:pt x="180260" y="90129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10946564" y="4940380"/>
            <a:ext cx="219321" cy="219321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80258" y="90130"/>
                </a:moveTo>
                <a:lnTo>
                  <a:pt x="173175" y="55049"/>
                </a:lnTo>
                <a:lnTo>
                  <a:pt x="153859" y="26400"/>
                </a:lnTo>
                <a:lnTo>
                  <a:pt x="125210" y="7083"/>
                </a:lnTo>
                <a:lnTo>
                  <a:pt x="90129" y="0"/>
                </a:lnTo>
                <a:lnTo>
                  <a:pt x="55047" y="7083"/>
                </a:lnTo>
                <a:lnTo>
                  <a:pt x="26398" y="26400"/>
                </a:lnTo>
                <a:lnTo>
                  <a:pt x="7083" y="55049"/>
                </a:lnTo>
                <a:lnTo>
                  <a:pt x="0" y="90130"/>
                </a:lnTo>
                <a:lnTo>
                  <a:pt x="7083" y="125212"/>
                </a:lnTo>
                <a:lnTo>
                  <a:pt x="26398" y="153861"/>
                </a:lnTo>
                <a:lnTo>
                  <a:pt x="55047" y="173177"/>
                </a:lnTo>
                <a:lnTo>
                  <a:pt x="90129" y="180260"/>
                </a:lnTo>
                <a:lnTo>
                  <a:pt x="125210" y="173177"/>
                </a:lnTo>
                <a:lnTo>
                  <a:pt x="153859" y="153861"/>
                </a:lnTo>
                <a:lnTo>
                  <a:pt x="173175" y="125212"/>
                </a:lnTo>
                <a:lnTo>
                  <a:pt x="180258" y="90130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10911207" y="4905031"/>
            <a:ext cx="290368" cy="290368"/>
          </a:xfrm>
          <a:custGeom>
            <a:avLst/>
            <a:gdLst/>
            <a:ahLst/>
            <a:cxnLst/>
            <a:rect l="l" t="t" r="r" b="b"/>
            <a:pathLst>
              <a:path w="238759" h="238760">
                <a:moveTo>
                  <a:pt x="238389" y="119197"/>
                </a:moveTo>
                <a:lnTo>
                  <a:pt x="229023" y="72801"/>
                </a:lnTo>
                <a:lnTo>
                  <a:pt x="203481" y="34913"/>
                </a:lnTo>
                <a:lnTo>
                  <a:pt x="165595" y="9367"/>
                </a:lnTo>
                <a:lnTo>
                  <a:pt x="119201" y="0"/>
                </a:lnTo>
                <a:lnTo>
                  <a:pt x="72805" y="9367"/>
                </a:lnTo>
                <a:lnTo>
                  <a:pt x="34915" y="34913"/>
                </a:lnTo>
                <a:lnTo>
                  <a:pt x="9368" y="72801"/>
                </a:lnTo>
                <a:lnTo>
                  <a:pt x="0" y="119197"/>
                </a:lnTo>
                <a:lnTo>
                  <a:pt x="9368" y="165593"/>
                </a:lnTo>
                <a:lnTo>
                  <a:pt x="34915" y="203482"/>
                </a:lnTo>
                <a:lnTo>
                  <a:pt x="72805" y="229028"/>
                </a:lnTo>
                <a:lnTo>
                  <a:pt x="119201" y="238396"/>
                </a:lnTo>
                <a:lnTo>
                  <a:pt x="165595" y="229028"/>
                </a:lnTo>
                <a:lnTo>
                  <a:pt x="203481" y="203482"/>
                </a:lnTo>
                <a:lnTo>
                  <a:pt x="229023" y="165593"/>
                </a:lnTo>
                <a:lnTo>
                  <a:pt x="238389" y="119197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065715" y="4972506"/>
            <a:ext cx="4337765" cy="963862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44837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45610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deepest</a:t>
            </a:r>
            <a:r>
              <a:rPr kumimoji="0" sz="2493" b="0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681157" marR="0" lvl="1" indent="-253309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681929" algn="l"/>
              </a:tabLst>
              <a:defRPr/>
            </a:pPr>
            <a:r>
              <a:rPr kumimoji="0" sz="2493" b="0" i="1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pushdown</a:t>
            </a:r>
            <a:r>
              <a:rPr kumimoji="0" sz="2493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stack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1112049" y="6110000"/>
            <a:ext cx="11120494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096605" y="6335508"/>
            <a:ext cx="7391267" cy="1168827"/>
          </a:xfrm>
          <a:prstGeom prst="rect">
            <a:avLst/>
          </a:prstGeom>
        </p:spPr>
        <p:txBody>
          <a:bodyPr vert="horz" wrap="square" lIns="0" tIns="1776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93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Poll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: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On the </a:t>
            </a:r>
            <a:r>
              <a:rPr kumimoji="0" sz="2493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above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graph, is this guaranteed to</a:t>
            </a:r>
            <a:r>
              <a:rPr kumimoji="0" sz="2493" b="0" i="0" u="none" strike="noStrike" kern="1200" cap="none" spc="1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terminate?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991617" marR="0" lvl="0" indent="-339034" algn="l" defTabSz="1112093" rtl="0" eaLnBrk="1" fontAlgn="auto" latinLnBrk="0" hangingPunct="1">
              <a:lnSpc>
                <a:spcPct val="100000"/>
              </a:lnSpc>
              <a:spcBef>
                <a:spcPts val="36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992389" algn="l"/>
              </a:tabLst>
              <a:defRPr/>
            </a:pPr>
            <a:r>
              <a:rPr kumimoji="0" sz="2493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Yes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991617" marR="0" lvl="0" indent="-339034" algn="l" defTabSz="1112093" rtl="0" eaLnBrk="1" fontAlgn="auto" latinLnBrk="0" hangingPunct="1">
              <a:lnSpc>
                <a:spcPct val="100000"/>
              </a:lnSpc>
              <a:spcBef>
                <a:spcPts val="36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992389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EF7A1DB1-1AC9-9CDE-2BD2-B73B2C194B90}"/>
                  </a:ext>
                </a:extLst>
              </p14:cNvPr>
              <p14:cNvContentPartPr/>
              <p14:nvPr/>
            </p14:nvContentPartPr>
            <p14:xfrm>
              <a:off x="991212" y="1713350"/>
              <a:ext cx="853200" cy="322164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EF7A1DB1-1AC9-9CDE-2BD2-B73B2C194B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3572" y="1695710"/>
                <a:ext cx="888840" cy="325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29F6B00-EAFC-1786-4EDF-F910710C46C6}"/>
              </a:ext>
            </a:extLst>
          </p:cNvPr>
          <p:cNvGrpSpPr/>
          <p:nvPr/>
        </p:nvGrpSpPr>
        <p:grpSpPr>
          <a:xfrm>
            <a:off x="441852" y="3091790"/>
            <a:ext cx="508680" cy="3565800"/>
            <a:chOff x="441852" y="3091790"/>
            <a:chExt cx="508680" cy="356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65AF92F-47EA-AE13-D832-546B7C5A9F95}"/>
                    </a:ext>
                  </a:extLst>
                </p14:cNvPr>
                <p14:cNvContentPartPr/>
                <p14:nvPr/>
              </p14:nvContentPartPr>
              <p14:xfrm>
                <a:off x="441852" y="3218870"/>
                <a:ext cx="508680" cy="3438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65AF92F-47EA-AE13-D832-546B7C5A9F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3852" y="3201230"/>
                  <a:ext cx="544320" cy="347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8C98AB5-B997-BF21-FA50-CD5C7CA17B40}"/>
                    </a:ext>
                  </a:extLst>
                </p14:cNvPr>
                <p14:cNvContentPartPr/>
                <p14:nvPr/>
              </p14:nvContentPartPr>
              <p14:xfrm>
                <a:off x="600612" y="3091790"/>
                <a:ext cx="247320" cy="419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8C98AB5-B997-BF21-FA50-CD5C7CA17B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2612" y="3073790"/>
                  <a:ext cx="282960" cy="455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162253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0759" y="445275"/>
            <a:ext cx="5034463" cy="571633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356024">
              <a:spcBef>
                <a:spcPts val="152"/>
              </a:spcBef>
            </a:pPr>
            <a:r>
              <a:rPr spc="-12" dirty="0"/>
              <a:t>Depth-first</a:t>
            </a:r>
            <a:r>
              <a:rPr spc="23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113" name="object 1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112" name="object 112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0545" y="3400697"/>
            <a:ext cx="1281174" cy="1621739"/>
          </a:xfrm>
          <a:custGeom>
            <a:avLst/>
            <a:gdLst/>
            <a:ahLst/>
            <a:cxnLst/>
            <a:rect l="l" t="t" r="r" b="b"/>
            <a:pathLst>
              <a:path w="1053465" h="1333500">
                <a:moveTo>
                  <a:pt x="0" y="0"/>
                </a:moveTo>
                <a:lnTo>
                  <a:pt x="1052961" y="1332936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06712" y="4756837"/>
            <a:ext cx="664913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Urziceni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80196" y="1853953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Neamt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72356" y="2204767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73412" y="2668585"/>
            <a:ext cx="40234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27255" y="3709023"/>
            <a:ext cx="800058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53965" y="4210434"/>
            <a:ext cx="47416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75633" y="4749455"/>
            <a:ext cx="6826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94852" y="5526667"/>
            <a:ext cx="62861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94771" y="2981951"/>
            <a:ext cx="4293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50616" y="3013294"/>
            <a:ext cx="65564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54724" y="4143227"/>
            <a:ext cx="519729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613617" y="3320432"/>
            <a:ext cx="366050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Vasl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162201" y="2480554"/>
            <a:ext cx="30272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Iasi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154885" y="2218551"/>
            <a:ext cx="884234" cy="383039"/>
          </a:xfrm>
          <a:custGeom>
            <a:avLst/>
            <a:gdLst/>
            <a:ahLst/>
            <a:cxnLst/>
            <a:rect l="l" t="t" r="r" b="b"/>
            <a:pathLst>
              <a:path w="727075" h="314960">
                <a:moveTo>
                  <a:pt x="726680" y="314380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844331" y="3490901"/>
            <a:ext cx="695803" cy="1234838"/>
          </a:xfrm>
          <a:custGeom>
            <a:avLst/>
            <a:gdLst/>
            <a:ahLst/>
            <a:cxnLst/>
            <a:rect l="l" t="t" r="r" b="b"/>
            <a:pathLst>
              <a:path w="572134" h="1015364">
                <a:moveTo>
                  <a:pt x="0" y="1015281"/>
                </a:moveTo>
                <a:lnTo>
                  <a:pt x="572071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038636" y="2638488"/>
            <a:ext cx="501967" cy="771484"/>
          </a:xfrm>
          <a:custGeom>
            <a:avLst/>
            <a:gdLst/>
            <a:ahLst/>
            <a:cxnLst/>
            <a:rect l="l" t="t" r="r" b="b"/>
            <a:pathLst>
              <a:path w="412750" h="634364">
                <a:moveTo>
                  <a:pt x="412299" y="633909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885078" y="4763243"/>
            <a:ext cx="925163" cy="0"/>
          </a:xfrm>
          <a:custGeom>
            <a:avLst/>
            <a:gdLst/>
            <a:ahLst/>
            <a:cxnLst/>
            <a:rect l="l" t="t" r="r" b="b"/>
            <a:pathLst>
              <a:path w="760729">
                <a:moveTo>
                  <a:pt x="0" y="0"/>
                </a:moveTo>
                <a:lnTo>
                  <a:pt x="760175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847170" y="4719370"/>
            <a:ext cx="155996" cy="305041"/>
          </a:xfrm>
          <a:custGeom>
            <a:avLst/>
            <a:gdLst/>
            <a:ahLst/>
            <a:cxnLst/>
            <a:rect l="l" t="t" r="r" b="b"/>
            <a:pathLst>
              <a:path w="128270" h="250825">
                <a:moveTo>
                  <a:pt x="0" y="0"/>
                </a:moveTo>
                <a:lnTo>
                  <a:pt x="128215" y="250331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73401" y="4763243"/>
            <a:ext cx="733644" cy="269518"/>
          </a:xfrm>
          <a:custGeom>
            <a:avLst/>
            <a:gdLst/>
            <a:ahLst/>
            <a:cxnLst/>
            <a:rect l="l" t="t" r="r" b="b"/>
            <a:pathLst>
              <a:path w="603250" h="221614">
                <a:moveTo>
                  <a:pt x="0" y="221612"/>
                </a:moveTo>
                <a:lnTo>
                  <a:pt x="60299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105082" y="5115102"/>
            <a:ext cx="82708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691083" y="5070362"/>
            <a:ext cx="383039" cy="771484"/>
          </a:xfrm>
          <a:custGeom>
            <a:avLst/>
            <a:gdLst/>
            <a:ahLst/>
            <a:cxnLst/>
            <a:rect l="l" t="t" r="r" b="b"/>
            <a:pathLst>
              <a:path w="314959" h="634364">
                <a:moveTo>
                  <a:pt x="314366" y="0"/>
                </a:moveTo>
                <a:lnTo>
                  <a:pt x="0" y="633909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995358" y="4487468"/>
            <a:ext cx="1041002" cy="545985"/>
          </a:xfrm>
          <a:custGeom>
            <a:avLst/>
            <a:gdLst/>
            <a:ahLst/>
            <a:cxnLst/>
            <a:rect l="l" t="t" r="r" b="b"/>
            <a:pathLst>
              <a:path w="855979" h="448945">
                <a:moveTo>
                  <a:pt x="0" y="0"/>
                </a:moveTo>
                <a:lnTo>
                  <a:pt x="855518" y="448373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074018" y="4531340"/>
            <a:ext cx="884234" cy="1078070"/>
          </a:xfrm>
          <a:custGeom>
            <a:avLst/>
            <a:gdLst/>
            <a:ahLst/>
            <a:cxnLst/>
            <a:rect l="l" t="t" r="r" b="b"/>
            <a:pathLst>
              <a:path w="727075" h="886460">
                <a:moveTo>
                  <a:pt x="0" y="886437"/>
                </a:moveTo>
                <a:lnTo>
                  <a:pt x="726666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798230" y="3948439"/>
            <a:ext cx="1122089" cy="539035"/>
          </a:xfrm>
          <a:custGeom>
            <a:avLst/>
            <a:gdLst/>
            <a:ahLst/>
            <a:cxnLst/>
            <a:rect l="l" t="t" r="r" b="b"/>
            <a:pathLst>
              <a:path w="922654" h="443229">
                <a:moveTo>
                  <a:pt x="0" y="0"/>
                </a:moveTo>
                <a:lnTo>
                  <a:pt x="922505" y="443224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459777" y="3296594"/>
            <a:ext cx="1304341" cy="75681"/>
          </a:xfrm>
          <a:custGeom>
            <a:avLst/>
            <a:gdLst/>
            <a:ahLst/>
            <a:cxnLst/>
            <a:rect l="l" t="t" r="r" b="b"/>
            <a:pathLst>
              <a:path w="1072515" h="62230">
                <a:moveTo>
                  <a:pt x="0" y="0"/>
                </a:moveTo>
                <a:lnTo>
                  <a:pt x="1071966" y="61851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04491" y="3986057"/>
            <a:ext cx="226271" cy="1586215"/>
          </a:xfrm>
          <a:custGeom>
            <a:avLst/>
            <a:gdLst/>
            <a:ahLst/>
            <a:cxnLst/>
            <a:rect l="l" t="t" r="r" b="b"/>
            <a:pathLst>
              <a:path w="186054" h="1304289">
                <a:moveTo>
                  <a:pt x="185541" y="1303883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876873" y="5452689"/>
            <a:ext cx="1153751" cy="119700"/>
          </a:xfrm>
          <a:custGeom>
            <a:avLst/>
            <a:gdLst/>
            <a:ahLst/>
            <a:cxnLst/>
            <a:rect l="l" t="t" r="r" b="b"/>
            <a:pathLst>
              <a:path w="948690" h="98425">
                <a:moveTo>
                  <a:pt x="0" y="0"/>
                </a:moveTo>
                <a:lnTo>
                  <a:pt x="948289" y="97923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858070" y="4906558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43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440974" y="3296595"/>
            <a:ext cx="319714" cy="576876"/>
          </a:xfrm>
          <a:custGeom>
            <a:avLst/>
            <a:gdLst/>
            <a:ahLst/>
            <a:cxnLst/>
            <a:rect l="l" t="t" r="r" b="b"/>
            <a:pathLst>
              <a:path w="262890" h="474344">
                <a:moveTo>
                  <a:pt x="262839" y="474151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74047" y="2795175"/>
            <a:ext cx="1542196" cy="464126"/>
          </a:xfrm>
          <a:custGeom>
            <a:avLst/>
            <a:gdLst/>
            <a:ahLst/>
            <a:cxnLst/>
            <a:rect l="l" t="t" r="r" b="b"/>
            <a:pathLst>
              <a:path w="1268095" h="381635">
                <a:moveTo>
                  <a:pt x="0" y="0"/>
                </a:moveTo>
                <a:lnTo>
                  <a:pt x="1267809" y="38138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413063" y="1754750"/>
            <a:ext cx="1003161" cy="1504356"/>
          </a:xfrm>
          <a:custGeom>
            <a:avLst/>
            <a:gdLst/>
            <a:ahLst/>
            <a:cxnLst/>
            <a:rect l="l" t="t" r="r" b="b"/>
            <a:pathLst>
              <a:path w="824865" h="1236980">
                <a:moveTo>
                  <a:pt x="824595" y="1236886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858077" y="4415396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37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911657" y="3948440"/>
            <a:ext cx="928252" cy="389217"/>
          </a:xfrm>
          <a:custGeom>
            <a:avLst/>
            <a:gdLst/>
            <a:ahLst/>
            <a:cxnLst/>
            <a:rect l="l" t="t" r="r" b="b"/>
            <a:pathLst>
              <a:path w="763270" h="320039">
                <a:moveTo>
                  <a:pt x="0" y="0"/>
                </a:moveTo>
                <a:lnTo>
                  <a:pt x="762747" y="319534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855243" y="2873527"/>
            <a:ext cx="0" cy="1044863"/>
          </a:xfrm>
          <a:custGeom>
            <a:avLst/>
            <a:gdLst/>
            <a:ahLst/>
            <a:cxnLst/>
            <a:rect l="l" t="t" r="r" b="b"/>
            <a:pathLst>
              <a:path h="859155">
                <a:moveTo>
                  <a:pt x="0" y="0"/>
                </a:moveTo>
                <a:lnTo>
                  <a:pt x="0" y="858790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836441" y="2256153"/>
            <a:ext cx="232449" cy="539035"/>
          </a:xfrm>
          <a:custGeom>
            <a:avLst/>
            <a:gdLst/>
            <a:ahLst/>
            <a:cxnLst/>
            <a:rect l="l" t="t" r="r" b="b"/>
            <a:pathLst>
              <a:path w="191135" h="443230">
                <a:moveTo>
                  <a:pt x="190691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068351" y="1717131"/>
            <a:ext cx="307357" cy="539035"/>
          </a:xfrm>
          <a:custGeom>
            <a:avLst/>
            <a:gdLst/>
            <a:ahLst/>
            <a:cxnLst/>
            <a:rect l="l" t="t" r="r" b="b"/>
            <a:pathLst>
              <a:path w="252729" h="443230">
                <a:moveTo>
                  <a:pt x="252527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989389" y="55341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989389" y="55341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723026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723025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647203" y="576295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647203" y="576295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769127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769127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9917023" y="445300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9917023" y="445300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073401" y="214336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1073401" y="214336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9725848" y="333421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9725848" y="333421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839262" y="483219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839262" y="483219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798521" y="537434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798521" y="537434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798521" y="429944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798521" y="429944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795700" y="275757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795700" y="275757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833297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833297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7030735" y="221543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030735" y="221543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334722" y="167640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7334722" y="167640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8378293" y="3221408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378293" y="3221410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2809568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2809568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2478441" y="33989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2478441" y="33989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11994758" y="256017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1994758" y="256017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0998181" y="499201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0998180" y="499201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028184" y="1590543"/>
            <a:ext cx="1043319" cy="400317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466461" marR="0" lvl="0" indent="0" algn="l" defTabSz="1112093" rtl="0" eaLnBrk="1" fontAlgn="auto" latinLnBrk="0" hangingPunct="1">
              <a:lnSpc>
                <a:spcPts val="1453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ts val="14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739193" y="2348444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553301" y="3243221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146211" y="4117105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638991" y="4482849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108960" y="4943798"/>
            <a:ext cx="719743" cy="561237"/>
          </a:xfrm>
          <a:prstGeom prst="rect">
            <a:avLst/>
          </a:prstGeom>
        </p:spPr>
        <p:txBody>
          <a:bodyPr vert="horz" wrap="square" lIns="0" tIns="90354" rIns="0" bIns="0" rtlCol="0">
            <a:spAutoFit/>
          </a:bodyPr>
          <a:lstStyle/>
          <a:p>
            <a:pPr marL="0" marR="6178" lvl="0" indent="0" algn="r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5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308094" y="5248844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120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947665" y="2277128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151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496697" y="274707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100544" y="3083044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99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656563" y="3434247"/>
            <a:ext cx="1315925" cy="409432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41329" marR="0" lvl="0" indent="0" algn="l" defTabSz="1112093" rtl="0" eaLnBrk="1" fontAlgn="auto" latinLnBrk="0" hangingPunct="1">
              <a:lnSpc>
                <a:spcPct val="100000"/>
              </a:lnSpc>
              <a:spcBef>
                <a:spcPts val="3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1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208372" y="4226469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0234263" y="4730855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101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0507284" y="407790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211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9511039" y="502724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138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8964054" y="467969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146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1308759" y="4661025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0789774" y="5321572"/>
            <a:ext cx="610083" cy="566696"/>
          </a:xfrm>
          <a:prstGeom prst="rect">
            <a:avLst/>
          </a:prstGeom>
        </p:spPr>
        <p:txBody>
          <a:bodyPr vert="horz" wrap="square" lIns="0" tIns="95760" rIns="0" bIns="0" rtlCol="0">
            <a:spAutoFit/>
          </a:bodyPr>
          <a:lstStyle/>
          <a:p>
            <a:pPr marL="134377" marR="0" lvl="0" indent="0" algn="l" defTabSz="1112093" rtl="0" eaLnBrk="1" fontAlgn="auto" latinLnBrk="0" hangingPunct="1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Giurgiu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2295969" y="4502877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2248831" y="398404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142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2357041" y="2858513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92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1590343" y="2164910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44059" y="2705939"/>
            <a:ext cx="219321" cy="219321"/>
          </a:xfrm>
          <a:custGeom>
            <a:avLst/>
            <a:gdLst/>
            <a:ahLst/>
            <a:cxnLst/>
            <a:rect l="l" t="t" r="r" b="b"/>
            <a:pathLst>
              <a:path w="180339" h="180339">
                <a:moveTo>
                  <a:pt x="180260" y="90129"/>
                </a:moveTo>
                <a:lnTo>
                  <a:pt x="173177" y="55047"/>
                </a:lnTo>
                <a:lnTo>
                  <a:pt x="153861" y="26398"/>
                </a:lnTo>
                <a:lnTo>
                  <a:pt x="125212" y="7083"/>
                </a:lnTo>
                <a:lnTo>
                  <a:pt x="90130" y="0"/>
                </a:lnTo>
                <a:lnTo>
                  <a:pt x="55048" y="7083"/>
                </a:lnTo>
                <a:lnTo>
                  <a:pt x="26399" y="26398"/>
                </a:lnTo>
                <a:lnTo>
                  <a:pt x="7083" y="55047"/>
                </a:lnTo>
                <a:lnTo>
                  <a:pt x="0" y="90129"/>
                </a:lnTo>
                <a:lnTo>
                  <a:pt x="7083" y="125210"/>
                </a:lnTo>
                <a:lnTo>
                  <a:pt x="26399" y="153859"/>
                </a:lnTo>
                <a:lnTo>
                  <a:pt x="55048" y="173175"/>
                </a:lnTo>
                <a:lnTo>
                  <a:pt x="90130" y="180258"/>
                </a:lnTo>
                <a:lnTo>
                  <a:pt x="125212" y="173175"/>
                </a:lnTo>
                <a:lnTo>
                  <a:pt x="153861" y="153859"/>
                </a:lnTo>
                <a:lnTo>
                  <a:pt x="173177" y="125210"/>
                </a:lnTo>
                <a:lnTo>
                  <a:pt x="180260" y="90129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10946564" y="4940380"/>
            <a:ext cx="219321" cy="219321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80258" y="90130"/>
                </a:moveTo>
                <a:lnTo>
                  <a:pt x="173175" y="55049"/>
                </a:lnTo>
                <a:lnTo>
                  <a:pt x="153859" y="26400"/>
                </a:lnTo>
                <a:lnTo>
                  <a:pt x="125210" y="7083"/>
                </a:lnTo>
                <a:lnTo>
                  <a:pt x="90129" y="0"/>
                </a:lnTo>
                <a:lnTo>
                  <a:pt x="55047" y="7083"/>
                </a:lnTo>
                <a:lnTo>
                  <a:pt x="26398" y="26400"/>
                </a:lnTo>
                <a:lnTo>
                  <a:pt x="7083" y="55049"/>
                </a:lnTo>
                <a:lnTo>
                  <a:pt x="0" y="90130"/>
                </a:lnTo>
                <a:lnTo>
                  <a:pt x="7083" y="125212"/>
                </a:lnTo>
                <a:lnTo>
                  <a:pt x="26398" y="153861"/>
                </a:lnTo>
                <a:lnTo>
                  <a:pt x="55047" y="173177"/>
                </a:lnTo>
                <a:lnTo>
                  <a:pt x="90129" y="180260"/>
                </a:lnTo>
                <a:lnTo>
                  <a:pt x="125210" y="173177"/>
                </a:lnTo>
                <a:lnTo>
                  <a:pt x="153859" y="153861"/>
                </a:lnTo>
                <a:lnTo>
                  <a:pt x="173175" y="125212"/>
                </a:lnTo>
                <a:lnTo>
                  <a:pt x="180258" y="90130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10911207" y="4905031"/>
            <a:ext cx="290368" cy="290368"/>
          </a:xfrm>
          <a:custGeom>
            <a:avLst/>
            <a:gdLst/>
            <a:ahLst/>
            <a:cxnLst/>
            <a:rect l="l" t="t" r="r" b="b"/>
            <a:pathLst>
              <a:path w="238759" h="238760">
                <a:moveTo>
                  <a:pt x="238389" y="119197"/>
                </a:moveTo>
                <a:lnTo>
                  <a:pt x="229023" y="72801"/>
                </a:lnTo>
                <a:lnTo>
                  <a:pt x="203481" y="34913"/>
                </a:lnTo>
                <a:lnTo>
                  <a:pt x="165595" y="9367"/>
                </a:lnTo>
                <a:lnTo>
                  <a:pt x="119201" y="0"/>
                </a:lnTo>
                <a:lnTo>
                  <a:pt x="72805" y="9367"/>
                </a:lnTo>
                <a:lnTo>
                  <a:pt x="34915" y="34913"/>
                </a:lnTo>
                <a:lnTo>
                  <a:pt x="9368" y="72801"/>
                </a:lnTo>
                <a:lnTo>
                  <a:pt x="0" y="119197"/>
                </a:lnTo>
                <a:lnTo>
                  <a:pt x="9368" y="165593"/>
                </a:lnTo>
                <a:lnTo>
                  <a:pt x="34915" y="203482"/>
                </a:lnTo>
                <a:lnTo>
                  <a:pt x="72805" y="229028"/>
                </a:lnTo>
                <a:lnTo>
                  <a:pt x="119201" y="238396"/>
                </a:lnTo>
                <a:lnTo>
                  <a:pt x="165595" y="229028"/>
                </a:lnTo>
                <a:lnTo>
                  <a:pt x="203481" y="203482"/>
                </a:lnTo>
                <a:lnTo>
                  <a:pt x="229023" y="165593"/>
                </a:lnTo>
                <a:lnTo>
                  <a:pt x="238389" y="119197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065715" y="4972506"/>
            <a:ext cx="4337765" cy="963862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44837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45610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deepest</a:t>
            </a:r>
            <a:r>
              <a:rPr kumimoji="0" sz="2493" b="0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681157" marR="0" lvl="1" indent="-253309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681929" algn="l"/>
              </a:tabLst>
              <a:defRPr/>
            </a:pPr>
            <a:r>
              <a:rPr kumimoji="0" sz="2493" b="0" i="1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pushdown</a:t>
            </a:r>
            <a:r>
              <a:rPr kumimoji="0" sz="2493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stack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1112049" y="6110000"/>
            <a:ext cx="11120494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963230" y="6216427"/>
            <a:ext cx="8853149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In(Arad)</a:t>
            </a:r>
            <a:r>
              <a:rPr kumimoji="0" sz="2068" b="0" i="0" u="none" strike="noStrike" kern="1200" cap="none" spc="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→</a:t>
            </a:r>
            <a:r>
              <a:rPr kumimoji="0" sz="2068" b="0" i="1" u="none" strike="noStrike" kern="1200" cap="none" spc="-5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In(Zerind)</a:t>
            </a:r>
            <a:r>
              <a:rPr kumimoji="0" sz="2068" b="0" i="0" u="none" strike="noStrike" kern="1200" cap="none" spc="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→</a:t>
            </a:r>
            <a:r>
              <a:rPr kumimoji="0" sz="2068" b="0" i="1" u="none" strike="noStrike" kern="1200" cap="none" spc="-5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-10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In(Oradea)</a:t>
            </a:r>
            <a:r>
              <a:rPr kumimoji="0" sz="2068" b="0" i="0" u="none" strike="noStrike" kern="1200" cap="none" spc="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→</a:t>
            </a:r>
            <a:r>
              <a:rPr kumimoji="0" sz="2068" b="0" i="1" u="none" strike="noStrike" kern="1200" cap="none" spc="-5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In(Sibiu)</a:t>
            </a:r>
            <a:r>
              <a:rPr kumimoji="0" sz="2068" b="0" i="0" u="none" strike="noStrike" kern="1200" cap="none" spc="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→</a:t>
            </a:r>
            <a:r>
              <a:rPr kumimoji="0" sz="2068" b="0" i="1" u="none" strike="noStrike" kern="1200" cap="none" spc="-5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In(Arad)</a:t>
            </a:r>
            <a:r>
              <a:rPr kumimoji="0" sz="2068" b="0" i="0" u="none" strike="noStrike" kern="1200" cap="none" spc="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→</a:t>
            </a:r>
            <a:r>
              <a:rPr kumimoji="0" sz="2068" b="0" i="1" u="none" strike="noStrike" kern="1200" cap="none" spc="-5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In(Zerind)</a:t>
            </a:r>
            <a:r>
              <a:rPr kumimoji="0" sz="2068" b="0" i="0" u="none" strike="noStrike" kern="1200" cap="none" spc="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→</a:t>
            </a:r>
            <a:r>
              <a:rPr kumimoji="0" sz="2068" b="0" i="1" u="none" strike="noStrike" kern="1200" cap="none" spc="-58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.</a:t>
            </a:r>
            <a:r>
              <a:rPr kumimoji="0" sz="2068" b="0" i="1" u="none" strike="noStrike" kern="1200" cap="none" spc="-34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.</a:t>
            </a:r>
            <a:r>
              <a:rPr kumimoji="0" sz="2068" b="0" i="1" u="none" strike="noStrike" kern="1200" cap="none" spc="-34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.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661694" y="6263321"/>
            <a:ext cx="123561" cy="630626"/>
          </a:xfrm>
          <a:prstGeom prst="rect">
            <a:avLst/>
          </a:prstGeom>
        </p:spPr>
        <p:txBody>
          <a:bodyPr vert="horz" wrap="square" lIns="0" tIns="1467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1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1" u="none" strike="noStrike" kern="1200" cap="none" spc="-15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•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/>
              <a:ea typeface="+mn-ea"/>
              <a:cs typeface="Menlo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7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1" u="none" strike="noStrike" kern="1200" cap="none" spc="-15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•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/>
              <a:ea typeface="+mn-ea"/>
              <a:cs typeface="Menlo"/>
              <a:sym typeface="Palatino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963231" y="6601103"/>
            <a:ext cx="7264617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In(Arad)</a:t>
            </a:r>
            <a:r>
              <a:rPr kumimoji="0" sz="2068" b="0" i="0" u="none" strike="noStrike" kern="1200" cap="none" spc="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→</a:t>
            </a:r>
            <a:r>
              <a:rPr kumimoji="0" sz="2068" b="0" i="1" u="none" strike="noStrike" kern="1200" cap="none" spc="-5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In(Zerind)</a:t>
            </a:r>
            <a:r>
              <a:rPr kumimoji="0" sz="2068" b="0" i="0" u="none" strike="noStrike" kern="1200" cap="none" spc="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→</a:t>
            </a:r>
            <a:r>
              <a:rPr kumimoji="0" sz="2068" b="0" i="1" u="none" strike="noStrike" kern="1200" cap="none" spc="-5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In(Arad)</a:t>
            </a:r>
            <a:r>
              <a:rPr kumimoji="0" sz="2068" b="0" i="0" u="none" strike="noStrike" kern="1200" cap="none" spc="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→</a:t>
            </a:r>
            <a:r>
              <a:rPr kumimoji="0" sz="2068" b="0" i="1" u="none" strike="noStrike" kern="1200" cap="none" spc="-5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In(Zerind)</a:t>
            </a:r>
            <a:r>
              <a:rPr kumimoji="0" sz="2068" b="0" i="0" u="none" strike="noStrike" kern="1200" cap="none" spc="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→</a:t>
            </a:r>
            <a:r>
              <a:rPr kumimoji="0" sz="2068" b="0" i="1" u="none" strike="noStrike" kern="1200" cap="none" spc="-5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In(Arad)</a:t>
            </a:r>
            <a:r>
              <a:rPr kumimoji="0" sz="2068" b="0" i="0" u="none" strike="noStrike" kern="1200" cap="none" spc="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→</a:t>
            </a:r>
            <a:r>
              <a:rPr kumimoji="0" sz="2068" b="0" i="1" u="none" strike="noStrike" kern="1200" cap="none" spc="-5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.</a:t>
            </a:r>
            <a:r>
              <a:rPr kumimoji="0" sz="2068" b="0" i="1" u="none" strike="noStrike" kern="1200" cap="none" spc="-34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.</a:t>
            </a:r>
            <a:r>
              <a:rPr kumimoji="0" sz="2068" b="0" i="1" u="none" strike="noStrike" kern="1200" cap="none" spc="-34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.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080648" y="7045535"/>
            <a:ext cx="8812992" cy="1420370"/>
          </a:xfrm>
          <a:prstGeom prst="rect">
            <a:avLst/>
          </a:prstGeom>
        </p:spPr>
        <p:txBody>
          <a:bodyPr vert="horz" wrap="square" lIns="0" tIns="17761" rIns="0" bIns="0" rtlCol="0">
            <a:spAutoFit/>
          </a:bodyPr>
          <a:lstStyle/>
          <a:p>
            <a:pPr marL="413946" marR="0" lvl="0" indent="-399272" algn="l" defTabSz="1112093" rtl="0" eaLnBrk="1" fontAlgn="auto" latinLnBrk="0" hangingPunct="1">
              <a:lnSpc>
                <a:spcPct val="100000"/>
              </a:lnSpc>
              <a:spcBef>
                <a:spcPts val="139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14718" algn="l"/>
              </a:tabLst>
              <a:defRPr/>
            </a:pP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Cycle detection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: modify node</a:t>
            </a:r>
            <a:r>
              <a:rPr kumimoji="0" sz="2493" b="0" i="0" u="none" strike="noStrike" kern="1200" cap="none" spc="12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expansion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865734" marR="0" lvl="0" indent="0" algn="l" defTabSz="1112093" rtl="0" eaLnBrk="1" fontAlgn="auto" latinLnBrk="0" hangingPunct="1">
              <a:lnSpc>
                <a:spcPct val="100000"/>
              </a:lnSpc>
              <a:spcBef>
                <a:spcPts val="9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102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1" u="none" strike="noStrike" kern="1200" cap="none" spc="-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{</a:t>
            </a:r>
            <a:r>
              <a:rPr kumimoji="0" sz="2068" b="0" i="0" u="none" strike="noStrike" kern="1200" cap="none" spc="-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all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of </a:t>
            </a:r>
            <a:r>
              <a:rPr kumimoji="0" sz="2068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’s </a:t>
            </a:r>
            <a:r>
              <a:rPr kumimoji="0" sz="2068" b="0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children</a:t>
            </a:r>
            <a:r>
              <a:rPr kumimoji="0" sz="2068" b="0" i="1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}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/>
              <a:ea typeface="+mn-ea"/>
              <a:cs typeface="Menlo"/>
              <a:sym typeface="Palatino"/>
            </a:endParaRPr>
          </a:p>
          <a:p>
            <a:pPr marL="878863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discard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every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</a:t>
            </a:r>
            <a:r>
              <a:rPr kumimoji="0" sz="2068" b="0" i="1" u="none" strike="noStrike" kern="1200" cap="none" spc="-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1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∈</a:t>
            </a:r>
            <a:r>
              <a:rPr kumimoji="0" sz="2068" b="0" i="1" u="none" strike="noStrike" kern="1200" cap="none" spc="-88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</a:t>
            </a:r>
            <a:r>
              <a:rPr kumimoji="0" sz="2068" b="0" i="1" u="none" strike="noStrike" kern="1200" cap="none" spc="2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for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which </a:t>
            </a:r>
            <a:r>
              <a:rPr kumimoji="0" sz="2068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there’s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an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ancestor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z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with</a:t>
            </a:r>
            <a:r>
              <a:rPr kumimoji="0" sz="2068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z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]</a:t>
            </a:r>
            <a:r>
              <a:rPr kumimoji="0" sz="2068" b="0" i="0" u="none" strike="noStrike" kern="1200" cap="none" spc="-1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1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  <a:p>
            <a:pPr marL="879635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remaining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37832635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F3E895F-CFB2-5BEF-20CD-92091B5AB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58" y="312821"/>
            <a:ext cx="7924522" cy="9127958"/>
          </a:xfrm>
          <a:prstGeom prst="rect">
            <a:avLst/>
          </a:prstGeom>
        </p:spPr>
      </p:pic>
      <p:sp>
        <p:nvSpPr>
          <p:cNvPr id="12" name="object 9">
            <a:extLst>
              <a:ext uri="{FF2B5EF4-FFF2-40B4-BE49-F238E27FC236}">
                <a16:creationId xmlns:a16="http://schemas.microsoft.com/office/drawing/2014/main" id="{8E456B75-AE12-4EB9-321A-C888D9972519}"/>
              </a:ext>
            </a:extLst>
          </p:cNvPr>
          <p:cNvSpPr txBox="1"/>
          <p:nvPr/>
        </p:nvSpPr>
        <p:spPr>
          <a:xfrm>
            <a:off x="5413148" y="5906755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C14F6A3D-AEAB-F546-D3EC-027441087F90}"/>
              </a:ext>
            </a:extLst>
          </p:cNvPr>
          <p:cNvSpPr txBox="1"/>
          <p:nvPr/>
        </p:nvSpPr>
        <p:spPr>
          <a:xfrm>
            <a:off x="5168047" y="7411011"/>
            <a:ext cx="800058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13F2C2AA-24D5-D6F7-7C49-CDC0004EDC84}"/>
              </a:ext>
            </a:extLst>
          </p:cNvPr>
          <p:cNvSpPr txBox="1"/>
          <p:nvPr/>
        </p:nvSpPr>
        <p:spPr>
          <a:xfrm>
            <a:off x="6194757" y="7912422"/>
            <a:ext cx="47416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C2B1FB8A-124A-38FC-D73E-4F62A34F5155}"/>
              </a:ext>
            </a:extLst>
          </p:cNvPr>
          <p:cNvSpPr txBox="1"/>
          <p:nvPr/>
        </p:nvSpPr>
        <p:spPr>
          <a:xfrm>
            <a:off x="6216425" y="8451443"/>
            <a:ext cx="6826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8CDAF00E-CC67-40B9-1572-5111BC576E31}"/>
              </a:ext>
            </a:extLst>
          </p:cNvPr>
          <p:cNvSpPr txBox="1"/>
          <p:nvPr/>
        </p:nvSpPr>
        <p:spPr>
          <a:xfrm>
            <a:off x="7335644" y="9228655"/>
            <a:ext cx="62861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AFFA04F9-DC8B-7456-00CA-D78924F4EEEA}"/>
              </a:ext>
            </a:extLst>
          </p:cNvPr>
          <p:cNvSpPr txBox="1"/>
          <p:nvPr/>
        </p:nvSpPr>
        <p:spPr>
          <a:xfrm>
            <a:off x="6735563" y="6683939"/>
            <a:ext cx="4293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34" name="object 32">
            <a:extLst>
              <a:ext uri="{FF2B5EF4-FFF2-40B4-BE49-F238E27FC236}">
                <a16:creationId xmlns:a16="http://schemas.microsoft.com/office/drawing/2014/main" id="{D5FBB1BB-34BE-03DE-D061-98C1A4753F19}"/>
              </a:ext>
            </a:extLst>
          </p:cNvPr>
          <p:cNvSpPr/>
          <p:nvPr/>
        </p:nvSpPr>
        <p:spPr>
          <a:xfrm>
            <a:off x="7045283" y="7688045"/>
            <a:ext cx="226271" cy="1586215"/>
          </a:xfrm>
          <a:custGeom>
            <a:avLst/>
            <a:gdLst/>
            <a:ahLst/>
            <a:cxnLst/>
            <a:rect l="l" t="t" r="r" b="b"/>
            <a:pathLst>
              <a:path w="186054" h="1304289">
                <a:moveTo>
                  <a:pt x="185541" y="1303883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3">
            <a:extLst>
              <a:ext uri="{FF2B5EF4-FFF2-40B4-BE49-F238E27FC236}">
                <a16:creationId xmlns:a16="http://schemas.microsoft.com/office/drawing/2014/main" id="{E6058CA7-7B62-6D33-E779-AFEDF7BBA8AD}"/>
              </a:ext>
            </a:extLst>
          </p:cNvPr>
          <p:cNvSpPr/>
          <p:nvPr/>
        </p:nvSpPr>
        <p:spPr>
          <a:xfrm>
            <a:off x="6117665" y="9154677"/>
            <a:ext cx="1153751" cy="119700"/>
          </a:xfrm>
          <a:custGeom>
            <a:avLst/>
            <a:gdLst/>
            <a:ahLst/>
            <a:cxnLst/>
            <a:rect l="l" t="t" r="r" b="b"/>
            <a:pathLst>
              <a:path w="948690" h="98425">
                <a:moveTo>
                  <a:pt x="0" y="0"/>
                </a:moveTo>
                <a:lnTo>
                  <a:pt x="948289" y="97923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4">
            <a:extLst>
              <a:ext uri="{FF2B5EF4-FFF2-40B4-BE49-F238E27FC236}">
                <a16:creationId xmlns:a16="http://schemas.microsoft.com/office/drawing/2014/main" id="{D03788F6-6C44-C704-A642-6541D0F5D082}"/>
              </a:ext>
            </a:extLst>
          </p:cNvPr>
          <p:cNvSpPr/>
          <p:nvPr/>
        </p:nvSpPr>
        <p:spPr>
          <a:xfrm>
            <a:off x="6098862" y="8608546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43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id="{BBAA2D1B-E8F3-F5C3-D96C-58D9B5B06F95}"/>
              </a:ext>
            </a:extLst>
          </p:cNvPr>
          <p:cNvSpPr/>
          <p:nvPr/>
        </p:nvSpPr>
        <p:spPr>
          <a:xfrm>
            <a:off x="6681766" y="6998583"/>
            <a:ext cx="319714" cy="576876"/>
          </a:xfrm>
          <a:custGeom>
            <a:avLst/>
            <a:gdLst/>
            <a:ahLst/>
            <a:cxnLst/>
            <a:rect l="l" t="t" r="r" b="b"/>
            <a:pathLst>
              <a:path w="262890" h="474344">
                <a:moveTo>
                  <a:pt x="262839" y="474151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id="{602A494F-34A0-5AAE-DFFD-0C3F7DE63A42}"/>
              </a:ext>
            </a:extLst>
          </p:cNvPr>
          <p:cNvSpPr/>
          <p:nvPr/>
        </p:nvSpPr>
        <p:spPr>
          <a:xfrm>
            <a:off x="5114839" y="6497163"/>
            <a:ext cx="1542196" cy="464126"/>
          </a:xfrm>
          <a:custGeom>
            <a:avLst/>
            <a:gdLst/>
            <a:ahLst/>
            <a:cxnLst/>
            <a:rect l="l" t="t" r="r" b="b"/>
            <a:pathLst>
              <a:path w="1268095" h="381635">
                <a:moveTo>
                  <a:pt x="0" y="0"/>
                </a:moveTo>
                <a:lnTo>
                  <a:pt x="1267809" y="38138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7">
            <a:extLst>
              <a:ext uri="{FF2B5EF4-FFF2-40B4-BE49-F238E27FC236}">
                <a16:creationId xmlns:a16="http://schemas.microsoft.com/office/drawing/2014/main" id="{ADEA6A15-DEE5-B117-D882-3D23D2BE9B20}"/>
              </a:ext>
            </a:extLst>
          </p:cNvPr>
          <p:cNvSpPr/>
          <p:nvPr/>
        </p:nvSpPr>
        <p:spPr>
          <a:xfrm>
            <a:off x="5653855" y="5456738"/>
            <a:ext cx="1003161" cy="1504356"/>
          </a:xfrm>
          <a:custGeom>
            <a:avLst/>
            <a:gdLst/>
            <a:ahLst/>
            <a:cxnLst/>
            <a:rect l="l" t="t" r="r" b="b"/>
            <a:pathLst>
              <a:path w="824865" h="1236980">
                <a:moveTo>
                  <a:pt x="824595" y="1236886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692C0B4E-F44B-4FDC-C311-06E5BF273940}"/>
              </a:ext>
            </a:extLst>
          </p:cNvPr>
          <p:cNvSpPr/>
          <p:nvPr/>
        </p:nvSpPr>
        <p:spPr>
          <a:xfrm>
            <a:off x="6098869" y="8117384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37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39">
            <a:extLst>
              <a:ext uri="{FF2B5EF4-FFF2-40B4-BE49-F238E27FC236}">
                <a16:creationId xmlns:a16="http://schemas.microsoft.com/office/drawing/2014/main" id="{BA4DAF10-BF04-CCE2-E33D-6228FCFA1C4A}"/>
              </a:ext>
            </a:extLst>
          </p:cNvPr>
          <p:cNvSpPr/>
          <p:nvPr/>
        </p:nvSpPr>
        <p:spPr>
          <a:xfrm>
            <a:off x="5152449" y="7650428"/>
            <a:ext cx="928252" cy="389217"/>
          </a:xfrm>
          <a:custGeom>
            <a:avLst/>
            <a:gdLst/>
            <a:ahLst/>
            <a:cxnLst/>
            <a:rect l="l" t="t" r="r" b="b"/>
            <a:pathLst>
              <a:path w="763270" h="320039">
                <a:moveTo>
                  <a:pt x="0" y="0"/>
                </a:moveTo>
                <a:lnTo>
                  <a:pt x="762747" y="319534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0">
            <a:extLst>
              <a:ext uri="{FF2B5EF4-FFF2-40B4-BE49-F238E27FC236}">
                <a16:creationId xmlns:a16="http://schemas.microsoft.com/office/drawing/2014/main" id="{2809FC92-3531-D349-1C0D-D7C21710D06F}"/>
              </a:ext>
            </a:extLst>
          </p:cNvPr>
          <p:cNvSpPr/>
          <p:nvPr/>
        </p:nvSpPr>
        <p:spPr>
          <a:xfrm>
            <a:off x="5096035" y="6575515"/>
            <a:ext cx="0" cy="1044863"/>
          </a:xfrm>
          <a:custGeom>
            <a:avLst/>
            <a:gdLst/>
            <a:ahLst/>
            <a:cxnLst/>
            <a:rect l="l" t="t" r="r" b="b"/>
            <a:pathLst>
              <a:path h="859155">
                <a:moveTo>
                  <a:pt x="0" y="0"/>
                </a:moveTo>
                <a:lnTo>
                  <a:pt x="0" y="858790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1">
            <a:extLst>
              <a:ext uri="{FF2B5EF4-FFF2-40B4-BE49-F238E27FC236}">
                <a16:creationId xmlns:a16="http://schemas.microsoft.com/office/drawing/2014/main" id="{85B3D992-A380-7019-FEC4-4AB1C70BDB6B}"/>
              </a:ext>
            </a:extLst>
          </p:cNvPr>
          <p:cNvSpPr/>
          <p:nvPr/>
        </p:nvSpPr>
        <p:spPr>
          <a:xfrm>
            <a:off x="5077233" y="5958141"/>
            <a:ext cx="232449" cy="539035"/>
          </a:xfrm>
          <a:custGeom>
            <a:avLst/>
            <a:gdLst/>
            <a:ahLst/>
            <a:cxnLst/>
            <a:rect l="l" t="t" r="r" b="b"/>
            <a:pathLst>
              <a:path w="191135" h="443230">
                <a:moveTo>
                  <a:pt x="190691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2">
            <a:extLst>
              <a:ext uri="{FF2B5EF4-FFF2-40B4-BE49-F238E27FC236}">
                <a16:creationId xmlns:a16="http://schemas.microsoft.com/office/drawing/2014/main" id="{B1435EA0-CC63-FE5D-9C37-930028DCA575}"/>
              </a:ext>
            </a:extLst>
          </p:cNvPr>
          <p:cNvSpPr/>
          <p:nvPr/>
        </p:nvSpPr>
        <p:spPr>
          <a:xfrm>
            <a:off x="5309143" y="5419119"/>
            <a:ext cx="307357" cy="539035"/>
          </a:xfrm>
          <a:custGeom>
            <a:avLst/>
            <a:gdLst/>
            <a:ahLst/>
            <a:cxnLst/>
            <a:rect l="l" t="t" r="r" b="b"/>
            <a:pathLst>
              <a:path w="252729" h="443230">
                <a:moveTo>
                  <a:pt x="252527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3">
            <a:extLst>
              <a:ext uri="{FF2B5EF4-FFF2-40B4-BE49-F238E27FC236}">
                <a16:creationId xmlns:a16="http://schemas.microsoft.com/office/drawing/2014/main" id="{405D72FA-3478-2360-4256-AD03BA815A06}"/>
              </a:ext>
            </a:extLst>
          </p:cNvPr>
          <p:cNvSpPr/>
          <p:nvPr/>
        </p:nvSpPr>
        <p:spPr>
          <a:xfrm>
            <a:off x="7230181" y="9236167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4">
            <a:extLst>
              <a:ext uri="{FF2B5EF4-FFF2-40B4-BE49-F238E27FC236}">
                <a16:creationId xmlns:a16="http://schemas.microsoft.com/office/drawing/2014/main" id="{6E570717-4848-3DBC-50B9-274730845CED}"/>
              </a:ext>
            </a:extLst>
          </p:cNvPr>
          <p:cNvSpPr/>
          <p:nvPr/>
        </p:nvSpPr>
        <p:spPr>
          <a:xfrm>
            <a:off x="7230181" y="9236167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5">
            <a:extLst>
              <a:ext uri="{FF2B5EF4-FFF2-40B4-BE49-F238E27FC236}">
                <a16:creationId xmlns:a16="http://schemas.microsoft.com/office/drawing/2014/main" id="{5782170B-EC86-B72D-E118-5BBCEF095938}"/>
              </a:ext>
            </a:extLst>
          </p:cNvPr>
          <p:cNvSpPr/>
          <p:nvPr/>
        </p:nvSpPr>
        <p:spPr>
          <a:xfrm>
            <a:off x="6963818" y="757209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6">
            <a:extLst>
              <a:ext uri="{FF2B5EF4-FFF2-40B4-BE49-F238E27FC236}">
                <a16:creationId xmlns:a16="http://schemas.microsoft.com/office/drawing/2014/main" id="{0CF78D12-AA87-4BB8-216E-1792E0C21DA1}"/>
              </a:ext>
            </a:extLst>
          </p:cNvPr>
          <p:cNvSpPr/>
          <p:nvPr/>
        </p:nvSpPr>
        <p:spPr>
          <a:xfrm>
            <a:off x="6963817" y="757209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7">
            <a:extLst>
              <a:ext uri="{FF2B5EF4-FFF2-40B4-BE49-F238E27FC236}">
                <a16:creationId xmlns:a16="http://schemas.microsoft.com/office/drawing/2014/main" id="{09C62EF8-E224-2516-5FB7-5DF4FF75E853}"/>
              </a:ext>
            </a:extLst>
          </p:cNvPr>
          <p:cNvSpPr/>
          <p:nvPr/>
        </p:nvSpPr>
        <p:spPr>
          <a:xfrm>
            <a:off x="6080054" y="853418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0" name="object 58">
            <a:extLst>
              <a:ext uri="{FF2B5EF4-FFF2-40B4-BE49-F238E27FC236}">
                <a16:creationId xmlns:a16="http://schemas.microsoft.com/office/drawing/2014/main" id="{8A44455C-7522-A8AC-A97E-ED5B63E37071}"/>
              </a:ext>
            </a:extLst>
          </p:cNvPr>
          <p:cNvSpPr/>
          <p:nvPr/>
        </p:nvSpPr>
        <p:spPr>
          <a:xfrm>
            <a:off x="6080054" y="853418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object 59">
            <a:extLst>
              <a:ext uri="{FF2B5EF4-FFF2-40B4-BE49-F238E27FC236}">
                <a16:creationId xmlns:a16="http://schemas.microsoft.com/office/drawing/2014/main" id="{923B3B6A-96A9-5341-9FED-FDFCC120CA32}"/>
              </a:ext>
            </a:extLst>
          </p:cNvPr>
          <p:cNvSpPr/>
          <p:nvPr/>
        </p:nvSpPr>
        <p:spPr>
          <a:xfrm>
            <a:off x="6039313" y="907633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2" name="object 60">
            <a:extLst>
              <a:ext uri="{FF2B5EF4-FFF2-40B4-BE49-F238E27FC236}">
                <a16:creationId xmlns:a16="http://schemas.microsoft.com/office/drawing/2014/main" id="{7DDFFD38-7DB7-411F-3726-6ABC96E2602C}"/>
              </a:ext>
            </a:extLst>
          </p:cNvPr>
          <p:cNvSpPr/>
          <p:nvPr/>
        </p:nvSpPr>
        <p:spPr>
          <a:xfrm>
            <a:off x="6039313" y="907633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3" name="object 61">
            <a:extLst>
              <a:ext uri="{FF2B5EF4-FFF2-40B4-BE49-F238E27FC236}">
                <a16:creationId xmlns:a16="http://schemas.microsoft.com/office/drawing/2014/main" id="{A44B27AD-D1AB-8B3F-0DD2-58B24B973777}"/>
              </a:ext>
            </a:extLst>
          </p:cNvPr>
          <p:cNvSpPr/>
          <p:nvPr/>
        </p:nvSpPr>
        <p:spPr>
          <a:xfrm>
            <a:off x="6039313" y="800143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4" name="object 62">
            <a:extLst>
              <a:ext uri="{FF2B5EF4-FFF2-40B4-BE49-F238E27FC236}">
                <a16:creationId xmlns:a16="http://schemas.microsoft.com/office/drawing/2014/main" id="{8EC61059-9342-B19B-8DF3-72C18BD2FCCD}"/>
              </a:ext>
            </a:extLst>
          </p:cNvPr>
          <p:cNvSpPr/>
          <p:nvPr/>
        </p:nvSpPr>
        <p:spPr>
          <a:xfrm>
            <a:off x="6039313" y="800143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5" name="object 63">
            <a:extLst>
              <a:ext uri="{FF2B5EF4-FFF2-40B4-BE49-F238E27FC236}">
                <a16:creationId xmlns:a16="http://schemas.microsoft.com/office/drawing/2014/main" id="{B00A08AF-E006-1CD8-383E-7B1F8726418A}"/>
              </a:ext>
            </a:extLst>
          </p:cNvPr>
          <p:cNvSpPr/>
          <p:nvPr/>
        </p:nvSpPr>
        <p:spPr>
          <a:xfrm>
            <a:off x="5036492" y="645956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6" name="object 64">
            <a:extLst>
              <a:ext uri="{FF2B5EF4-FFF2-40B4-BE49-F238E27FC236}">
                <a16:creationId xmlns:a16="http://schemas.microsoft.com/office/drawing/2014/main" id="{E7802D53-3CA5-6547-47A5-45F42B81E7DD}"/>
              </a:ext>
            </a:extLst>
          </p:cNvPr>
          <p:cNvSpPr/>
          <p:nvPr/>
        </p:nvSpPr>
        <p:spPr>
          <a:xfrm>
            <a:off x="5036492" y="645956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7" name="object 65">
            <a:extLst>
              <a:ext uri="{FF2B5EF4-FFF2-40B4-BE49-F238E27FC236}">
                <a16:creationId xmlns:a16="http://schemas.microsoft.com/office/drawing/2014/main" id="{CDAB3A25-B5C1-8940-33F3-EF13DC009AE2}"/>
              </a:ext>
            </a:extLst>
          </p:cNvPr>
          <p:cNvSpPr/>
          <p:nvPr/>
        </p:nvSpPr>
        <p:spPr>
          <a:xfrm>
            <a:off x="5074089" y="757209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8" name="object 66">
            <a:extLst>
              <a:ext uri="{FF2B5EF4-FFF2-40B4-BE49-F238E27FC236}">
                <a16:creationId xmlns:a16="http://schemas.microsoft.com/office/drawing/2014/main" id="{9FFE80EE-719A-1BF7-B824-E1E893859C3C}"/>
              </a:ext>
            </a:extLst>
          </p:cNvPr>
          <p:cNvSpPr/>
          <p:nvPr/>
        </p:nvSpPr>
        <p:spPr>
          <a:xfrm>
            <a:off x="5074089" y="757209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9" name="object 67">
            <a:extLst>
              <a:ext uri="{FF2B5EF4-FFF2-40B4-BE49-F238E27FC236}">
                <a16:creationId xmlns:a16="http://schemas.microsoft.com/office/drawing/2014/main" id="{FCD89154-18C5-9350-8CB1-6A900DB71CCF}"/>
              </a:ext>
            </a:extLst>
          </p:cNvPr>
          <p:cNvSpPr/>
          <p:nvPr/>
        </p:nvSpPr>
        <p:spPr>
          <a:xfrm>
            <a:off x="5271527" y="5917427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0" name="object 68">
            <a:extLst>
              <a:ext uri="{FF2B5EF4-FFF2-40B4-BE49-F238E27FC236}">
                <a16:creationId xmlns:a16="http://schemas.microsoft.com/office/drawing/2014/main" id="{9D5E8F5F-D38C-30E6-299A-C3D4AF147FDC}"/>
              </a:ext>
            </a:extLst>
          </p:cNvPr>
          <p:cNvSpPr/>
          <p:nvPr/>
        </p:nvSpPr>
        <p:spPr>
          <a:xfrm>
            <a:off x="5271527" y="5917427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1" name="object 69">
            <a:extLst>
              <a:ext uri="{FF2B5EF4-FFF2-40B4-BE49-F238E27FC236}">
                <a16:creationId xmlns:a16="http://schemas.microsoft.com/office/drawing/2014/main" id="{022EA625-72E5-483F-42F6-C497B46B5FED}"/>
              </a:ext>
            </a:extLst>
          </p:cNvPr>
          <p:cNvSpPr/>
          <p:nvPr/>
        </p:nvSpPr>
        <p:spPr>
          <a:xfrm>
            <a:off x="5575514" y="5378390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2" name="object 70">
            <a:extLst>
              <a:ext uri="{FF2B5EF4-FFF2-40B4-BE49-F238E27FC236}">
                <a16:creationId xmlns:a16="http://schemas.microsoft.com/office/drawing/2014/main" id="{B5AD2687-B2EC-0B20-D249-301B4DFA5C79}"/>
              </a:ext>
            </a:extLst>
          </p:cNvPr>
          <p:cNvSpPr/>
          <p:nvPr/>
        </p:nvSpPr>
        <p:spPr>
          <a:xfrm>
            <a:off x="5575514" y="5378390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3" name="object 71">
            <a:extLst>
              <a:ext uri="{FF2B5EF4-FFF2-40B4-BE49-F238E27FC236}">
                <a16:creationId xmlns:a16="http://schemas.microsoft.com/office/drawing/2014/main" id="{2F6645D8-61A3-3E59-8703-B88EC52AA718}"/>
              </a:ext>
            </a:extLst>
          </p:cNvPr>
          <p:cNvSpPr/>
          <p:nvPr/>
        </p:nvSpPr>
        <p:spPr>
          <a:xfrm>
            <a:off x="6619085" y="692339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4" name="object 72">
            <a:extLst>
              <a:ext uri="{FF2B5EF4-FFF2-40B4-BE49-F238E27FC236}">
                <a16:creationId xmlns:a16="http://schemas.microsoft.com/office/drawing/2014/main" id="{D900ACFB-3EF3-E6E0-9B35-B4A87AC0A237}"/>
              </a:ext>
            </a:extLst>
          </p:cNvPr>
          <p:cNvSpPr/>
          <p:nvPr/>
        </p:nvSpPr>
        <p:spPr>
          <a:xfrm>
            <a:off x="6619085" y="6923398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3" name="object 81">
            <a:extLst>
              <a:ext uri="{FF2B5EF4-FFF2-40B4-BE49-F238E27FC236}">
                <a16:creationId xmlns:a16="http://schemas.microsoft.com/office/drawing/2014/main" id="{42634568-7383-EDB0-D553-40C2DE8C6BB3}"/>
              </a:ext>
            </a:extLst>
          </p:cNvPr>
          <p:cNvSpPr txBox="1"/>
          <p:nvPr/>
        </p:nvSpPr>
        <p:spPr>
          <a:xfrm>
            <a:off x="5268976" y="5292531"/>
            <a:ext cx="1043319" cy="400317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466461" marR="0" lvl="0" indent="0" algn="l" defTabSz="1112093" rtl="0" eaLnBrk="1" fontAlgn="auto" latinLnBrk="0" hangingPunct="1">
              <a:lnSpc>
                <a:spcPts val="1453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ts val="14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4" name="object 82">
            <a:extLst>
              <a:ext uri="{FF2B5EF4-FFF2-40B4-BE49-F238E27FC236}">
                <a16:creationId xmlns:a16="http://schemas.microsoft.com/office/drawing/2014/main" id="{BD601300-3419-B9F0-C9BB-AC0061732836}"/>
              </a:ext>
            </a:extLst>
          </p:cNvPr>
          <p:cNvSpPr txBox="1"/>
          <p:nvPr/>
        </p:nvSpPr>
        <p:spPr>
          <a:xfrm>
            <a:off x="4979985" y="6050432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5" name="object 83">
            <a:extLst>
              <a:ext uri="{FF2B5EF4-FFF2-40B4-BE49-F238E27FC236}">
                <a16:creationId xmlns:a16="http://schemas.microsoft.com/office/drawing/2014/main" id="{CDE8E041-6DDF-24EF-9139-D92A427FBD2A}"/>
              </a:ext>
            </a:extLst>
          </p:cNvPr>
          <p:cNvSpPr txBox="1"/>
          <p:nvPr/>
        </p:nvSpPr>
        <p:spPr>
          <a:xfrm>
            <a:off x="4794093" y="6945209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6" name="object 84">
            <a:extLst>
              <a:ext uri="{FF2B5EF4-FFF2-40B4-BE49-F238E27FC236}">
                <a16:creationId xmlns:a16="http://schemas.microsoft.com/office/drawing/2014/main" id="{5CC97CB4-719F-D5DE-EBF1-F737DAC7B9D6}"/>
              </a:ext>
            </a:extLst>
          </p:cNvPr>
          <p:cNvSpPr txBox="1"/>
          <p:nvPr/>
        </p:nvSpPr>
        <p:spPr>
          <a:xfrm>
            <a:off x="5387003" y="781909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7" name="object 85">
            <a:extLst>
              <a:ext uri="{FF2B5EF4-FFF2-40B4-BE49-F238E27FC236}">
                <a16:creationId xmlns:a16="http://schemas.microsoft.com/office/drawing/2014/main" id="{3EE9F4FC-DFCC-EFBA-AE45-589669D64D83}"/>
              </a:ext>
            </a:extLst>
          </p:cNvPr>
          <p:cNvSpPr txBox="1"/>
          <p:nvPr/>
        </p:nvSpPr>
        <p:spPr>
          <a:xfrm>
            <a:off x="5879783" y="8184837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8" name="object 86">
            <a:extLst>
              <a:ext uri="{FF2B5EF4-FFF2-40B4-BE49-F238E27FC236}">
                <a16:creationId xmlns:a16="http://schemas.microsoft.com/office/drawing/2014/main" id="{6A72D8EC-2452-AECD-17B1-1F1826DF6B27}"/>
              </a:ext>
            </a:extLst>
          </p:cNvPr>
          <p:cNvSpPr txBox="1"/>
          <p:nvPr/>
        </p:nvSpPr>
        <p:spPr>
          <a:xfrm>
            <a:off x="5349752" y="8645786"/>
            <a:ext cx="719743" cy="561237"/>
          </a:xfrm>
          <a:prstGeom prst="rect">
            <a:avLst/>
          </a:prstGeom>
        </p:spPr>
        <p:txBody>
          <a:bodyPr vert="horz" wrap="square" lIns="0" tIns="90354" rIns="0" bIns="0" rtlCol="0">
            <a:spAutoFit/>
          </a:bodyPr>
          <a:lstStyle/>
          <a:p>
            <a:pPr marL="0" marR="6178" lvl="0" indent="0" algn="r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5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9" name="object 87">
            <a:extLst>
              <a:ext uri="{FF2B5EF4-FFF2-40B4-BE49-F238E27FC236}">
                <a16:creationId xmlns:a16="http://schemas.microsoft.com/office/drawing/2014/main" id="{5B262167-E9A3-8BCD-0CFB-D8DC428B63F2}"/>
              </a:ext>
            </a:extLst>
          </p:cNvPr>
          <p:cNvSpPr txBox="1"/>
          <p:nvPr/>
        </p:nvSpPr>
        <p:spPr>
          <a:xfrm>
            <a:off x="6548886" y="8950832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120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0" name="object 88">
            <a:extLst>
              <a:ext uri="{FF2B5EF4-FFF2-40B4-BE49-F238E27FC236}">
                <a16:creationId xmlns:a16="http://schemas.microsoft.com/office/drawing/2014/main" id="{9CAD61DA-8E31-69EA-9438-278B15BE585D}"/>
              </a:ext>
            </a:extLst>
          </p:cNvPr>
          <p:cNvSpPr txBox="1"/>
          <p:nvPr/>
        </p:nvSpPr>
        <p:spPr>
          <a:xfrm>
            <a:off x="6188457" y="597911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151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1" name="object 89">
            <a:extLst>
              <a:ext uri="{FF2B5EF4-FFF2-40B4-BE49-F238E27FC236}">
                <a16:creationId xmlns:a16="http://schemas.microsoft.com/office/drawing/2014/main" id="{C9926293-CDDB-6E14-49A2-5DC93BD07D47}"/>
              </a:ext>
            </a:extLst>
          </p:cNvPr>
          <p:cNvSpPr txBox="1"/>
          <p:nvPr/>
        </p:nvSpPr>
        <p:spPr>
          <a:xfrm>
            <a:off x="5737489" y="6449061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2" name="object 90">
            <a:extLst>
              <a:ext uri="{FF2B5EF4-FFF2-40B4-BE49-F238E27FC236}">
                <a16:creationId xmlns:a16="http://schemas.microsoft.com/office/drawing/2014/main" id="{B32A8DBF-8FE5-FD15-AAF9-7534BEBB326F}"/>
              </a:ext>
            </a:extLst>
          </p:cNvPr>
          <p:cNvSpPr txBox="1"/>
          <p:nvPr/>
        </p:nvSpPr>
        <p:spPr>
          <a:xfrm>
            <a:off x="7341336" y="6785032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99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3" name="object 91">
            <a:extLst>
              <a:ext uri="{FF2B5EF4-FFF2-40B4-BE49-F238E27FC236}">
                <a16:creationId xmlns:a16="http://schemas.microsoft.com/office/drawing/2014/main" id="{ACFDED71-E1B2-4639-3F3A-26F69382236F}"/>
              </a:ext>
            </a:extLst>
          </p:cNvPr>
          <p:cNvSpPr txBox="1"/>
          <p:nvPr/>
        </p:nvSpPr>
        <p:spPr>
          <a:xfrm>
            <a:off x="6897355" y="7136235"/>
            <a:ext cx="1315925" cy="409432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41329" marR="0" lvl="0" indent="0" algn="l" defTabSz="1112093" rtl="0" eaLnBrk="1" fontAlgn="auto" latinLnBrk="0" hangingPunct="1">
              <a:lnSpc>
                <a:spcPct val="100000"/>
              </a:lnSpc>
              <a:spcBef>
                <a:spcPts val="3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1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4" name="object 92">
            <a:extLst>
              <a:ext uri="{FF2B5EF4-FFF2-40B4-BE49-F238E27FC236}">
                <a16:creationId xmlns:a16="http://schemas.microsoft.com/office/drawing/2014/main" id="{E900A4EE-05DE-6BE8-1353-B7C47F61F6DD}"/>
              </a:ext>
            </a:extLst>
          </p:cNvPr>
          <p:cNvSpPr txBox="1"/>
          <p:nvPr/>
        </p:nvSpPr>
        <p:spPr>
          <a:xfrm>
            <a:off x="7449164" y="7928457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8" name="object 96">
            <a:extLst>
              <a:ext uri="{FF2B5EF4-FFF2-40B4-BE49-F238E27FC236}">
                <a16:creationId xmlns:a16="http://schemas.microsoft.com/office/drawing/2014/main" id="{163D84B4-2CC9-6E6A-3B8A-BD5A375149D8}"/>
              </a:ext>
            </a:extLst>
          </p:cNvPr>
          <p:cNvSpPr txBox="1"/>
          <p:nvPr/>
        </p:nvSpPr>
        <p:spPr>
          <a:xfrm>
            <a:off x="7204846" y="8381684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146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5" name="object 103">
            <a:extLst>
              <a:ext uri="{FF2B5EF4-FFF2-40B4-BE49-F238E27FC236}">
                <a16:creationId xmlns:a16="http://schemas.microsoft.com/office/drawing/2014/main" id="{2E9BCA13-CCCE-23C2-FC7F-D24385E7BDA1}"/>
              </a:ext>
            </a:extLst>
          </p:cNvPr>
          <p:cNvSpPr/>
          <p:nvPr/>
        </p:nvSpPr>
        <p:spPr>
          <a:xfrm>
            <a:off x="4984851" y="6407927"/>
            <a:ext cx="219321" cy="219321"/>
          </a:xfrm>
          <a:custGeom>
            <a:avLst/>
            <a:gdLst/>
            <a:ahLst/>
            <a:cxnLst/>
            <a:rect l="l" t="t" r="r" b="b"/>
            <a:pathLst>
              <a:path w="180339" h="180339">
                <a:moveTo>
                  <a:pt x="180260" y="90129"/>
                </a:moveTo>
                <a:lnTo>
                  <a:pt x="173177" y="55047"/>
                </a:lnTo>
                <a:lnTo>
                  <a:pt x="153861" y="26398"/>
                </a:lnTo>
                <a:lnTo>
                  <a:pt x="125212" y="7083"/>
                </a:lnTo>
                <a:lnTo>
                  <a:pt x="90130" y="0"/>
                </a:lnTo>
                <a:lnTo>
                  <a:pt x="55048" y="7083"/>
                </a:lnTo>
                <a:lnTo>
                  <a:pt x="26399" y="26398"/>
                </a:lnTo>
                <a:lnTo>
                  <a:pt x="7083" y="55047"/>
                </a:lnTo>
                <a:lnTo>
                  <a:pt x="0" y="90129"/>
                </a:lnTo>
                <a:lnTo>
                  <a:pt x="7083" y="125210"/>
                </a:lnTo>
                <a:lnTo>
                  <a:pt x="26399" y="153859"/>
                </a:lnTo>
                <a:lnTo>
                  <a:pt x="55048" y="173175"/>
                </a:lnTo>
                <a:lnTo>
                  <a:pt x="90130" y="180258"/>
                </a:lnTo>
                <a:lnTo>
                  <a:pt x="125212" y="173175"/>
                </a:lnTo>
                <a:lnTo>
                  <a:pt x="153861" y="153859"/>
                </a:lnTo>
                <a:lnTo>
                  <a:pt x="173177" y="125210"/>
                </a:lnTo>
                <a:lnTo>
                  <a:pt x="180260" y="90129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36529996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B3CBD-8E77-AD14-570F-5AEF169D7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DE5AE4-BBE0-7B3E-938E-BE4A670EC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58" y="312821"/>
            <a:ext cx="7924522" cy="9127958"/>
          </a:xfrm>
          <a:prstGeom prst="rect">
            <a:avLst/>
          </a:prstGeom>
        </p:spPr>
      </p:pic>
      <p:sp>
        <p:nvSpPr>
          <p:cNvPr id="12" name="object 9">
            <a:extLst>
              <a:ext uri="{FF2B5EF4-FFF2-40B4-BE49-F238E27FC236}">
                <a16:creationId xmlns:a16="http://schemas.microsoft.com/office/drawing/2014/main" id="{BF61481E-0568-CBA7-3DBF-59FF8A5E2C79}"/>
              </a:ext>
            </a:extLst>
          </p:cNvPr>
          <p:cNvSpPr txBox="1"/>
          <p:nvPr/>
        </p:nvSpPr>
        <p:spPr>
          <a:xfrm>
            <a:off x="5413148" y="5906755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F92DCD67-3E6E-2F5F-C069-EAE5E5DE7363}"/>
              </a:ext>
            </a:extLst>
          </p:cNvPr>
          <p:cNvSpPr txBox="1"/>
          <p:nvPr/>
        </p:nvSpPr>
        <p:spPr>
          <a:xfrm>
            <a:off x="5168047" y="7411011"/>
            <a:ext cx="800058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691FF400-31CD-D891-819B-47FF156AFAA0}"/>
              </a:ext>
            </a:extLst>
          </p:cNvPr>
          <p:cNvSpPr txBox="1"/>
          <p:nvPr/>
        </p:nvSpPr>
        <p:spPr>
          <a:xfrm>
            <a:off x="6194757" y="7912422"/>
            <a:ext cx="47416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B5813731-C19E-B874-8DA6-0BE00F868966}"/>
              </a:ext>
            </a:extLst>
          </p:cNvPr>
          <p:cNvSpPr txBox="1"/>
          <p:nvPr/>
        </p:nvSpPr>
        <p:spPr>
          <a:xfrm>
            <a:off x="6216425" y="8451443"/>
            <a:ext cx="6826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6599969A-5709-3F99-B903-30EB14FC87B6}"/>
              </a:ext>
            </a:extLst>
          </p:cNvPr>
          <p:cNvSpPr txBox="1"/>
          <p:nvPr/>
        </p:nvSpPr>
        <p:spPr>
          <a:xfrm>
            <a:off x="7335644" y="9228655"/>
            <a:ext cx="62861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DCCF3B5A-D344-557C-610A-1AB9CFF8943C}"/>
              </a:ext>
            </a:extLst>
          </p:cNvPr>
          <p:cNvSpPr txBox="1"/>
          <p:nvPr/>
        </p:nvSpPr>
        <p:spPr>
          <a:xfrm>
            <a:off x="6735563" y="6683939"/>
            <a:ext cx="4293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34" name="object 32">
            <a:extLst>
              <a:ext uri="{FF2B5EF4-FFF2-40B4-BE49-F238E27FC236}">
                <a16:creationId xmlns:a16="http://schemas.microsoft.com/office/drawing/2014/main" id="{69C51AF8-D9FD-3474-2707-CB26BEF8154F}"/>
              </a:ext>
            </a:extLst>
          </p:cNvPr>
          <p:cNvSpPr/>
          <p:nvPr/>
        </p:nvSpPr>
        <p:spPr>
          <a:xfrm>
            <a:off x="7045283" y="7688045"/>
            <a:ext cx="226271" cy="1586215"/>
          </a:xfrm>
          <a:custGeom>
            <a:avLst/>
            <a:gdLst/>
            <a:ahLst/>
            <a:cxnLst/>
            <a:rect l="l" t="t" r="r" b="b"/>
            <a:pathLst>
              <a:path w="186054" h="1304289">
                <a:moveTo>
                  <a:pt x="185541" y="1303883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3">
            <a:extLst>
              <a:ext uri="{FF2B5EF4-FFF2-40B4-BE49-F238E27FC236}">
                <a16:creationId xmlns:a16="http://schemas.microsoft.com/office/drawing/2014/main" id="{3F60144E-F3C4-5C0E-D2D8-51FEBE30E187}"/>
              </a:ext>
            </a:extLst>
          </p:cNvPr>
          <p:cNvSpPr/>
          <p:nvPr/>
        </p:nvSpPr>
        <p:spPr>
          <a:xfrm>
            <a:off x="6117665" y="9154677"/>
            <a:ext cx="1153751" cy="119700"/>
          </a:xfrm>
          <a:custGeom>
            <a:avLst/>
            <a:gdLst/>
            <a:ahLst/>
            <a:cxnLst/>
            <a:rect l="l" t="t" r="r" b="b"/>
            <a:pathLst>
              <a:path w="948690" h="98425">
                <a:moveTo>
                  <a:pt x="0" y="0"/>
                </a:moveTo>
                <a:lnTo>
                  <a:pt x="948289" y="97923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4">
            <a:extLst>
              <a:ext uri="{FF2B5EF4-FFF2-40B4-BE49-F238E27FC236}">
                <a16:creationId xmlns:a16="http://schemas.microsoft.com/office/drawing/2014/main" id="{BEC4A45A-2928-11B7-7A70-69BFC66DB618}"/>
              </a:ext>
            </a:extLst>
          </p:cNvPr>
          <p:cNvSpPr/>
          <p:nvPr/>
        </p:nvSpPr>
        <p:spPr>
          <a:xfrm>
            <a:off x="6098862" y="8608546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43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id="{1544F270-EF2E-8D2A-EB87-2E594BBB618A}"/>
              </a:ext>
            </a:extLst>
          </p:cNvPr>
          <p:cNvSpPr/>
          <p:nvPr/>
        </p:nvSpPr>
        <p:spPr>
          <a:xfrm>
            <a:off x="6681766" y="6998583"/>
            <a:ext cx="319714" cy="576876"/>
          </a:xfrm>
          <a:custGeom>
            <a:avLst/>
            <a:gdLst/>
            <a:ahLst/>
            <a:cxnLst/>
            <a:rect l="l" t="t" r="r" b="b"/>
            <a:pathLst>
              <a:path w="262890" h="474344">
                <a:moveTo>
                  <a:pt x="262839" y="474151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id="{519CB814-1D08-88F5-6604-30BF7C225043}"/>
              </a:ext>
            </a:extLst>
          </p:cNvPr>
          <p:cNvSpPr/>
          <p:nvPr/>
        </p:nvSpPr>
        <p:spPr>
          <a:xfrm>
            <a:off x="5114839" y="6497163"/>
            <a:ext cx="1542196" cy="464126"/>
          </a:xfrm>
          <a:custGeom>
            <a:avLst/>
            <a:gdLst/>
            <a:ahLst/>
            <a:cxnLst/>
            <a:rect l="l" t="t" r="r" b="b"/>
            <a:pathLst>
              <a:path w="1268095" h="381635">
                <a:moveTo>
                  <a:pt x="0" y="0"/>
                </a:moveTo>
                <a:lnTo>
                  <a:pt x="1267809" y="38138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7">
            <a:extLst>
              <a:ext uri="{FF2B5EF4-FFF2-40B4-BE49-F238E27FC236}">
                <a16:creationId xmlns:a16="http://schemas.microsoft.com/office/drawing/2014/main" id="{DE12CA08-23D3-5B7B-A868-38163360FE14}"/>
              </a:ext>
            </a:extLst>
          </p:cNvPr>
          <p:cNvSpPr/>
          <p:nvPr/>
        </p:nvSpPr>
        <p:spPr>
          <a:xfrm>
            <a:off x="5653855" y="5456738"/>
            <a:ext cx="1003161" cy="1504356"/>
          </a:xfrm>
          <a:custGeom>
            <a:avLst/>
            <a:gdLst/>
            <a:ahLst/>
            <a:cxnLst/>
            <a:rect l="l" t="t" r="r" b="b"/>
            <a:pathLst>
              <a:path w="824865" h="1236980">
                <a:moveTo>
                  <a:pt x="824595" y="1236886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91A992D1-9B1E-E5F8-7665-D9CB46166C70}"/>
              </a:ext>
            </a:extLst>
          </p:cNvPr>
          <p:cNvSpPr/>
          <p:nvPr/>
        </p:nvSpPr>
        <p:spPr>
          <a:xfrm>
            <a:off x="6098869" y="8117384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37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39">
            <a:extLst>
              <a:ext uri="{FF2B5EF4-FFF2-40B4-BE49-F238E27FC236}">
                <a16:creationId xmlns:a16="http://schemas.microsoft.com/office/drawing/2014/main" id="{E2307185-F2CF-B12C-AFED-98EAA7134EFE}"/>
              </a:ext>
            </a:extLst>
          </p:cNvPr>
          <p:cNvSpPr/>
          <p:nvPr/>
        </p:nvSpPr>
        <p:spPr>
          <a:xfrm>
            <a:off x="5152449" y="7650428"/>
            <a:ext cx="928252" cy="389217"/>
          </a:xfrm>
          <a:custGeom>
            <a:avLst/>
            <a:gdLst/>
            <a:ahLst/>
            <a:cxnLst/>
            <a:rect l="l" t="t" r="r" b="b"/>
            <a:pathLst>
              <a:path w="763270" h="320039">
                <a:moveTo>
                  <a:pt x="0" y="0"/>
                </a:moveTo>
                <a:lnTo>
                  <a:pt x="762747" y="319534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0">
            <a:extLst>
              <a:ext uri="{FF2B5EF4-FFF2-40B4-BE49-F238E27FC236}">
                <a16:creationId xmlns:a16="http://schemas.microsoft.com/office/drawing/2014/main" id="{021473F9-274C-0BE2-0B81-22EB62C3FFE9}"/>
              </a:ext>
            </a:extLst>
          </p:cNvPr>
          <p:cNvSpPr/>
          <p:nvPr/>
        </p:nvSpPr>
        <p:spPr>
          <a:xfrm>
            <a:off x="5096035" y="6575515"/>
            <a:ext cx="0" cy="1044863"/>
          </a:xfrm>
          <a:custGeom>
            <a:avLst/>
            <a:gdLst/>
            <a:ahLst/>
            <a:cxnLst/>
            <a:rect l="l" t="t" r="r" b="b"/>
            <a:pathLst>
              <a:path h="859155">
                <a:moveTo>
                  <a:pt x="0" y="0"/>
                </a:moveTo>
                <a:lnTo>
                  <a:pt x="0" y="858790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1">
            <a:extLst>
              <a:ext uri="{FF2B5EF4-FFF2-40B4-BE49-F238E27FC236}">
                <a16:creationId xmlns:a16="http://schemas.microsoft.com/office/drawing/2014/main" id="{B5CBE2A8-7A24-3720-D2CE-78487E080AEF}"/>
              </a:ext>
            </a:extLst>
          </p:cNvPr>
          <p:cNvSpPr/>
          <p:nvPr/>
        </p:nvSpPr>
        <p:spPr>
          <a:xfrm>
            <a:off x="5077233" y="5958141"/>
            <a:ext cx="232449" cy="539035"/>
          </a:xfrm>
          <a:custGeom>
            <a:avLst/>
            <a:gdLst/>
            <a:ahLst/>
            <a:cxnLst/>
            <a:rect l="l" t="t" r="r" b="b"/>
            <a:pathLst>
              <a:path w="191135" h="443230">
                <a:moveTo>
                  <a:pt x="190691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2">
            <a:extLst>
              <a:ext uri="{FF2B5EF4-FFF2-40B4-BE49-F238E27FC236}">
                <a16:creationId xmlns:a16="http://schemas.microsoft.com/office/drawing/2014/main" id="{8CBC9315-153A-FDAA-F262-934465DE2877}"/>
              </a:ext>
            </a:extLst>
          </p:cNvPr>
          <p:cNvSpPr/>
          <p:nvPr/>
        </p:nvSpPr>
        <p:spPr>
          <a:xfrm>
            <a:off x="5309143" y="5419119"/>
            <a:ext cx="307357" cy="539035"/>
          </a:xfrm>
          <a:custGeom>
            <a:avLst/>
            <a:gdLst/>
            <a:ahLst/>
            <a:cxnLst/>
            <a:rect l="l" t="t" r="r" b="b"/>
            <a:pathLst>
              <a:path w="252729" h="443230">
                <a:moveTo>
                  <a:pt x="252527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3">
            <a:extLst>
              <a:ext uri="{FF2B5EF4-FFF2-40B4-BE49-F238E27FC236}">
                <a16:creationId xmlns:a16="http://schemas.microsoft.com/office/drawing/2014/main" id="{DC845AD2-0871-3703-661C-95C40B9DD198}"/>
              </a:ext>
            </a:extLst>
          </p:cNvPr>
          <p:cNvSpPr/>
          <p:nvPr/>
        </p:nvSpPr>
        <p:spPr>
          <a:xfrm>
            <a:off x="7230181" y="9236167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4">
            <a:extLst>
              <a:ext uri="{FF2B5EF4-FFF2-40B4-BE49-F238E27FC236}">
                <a16:creationId xmlns:a16="http://schemas.microsoft.com/office/drawing/2014/main" id="{C7D652D7-EE95-B7A6-C155-0EDB7F3F3CC6}"/>
              </a:ext>
            </a:extLst>
          </p:cNvPr>
          <p:cNvSpPr/>
          <p:nvPr/>
        </p:nvSpPr>
        <p:spPr>
          <a:xfrm>
            <a:off x="7230181" y="9236167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5">
            <a:extLst>
              <a:ext uri="{FF2B5EF4-FFF2-40B4-BE49-F238E27FC236}">
                <a16:creationId xmlns:a16="http://schemas.microsoft.com/office/drawing/2014/main" id="{295DD4D6-FF21-C51C-BE9C-31DD900624CA}"/>
              </a:ext>
            </a:extLst>
          </p:cNvPr>
          <p:cNvSpPr/>
          <p:nvPr/>
        </p:nvSpPr>
        <p:spPr>
          <a:xfrm>
            <a:off x="6963818" y="757209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6">
            <a:extLst>
              <a:ext uri="{FF2B5EF4-FFF2-40B4-BE49-F238E27FC236}">
                <a16:creationId xmlns:a16="http://schemas.microsoft.com/office/drawing/2014/main" id="{9D3A75EC-BEE5-0FD7-1A67-926ECE0822A4}"/>
              </a:ext>
            </a:extLst>
          </p:cNvPr>
          <p:cNvSpPr/>
          <p:nvPr/>
        </p:nvSpPr>
        <p:spPr>
          <a:xfrm>
            <a:off x="6963817" y="757209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7">
            <a:extLst>
              <a:ext uri="{FF2B5EF4-FFF2-40B4-BE49-F238E27FC236}">
                <a16:creationId xmlns:a16="http://schemas.microsoft.com/office/drawing/2014/main" id="{50215B9D-CE3E-EF79-C381-07749454A840}"/>
              </a:ext>
            </a:extLst>
          </p:cNvPr>
          <p:cNvSpPr/>
          <p:nvPr/>
        </p:nvSpPr>
        <p:spPr>
          <a:xfrm>
            <a:off x="6080054" y="853418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0" name="object 58">
            <a:extLst>
              <a:ext uri="{FF2B5EF4-FFF2-40B4-BE49-F238E27FC236}">
                <a16:creationId xmlns:a16="http://schemas.microsoft.com/office/drawing/2014/main" id="{A9626278-80DD-1BA1-19A2-17DE83DB381A}"/>
              </a:ext>
            </a:extLst>
          </p:cNvPr>
          <p:cNvSpPr/>
          <p:nvPr/>
        </p:nvSpPr>
        <p:spPr>
          <a:xfrm>
            <a:off x="6080054" y="853418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object 59">
            <a:extLst>
              <a:ext uri="{FF2B5EF4-FFF2-40B4-BE49-F238E27FC236}">
                <a16:creationId xmlns:a16="http://schemas.microsoft.com/office/drawing/2014/main" id="{D9953418-5360-9A14-84CF-66B450ECC66A}"/>
              </a:ext>
            </a:extLst>
          </p:cNvPr>
          <p:cNvSpPr/>
          <p:nvPr/>
        </p:nvSpPr>
        <p:spPr>
          <a:xfrm>
            <a:off x="6039313" y="907633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2" name="object 60">
            <a:extLst>
              <a:ext uri="{FF2B5EF4-FFF2-40B4-BE49-F238E27FC236}">
                <a16:creationId xmlns:a16="http://schemas.microsoft.com/office/drawing/2014/main" id="{5C6ACDD1-B634-AFCF-EEF5-5C9F3EEA7ABE}"/>
              </a:ext>
            </a:extLst>
          </p:cNvPr>
          <p:cNvSpPr/>
          <p:nvPr/>
        </p:nvSpPr>
        <p:spPr>
          <a:xfrm>
            <a:off x="6039313" y="907633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3" name="object 61">
            <a:extLst>
              <a:ext uri="{FF2B5EF4-FFF2-40B4-BE49-F238E27FC236}">
                <a16:creationId xmlns:a16="http://schemas.microsoft.com/office/drawing/2014/main" id="{E4CD67AB-1D41-96A6-1B20-2401D538650E}"/>
              </a:ext>
            </a:extLst>
          </p:cNvPr>
          <p:cNvSpPr/>
          <p:nvPr/>
        </p:nvSpPr>
        <p:spPr>
          <a:xfrm>
            <a:off x="6039313" y="800143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4" name="object 62">
            <a:extLst>
              <a:ext uri="{FF2B5EF4-FFF2-40B4-BE49-F238E27FC236}">
                <a16:creationId xmlns:a16="http://schemas.microsoft.com/office/drawing/2014/main" id="{EE328C00-DAF7-F106-45D2-6EDBB6FADA5B}"/>
              </a:ext>
            </a:extLst>
          </p:cNvPr>
          <p:cNvSpPr/>
          <p:nvPr/>
        </p:nvSpPr>
        <p:spPr>
          <a:xfrm>
            <a:off x="6039313" y="800143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5" name="object 63">
            <a:extLst>
              <a:ext uri="{FF2B5EF4-FFF2-40B4-BE49-F238E27FC236}">
                <a16:creationId xmlns:a16="http://schemas.microsoft.com/office/drawing/2014/main" id="{BE423A42-DA6C-32B3-7F07-44A5E01239FB}"/>
              </a:ext>
            </a:extLst>
          </p:cNvPr>
          <p:cNvSpPr/>
          <p:nvPr/>
        </p:nvSpPr>
        <p:spPr>
          <a:xfrm>
            <a:off x="5036492" y="645956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6" name="object 64">
            <a:extLst>
              <a:ext uri="{FF2B5EF4-FFF2-40B4-BE49-F238E27FC236}">
                <a16:creationId xmlns:a16="http://schemas.microsoft.com/office/drawing/2014/main" id="{147A9BA1-EDD2-0A63-6FAD-90805CA09716}"/>
              </a:ext>
            </a:extLst>
          </p:cNvPr>
          <p:cNvSpPr/>
          <p:nvPr/>
        </p:nvSpPr>
        <p:spPr>
          <a:xfrm>
            <a:off x="5036492" y="645956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7" name="object 65">
            <a:extLst>
              <a:ext uri="{FF2B5EF4-FFF2-40B4-BE49-F238E27FC236}">
                <a16:creationId xmlns:a16="http://schemas.microsoft.com/office/drawing/2014/main" id="{F0DA8998-267A-1297-9746-01FDE81734AB}"/>
              </a:ext>
            </a:extLst>
          </p:cNvPr>
          <p:cNvSpPr/>
          <p:nvPr/>
        </p:nvSpPr>
        <p:spPr>
          <a:xfrm>
            <a:off x="5074089" y="757209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8" name="object 66">
            <a:extLst>
              <a:ext uri="{FF2B5EF4-FFF2-40B4-BE49-F238E27FC236}">
                <a16:creationId xmlns:a16="http://schemas.microsoft.com/office/drawing/2014/main" id="{B2A7B329-7411-4E13-B0A1-692BEBDBE797}"/>
              </a:ext>
            </a:extLst>
          </p:cNvPr>
          <p:cNvSpPr/>
          <p:nvPr/>
        </p:nvSpPr>
        <p:spPr>
          <a:xfrm>
            <a:off x="5074089" y="757209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9" name="object 67">
            <a:extLst>
              <a:ext uri="{FF2B5EF4-FFF2-40B4-BE49-F238E27FC236}">
                <a16:creationId xmlns:a16="http://schemas.microsoft.com/office/drawing/2014/main" id="{65205011-5B96-6398-0F4C-2680665F4D39}"/>
              </a:ext>
            </a:extLst>
          </p:cNvPr>
          <p:cNvSpPr/>
          <p:nvPr/>
        </p:nvSpPr>
        <p:spPr>
          <a:xfrm>
            <a:off x="5271527" y="5917427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0" name="object 68">
            <a:extLst>
              <a:ext uri="{FF2B5EF4-FFF2-40B4-BE49-F238E27FC236}">
                <a16:creationId xmlns:a16="http://schemas.microsoft.com/office/drawing/2014/main" id="{CFBCFE9B-00EE-1AEE-C8DD-7C7CF40E6A74}"/>
              </a:ext>
            </a:extLst>
          </p:cNvPr>
          <p:cNvSpPr/>
          <p:nvPr/>
        </p:nvSpPr>
        <p:spPr>
          <a:xfrm>
            <a:off x="5271527" y="5917427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1" name="object 69">
            <a:extLst>
              <a:ext uri="{FF2B5EF4-FFF2-40B4-BE49-F238E27FC236}">
                <a16:creationId xmlns:a16="http://schemas.microsoft.com/office/drawing/2014/main" id="{42097737-E552-8869-37ED-EB62C9EB5534}"/>
              </a:ext>
            </a:extLst>
          </p:cNvPr>
          <p:cNvSpPr/>
          <p:nvPr/>
        </p:nvSpPr>
        <p:spPr>
          <a:xfrm>
            <a:off x="5575514" y="5378390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2" name="object 70">
            <a:extLst>
              <a:ext uri="{FF2B5EF4-FFF2-40B4-BE49-F238E27FC236}">
                <a16:creationId xmlns:a16="http://schemas.microsoft.com/office/drawing/2014/main" id="{6E1BF66C-2F67-A843-85AE-6E7E2D5C7E78}"/>
              </a:ext>
            </a:extLst>
          </p:cNvPr>
          <p:cNvSpPr/>
          <p:nvPr/>
        </p:nvSpPr>
        <p:spPr>
          <a:xfrm>
            <a:off x="5575514" y="5378390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3" name="object 71">
            <a:extLst>
              <a:ext uri="{FF2B5EF4-FFF2-40B4-BE49-F238E27FC236}">
                <a16:creationId xmlns:a16="http://schemas.microsoft.com/office/drawing/2014/main" id="{572552F7-C71E-F762-9CA1-52FA0B0ADE5C}"/>
              </a:ext>
            </a:extLst>
          </p:cNvPr>
          <p:cNvSpPr/>
          <p:nvPr/>
        </p:nvSpPr>
        <p:spPr>
          <a:xfrm>
            <a:off x="6619085" y="692339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4" name="object 72">
            <a:extLst>
              <a:ext uri="{FF2B5EF4-FFF2-40B4-BE49-F238E27FC236}">
                <a16:creationId xmlns:a16="http://schemas.microsoft.com/office/drawing/2014/main" id="{76A3C7B6-94B0-35A4-7BFF-562BFD2509C0}"/>
              </a:ext>
            </a:extLst>
          </p:cNvPr>
          <p:cNvSpPr/>
          <p:nvPr/>
        </p:nvSpPr>
        <p:spPr>
          <a:xfrm>
            <a:off x="6619085" y="6923398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3" name="object 81">
            <a:extLst>
              <a:ext uri="{FF2B5EF4-FFF2-40B4-BE49-F238E27FC236}">
                <a16:creationId xmlns:a16="http://schemas.microsoft.com/office/drawing/2014/main" id="{471A77E2-85B4-35B3-91A2-640518CDFDB9}"/>
              </a:ext>
            </a:extLst>
          </p:cNvPr>
          <p:cNvSpPr txBox="1"/>
          <p:nvPr/>
        </p:nvSpPr>
        <p:spPr>
          <a:xfrm>
            <a:off x="5268976" y="5292531"/>
            <a:ext cx="1043319" cy="400317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466461" marR="0" lvl="0" indent="0" algn="l" defTabSz="1112093" rtl="0" eaLnBrk="1" fontAlgn="auto" latinLnBrk="0" hangingPunct="1">
              <a:lnSpc>
                <a:spcPts val="1453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ts val="14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4" name="object 82">
            <a:extLst>
              <a:ext uri="{FF2B5EF4-FFF2-40B4-BE49-F238E27FC236}">
                <a16:creationId xmlns:a16="http://schemas.microsoft.com/office/drawing/2014/main" id="{9D62C489-9898-7769-E2DA-35064337DDEE}"/>
              </a:ext>
            </a:extLst>
          </p:cNvPr>
          <p:cNvSpPr txBox="1"/>
          <p:nvPr/>
        </p:nvSpPr>
        <p:spPr>
          <a:xfrm>
            <a:off x="4979985" y="6050432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5" name="object 83">
            <a:extLst>
              <a:ext uri="{FF2B5EF4-FFF2-40B4-BE49-F238E27FC236}">
                <a16:creationId xmlns:a16="http://schemas.microsoft.com/office/drawing/2014/main" id="{9CBBC3CF-3A7A-1C78-F302-919BF104189F}"/>
              </a:ext>
            </a:extLst>
          </p:cNvPr>
          <p:cNvSpPr txBox="1"/>
          <p:nvPr/>
        </p:nvSpPr>
        <p:spPr>
          <a:xfrm>
            <a:off x="4794093" y="6945209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6" name="object 84">
            <a:extLst>
              <a:ext uri="{FF2B5EF4-FFF2-40B4-BE49-F238E27FC236}">
                <a16:creationId xmlns:a16="http://schemas.microsoft.com/office/drawing/2014/main" id="{DBF339AE-6306-6A48-F8B7-772C41254030}"/>
              </a:ext>
            </a:extLst>
          </p:cNvPr>
          <p:cNvSpPr txBox="1"/>
          <p:nvPr/>
        </p:nvSpPr>
        <p:spPr>
          <a:xfrm>
            <a:off x="5387003" y="781909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7" name="object 85">
            <a:extLst>
              <a:ext uri="{FF2B5EF4-FFF2-40B4-BE49-F238E27FC236}">
                <a16:creationId xmlns:a16="http://schemas.microsoft.com/office/drawing/2014/main" id="{A8BFB85D-7881-B023-7481-546B5192EE82}"/>
              </a:ext>
            </a:extLst>
          </p:cNvPr>
          <p:cNvSpPr txBox="1"/>
          <p:nvPr/>
        </p:nvSpPr>
        <p:spPr>
          <a:xfrm>
            <a:off x="5879783" y="8184837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8" name="object 86">
            <a:extLst>
              <a:ext uri="{FF2B5EF4-FFF2-40B4-BE49-F238E27FC236}">
                <a16:creationId xmlns:a16="http://schemas.microsoft.com/office/drawing/2014/main" id="{C29C073A-E6D8-06AB-8BF6-ABF799A6FAEB}"/>
              </a:ext>
            </a:extLst>
          </p:cNvPr>
          <p:cNvSpPr txBox="1"/>
          <p:nvPr/>
        </p:nvSpPr>
        <p:spPr>
          <a:xfrm>
            <a:off x="5349752" y="8645786"/>
            <a:ext cx="719743" cy="561237"/>
          </a:xfrm>
          <a:prstGeom prst="rect">
            <a:avLst/>
          </a:prstGeom>
        </p:spPr>
        <p:txBody>
          <a:bodyPr vert="horz" wrap="square" lIns="0" tIns="90354" rIns="0" bIns="0" rtlCol="0">
            <a:spAutoFit/>
          </a:bodyPr>
          <a:lstStyle/>
          <a:p>
            <a:pPr marL="0" marR="6178" lvl="0" indent="0" algn="r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5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9" name="object 87">
            <a:extLst>
              <a:ext uri="{FF2B5EF4-FFF2-40B4-BE49-F238E27FC236}">
                <a16:creationId xmlns:a16="http://schemas.microsoft.com/office/drawing/2014/main" id="{75C78E89-D98E-2C24-FD39-96F78C51D37C}"/>
              </a:ext>
            </a:extLst>
          </p:cNvPr>
          <p:cNvSpPr txBox="1"/>
          <p:nvPr/>
        </p:nvSpPr>
        <p:spPr>
          <a:xfrm>
            <a:off x="6548886" y="8950832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120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0" name="object 88">
            <a:extLst>
              <a:ext uri="{FF2B5EF4-FFF2-40B4-BE49-F238E27FC236}">
                <a16:creationId xmlns:a16="http://schemas.microsoft.com/office/drawing/2014/main" id="{9CEC0C21-B2F4-97F5-24AA-740386A158EE}"/>
              </a:ext>
            </a:extLst>
          </p:cNvPr>
          <p:cNvSpPr txBox="1"/>
          <p:nvPr/>
        </p:nvSpPr>
        <p:spPr>
          <a:xfrm>
            <a:off x="6188457" y="597911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151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1" name="object 89">
            <a:extLst>
              <a:ext uri="{FF2B5EF4-FFF2-40B4-BE49-F238E27FC236}">
                <a16:creationId xmlns:a16="http://schemas.microsoft.com/office/drawing/2014/main" id="{E8E3ABB1-F1F5-F2FD-E4B4-D39809F4316C}"/>
              </a:ext>
            </a:extLst>
          </p:cNvPr>
          <p:cNvSpPr txBox="1"/>
          <p:nvPr/>
        </p:nvSpPr>
        <p:spPr>
          <a:xfrm>
            <a:off x="5737489" y="6449061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2" name="object 90">
            <a:extLst>
              <a:ext uri="{FF2B5EF4-FFF2-40B4-BE49-F238E27FC236}">
                <a16:creationId xmlns:a16="http://schemas.microsoft.com/office/drawing/2014/main" id="{A6838552-A12A-5A97-58F6-2108C9083F15}"/>
              </a:ext>
            </a:extLst>
          </p:cNvPr>
          <p:cNvSpPr txBox="1"/>
          <p:nvPr/>
        </p:nvSpPr>
        <p:spPr>
          <a:xfrm>
            <a:off x="7341336" y="6785032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99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3" name="object 91">
            <a:extLst>
              <a:ext uri="{FF2B5EF4-FFF2-40B4-BE49-F238E27FC236}">
                <a16:creationId xmlns:a16="http://schemas.microsoft.com/office/drawing/2014/main" id="{6CDDC4FF-813C-FB97-92EA-F0E3AEF1627C}"/>
              </a:ext>
            </a:extLst>
          </p:cNvPr>
          <p:cNvSpPr txBox="1"/>
          <p:nvPr/>
        </p:nvSpPr>
        <p:spPr>
          <a:xfrm>
            <a:off x="6897355" y="7136235"/>
            <a:ext cx="1315925" cy="409432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41329" marR="0" lvl="0" indent="0" algn="l" defTabSz="1112093" rtl="0" eaLnBrk="1" fontAlgn="auto" latinLnBrk="0" hangingPunct="1">
              <a:lnSpc>
                <a:spcPct val="100000"/>
              </a:lnSpc>
              <a:spcBef>
                <a:spcPts val="3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1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4" name="object 92">
            <a:extLst>
              <a:ext uri="{FF2B5EF4-FFF2-40B4-BE49-F238E27FC236}">
                <a16:creationId xmlns:a16="http://schemas.microsoft.com/office/drawing/2014/main" id="{795535C6-2792-6A1F-16EB-7BA2283CE43A}"/>
              </a:ext>
            </a:extLst>
          </p:cNvPr>
          <p:cNvSpPr txBox="1"/>
          <p:nvPr/>
        </p:nvSpPr>
        <p:spPr>
          <a:xfrm>
            <a:off x="7449164" y="7928457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8" name="object 96">
            <a:extLst>
              <a:ext uri="{FF2B5EF4-FFF2-40B4-BE49-F238E27FC236}">
                <a16:creationId xmlns:a16="http://schemas.microsoft.com/office/drawing/2014/main" id="{DE3BEC83-CC31-C121-750A-CAE36862AF7D}"/>
              </a:ext>
            </a:extLst>
          </p:cNvPr>
          <p:cNvSpPr txBox="1"/>
          <p:nvPr/>
        </p:nvSpPr>
        <p:spPr>
          <a:xfrm>
            <a:off x="7204846" y="8381684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146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5" name="object 103">
            <a:extLst>
              <a:ext uri="{FF2B5EF4-FFF2-40B4-BE49-F238E27FC236}">
                <a16:creationId xmlns:a16="http://schemas.microsoft.com/office/drawing/2014/main" id="{969AED57-123C-AC1B-689A-7745D3F113F6}"/>
              </a:ext>
            </a:extLst>
          </p:cNvPr>
          <p:cNvSpPr/>
          <p:nvPr/>
        </p:nvSpPr>
        <p:spPr>
          <a:xfrm>
            <a:off x="4984851" y="6407927"/>
            <a:ext cx="219321" cy="219321"/>
          </a:xfrm>
          <a:custGeom>
            <a:avLst/>
            <a:gdLst/>
            <a:ahLst/>
            <a:cxnLst/>
            <a:rect l="l" t="t" r="r" b="b"/>
            <a:pathLst>
              <a:path w="180339" h="180339">
                <a:moveTo>
                  <a:pt x="180260" y="90129"/>
                </a:moveTo>
                <a:lnTo>
                  <a:pt x="173177" y="55047"/>
                </a:lnTo>
                <a:lnTo>
                  <a:pt x="153861" y="26398"/>
                </a:lnTo>
                <a:lnTo>
                  <a:pt x="125212" y="7083"/>
                </a:lnTo>
                <a:lnTo>
                  <a:pt x="90130" y="0"/>
                </a:lnTo>
                <a:lnTo>
                  <a:pt x="55048" y="7083"/>
                </a:lnTo>
                <a:lnTo>
                  <a:pt x="26399" y="26398"/>
                </a:lnTo>
                <a:lnTo>
                  <a:pt x="7083" y="55047"/>
                </a:lnTo>
                <a:lnTo>
                  <a:pt x="0" y="90129"/>
                </a:lnTo>
                <a:lnTo>
                  <a:pt x="7083" y="125210"/>
                </a:lnTo>
                <a:lnTo>
                  <a:pt x="26399" y="153859"/>
                </a:lnTo>
                <a:lnTo>
                  <a:pt x="55048" y="173175"/>
                </a:lnTo>
                <a:lnTo>
                  <a:pt x="90130" y="180258"/>
                </a:lnTo>
                <a:lnTo>
                  <a:pt x="125212" y="173175"/>
                </a:lnTo>
                <a:lnTo>
                  <a:pt x="153861" y="153859"/>
                </a:lnTo>
                <a:lnTo>
                  <a:pt x="173177" y="125210"/>
                </a:lnTo>
                <a:lnTo>
                  <a:pt x="180260" y="90129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5D359C-C44C-5917-75E9-97E326CFA800}"/>
                  </a:ext>
                </a:extLst>
              </p14:cNvPr>
              <p14:cNvContentPartPr/>
              <p14:nvPr/>
            </p14:nvContentPartPr>
            <p14:xfrm>
              <a:off x="4287012" y="3687230"/>
              <a:ext cx="267840" cy="215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5D359C-C44C-5917-75E9-97E326CFA8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69012" y="3669590"/>
                <a:ext cx="3034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EAD5865-7085-42D4-C605-6E7281015B6F}"/>
                  </a:ext>
                </a:extLst>
              </p14:cNvPr>
              <p14:cNvContentPartPr/>
              <p14:nvPr/>
            </p14:nvContentPartPr>
            <p14:xfrm>
              <a:off x="4383492" y="3086390"/>
              <a:ext cx="4303800" cy="781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EAD5865-7085-42D4-C605-6E7281015B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65492" y="3068750"/>
                <a:ext cx="4339440" cy="8172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E250853-4B76-83AB-C784-63FFB2DF838B}"/>
              </a:ext>
            </a:extLst>
          </p:cNvPr>
          <p:cNvSpPr txBox="1"/>
          <p:nvPr/>
        </p:nvSpPr>
        <p:spPr>
          <a:xfrm>
            <a:off x="8938727" y="2799184"/>
            <a:ext cx="3564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Prevents cycles!</a:t>
            </a:r>
          </a:p>
        </p:txBody>
      </p:sp>
    </p:spTree>
    <p:extLst>
      <p:ext uri="{BB962C8B-B14F-4D97-AF65-F5344CB8AC3E}">
        <p14:creationId xmlns:p14="http://schemas.microsoft.com/office/powerpoint/2010/main" val="27453472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5715" y="464694"/>
            <a:ext cx="6484960" cy="1437703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15446">
              <a:spcBef>
                <a:spcPts val="152"/>
              </a:spcBef>
            </a:pPr>
            <a:r>
              <a:rPr spc="-49" dirty="0"/>
              <a:t>Limited-depth</a:t>
            </a:r>
            <a:r>
              <a:rPr spc="268" dirty="0"/>
              <a:t> </a:t>
            </a:r>
            <a:r>
              <a:rPr spc="-213" dirty="0"/>
              <a:t>search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6605" y="1982738"/>
            <a:ext cx="4938581" cy="1725147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 </a:t>
            </a:r>
            <a:r>
              <a:rPr kumimoji="0" sz="2068" b="0" i="0" u="none" strike="noStrike" kern="1200" cap="none" spc="-103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LD-Tree-Search</a:t>
            </a:r>
            <a:r>
              <a:rPr kumimoji="0" sz="2068" b="0" i="0" u="none" strike="noStrike" kern="1200" cap="none" spc="-10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10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r>
              <a:rPr kumimoji="0" sz="2068" b="0" i="0" u="none" strike="noStrike" kern="1200" cap="none" spc="-10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,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,</a:t>
            </a:r>
            <a:r>
              <a:rPr kumimoji="0" sz="2068" b="0" i="0" u="none" strike="noStrike" kern="1200" cap="none" spc="-2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limit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749891" lvl="0" indent="-266439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r>
              <a:rPr kumimoji="0" sz="2068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 state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 if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limit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= 0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</a:t>
            </a:r>
            <a:r>
              <a:rPr kumimoji="0" sz="2068" b="1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Cutoff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2492" y="3694809"/>
            <a:ext cx="1987787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did</a:t>
            </a:r>
            <a:r>
              <a:rPr kumimoji="0" sz="2068" b="0" i="1" u="sng" strike="noStrike" kern="1200" cap="none" spc="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cutoff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False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2492" y="4013882"/>
            <a:ext cx="5340154" cy="1388067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for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each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in </a:t>
            </a:r>
            <a:r>
              <a:rPr kumimoji="0" sz="2068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Expand</a:t>
            </a:r>
            <a:r>
              <a:rPr kumimoji="0" sz="2068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r>
              <a:rPr kumimoji="0" sz="2068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do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13946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result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-1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LD-Tree-Search</a:t>
            </a:r>
            <a:r>
              <a:rPr kumimoji="0" sz="2068" b="0" i="0" u="none" strike="noStrike" kern="1200" cap="none" spc="-1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1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</a:t>
            </a:r>
            <a:r>
              <a:rPr kumimoji="0" sz="2068" b="0" i="0" u="none" strike="noStrike" kern="1200" cap="none" spc="-1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,</a:t>
            </a:r>
            <a:r>
              <a:rPr kumimoji="0" sz="2068" b="0" i="0" u="none" strike="noStrike" kern="1200" cap="none" spc="-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,</a:t>
            </a:r>
            <a:r>
              <a:rPr kumimoji="0" sz="2068" b="0" i="0" u="none" strike="noStrike" kern="1200" cap="none" spc="-20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limit</a:t>
            </a:r>
            <a:r>
              <a:rPr kumimoji="0" sz="2068" b="0" i="1" u="none" strike="noStrike" kern="1200" cap="none" spc="-18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37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−</a:t>
            </a:r>
            <a:r>
              <a:rPr kumimoji="0" sz="2068" b="0" i="1" u="none" strike="noStrike" kern="1200" cap="none" spc="-9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1)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13946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result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solution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result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13946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 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result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= 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Cutoff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0" i="1" u="none" strike="noStrike" kern="1200" cap="none" spc="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did</a:t>
            </a:r>
            <a:r>
              <a:rPr kumimoji="0" sz="2068" b="0" i="1" u="sng" strike="noStrike" kern="1200" cap="none" spc="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cutoff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10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-13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True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2492" y="5387425"/>
            <a:ext cx="5435914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did</a:t>
            </a:r>
            <a:r>
              <a:rPr kumimoji="0" sz="2068" b="0" i="1" u="sng" strike="noStrike" kern="1200" cap="none" spc="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cutoff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Cutoff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</a:t>
            </a:r>
            <a:r>
              <a:rPr kumimoji="0" sz="2068" b="1" i="0" u="none" strike="noStrike" kern="1200" cap="none" spc="-2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1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Failure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12049" y="6026520"/>
            <a:ext cx="6338682" cy="0"/>
          </a:xfrm>
          <a:custGeom>
            <a:avLst/>
            <a:gdLst/>
            <a:ahLst/>
            <a:cxnLst/>
            <a:rect l="l" t="t" r="r" b="b"/>
            <a:pathLst>
              <a:path w="5212080">
                <a:moveTo>
                  <a:pt x="0" y="0"/>
                </a:moveTo>
                <a:lnTo>
                  <a:pt x="5212080" y="0"/>
                </a:lnTo>
              </a:path>
            </a:pathLst>
          </a:custGeom>
          <a:ln w="63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5714" y="6050035"/>
            <a:ext cx="6052947" cy="2086986"/>
          </a:xfrm>
          <a:prstGeom prst="rect">
            <a:avLst/>
          </a:prstGeom>
        </p:spPr>
        <p:txBody>
          <a:bodyPr vert="horz" wrap="square" lIns="0" tIns="191520" rIns="0" bIns="0" rtlCol="0">
            <a:spAutoFit/>
          </a:bodyPr>
          <a:lstStyle/>
          <a:p>
            <a:pPr marL="444837" marR="0" lvl="0" indent="-399272" algn="l" defTabSz="1112093" rtl="0" eaLnBrk="1" fontAlgn="auto" latinLnBrk="0" hangingPunct="1">
              <a:lnSpc>
                <a:spcPct val="100000"/>
              </a:lnSpc>
              <a:spcBef>
                <a:spcPts val="1508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45610" algn="l"/>
              </a:tabLst>
              <a:defRPr/>
            </a:pP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Depth-first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search, backtracks at</a:t>
            </a:r>
            <a:r>
              <a:rPr kumimoji="0" sz="2493" b="0" i="0" u="none" strike="noStrike" kern="1200" cap="none" spc="-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limit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44837" marR="0" lvl="0" indent="-399272" algn="l" defTabSz="1112093" rtl="0" eaLnBrk="1" fontAlgn="auto" latinLnBrk="0" hangingPunct="1">
              <a:lnSpc>
                <a:spcPct val="100000"/>
              </a:lnSpc>
              <a:spcBef>
                <a:spcPts val="1399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45610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Returns a solution if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it </a:t>
            </a:r>
            <a:r>
              <a:rPr kumimoji="0" sz="2493" b="0" i="0" u="none" strike="noStrike" kern="1200" cap="none" spc="-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finds</a:t>
            </a:r>
            <a:r>
              <a:rPr kumimoji="0" sz="2493" b="0" i="0" u="none" strike="noStrike" kern="1200" cap="none" spc="-3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one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760703" marR="0" lvl="1" indent="-332856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760703" algn="l"/>
                <a:tab pos="76147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 </a:t>
            </a:r>
            <a:r>
              <a:rPr kumimoji="0" sz="2493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Cutoff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at least one 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cutoff</a:t>
            </a:r>
            <a:r>
              <a:rPr kumimoji="0" sz="2493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occurred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760703" marR="0" lvl="1" indent="-332856" algn="l" defTabSz="1112093" rtl="0" eaLnBrk="1" fontAlgn="auto" latinLnBrk="0" hangingPunct="1">
              <a:lnSpc>
                <a:spcPct val="100000"/>
              </a:lnSpc>
              <a:spcBef>
                <a:spcPts val="718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760703" algn="l"/>
                <a:tab pos="76147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 </a:t>
            </a:r>
            <a:r>
              <a:rPr kumimoji="0" sz="2493" b="0" i="0" u="none" strike="noStrike" kern="1200" cap="none" spc="-15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Failure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(all paths are dead</a:t>
            </a:r>
            <a:r>
              <a:rPr kumimoji="0" sz="2493" b="0" i="0" u="none" strike="noStrike" kern="1200" cap="none" spc="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ends)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05973" y="1735965"/>
            <a:ext cx="1055673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limit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2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0: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635376" y="1464573"/>
            <a:ext cx="2500539" cy="16277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89122" y="3519445"/>
            <a:ext cx="1055673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limit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2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1: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642115" y="3251424"/>
            <a:ext cx="2500540" cy="1624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82867" y="5302924"/>
            <a:ext cx="1055673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limit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2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2: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635804" y="5034904"/>
            <a:ext cx="2510235" cy="16344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7715019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604" y="523939"/>
            <a:ext cx="6479528" cy="728599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15446">
              <a:spcBef>
                <a:spcPts val="152"/>
              </a:spcBef>
            </a:pPr>
            <a:r>
              <a:rPr dirty="0"/>
              <a:t>Iterative</a:t>
            </a:r>
            <a:r>
              <a:rPr spc="292" dirty="0"/>
              <a:t> </a:t>
            </a:r>
            <a:r>
              <a:rPr spc="-146" dirty="0"/>
              <a:t>deepening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6605" y="1571366"/>
            <a:ext cx="3699881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 </a:t>
            </a:r>
            <a:r>
              <a:rPr kumimoji="0" sz="2068" b="0" i="0" u="none" strike="noStrike" kern="1200" cap="none" spc="-134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ID-Tree-Search</a:t>
            </a:r>
            <a:r>
              <a:rPr kumimoji="0" sz="2068" b="0" i="0" u="none" strike="noStrike" kern="1200" cap="none" spc="-13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2491" y="1909877"/>
            <a:ext cx="1958443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82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root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5444" y="2248403"/>
            <a:ext cx="2466586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for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limit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3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0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 </a:t>
            </a:r>
            <a:r>
              <a:rPr kumimoji="0" sz="2068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∞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do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1347" y="2586930"/>
            <a:ext cx="492159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result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9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-10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LD-Tree-Search</a:t>
            </a:r>
            <a:r>
              <a:rPr kumimoji="0" sz="2068" b="0" i="0" u="none" strike="noStrike" kern="1200" cap="none" spc="-10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10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r>
              <a:rPr kumimoji="0" sz="2068" b="0" i="0" u="none" strike="noStrike" kern="1200" cap="none" spc="-10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,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problem,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limit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6605" y="2751845"/>
            <a:ext cx="4938581" cy="2378870"/>
          </a:xfrm>
          <a:prstGeom prst="rect">
            <a:avLst/>
          </a:prstGeom>
        </p:spPr>
        <p:txBody>
          <a:bodyPr vert="horz" wrap="square" lIns="0" tIns="192292" rIns="0" bIns="0" rtlCol="0">
            <a:spAutoFit/>
          </a:bodyPr>
          <a:lstStyle/>
          <a:p>
            <a:pPr marL="279568" marR="0" lvl="0" indent="0" algn="ctr" defTabSz="1112093" rtl="0" eaLnBrk="1" fontAlgn="auto" latinLnBrk="0" hangingPunct="1">
              <a:lnSpc>
                <a:spcPct val="100000"/>
              </a:lnSpc>
              <a:spcBef>
                <a:spcPts val="15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result </a:t>
            </a:r>
            <a:r>
              <a:rPr kumimoji="0" sz="2068" b="0" i="1" u="none" strike="noStrike" kern="1200" cap="none" spc="2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/</a:t>
            </a:r>
            <a:r>
              <a:rPr kumimoji="0" sz="2068" b="0" i="0" u="none" strike="noStrike" kern="1200" cap="none" spc="2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 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Cutoff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</a:t>
            </a:r>
            <a:r>
              <a:rPr kumimoji="0" sz="2068" b="1" i="0" u="none" strike="noStrike" kern="1200" cap="none" spc="-11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result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 </a:t>
            </a:r>
            <a:r>
              <a:rPr kumimoji="0" sz="2068" b="0" i="0" u="none" strike="noStrike" kern="1200" cap="none" spc="-103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LD-Tree-Search</a:t>
            </a:r>
            <a:r>
              <a:rPr kumimoji="0" sz="2068" b="0" i="0" u="none" strike="noStrike" kern="1200" cap="none" spc="-10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10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r>
              <a:rPr kumimoji="0" sz="2068" b="0" i="0" u="none" strike="noStrike" kern="1200" cap="none" spc="-10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,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,</a:t>
            </a:r>
            <a:r>
              <a:rPr kumimoji="0" sz="2068" b="0" i="0" u="none" strike="noStrike" kern="1200" cap="none" spc="-2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limit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749891" lvl="0" indent="-266439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r>
              <a:rPr kumimoji="0" sz="2068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 state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 if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limit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= 0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</a:t>
            </a:r>
            <a:r>
              <a:rPr kumimoji="0" sz="2068" b="1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Cutoff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62492" y="5110756"/>
            <a:ext cx="1987787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did</a:t>
            </a:r>
            <a:r>
              <a:rPr kumimoji="0" sz="2068" b="0" i="1" u="sng" strike="noStrike" kern="1200" cap="none" spc="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cutoff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False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2492" y="5449283"/>
            <a:ext cx="3297535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for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each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in </a:t>
            </a:r>
            <a:r>
              <a:rPr kumimoji="0" sz="2068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Expand</a:t>
            </a:r>
            <a:r>
              <a:rPr kumimoji="0" sz="2068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r>
              <a:rPr kumimoji="0" sz="2068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do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05973" y="1744474"/>
            <a:ext cx="1055673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limit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2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0: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635376" y="1473084"/>
            <a:ext cx="2500539" cy="16277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89122" y="3527971"/>
            <a:ext cx="1055673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limit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2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1: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42115" y="3259949"/>
            <a:ext cx="2500540" cy="1624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82867" y="5311451"/>
            <a:ext cx="1055673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limit </a:t>
            </a:r>
            <a:r>
              <a:rPr kumimoji="0" sz="2068" b="0" i="0" u="none" strike="noStrike" kern="1200" cap="none" spc="4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068" b="0" i="0" u="none" strike="noStrike" kern="1200" cap="none" spc="-2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2: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635804" y="5043429"/>
            <a:ext cx="2510235" cy="16344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12049" y="7342491"/>
            <a:ext cx="6338682" cy="0"/>
          </a:xfrm>
          <a:custGeom>
            <a:avLst/>
            <a:gdLst/>
            <a:ahLst/>
            <a:cxnLst/>
            <a:rect l="l" t="t" r="r" b="b"/>
            <a:pathLst>
              <a:path w="5212080">
                <a:moveTo>
                  <a:pt x="0" y="0"/>
                </a:moveTo>
                <a:lnTo>
                  <a:pt x="5212080" y="0"/>
                </a:lnTo>
              </a:path>
            </a:pathLst>
          </a:custGeom>
          <a:ln w="63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0269" y="5768371"/>
            <a:ext cx="6866133" cy="2527225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725950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result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-1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LD-Tree-Search</a:t>
            </a:r>
            <a:r>
              <a:rPr kumimoji="0" sz="2068" b="0" i="0" u="none" strike="noStrike" kern="1200" cap="none" spc="-1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1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</a:t>
            </a:r>
            <a:r>
              <a:rPr kumimoji="0" sz="2068" b="0" i="0" u="none" strike="noStrike" kern="1200" cap="none" spc="-1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,</a:t>
            </a:r>
            <a:r>
              <a:rPr kumimoji="0" sz="2068" b="0" i="0" u="none" strike="noStrike" kern="1200" cap="none" spc="-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,</a:t>
            </a:r>
            <a:r>
              <a:rPr kumimoji="0" sz="2068" b="0" i="0" u="none" strike="noStrike" kern="1200" cap="none" spc="-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limit</a:t>
            </a:r>
            <a:r>
              <a:rPr kumimoji="0" sz="2068" b="0" i="1" u="none" strike="noStrike" kern="1200" cap="none" spc="-18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37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−</a:t>
            </a:r>
            <a:r>
              <a:rPr kumimoji="0" sz="2068" b="0" i="1" u="none" strike="noStrike" kern="1200" cap="none" spc="-9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725950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result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solution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result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725950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 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result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= 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Cutoff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0" i="1" u="none" strike="noStrike" kern="1200" cap="none" spc="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did</a:t>
            </a:r>
            <a:r>
              <a:rPr kumimoji="0" sz="2068" b="0" i="1" u="sng" strike="noStrike" kern="1200" cap="none" spc="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cutoff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10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-13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True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  <a:p>
            <a:pPr marL="327450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did</a:t>
            </a:r>
            <a:r>
              <a:rPr kumimoji="0" sz="2068" b="0" i="1" u="sng" strike="noStrike" kern="1200" cap="none" spc="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cutoff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Cutoff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</a:t>
            </a:r>
            <a:r>
              <a:rPr kumimoji="0" sz="2068" b="1" i="0" u="none" strike="noStrike" kern="1200" cap="none" spc="-2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1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Failure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Depth-limited search to deeper and deeper</a:t>
            </a:r>
            <a:r>
              <a:rPr kumimoji="0" sz="2493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depths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776148" marR="0" lvl="1" indent="-332856" algn="l" defTabSz="1112093" rtl="0" eaLnBrk="1" fontAlgn="auto" latinLnBrk="0" hangingPunct="1">
              <a:lnSpc>
                <a:spcPct val="100000"/>
              </a:lnSpc>
              <a:spcBef>
                <a:spcPts val="718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776148" algn="l"/>
                <a:tab pos="776921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Returns when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it </a:t>
            </a:r>
            <a:r>
              <a:rPr kumimoji="0" sz="2493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generates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</a:t>
            </a:r>
            <a:r>
              <a:rPr kumimoji="0" sz="2493" b="0" i="0" u="none" strike="noStrike" kern="1200" cap="none" spc="-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goal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21471069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FD60E-A127-7537-1E78-AF25AEB75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BA9E8-62C0-8621-EFDD-9937C29CF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DFS and its variants: not guaranteed to be optimal</a:t>
            </a:r>
          </a:p>
          <a:p>
            <a:endParaRPr lang="en-US" dirty="0"/>
          </a:p>
          <a:p>
            <a:r>
              <a:rPr lang="en-US" dirty="0"/>
              <a:t>BFS: optimal only if all edges have same costs</a:t>
            </a:r>
          </a:p>
          <a:p>
            <a:endParaRPr lang="en-US" dirty="0"/>
          </a:p>
          <a:p>
            <a:r>
              <a:rPr lang="en-US" dirty="0"/>
              <a:t>In general?</a:t>
            </a:r>
          </a:p>
        </p:txBody>
      </p:sp>
    </p:spTree>
    <p:extLst>
      <p:ext uri="{BB962C8B-B14F-4D97-AF65-F5344CB8AC3E}">
        <p14:creationId xmlns:p14="http://schemas.microsoft.com/office/powerpoint/2010/main" val="42745625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FD60E-A127-7537-1E78-AF25AEB75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 / Dijkstra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BA9E8-62C0-8621-EFDD-9937C29CF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UCS and Dijkstra are very similar</a:t>
            </a:r>
          </a:p>
          <a:p>
            <a:endParaRPr lang="en-US" dirty="0"/>
          </a:p>
          <a:p>
            <a:r>
              <a:rPr lang="en-US" dirty="0"/>
              <a:t>UCS finds the shortest path from start to goal</a:t>
            </a:r>
          </a:p>
          <a:p>
            <a:r>
              <a:rPr lang="en-US" dirty="0"/>
              <a:t>Dijkstra finds the shortest path from start to </a:t>
            </a:r>
            <a:r>
              <a:rPr lang="en-US" i="1" dirty="0"/>
              <a:t>all</a:t>
            </a:r>
            <a:r>
              <a:rPr lang="en-US" dirty="0"/>
              <a:t> other vertices + some other minor differences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BFS: FIFO</a:t>
            </a:r>
          </a:p>
          <a:p>
            <a:pPr lvl="1"/>
            <a:r>
              <a:rPr lang="en-US" dirty="0"/>
              <a:t>DFS: LIFO</a:t>
            </a:r>
          </a:p>
          <a:p>
            <a:pPr lvl="1"/>
            <a:r>
              <a:rPr lang="en-US" dirty="0"/>
              <a:t>UCS: minimum cost is the first out </a:t>
            </a:r>
          </a:p>
        </p:txBody>
      </p:sp>
    </p:spTree>
    <p:extLst>
      <p:ext uri="{BB962C8B-B14F-4D97-AF65-F5344CB8AC3E}">
        <p14:creationId xmlns:p14="http://schemas.microsoft.com/office/powerpoint/2010/main" val="14279611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2325" y="514123"/>
            <a:ext cx="7718363" cy="728599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15446">
              <a:spcBef>
                <a:spcPts val="152"/>
              </a:spcBef>
            </a:pPr>
            <a:r>
              <a:rPr spc="-85" dirty="0"/>
              <a:t>Uniform-cost</a:t>
            </a:r>
            <a:r>
              <a:rPr spc="26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122" name="object 12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121" name="object 121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0545" y="3400697"/>
            <a:ext cx="1281174" cy="1621739"/>
          </a:xfrm>
          <a:custGeom>
            <a:avLst/>
            <a:gdLst/>
            <a:ahLst/>
            <a:cxnLst/>
            <a:rect l="l" t="t" r="r" b="b"/>
            <a:pathLst>
              <a:path w="1053465" h="1333500">
                <a:moveTo>
                  <a:pt x="0" y="0"/>
                </a:moveTo>
                <a:lnTo>
                  <a:pt x="1052961" y="1332936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06712" y="4756837"/>
            <a:ext cx="664913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Urziceni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80196" y="1853953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Neamt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72356" y="2204767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73412" y="2668585"/>
            <a:ext cx="40234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27255" y="3709023"/>
            <a:ext cx="800058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53965" y="4210434"/>
            <a:ext cx="47416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75633" y="4749455"/>
            <a:ext cx="6826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94852" y="5526667"/>
            <a:ext cx="62861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94771" y="2981951"/>
            <a:ext cx="4293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50616" y="3013294"/>
            <a:ext cx="65564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54724" y="4143227"/>
            <a:ext cx="519729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613617" y="3320432"/>
            <a:ext cx="366050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Vasl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162201" y="2480554"/>
            <a:ext cx="30272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Iasi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154885" y="2218551"/>
            <a:ext cx="884234" cy="383039"/>
          </a:xfrm>
          <a:custGeom>
            <a:avLst/>
            <a:gdLst/>
            <a:ahLst/>
            <a:cxnLst/>
            <a:rect l="l" t="t" r="r" b="b"/>
            <a:pathLst>
              <a:path w="727075" h="314960">
                <a:moveTo>
                  <a:pt x="726680" y="314380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844331" y="3490901"/>
            <a:ext cx="695803" cy="1234838"/>
          </a:xfrm>
          <a:custGeom>
            <a:avLst/>
            <a:gdLst/>
            <a:ahLst/>
            <a:cxnLst/>
            <a:rect l="l" t="t" r="r" b="b"/>
            <a:pathLst>
              <a:path w="572134" h="1015364">
                <a:moveTo>
                  <a:pt x="0" y="1015281"/>
                </a:moveTo>
                <a:lnTo>
                  <a:pt x="572071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038636" y="2638488"/>
            <a:ext cx="501967" cy="771484"/>
          </a:xfrm>
          <a:custGeom>
            <a:avLst/>
            <a:gdLst/>
            <a:ahLst/>
            <a:cxnLst/>
            <a:rect l="l" t="t" r="r" b="b"/>
            <a:pathLst>
              <a:path w="412750" h="634364">
                <a:moveTo>
                  <a:pt x="412299" y="633909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885078" y="4763243"/>
            <a:ext cx="925163" cy="0"/>
          </a:xfrm>
          <a:custGeom>
            <a:avLst/>
            <a:gdLst/>
            <a:ahLst/>
            <a:cxnLst/>
            <a:rect l="l" t="t" r="r" b="b"/>
            <a:pathLst>
              <a:path w="760729">
                <a:moveTo>
                  <a:pt x="0" y="0"/>
                </a:moveTo>
                <a:lnTo>
                  <a:pt x="760175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847170" y="4719370"/>
            <a:ext cx="155996" cy="305041"/>
          </a:xfrm>
          <a:custGeom>
            <a:avLst/>
            <a:gdLst/>
            <a:ahLst/>
            <a:cxnLst/>
            <a:rect l="l" t="t" r="r" b="b"/>
            <a:pathLst>
              <a:path w="128270" h="250825">
                <a:moveTo>
                  <a:pt x="0" y="0"/>
                </a:moveTo>
                <a:lnTo>
                  <a:pt x="128215" y="250331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73401" y="4763243"/>
            <a:ext cx="733644" cy="269518"/>
          </a:xfrm>
          <a:custGeom>
            <a:avLst/>
            <a:gdLst/>
            <a:ahLst/>
            <a:cxnLst/>
            <a:rect l="l" t="t" r="r" b="b"/>
            <a:pathLst>
              <a:path w="603250" h="221614">
                <a:moveTo>
                  <a:pt x="0" y="221612"/>
                </a:moveTo>
                <a:lnTo>
                  <a:pt x="60299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105082" y="5115102"/>
            <a:ext cx="82708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691083" y="5070362"/>
            <a:ext cx="383039" cy="771484"/>
          </a:xfrm>
          <a:custGeom>
            <a:avLst/>
            <a:gdLst/>
            <a:ahLst/>
            <a:cxnLst/>
            <a:rect l="l" t="t" r="r" b="b"/>
            <a:pathLst>
              <a:path w="314959" h="634364">
                <a:moveTo>
                  <a:pt x="314366" y="0"/>
                </a:moveTo>
                <a:lnTo>
                  <a:pt x="0" y="633909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995358" y="4487468"/>
            <a:ext cx="1041002" cy="545985"/>
          </a:xfrm>
          <a:custGeom>
            <a:avLst/>
            <a:gdLst/>
            <a:ahLst/>
            <a:cxnLst/>
            <a:rect l="l" t="t" r="r" b="b"/>
            <a:pathLst>
              <a:path w="855979" h="448945">
                <a:moveTo>
                  <a:pt x="0" y="0"/>
                </a:moveTo>
                <a:lnTo>
                  <a:pt x="855518" y="448373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074018" y="4531340"/>
            <a:ext cx="884234" cy="1078070"/>
          </a:xfrm>
          <a:custGeom>
            <a:avLst/>
            <a:gdLst/>
            <a:ahLst/>
            <a:cxnLst/>
            <a:rect l="l" t="t" r="r" b="b"/>
            <a:pathLst>
              <a:path w="727075" h="886460">
                <a:moveTo>
                  <a:pt x="0" y="886437"/>
                </a:moveTo>
                <a:lnTo>
                  <a:pt x="726666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798230" y="3948439"/>
            <a:ext cx="1122089" cy="539035"/>
          </a:xfrm>
          <a:custGeom>
            <a:avLst/>
            <a:gdLst/>
            <a:ahLst/>
            <a:cxnLst/>
            <a:rect l="l" t="t" r="r" b="b"/>
            <a:pathLst>
              <a:path w="922654" h="443229">
                <a:moveTo>
                  <a:pt x="0" y="0"/>
                </a:moveTo>
                <a:lnTo>
                  <a:pt x="922505" y="443224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459777" y="3296594"/>
            <a:ext cx="1304341" cy="75681"/>
          </a:xfrm>
          <a:custGeom>
            <a:avLst/>
            <a:gdLst/>
            <a:ahLst/>
            <a:cxnLst/>
            <a:rect l="l" t="t" r="r" b="b"/>
            <a:pathLst>
              <a:path w="1072515" h="62230">
                <a:moveTo>
                  <a:pt x="0" y="0"/>
                </a:moveTo>
                <a:lnTo>
                  <a:pt x="1071966" y="61851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04491" y="3986057"/>
            <a:ext cx="226271" cy="1586215"/>
          </a:xfrm>
          <a:custGeom>
            <a:avLst/>
            <a:gdLst/>
            <a:ahLst/>
            <a:cxnLst/>
            <a:rect l="l" t="t" r="r" b="b"/>
            <a:pathLst>
              <a:path w="186054" h="1304289">
                <a:moveTo>
                  <a:pt x="185541" y="1303883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876873" y="5452689"/>
            <a:ext cx="1153751" cy="119700"/>
          </a:xfrm>
          <a:custGeom>
            <a:avLst/>
            <a:gdLst/>
            <a:ahLst/>
            <a:cxnLst/>
            <a:rect l="l" t="t" r="r" b="b"/>
            <a:pathLst>
              <a:path w="948690" h="98425">
                <a:moveTo>
                  <a:pt x="0" y="0"/>
                </a:moveTo>
                <a:lnTo>
                  <a:pt x="948289" y="97923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858070" y="4906558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43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440974" y="3296595"/>
            <a:ext cx="319714" cy="576876"/>
          </a:xfrm>
          <a:custGeom>
            <a:avLst/>
            <a:gdLst/>
            <a:ahLst/>
            <a:cxnLst/>
            <a:rect l="l" t="t" r="r" b="b"/>
            <a:pathLst>
              <a:path w="262890" h="474344">
                <a:moveTo>
                  <a:pt x="262839" y="474151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74047" y="2795175"/>
            <a:ext cx="1542196" cy="464126"/>
          </a:xfrm>
          <a:custGeom>
            <a:avLst/>
            <a:gdLst/>
            <a:ahLst/>
            <a:cxnLst/>
            <a:rect l="l" t="t" r="r" b="b"/>
            <a:pathLst>
              <a:path w="1268095" h="381635">
                <a:moveTo>
                  <a:pt x="0" y="0"/>
                </a:moveTo>
                <a:lnTo>
                  <a:pt x="1267809" y="38138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413063" y="1754750"/>
            <a:ext cx="1003161" cy="1504356"/>
          </a:xfrm>
          <a:custGeom>
            <a:avLst/>
            <a:gdLst/>
            <a:ahLst/>
            <a:cxnLst/>
            <a:rect l="l" t="t" r="r" b="b"/>
            <a:pathLst>
              <a:path w="824865" h="1236980">
                <a:moveTo>
                  <a:pt x="824595" y="1236886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858077" y="4415396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37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911657" y="3948440"/>
            <a:ext cx="928252" cy="389217"/>
          </a:xfrm>
          <a:custGeom>
            <a:avLst/>
            <a:gdLst/>
            <a:ahLst/>
            <a:cxnLst/>
            <a:rect l="l" t="t" r="r" b="b"/>
            <a:pathLst>
              <a:path w="763270" h="320039">
                <a:moveTo>
                  <a:pt x="0" y="0"/>
                </a:moveTo>
                <a:lnTo>
                  <a:pt x="762747" y="319534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855243" y="2873527"/>
            <a:ext cx="0" cy="1044863"/>
          </a:xfrm>
          <a:custGeom>
            <a:avLst/>
            <a:gdLst/>
            <a:ahLst/>
            <a:cxnLst/>
            <a:rect l="l" t="t" r="r" b="b"/>
            <a:pathLst>
              <a:path h="859155">
                <a:moveTo>
                  <a:pt x="0" y="0"/>
                </a:moveTo>
                <a:lnTo>
                  <a:pt x="0" y="858790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836441" y="2256153"/>
            <a:ext cx="232449" cy="539035"/>
          </a:xfrm>
          <a:custGeom>
            <a:avLst/>
            <a:gdLst/>
            <a:ahLst/>
            <a:cxnLst/>
            <a:rect l="l" t="t" r="r" b="b"/>
            <a:pathLst>
              <a:path w="191135" h="443230">
                <a:moveTo>
                  <a:pt x="190691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068351" y="1717131"/>
            <a:ext cx="307357" cy="539035"/>
          </a:xfrm>
          <a:custGeom>
            <a:avLst/>
            <a:gdLst/>
            <a:ahLst/>
            <a:cxnLst/>
            <a:rect l="l" t="t" r="r" b="b"/>
            <a:pathLst>
              <a:path w="252729" h="443230">
                <a:moveTo>
                  <a:pt x="252527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989389" y="55341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989389" y="55341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723026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723025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647203" y="576295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647203" y="576295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769127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769127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9917023" y="445300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9917023" y="445300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073401" y="214336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1073401" y="214336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9725848" y="333421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9725848" y="333421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839262" y="483219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839262" y="483219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798521" y="537434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798521" y="537434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798521" y="429944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798521" y="429944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795700" y="275757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795700" y="275757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833297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833297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7030735" y="221543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030735" y="221543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334722" y="167640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7334722" y="167640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8378293" y="3221408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378293" y="3221410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2809568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2809568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2478441" y="33989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2478441" y="33989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11994758" y="256017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1994758" y="256017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0998181" y="499201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0998180" y="499201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028184" y="1590543"/>
            <a:ext cx="1043319" cy="400317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466461" marR="0" lvl="0" indent="0" algn="l" defTabSz="1112093" rtl="0" eaLnBrk="1" fontAlgn="auto" latinLnBrk="0" hangingPunct="1">
              <a:lnSpc>
                <a:spcPts val="1453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ts val="14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739193" y="2348444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553301" y="3243221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146211" y="4117105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638991" y="4482849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108960" y="4943798"/>
            <a:ext cx="719743" cy="561237"/>
          </a:xfrm>
          <a:prstGeom prst="rect">
            <a:avLst/>
          </a:prstGeom>
        </p:spPr>
        <p:txBody>
          <a:bodyPr vert="horz" wrap="square" lIns="0" tIns="90354" rIns="0" bIns="0" rtlCol="0">
            <a:spAutoFit/>
          </a:bodyPr>
          <a:lstStyle/>
          <a:p>
            <a:pPr marL="0" marR="6178" lvl="0" indent="0" algn="r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5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308094" y="5248844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120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947665" y="2277128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151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496697" y="274707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100544" y="3083044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99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656563" y="3434247"/>
            <a:ext cx="1315925" cy="409432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41329" marR="0" lvl="0" indent="0" algn="l" defTabSz="1112093" rtl="0" eaLnBrk="1" fontAlgn="auto" latinLnBrk="0" hangingPunct="1">
              <a:lnSpc>
                <a:spcPct val="100000"/>
              </a:lnSpc>
              <a:spcBef>
                <a:spcPts val="3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1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208372" y="4226469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0234263" y="4730855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101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0507284" y="407790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211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9511039" y="502724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138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8964054" y="467969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146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1308759" y="4661025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0789774" y="5321572"/>
            <a:ext cx="610083" cy="566696"/>
          </a:xfrm>
          <a:prstGeom prst="rect">
            <a:avLst/>
          </a:prstGeom>
        </p:spPr>
        <p:txBody>
          <a:bodyPr vert="horz" wrap="square" lIns="0" tIns="95760" rIns="0" bIns="0" rtlCol="0">
            <a:spAutoFit/>
          </a:bodyPr>
          <a:lstStyle/>
          <a:p>
            <a:pPr marL="134377" marR="0" lvl="0" indent="0" algn="l" defTabSz="1112093" rtl="0" eaLnBrk="1" fontAlgn="auto" latinLnBrk="0" hangingPunct="1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Giurgiu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2295969" y="4502877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2248831" y="398404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142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2357041" y="2858513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92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1590343" y="2164910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44059" y="2705939"/>
            <a:ext cx="219321" cy="219321"/>
          </a:xfrm>
          <a:custGeom>
            <a:avLst/>
            <a:gdLst/>
            <a:ahLst/>
            <a:cxnLst/>
            <a:rect l="l" t="t" r="r" b="b"/>
            <a:pathLst>
              <a:path w="180339" h="180339">
                <a:moveTo>
                  <a:pt x="180260" y="90129"/>
                </a:moveTo>
                <a:lnTo>
                  <a:pt x="173177" y="55047"/>
                </a:lnTo>
                <a:lnTo>
                  <a:pt x="153861" y="26398"/>
                </a:lnTo>
                <a:lnTo>
                  <a:pt x="125212" y="7083"/>
                </a:lnTo>
                <a:lnTo>
                  <a:pt x="90130" y="0"/>
                </a:lnTo>
                <a:lnTo>
                  <a:pt x="55048" y="7083"/>
                </a:lnTo>
                <a:lnTo>
                  <a:pt x="26399" y="26398"/>
                </a:lnTo>
                <a:lnTo>
                  <a:pt x="7083" y="55047"/>
                </a:lnTo>
                <a:lnTo>
                  <a:pt x="0" y="90129"/>
                </a:lnTo>
                <a:lnTo>
                  <a:pt x="7083" y="125210"/>
                </a:lnTo>
                <a:lnTo>
                  <a:pt x="26399" y="153859"/>
                </a:lnTo>
                <a:lnTo>
                  <a:pt x="55048" y="173175"/>
                </a:lnTo>
                <a:lnTo>
                  <a:pt x="90130" y="180258"/>
                </a:lnTo>
                <a:lnTo>
                  <a:pt x="125212" y="173175"/>
                </a:lnTo>
                <a:lnTo>
                  <a:pt x="153861" y="153859"/>
                </a:lnTo>
                <a:lnTo>
                  <a:pt x="173177" y="125210"/>
                </a:lnTo>
                <a:lnTo>
                  <a:pt x="180260" y="90129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10946564" y="4940380"/>
            <a:ext cx="219321" cy="219321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80258" y="90130"/>
                </a:moveTo>
                <a:lnTo>
                  <a:pt x="173175" y="55049"/>
                </a:lnTo>
                <a:lnTo>
                  <a:pt x="153859" y="26400"/>
                </a:lnTo>
                <a:lnTo>
                  <a:pt x="125210" y="7083"/>
                </a:lnTo>
                <a:lnTo>
                  <a:pt x="90129" y="0"/>
                </a:lnTo>
                <a:lnTo>
                  <a:pt x="55047" y="7083"/>
                </a:lnTo>
                <a:lnTo>
                  <a:pt x="26398" y="26400"/>
                </a:lnTo>
                <a:lnTo>
                  <a:pt x="7083" y="55049"/>
                </a:lnTo>
                <a:lnTo>
                  <a:pt x="0" y="90130"/>
                </a:lnTo>
                <a:lnTo>
                  <a:pt x="7083" y="125212"/>
                </a:lnTo>
                <a:lnTo>
                  <a:pt x="26398" y="153861"/>
                </a:lnTo>
                <a:lnTo>
                  <a:pt x="55047" y="173177"/>
                </a:lnTo>
                <a:lnTo>
                  <a:pt x="90129" y="180260"/>
                </a:lnTo>
                <a:lnTo>
                  <a:pt x="125210" y="173177"/>
                </a:lnTo>
                <a:lnTo>
                  <a:pt x="153859" y="153861"/>
                </a:lnTo>
                <a:lnTo>
                  <a:pt x="173175" y="125212"/>
                </a:lnTo>
                <a:lnTo>
                  <a:pt x="180258" y="90130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10911207" y="4905031"/>
            <a:ext cx="290368" cy="290368"/>
          </a:xfrm>
          <a:custGeom>
            <a:avLst/>
            <a:gdLst/>
            <a:ahLst/>
            <a:cxnLst/>
            <a:rect l="l" t="t" r="r" b="b"/>
            <a:pathLst>
              <a:path w="238759" h="238760">
                <a:moveTo>
                  <a:pt x="238389" y="119197"/>
                </a:moveTo>
                <a:lnTo>
                  <a:pt x="229023" y="72801"/>
                </a:lnTo>
                <a:lnTo>
                  <a:pt x="203481" y="34913"/>
                </a:lnTo>
                <a:lnTo>
                  <a:pt x="165595" y="9367"/>
                </a:lnTo>
                <a:lnTo>
                  <a:pt x="119201" y="0"/>
                </a:lnTo>
                <a:lnTo>
                  <a:pt x="72805" y="9367"/>
                </a:lnTo>
                <a:lnTo>
                  <a:pt x="34915" y="34913"/>
                </a:lnTo>
                <a:lnTo>
                  <a:pt x="9368" y="72801"/>
                </a:lnTo>
                <a:lnTo>
                  <a:pt x="0" y="119197"/>
                </a:lnTo>
                <a:lnTo>
                  <a:pt x="9368" y="165593"/>
                </a:lnTo>
                <a:lnTo>
                  <a:pt x="34915" y="203482"/>
                </a:lnTo>
                <a:lnTo>
                  <a:pt x="72805" y="229028"/>
                </a:lnTo>
                <a:lnTo>
                  <a:pt x="119201" y="238396"/>
                </a:lnTo>
                <a:lnTo>
                  <a:pt x="165595" y="229028"/>
                </a:lnTo>
                <a:lnTo>
                  <a:pt x="203481" y="203482"/>
                </a:lnTo>
                <a:lnTo>
                  <a:pt x="229023" y="165593"/>
                </a:lnTo>
                <a:lnTo>
                  <a:pt x="238389" y="119197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065714" y="4900702"/>
            <a:ext cx="5282235" cy="963862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44837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45610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node with minimum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r>
              <a:rPr kumimoji="0" sz="2493" b="0" i="1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value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760703" marR="0" lvl="1" indent="-332856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760703" algn="l"/>
                <a:tab pos="76147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priority queue, ordered by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r>
              <a:rPr kumimoji="0" sz="2493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values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3406639" y="5878499"/>
            <a:ext cx="8897166" cy="1905929"/>
          </a:xfrm>
          <a:custGeom>
            <a:avLst/>
            <a:gdLst/>
            <a:ahLst/>
            <a:cxnLst/>
            <a:rect l="l" t="t" r="r" b="b"/>
            <a:pathLst>
              <a:path w="7315834" h="1567179">
                <a:moveTo>
                  <a:pt x="0" y="1566920"/>
                </a:moveTo>
                <a:lnTo>
                  <a:pt x="7315500" y="1566920"/>
                </a:lnTo>
                <a:lnTo>
                  <a:pt x="7315500" y="0"/>
                </a:lnTo>
                <a:lnTo>
                  <a:pt x="0" y="0"/>
                </a:lnTo>
                <a:lnTo>
                  <a:pt x="0" y="15669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6748040" y="5910636"/>
            <a:ext cx="964548" cy="333615"/>
          </a:xfrm>
          <a:custGeom>
            <a:avLst/>
            <a:gdLst/>
            <a:ahLst/>
            <a:cxnLst/>
            <a:rect l="l" t="t" r="r" b="b"/>
            <a:pathLst>
              <a:path w="793114" h="274320">
                <a:moveTo>
                  <a:pt x="424195" y="0"/>
                </a:moveTo>
                <a:lnTo>
                  <a:pt x="368877" y="0"/>
                </a:lnTo>
                <a:lnTo>
                  <a:pt x="313993" y="2659"/>
                </a:lnTo>
                <a:lnTo>
                  <a:pt x="260410" y="7978"/>
                </a:lnTo>
                <a:lnTo>
                  <a:pt x="208996" y="15956"/>
                </a:lnTo>
                <a:lnTo>
                  <a:pt x="160618" y="26593"/>
                </a:lnTo>
                <a:lnTo>
                  <a:pt x="116143" y="39890"/>
                </a:lnTo>
                <a:lnTo>
                  <a:pt x="65330" y="61433"/>
                </a:lnTo>
                <a:lnTo>
                  <a:pt x="29035" y="85319"/>
                </a:lnTo>
                <a:lnTo>
                  <a:pt x="0" y="136996"/>
                </a:lnTo>
                <a:lnTo>
                  <a:pt x="7258" y="163225"/>
                </a:lnTo>
                <a:lnTo>
                  <a:pt x="65330" y="212559"/>
                </a:lnTo>
                <a:lnTo>
                  <a:pt x="116143" y="234102"/>
                </a:lnTo>
                <a:lnTo>
                  <a:pt x="160618" y="247399"/>
                </a:lnTo>
                <a:lnTo>
                  <a:pt x="208996" y="258036"/>
                </a:lnTo>
                <a:lnTo>
                  <a:pt x="260410" y="266015"/>
                </a:lnTo>
                <a:lnTo>
                  <a:pt x="313993" y="271333"/>
                </a:lnTo>
                <a:lnTo>
                  <a:pt x="368877" y="273993"/>
                </a:lnTo>
                <a:lnTo>
                  <a:pt x="424195" y="273993"/>
                </a:lnTo>
                <a:lnTo>
                  <a:pt x="479079" y="271333"/>
                </a:lnTo>
                <a:lnTo>
                  <a:pt x="532662" y="266015"/>
                </a:lnTo>
                <a:lnTo>
                  <a:pt x="584077" y="258036"/>
                </a:lnTo>
                <a:lnTo>
                  <a:pt x="632455" y="247399"/>
                </a:lnTo>
                <a:lnTo>
                  <a:pt x="676929" y="234102"/>
                </a:lnTo>
                <a:lnTo>
                  <a:pt x="727742" y="212559"/>
                </a:lnTo>
                <a:lnTo>
                  <a:pt x="764037" y="188673"/>
                </a:lnTo>
                <a:lnTo>
                  <a:pt x="793073" y="136996"/>
                </a:lnTo>
                <a:lnTo>
                  <a:pt x="785814" y="110767"/>
                </a:lnTo>
                <a:lnTo>
                  <a:pt x="727742" y="61433"/>
                </a:lnTo>
                <a:lnTo>
                  <a:pt x="676929" y="39890"/>
                </a:lnTo>
                <a:lnTo>
                  <a:pt x="632455" y="26593"/>
                </a:lnTo>
                <a:lnTo>
                  <a:pt x="584077" y="15956"/>
                </a:lnTo>
                <a:lnTo>
                  <a:pt x="532662" y="7978"/>
                </a:lnTo>
                <a:lnTo>
                  <a:pt x="479079" y="2659"/>
                </a:lnTo>
                <a:lnTo>
                  <a:pt x="424195" y="0"/>
                </a:lnTo>
                <a:close/>
              </a:path>
            </a:pathLst>
          </a:custGeom>
          <a:solidFill>
            <a:srgbClr val="E1E1E1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6748040" y="5910636"/>
            <a:ext cx="964548" cy="333615"/>
          </a:xfrm>
          <a:custGeom>
            <a:avLst/>
            <a:gdLst/>
            <a:ahLst/>
            <a:cxnLst/>
            <a:rect l="l" t="t" r="r" b="b"/>
            <a:pathLst>
              <a:path w="793114" h="274320">
                <a:moveTo>
                  <a:pt x="676929" y="39890"/>
                </a:moveTo>
                <a:lnTo>
                  <a:pt x="727742" y="61433"/>
                </a:lnTo>
                <a:lnTo>
                  <a:pt x="764037" y="85319"/>
                </a:lnTo>
                <a:lnTo>
                  <a:pt x="785814" y="110767"/>
                </a:lnTo>
                <a:lnTo>
                  <a:pt x="793073" y="136996"/>
                </a:lnTo>
                <a:lnTo>
                  <a:pt x="785814" y="163225"/>
                </a:lnTo>
                <a:lnTo>
                  <a:pt x="727742" y="212559"/>
                </a:lnTo>
                <a:lnTo>
                  <a:pt x="676929" y="234102"/>
                </a:lnTo>
                <a:lnTo>
                  <a:pt x="632455" y="247399"/>
                </a:lnTo>
                <a:lnTo>
                  <a:pt x="584077" y="258036"/>
                </a:lnTo>
                <a:lnTo>
                  <a:pt x="532662" y="266015"/>
                </a:lnTo>
                <a:lnTo>
                  <a:pt x="479079" y="271333"/>
                </a:lnTo>
                <a:lnTo>
                  <a:pt x="424195" y="273993"/>
                </a:lnTo>
                <a:lnTo>
                  <a:pt x="368877" y="273993"/>
                </a:lnTo>
                <a:lnTo>
                  <a:pt x="313993" y="271333"/>
                </a:lnTo>
                <a:lnTo>
                  <a:pt x="260410" y="266015"/>
                </a:lnTo>
                <a:lnTo>
                  <a:pt x="208996" y="258036"/>
                </a:lnTo>
                <a:lnTo>
                  <a:pt x="160618" y="247399"/>
                </a:lnTo>
                <a:lnTo>
                  <a:pt x="116143" y="234102"/>
                </a:lnTo>
                <a:lnTo>
                  <a:pt x="65330" y="212559"/>
                </a:lnTo>
                <a:lnTo>
                  <a:pt x="29035" y="188673"/>
                </a:lnTo>
                <a:lnTo>
                  <a:pt x="0" y="136996"/>
                </a:lnTo>
                <a:lnTo>
                  <a:pt x="7258" y="110767"/>
                </a:lnTo>
                <a:lnTo>
                  <a:pt x="65330" y="61433"/>
                </a:lnTo>
                <a:lnTo>
                  <a:pt x="116143" y="39890"/>
                </a:lnTo>
                <a:lnTo>
                  <a:pt x="160618" y="26593"/>
                </a:lnTo>
                <a:lnTo>
                  <a:pt x="208996" y="15956"/>
                </a:lnTo>
                <a:lnTo>
                  <a:pt x="260410" y="7978"/>
                </a:lnTo>
                <a:lnTo>
                  <a:pt x="313993" y="2659"/>
                </a:lnTo>
                <a:lnTo>
                  <a:pt x="368877" y="0"/>
                </a:lnTo>
                <a:lnTo>
                  <a:pt x="424195" y="0"/>
                </a:lnTo>
                <a:lnTo>
                  <a:pt x="479079" y="2659"/>
                </a:lnTo>
                <a:lnTo>
                  <a:pt x="532662" y="7978"/>
                </a:lnTo>
                <a:lnTo>
                  <a:pt x="584077" y="15956"/>
                </a:lnTo>
                <a:lnTo>
                  <a:pt x="632455" y="26593"/>
                </a:lnTo>
                <a:lnTo>
                  <a:pt x="676929" y="39890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6890960" y="5942272"/>
            <a:ext cx="678813" cy="241705"/>
          </a:xfrm>
          <a:prstGeom prst="rect">
            <a:avLst/>
          </a:prstGeom>
        </p:spPr>
        <p:txBody>
          <a:bodyPr vert="horz" wrap="square" lIns="0" tIns="16990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Arad</a:t>
            </a:r>
            <a:r>
              <a:rPr kumimoji="0" sz="1459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4566288" y="6646758"/>
            <a:ext cx="1750706" cy="334387"/>
          </a:xfrm>
          <a:custGeom>
            <a:avLst/>
            <a:gdLst/>
            <a:ahLst/>
            <a:cxnLst/>
            <a:rect l="l" t="t" r="r" b="b"/>
            <a:pathLst>
              <a:path w="1439545" h="274954">
                <a:moveTo>
                  <a:pt x="1229532" y="40223"/>
                </a:moveTo>
                <a:lnTo>
                  <a:pt x="1289509" y="53160"/>
                </a:lnTo>
                <a:lnTo>
                  <a:pt x="1339490" y="67098"/>
                </a:lnTo>
                <a:lnTo>
                  <a:pt x="1379475" y="81856"/>
                </a:lnTo>
                <a:lnTo>
                  <a:pt x="1429456" y="113100"/>
                </a:lnTo>
                <a:lnTo>
                  <a:pt x="1439453" y="129222"/>
                </a:lnTo>
                <a:lnTo>
                  <a:pt x="1439453" y="145435"/>
                </a:lnTo>
                <a:lnTo>
                  <a:pt x="1409464" y="177407"/>
                </a:lnTo>
                <a:lnTo>
                  <a:pt x="1339490" y="207559"/>
                </a:lnTo>
                <a:lnTo>
                  <a:pt x="1289509" y="221497"/>
                </a:lnTo>
                <a:lnTo>
                  <a:pt x="1229532" y="234434"/>
                </a:lnTo>
                <a:lnTo>
                  <a:pt x="1186030" y="242077"/>
                </a:lnTo>
                <a:lnTo>
                  <a:pt x="1140166" y="248915"/>
                </a:lnTo>
                <a:lnTo>
                  <a:pt x="1092203" y="254948"/>
                </a:lnTo>
                <a:lnTo>
                  <a:pt x="1042404" y="260177"/>
                </a:lnTo>
                <a:lnTo>
                  <a:pt x="991030" y="264602"/>
                </a:lnTo>
                <a:lnTo>
                  <a:pt x="938343" y="268222"/>
                </a:lnTo>
                <a:lnTo>
                  <a:pt x="884607" y="271038"/>
                </a:lnTo>
                <a:lnTo>
                  <a:pt x="830084" y="273049"/>
                </a:lnTo>
                <a:lnTo>
                  <a:pt x="775036" y="274255"/>
                </a:lnTo>
                <a:lnTo>
                  <a:pt x="719726" y="274658"/>
                </a:lnTo>
                <a:lnTo>
                  <a:pt x="664416" y="274255"/>
                </a:lnTo>
                <a:lnTo>
                  <a:pt x="609368" y="273049"/>
                </a:lnTo>
                <a:lnTo>
                  <a:pt x="554845" y="271038"/>
                </a:lnTo>
                <a:lnTo>
                  <a:pt x="501109" y="268222"/>
                </a:lnTo>
                <a:lnTo>
                  <a:pt x="448423" y="264602"/>
                </a:lnTo>
                <a:lnTo>
                  <a:pt x="397048" y="260177"/>
                </a:lnTo>
                <a:lnTo>
                  <a:pt x="347249" y="254948"/>
                </a:lnTo>
                <a:lnTo>
                  <a:pt x="299286" y="248915"/>
                </a:lnTo>
                <a:lnTo>
                  <a:pt x="253422" y="242077"/>
                </a:lnTo>
                <a:lnTo>
                  <a:pt x="209920" y="234434"/>
                </a:lnTo>
                <a:lnTo>
                  <a:pt x="149943" y="221497"/>
                </a:lnTo>
                <a:lnTo>
                  <a:pt x="99962" y="207559"/>
                </a:lnTo>
                <a:lnTo>
                  <a:pt x="59977" y="192801"/>
                </a:lnTo>
                <a:lnTo>
                  <a:pt x="9996" y="161558"/>
                </a:lnTo>
                <a:lnTo>
                  <a:pt x="0" y="145435"/>
                </a:lnTo>
                <a:lnTo>
                  <a:pt x="0" y="129222"/>
                </a:lnTo>
                <a:lnTo>
                  <a:pt x="29988" y="97250"/>
                </a:lnTo>
                <a:lnTo>
                  <a:pt x="99962" y="67098"/>
                </a:lnTo>
                <a:lnTo>
                  <a:pt x="149943" y="53160"/>
                </a:lnTo>
                <a:lnTo>
                  <a:pt x="209920" y="40223"/>
                </a:lnTo>
                <a:lnTo>
                  <a:pt x="253422" y="32580"/>
                </a:lnTo>
                <a:lnTo>
                  <a:pt x="299286" y="25742"/>
                </a:lnTo>
                <a:lnTo>
                  <a:pt x="347249" y="19709"/>
                </a:lnTo>
                <a:lnTo>
                  <a:pt x="397048" y="14480"/>
                </a:lnTo>
                <a:lnTo>
                  <a:pt x="448423" y="10055"/>
                </a:lnTo>
                <a:lnTo>
                  <a:pt x="501109" y="6435"/>
                </a:lnTo>
                <a:lnTo>
                  <a:pt x="554845" y="3620"/>
                </a:lnTo>
                <a:lnTo>
                  <a:pt x="609368" y="1608"/>
                </a:lnTo>
                <a:lnTo>
                  <a:pt x="664416" y="402"/>
                </a:lnTo>
                <a:lnTo>
                  <a:pt x="719726" y="0"/>
                </a:lnTo>
                <a:lnTo>
                  <a:pt x="775036" y="402"/>
                </a:lnTo>
                <a:lnTo>
                  <a:pt x="830084" y="1608"/>
                </a:lnTo>
                <a:lnTo>
                  <a:pt x="884607" y="3620"/>
                </a:lnTo>
                <a:lnTo>
                  <a:pt x="938343" y="6435"/>
                </a:lnTo>
                <a:lnTo>
                  <a:pt x="991030" y="10055"/>
                </a:lnTo>
                <a:lnTo>
                  <a:pt x="1042404" y="14480"/>
                </a:lnTo>
                <a:lnTo>
                  <a:pt x="1092203" y="19709"/>
                </a:lnTo>
                <a:lnTo>
                  <a:pt x="1140166" y="25742"/>
                </a:lnTo>
                <a:lnTo>
                  <a:pt x="1186030" y="32580"/>
                </a:lnTo>
                <a:lnTo>
                  <a:pt x="1229532" y="40223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4788659" y="6678798"/>
            <a:ext cx="1305886" cy="241705"/>
          </a:xfrm>
          <a:prstGeom prst="rect">
            <a:avLst/>
          </a:prstGeom>
        </p:spPr>
        <p:txBody>
          <a:bodyPr vert="horz" wrap="square" lIns="0" tIns="16990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Timisoara</a:t>
            </a:r>
            <a:r>
              <a:rPr kumimoji="0" sz="1459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(118)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9014610" y="6646975"/>
            <a:ext cx="1271905" cy="333615"/>
          </a:xfrm>
          <a:custGeom>
            <a:avLst/>
            <a:gdLst/>
            <a:ahLst/>
            <a:cxnLst/>
            <a:rect l="l" t="t" r="r" b="b"/>
            <a:pathLst>
              <a:path w="1045845" h="274320">
                <a:moveTo>
                  <a:pt x="892317" y="40044"/>
                </a:moveTo>
                <a:lnTo>
                  <a:pt x="947432" y="57066"/>
                </a:lnTo>
                <a:lnTo>
                  <a:pt x="990299" y="75687"/>
                </a:lnTo>
                <a:lnTo>
                  <a:pt x="1039291" y="116129"/>
                </a:lnTo>
                <a:lnTo>
                  <a:pt x="1045414" y="137150"/>
                </a:lnTo>
                <a:lnTo>
                  <a:pt x="1039291" y="158170"/>
                </a:lnTo>
                <a:lnTo>
                  <a:pt x="990299" y="198612"/>
                </a:lnTo>
                <a:lnTo>
                  <a:pt x="947432" y="217234"/>
                </a:lnTo>
                <a:lnTo>
                  <a:pt x="892317" y="234256"/>
                </a:lnTo>
                <a:lnTo>
                  <a:pt x="849875" y="244267"/>
                </a:lnTo>
                <a:lnTo>
                  <a:pt x="804502" y="252848"/>
                </a:lnTo>
                <a:lnTo>
                  <a:pt x="756648" y="259999"/>
                </a:lnTo>
                <a:lnTo>
                  <a:pt x="706766" y="265719"/>
                </a:lnTo>
                <a:lnTo>
                  <a:pt x="655305" y="270010"/>
                </a:lnTo>
                <a:lnTo>
                  <a:pt x="602717" y="272870"/>
                </a:lnTo>
                <a:lnTo>
                  <a:pt x="549452" y="274300"/>
                </a:lnTo>
                <a:lnTo>
                  <a:pt x="495962" y="274300"/>
                </a:lnTo>
                <a:lnTo>
                  <a:pt x="442697" y="272870"/>
                </a:lnTo>
                <a:lnTo>
                  <a:pt x="390109" y="270010"/>
                </a:lnTo>
                <a:lnTo>
                  <a:pt x="338648" y="265719"/>
                </a:lnTo>
                <a:lnTo>
                  <a:pt x="288766" y="259999"/>
                </a:lnTo>
                <a:lnTo>
                  <a:pt x="240912" y="252848"/>
                </a:lnTo>
                <a:lnTo>
                  <a:pt x="195539" y="244267"/>
                </a:lnTo>
                <a:lnTo>
                  <a:pt x="153097" y="234256"/>
                </a:lnTo>
                <a:lnTo>
                  <a:pt x="97982" y="217234"/>
                </a:lnTo>
                <a:lnTo>
                  <a:pt x="55115" y="198612"/>
                </a:lnTo>
                <a:lnTo>
                  <a:pt x="6123" y="158170"/>
                </a:lnTo>
                <a:lnTo>
                  <a:pt x="0" y="137150"/>
                </a:lnTo>
                <a:lnTo>
                  <a:pt x="6123" y="116129"/>
                </a:lnTo>
                <a:lnTo>
                  <a:pt x="55115" y="75687"/>
                </a:lnTo>
                <a:lnTo>
                  <a:pt x="97982" y="57066"/>
                </a:lnTo>
                <a:lnTo>
                  <a:pt x="153097" y="40044"/>
                </a:lnTo>
                <a:lnTo>
                  <a:pt x="195539" y="30033"/>
                </a:lnTo>
                <a:lnTo>
                  <a:pt x="240912" y="21452"/>
                </a:lnTo>
                <a:lnTo>
                  <a:pt x="288766" y="14301"/>
                </a:lnTo>
                <a:lnTo>
                  <a:pt x="338648" y="8580"/>
                </a:lnTo>
                <a:lnTo>
                  <a:pt x="390109" y="4290"/>
                </a:lnTo>
                <a:lnTo>
                  <a:pt x="442697" y="1430"/>
                </a:lnTo>
                <a:lnTo>
                  <a:pt x="495962" y="0"/>
                </a:lnTo>
                <a:lnTo>
                  <a:pt x="549452" y="0"/>
                </a:lnTo>
                <a:lnTo>
                  <a:pt x="602717" y="1430"/>
                </a:lnTo>
                <a:lnTo>
                  <a:pt x="655305" y="4290"/>
                </a:lnTo>
                <a:lnTo>
                  <a:pt x="706766" y="8580"/>
                </a:lnTo>
                <a:lnTo>
                  <a:pt x="756648" y="14301"/>
                </a:lnTo>
                <a:lnTo>
                  <a:pt x="804502" y="21452"/>
                </a:lnTo>
                <a:lnTo>
                  <a:pt x="849875" y="30033"/>
                </a:lnTo>
                <a:lnTo>
                  <a:pt x="892317" y="40044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9189669" y="6678798"/>
            <a:ext cx="921302" cy="241705"/>
          </a:xfrm>
          <a:prstGeom prst="rect">
            <a:avLst/>
          </a:prstGeom>
        </p:spPr>
        <p:txBody>
          <a:bodyPr vert="horz" wrap="square" lIns="0" tIns="16990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Zerind</a:t>
            </a:r>
            <a:r>
              <a:rPr kumimoji="0" sz="1459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(75)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6601904" y="6646975"/>
            <a:ext cx="1257234" cy="333615"/>
          </a:xfrm>
          <a:custGeom>
            <a:avLst/>
            <a:gdLst/>
            <a:ahLst/>
            <a:cxnLst/>
            <a:rect l="l" t="t" r="r" b="b"/>
            <a:pathLst>
              <a:path w="1033779" h="274320">
                <a:moveTo>
                  <a:pt x="882060" y="40044"/>
                </a:moveTo>
                <a:lnTo>
                  <a:pt x="936541" y="57066"/>
                </a:lnTo>
                <a:lnTo>
                  <a:pt x="978916" y="75687"/>
                </a:lnTo>
                <a:lnTo>
                  <a:pt x="1027345" y="116129"/>
                </a:lnTo>
                <a:lnTo>
                  <a:pt x="1033398" y="137150"/>
                </a:lnTo>
                <a:lnTo>
                  <a:pt x="1027345" y="158170"/>
                </a:lnTo>
                <a:lnTo>
                  <a:pt x="978916" y="198612"/>
                </a:lnTo>
                <a:lnTo>
                  <a:pt x="936541" y="217234"/>
                </a:lnTo>
                <a:lnTo>
                  <a:pt x="882060" y="234256"/>
                </a:lnTo>
                <a:lnTo>
                  <a:pt x="840106" y="244267"/>
                </a:lnTo>
                <a:lnTo>
                  <a:pt x="795254" y="252848"/>
                </a:lnTo>
                <a:lnTo>
                  <a:pt x="747951" y="259999"/>
                </a:lnTo>
                <a:lnTo>
                  <a:pt x="698642" y="265719"/>
                </a:lnTo>
                <a:lnTo>
                  <a:pt x="647773" y="270010"/>
                </a:lnTo>
                <a:lnTo>
                  <a:pt x="595789" y="272870"/>
                </a:lnTo>
                <a:lnTo>
                  <a:pt x="543136" y="274300"/>
                </a:lnTo>
                <a:lnTo>
                  <a:pt x="490261" y="274300"/>
                </a:lnTo>
                <a:lnTo>
                  <a:pt x="437609" y="272870"/>
                </a:lnTo>
                <a:lnTo>
                  <a:pt x="385625" y="270010"/>
                </a:lnTo>
                <a:lnTo>
                  <a:pt x="334756" y="265719"/>
                </a:lnTo>
                <a:lnTo>
                  <a:pt x="285447" y="259999"/>
                </a:lnTo>
                <a:lnTo>
                  <a:pt x="238143" y="252848"/>
                </a:lnTo>
                <a:lnTo>
                  <a:pt x="193292" y="244267"/>
                </a:lnTo>
                <a:lnTo>
                  <a:pt x="151338" y="234256"/>
                </a:lnTo>
                <a:lnTo>
                  <a:pt x="96856" y="217234"/>
                </a:lnTo>
                <a:lnTo>
                  <a:pt x="54481" y="198612"/>
                </a:lnTo>
                <a:lnTo>
                  <a:pt x="6053" y="158170"/>
                </a:lnTo>
                <a:lnTo>
                  <a:pt x="0" y="137150"/>
                </a:lnTo>
                <a:lnTo>
                  <a:pt x="6053" y="116129"/>
                </a:lnTo>
                <a:lnTo>
                  <a:pt x="54481" y="75687"/>
                </a:lnTo>
                <a:lnTo>
                  <a:pt x="96856" y="57066"/>
                </a:lnTo>
                <a:lnTo>
                  <a:pt x="151338" y="40044"/>
                </a:lnTo>
                <a:lnTo>
                  <a:pt x="193292" y="30033"/>
                </a:lnTo>
                <a:lnTo>
                  <a:pt x="238143" y="21452"/>
                </a:lnTo>
                <a:lnTo>
                  <a:pt x="285447" y="14301"/>
                </a:lnTo>
                <a:lnTo>
                  <a:pt x="334756" y="8580"/>
                </a:lnTo>
                <a:lnTo>
                  <a:pt x="385625" y="4290"/>
                </a:lnTo>
                <a:lnTo>
                  <a:pt x="437609" y="1430"/>
                </a:lnTo>
                <a:lnTo>
                  <a:pt x="490261" y="0"/>
                </a:lnTo>
                <a:lnTo>
                  <a:pt x="543136" y="0"/>
                </a:lnTo>
                <a:lnTo>
                  <a:pt x="595789" y="1430"/>
                </a:lnTo>
                <a:lnTo>
                  <a:pt x="647773" y="4290"/>
                </a:lnTo>
                <a:lnTo>
                  <a:pt x="698642" y="8580"/>
                </a:lnTo>
                <a:lnTo>
                  <a:pt x="747951" y="14301"/>
                </a:lnTo>
                <a:lnTo>
                  <a:pt x="795254" y="21452"/>
                </a:lnTo>
                <a:lnTo>
                  <a:pt x="840106" y="30033"/>
                </a:lnTo>
                <a:lnTo>
                  <a:pt x="882060" y="40044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6774798" y="6678798"/>
            <a:ext cx="911263" cy="241705"/>
          </a:xfrm>
          <a:prstGeom prst="rect">
            <a:avLst/>
          </a:prstGeom>
        </p:spPr>
        <p:txBody>
          <a:bodyPr vert="horz" wrap="square" lIns="0" tIns="16990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Sibiu</a:t>
            </a:r>
            <a:r>
              <a:rPr kumimoji="0" sz="1459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(140)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5809806" y="6205067"/>
            <a:ext cx="1110505" cy="457176"/>
          </a:xfrm>
          <a:custGeom>
            <a:avLst/>
            <a:gdLst/>
            <a:ahLst/>
            <a:cxnLst/>
            <a:rect l="l" t="t" r="r" b="b"/>
            <a:pathLst>
              <a:path w="913129" h="375920">
                <a:moveTo>
                  <a:pt x="912760" y="0"/>
                </a:moveTo>
                <a:lnTo>
                  <a:pt x="0" y="375842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7230289" y="6244257"/>
            <a:ext cx="0" cy="403118"/>
          </a:xfrm>
          <a:custGeom>
            <a:avLst/>
            <a:gdLst/>
            <a:ahLst/>
            <a:cxnLst/>
            <a:rect l="l" t="t" r="r" b="b"/>
            <a:pathLst>
              <a:path h="331470">
                <a:moveTo>
                  <a:pt x="0" y="0"/>
                </a:moveTo>
                <a:lnTo>
                  <a:pt x="0" y="330962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7592547" y="6187497"/>
            <a:ext cx="1642590" cy="500422"/>
          </a:xfrm>
          <a:custGeom>
            <a:avLst/>
            <a:gdLst/>
            <a:ahLst/>
            <a:cxnLst/>
            <a:rect l="l" t="t" r="r" b="b"/>
            <a:pathLst>
              <a:path w="1350645" h="411479">
                <a:moveTo>
                  <a:pt x="0" y="0"/>
                </a:moveTo>
                <a:lnTo>
                  <a:pt x="1350443" y="411005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8854591" y="6761162"/>
            <a:ext cx="116909" cy="1169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9C9A8B4-B66D-6748-803F-7B069B78FDA0}"/>
              </a:ext>
            </a:extLst>
          </p:cNvPr>
          <p:cNvSpPr/>
          <p:nvPr/>
        </p:nvSpPr>
        <p:spPr>
          <a:xfrm>
            <a:off x="897466" y="4927598"/>
            <a:ext cx="5646913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F08E78A-9E34-6D9A-9027-CFB1B432ECBC}"/>
              </a:ext>
            </a:extLst>
          </p:cNvPr>
          <p:cNvSpPr txBox="1"/>
          <p:nvPr/>
        </p:nvSpPr>
        <p:spPr>
          <a:xfrm>
            <a:off x="1514055" y="7458133"/>
            <a:ext cx="97434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adding a node to the frontier, also store the cost to reach that node from the start</a:t>
            </a:r>
          </a:p>
        </p:txBody>
      </p:sp>
    </p:spTree>
    <p:extLst>
      <p:ext uri="{BB962C8B-B14F-4D97-AF65-F5344CB8AC3E}">
        <p14:creationId xmlns:p14="http://schemas.microsoft.com/office/powerpoint/2010/main" val="7208011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2325" y="514123"/>
            <a:ext cx="7718363" cy="728599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15446">
              <a:spcBef>
                <a:spcPts val="152"/>
              </a:spcBef>
            </a:pPr>
            <a:r>
              <a:rPr spc="-85" dirty="0"/>
              <a:t>Uniform-cost</a:t>
            </a:r>
            <a:r>
              <a:rPr spc="26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122" name="object 12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121" name="object 121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0545" y="3400697"/>
            <a:ext cx="1281174" cy="1621739"/>
          </a:xfrm>
          <a:custGeom>
            <a:avLst/>
            <a:gdLst/>
            <a:ahLst/>
            <a:cxnLst/>
            <a:rect l="l" t="t" r="r" b="b"/>
            <a:pathLst>
              <a:path w="1053465" h="1333500">
                <a:moveTo>
                  <a:pt x="0" y="0"/>
                </a:moveTo>
                <a:lnTo>
                  <a:pt x="1052961" y="1332936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06712" y="4756837"/>
            <a:ext cx="664913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Urziceni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80196" y="1853953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Neamt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72356" y="2204767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73412" y="2668585"/>
            <a:ext cx="40234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27255" y="3709023"/>
            <a:ext cx="800058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53965" y="4210434"/>
            <a:ext cx="47416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75633" y="4749455"/>
            <a:ext cx="6826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94852" y="5526667"/>
            <a:ext cx="62861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94771" y="2981951"/>
            <a:ext cx="4293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50616" y="3013294"/>
            <a:ext cx="65564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54724" y="4143227"/>
            <a:ext cx="519729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613617" y="3320432"/>
            <a:ext cx="366050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Vasl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162201" y="2480554"/>
            <a:ext cx="30272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Iasi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154885" y="2218551"/>
            <a:ext cx="884234" cy="383039"/>
          </a:xfrm>
          <a:custGeom>
            <a:avLst/>
            <a:gdLst/>
            <a:ahLst/>
            <a:cxnLst/>
            <a:rect l="l" t="t" r="r" b="b"/>
            <a:pathLst>
              <a:path w="727075" h="314960">
                <a:moveTo>
                  <a:pt x="726680" y="314380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844331" y="3490901"/>
            <a:ext cx="695803" cy="1234838"/>
          </a:xfrm>
          <a:custGeom>
            <a:avLst/>
            <a:gdLst/>
            <a:ahLst/>
            <a:cxnLst/>
            <a:rect l="l" t="t" r="r" b="b"/>
            <a:pathLst>
              <a:path w="572134" h="1015364">
                <a:moveTo>
                  <a:pt x="0" y="1015281"/>
                </a:moveTo>
                <a:lnTo>
                  <a:pt x="572071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038636" y="2638488"/>
            <a:ext cx="501967" cy="771484"/>
          </a:xfrm>
          <a:custGeom>
            <a:avLst/>
            <a:gdLst/>
            <a:ahLst/>
            <a:cxnLst/>
            <a:rect l="l" t="t" r="r" b="b"/>
            <a:pathLst>
              <a:path w="412750" h="634364">
                <a:moveTo>
                  <a:pt x="412299" y="633909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885078" y="4763243"/>
            <a:ext cx="925163" cy="0"/>
          </a:xfrm>
          <a:custGeom>
            <a:avLst/>
            <a:gdLst/>
            <a:ahLst/>
            <a:cxnLst/>
            <a:rect l="l" t="t" r="r" b="b"/>
            <a:pathLst>
              <a:path w="760729">
                <a:moveTo>
                  <a:pt x="0" y="0"/>
                </a:moveTo>
                <a:lnTo>
                  <a:pt x="760175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847170" y="4719370"/>
            <a:ext cx="155996" cy="305041"/>
          </a:xfrm>
          <a:custGeom>
            <a:avLst/>
            <a:gdLst/>
            <a:ahLst/>
            <a:cxnLst/>
            <a:rect l="l" t="t" r="r" b="b"/>
            <a:pathLst>
              <a:path w="128270" h="250825">
                <a:moveTo>
                  <a:pt x="0" y="0"/>
                </a:moveTo>
                <a:lnTo>
                  <a:pt x="128215" y="250331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73401" y="4763243"/>
            <a:ext cx="733644" cy="269518"/>
          </a:xfrm>
          <a:custGeom>
            <a:avLst/>
            <a:gdLst/>
            <a:ahLst/>
            <a:cxnLst/>
            <a:rect l="l" t="t" r="r" b="b"/>
            <a:pathLst>
              <a:path w="603250" h="221614">
                <a:moveTo>
                  <a:pt x="0" y="221612"/>
                </a:moveTo>
                <a:lnTo>
                  <a:pt x="60299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105082" y="5115102"/>
            <a:ext cx="82708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691083" y="5070362"/>
            <a:ext cx="383039" cy="771484"/>
          </a:xfrm>
          <a:custGeom>
            <a:avLst/>
            <a:gdLst/>
            <a:ahLst/>
            <a:cxnLst/>
            <a:rect l="l" t="t" r="r" b="b"/>
            <a:pathLst>
              <a:path w="314959" h="634364">
                <a:moveTo>
                  <a:pt x="314366" y="0"/>
                </a:moveTo>
                <a:lnTo>
                  <a:pt x="0" y="633909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995358" y="4487468"/>
            <a:ext cx="1041002" cy="545985"/>
          </a:xfrm>
          <a:custGeom>
            <a:avLst/>
            <a:gdLst/>
            <a:ahLst/>
            <a:cxnLst/>
            <a:rect l="l" t="t" r="r" b="b"/>
            <a:pathLst>
              <a:path w="855979" h="448945">
                <a:moveTo>
                  <a:pt x="0" y="0"/>
                </a:moveTo>
                <a:lnTo>
                  <a:pt x="855518" y="448373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074018" y="4531340"/>
            <a:ext cx="884234" cy="1078070"/>
          </a:xfrm>
          <a:custGeom>
            <a:avLst/>
            <a:gdLst/>
            <a:ahLst/>
            <a:cxnLst/>
            <a:rect l="l" t="t" r="r" b="b"/>
            <a:pathLst>
              <a:path w="727075" h="886460">
                <a:moveTo>
                  <a:pt x="0" y="886437"/>
                </a:moveTo>
                <a:lnTo>
                  <a:pt x="726666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798230" y="3948439"/>
            <a:ext cx="1122089" cy="539035"/>
          </a:xfrm>
          <a:custGeom>
            <a:avLst/>
            <a:gdLst/>
            <a:ahLst/>
            <a:cxnLst/>
            <a:rect l="l" t="t" r="r" b="b"/>
            <a:pathLst>
              <a:path w="922654" h="443229">
                <a:moveTo>
                  <a:pt x="0" y="0"/>
                </a:moveTo>
                <a:lnTo>
                  <a:pt x="922505" y="443224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459777" y="3296594"/>
            <a:ext cx="1304341" cy="75681"/>
          </a:xfrm>
          <a:custGeom>
            <a:avLst/>
            <a:gdLst/>
            <a:ahLst/>
            <a:cxnLst/>
            <a:rect l="l" t="t" r="r" b="b"/>
            <a:pathLst>
              <a:path w="1072515" h="62230">
                <a:moveTo>
                  <a:pt x="0" y="0"/>
                </a:moveTo>
                <a:lnTo>
                  <a:pt x="1071966" y="61851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04491" y="3986057"/>
            <a:ext cx="226271" cy="1586215"/>
          </a:xfrm>
          <a:custGeom>
            <a:avLst/>
            <a:gdLst/>
            <a:ahLst/>
            <a:cxnLst/>
            <a:rect l="l" t="t" r="r" b="b"/>
            <a:pathLst>
              <a:path w="186054" h="1304289">
                <a:moveTo>
                  <a:pt x="185541" y="1303883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876873" y="5452689"/>
            <a:ext cx="1153751" cy="119700"/>
          </a:xfrm>
          <a:custGeom>
            <a:avLst/>
            <a:gdLst/>
            <a:ahLst/>
            <a:cxnLst/>
            <a:rect l="l" t="t" r="r" b="b"/>
            <a:pathLst>
              <a:path w="948690" h="98425">
                <a:moveTo>
                  <a:pt x="0" y="0"/>
                </a:moveTo>
                <a:lnTo>
                  <a:pt x="948289" y="97923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858070" y="4906558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43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440974" y="3296595"/>
            <a:ext cx="319714" cy="576876"/>
          </a:xfrm>
          <a:custGeom>
            <a:avLst/>
            <a:gdLst/>
            <a:ahLst/>
            <a:cxnLst/>
            <a:rect l="l" t="t" r="r" b="b"/>
            <a:pathLst>
              <a:path w="262890" h="474344">
                <a:moveTo>
                  <a:pt x="262839" y="474151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74047" y="2795175"/>
            <a:ext cx="1542196" cy="464126"/>
          </a:xfrm>
          <a:custGeom>
            <a:avLst/>
            <a:gdLst/>
            <a:ahLst/>
            <a:cxnLst/>
            <a:rect l="l" t="t" r="r" b="b"/>
            <a:pathLst>
              <a:path w="1268095" h="381635">
                <a:moveTo>
                  <a:pt x="0" y="0"/>
                </a:moveTo>
                <a:lnTo>
                  <a:pt x="1267809" y="38138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413063" y="1754750"/>
            <a:ext cx="1003161" cy="1504356"/>
          </a:xfrm>
          <a:custGeom>
            <a:avLst/>
            <a:gdLst/>
            <a:ahLst/>
            <a:cxnLst/>
            <a:rect l="l" t="t" r="r" b="b"/>
            <a:pathLst>
              <a:path w="824865" h="1236980">
                <a:moveTo>
                  <a:pt x="824595" y="1236886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858077" y="4415396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37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911657" y="3948440"/>
            <a:ext cx="928252" cy="389217"/>
          </a:xfrm>
          <a:custGeom>
            <a:avLst/>
            <a:gdLst/>
            <a:ahLst/>
            <a:cxnLst/>
            <a:rect l="l" t="t" r="r" b="b"/>
            <a:pathLst>
              <a:path w="763270" h="320039">
                <a:moveTo>
                  <a:pt x="0" y="0"/>
                </a:moveTo>
                <a:lnTo>
                  <a:pt x="762747" y="319534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855243" y="2873527"/>
            <a:ext cx="0" cy="1044863"/>
          </a:xfrm>
          <a:custGeom>
            <a:avLst/>
            <a:gdLst/>
            <a:ahLst/>
            <a:cxnLst/>
            <a:rect l="l" t="t" r="r" b="b"/>
            <a:pathLst>
              <a:path h="859155">
                <a:moveTo>
                  <a:pt x="0" y="0"/>
                </a:moveTo>
                <a:lnTo>
                  <a:pt x="0" y="858790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836441" y="2256153"/>
            <a:ext cx="232449" cy="539035"/>
          </a:xfrm>
          <a:custGeom>
            <a:avLst/>
            <a:gdLst/>
            <a:ahLst/>
            <a:cxnLst/>
            <a:rect l="l" t="t" r="r" b="b"/>
            <a:pathLst>
              <a:path w="191135" h="443230">
                <a:moveTo>
                  <a:pt x="190691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068351" y="1717131"/>
            <a:ext cx="307357" cy="539035"/>
          </a:xfrm>
          <a:custGeom>
            <a:avLst/>
            <a:gdLst/>
            <a:ahLst/>
            <a:cxnLst/>
            <a:rect l="l" t="t" r="r" b="b"/>
            <a:pathLst>
              <a:path w="252729" h="443230">
                <a:moveTo>
                  <a:pt x="252527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989389" y="55341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989389" y="55341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723026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723025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647203" y="576295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647203" y="576295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769127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769127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9917023" y="445300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9917023" y="445300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073401" y="214336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1073401" y="214336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9725848" y="333421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9725848" y="333421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839262" y="483219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839262" y="483219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798521" y="537434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798521" y="537434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798521" y="429944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798521" y="429944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795700" y="275757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795700" y="275757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833297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833297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7030735" y="221543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030735" y="221543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334722" y="167640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7334722" y="167640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8378293" y="3221408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378293" y="3221410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2809568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2809568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2478441" y="33989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2478441" y="33989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11994758" y="256017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1994758" y="256017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0998181" y="499201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0998180" y="499201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028184" y="1590543"/>
            <a:ext cx="1043319" cy="400317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466461" marR="0" lvl="0" indent="0" algn="l" defTabSz="1112093" rtl="0" eaLnBrk="1" fontAlgn="auto" latinLnBrk="0" hangingPunct="1">
              <a:lnSpc>
                <a:spcPts val="1453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ts val="14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739193" y="2348444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553301" y="3243221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146211" y="4117105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638991" y="4482849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108960" y="4943798"/>
            <a:ext cx="719743" cy="561237"/>
          </a:xfrm>
          <a:prstGeom prst="rect">
            <a:avLst/>
          </a:prstGeom>
        </p:spPr>
        <p:txBody>
          <a:bodyPr vert="horz" wrap="square" lIns="0" tIns="90354" rIns="0" bIns="0" rtlCol="0">
            <a:spAutoFit/>
          </a:bodyPr>
          <a:lstStyle/>
          <a:p>
            <a:pPr marL="0" marR="6178" lvl="0" indent="0" algn="r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5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308094" y="5248844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120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947665" y="2277128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151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496697" y="274707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100544" y="3083044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99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656563" y="3434247"/>
            <a:ext cx="1315925" cy="409432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41329" marR="0" lvl="0" indent="0" algn="l" defTabSz="1112093" rtl="0" eaLnBrk="1" fontAlgn="auto" latinLnBrk="0" hangingPunct="1">
              <a:lnSpc>
                <a:spcPct val="100000"/>
              </a:lnSpc>
              <a:spcBef>
                <a:spcPts val="3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1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208372" y="4226469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0234263" y="4730855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101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0507284" y="407790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211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9511039" y="502724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138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8964054" y="467969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146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1308759" y="4661025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0789774" y="5321572"/>
            <a:ext cx="610083" cy="566696"/>
          </a:xfrm>
          <a:prstGeom prst="rect">
            <a:avLst/>
          </a:prstGeom>
        </p:spPr>
        <p:txBody>
          <a:bodyPr vert="horz" wrap="square" lIns="0" tIns="95760" rIns="0" bIns="0" rtlCol="0">
            <a:spAutoFit/>
          </a:bodyPr>
          <a:lstStyle/>
          <a:p>
            <a:pPr marL="134377" marR="0" lvl="0" indent="0" algn="l" defTabSz="1112093" rtl="0" eaLnBrk="1" fontAlgn="auto" latinLnBrk="0" hangingPunct="1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Giurgiu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2295969" y="4502877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2248831" y="398404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142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2357041" y="2858513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92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1590343" y="2164910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44059" y="2705939"/>
            <a:ext cx="219321" cy="219321"/>
          </a:xfrm>
          <a:custGeom>
            <a:avLst/>
            <a:gdLst/>
            <a:ahLst/>
            <a:cxnLst/>
            <a:rect l="l" t="t" r="r" b="b"/>
            <a:pathLst>
              <a:path w="180339" h="180339">
                <a:moveTo>
                  <a:pt x="180260" y="90129"/>
                </a:moveTo>
                <a:lnTo>
                  <a:pt x="173177" y="55047"/>
                </a:lnTo>
                <a:lnTo>
                  <a:pt x="153861" y="26398"/>
                </a:lnTo>
                <a:lnTo>
                  <a:pt x="125212" y="7083"/>
                </a:lnTo>
                <a:lnTo>
                  <a:pt x="90130" y="0"/>
                </a:lnTo>
                <a:lnTo>
                  <a:pt x="55048" y="7083"/>
                </a:lnTo>
                <a:lnTo>
                  <a:pt x="26399" y="26398"/>
                </a:lnTo>
                <a:lnTo>
                  <a:pt x="7083" y="55047"/>
                </a:lnTo>
                <a:lnTo>
                  <a:pt x="0" y="90129"/>
                </a:lnTo>
                <a:lnTo>
                  <a:pt x="7083" y="125210"/>
                </a:lnTo>
                <a:lnTo>
                  <a:pt x="26399" y="153859"/>
                </a:lnTo>
                <a:lnTo>
                  <a:pt x="55048" y="173175"/>
                </a:lnTo>
                <a:lnTo>
                  <a:pt x="90130" y="180258"/>
                </a:lnTo>
                <a:lnTo>
                  <a:pt x="125212" y="173175"/>
                </a:lnTo>
                <a:lnTo>
                  <a:pt x="153861" y="153859"/>
                </a:lnTo>
                <a:lnTo>
                  <a:pt x="173177" y="125210"/>
                </a:lnTo>
                <a:lnTo>
                  <a:pt x="180260" y="90129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10946564" y="4940380"/>
            <a:ext cx="219321" cy="219321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80258" y="90130"/>
                </a:moveTo>
                <a:lnTo>
                  <a:pt x="173175" y="55049"/>
                </a:lnTo>
                <a:lnTo>
                  <a:pt x="153859" y="26400"/>
                </a:lnTo>
                <a:lnTo>
                  <a:pt x="125210" y="7083"/>
                </a:lnTo>
                <a:lnTo>
                  <a:pt x="90129" y="0"/>
                </a:lnTo>
                <a:lnTo>
                  <a:pt x="55047" y="7083"/>
                </a:lnTo>
                <a:lnTo>
                  <a:pt x="26398" y="26400"/>
                </a:lnTo>
                <a:lnTo>
                  <a:pt x="7083" y="55049"/>
                </a:lnTo>
                <a:lnTo>
                  <a:pt x="0" y="90130"/>
                </a:lnTo>
                <a:lnTo>
                  <a:pt x="7083" y="125212"/>
                </a:lnTo>
                <a:lnTo>
                  <a:pt x="26398" y="153861"/>
                </a:lnTo>
                <a:lnTo>
                  <a:pt x="55047" y="173177"/>
                </a:lnTo>
                <a:lnTo>
                  <a:pt x="90129" y="180260"/>
                </a:lnTo>
                <a:lnTo>
                  <a:pt x="125210" y="173177"/>
                </a:lnTo>
                <a:lnTo>
                  <a:pt x="153859" y="153861"/>
                </a:lnTo>
                <a:lnTo>
                  <a:pt x="173175" y="125212"/>
                </a:lnTo>
                <a:lnTo>
                  <a:pt x="180258" y="90130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10911207" y="4905031"/>
            <a:ext cx="290368" cy="290368"/>
          </a:xfrm>
          <a:custGeom>
            <a:avLst/>
            <a:gdLst/>
            <a:ahLst/>
            <a:cxnLst/>
            <a:rect l="l" t="t" r="r" b="b"/>
            <a:pathLst>
              <a:path w="238759" h="238760">
                <a:moveTo>
                  <a:pt x="238389" y="119197"/>
                </a:moveTo>
                <a:lnTo>
                  <a:pt x="229023" y="72801"/>
                </a:lnTo>
                <a:lnTo>
                  <a:pt x="203481" y="34913"/>
                </a:lnTo>
                <a:lnTo>
                  <a:pt x="165595" y="9367"/>
                </a:lnTo>
                <a:lnTo>
                  <a:pt x="119201" y="0"/>
                </a:lnTo>
                <a:lnTo>
                  <a:pt x="72805" y="9367"/>
                </a:lnTo>
                <a:lnTo>
                  <a:pt x="34915" y="34913"/>
                </a:lnTo>
                <a:lnTo>
                  <a:pt x="9368" y="72801"/>
                </a:lnTo>
                <a:lnTo>
                  <a:pt x="0" y="119197"/>
                </a:lnTo>
                <a:lnTo>
                  <a:pt x="9368" y="165593"/>
                </a:lnTo>
                <a:lnTo>
                  <a:pt x="34915" y="203482"/>
                </a:lnTo>
                <a:lnTo>
                  <a:pt x="72805" y="229028"/>
                </a:lnTo>
                <a:lnTo>
                  <a:pt x="119201" y="238396"/>
                </a:lnTo>
                <a:lnTo>
                  <a:pt x="165595" y="229028"/>
                </a:lnTo>
                <a:lnTo>
                  <a:pt x="203481" y="203482"/>
                </a:lnTo>
                <a:lnTo>
                  <a:pt x="229023" y="165593"/>
                </a:lnTo>
                <a:lnTo>
                  <a:pt x="238389" y="119197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065714" y="4900702"/>
            <a:ext cx="5282235" cy="963862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44837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45610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node with minimum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r>
              <a:rPr kumimoji="0" sz="2493" b="0" i="1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value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760703" marR="0" lvl="1" indent="-332856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760703" algn="l"/>
                <a:tab pos="76147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priority queue, ordered by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r>
              <a:rPr kumimoji="0" sz="2493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values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3406639" y="5878499"/>
            <a:ext cx="8897166" cy="1905929"/>
          </a:xfrm>
          <a:custGeom>
            <a:avLst/>
            <a:gdLst/>
            <a:ahLst/>
            <a:cxnLst/>
            <a:rect l="l" t="t" r="r" b="b"/>
            <a:pathLst>
              <a:path w="7315834" h="1567179">
                <a:moveTo>
                  <a:pt x="0" y="1566920"/>
                </a:moveTo>
                <a:lnTo>
                  <a:pt x="7315500" y="1566920"/>
                </a:lnTo>
                <a:lnTo>
                  <a:pt x="7315500" y="0"/>
                </a:lnTo>
                <a:lnTo>
                  <a:pt x="0" y="0"/>
                </a:lnTo>
                <a:lnTo>
                  <a:pt x="0" y="15669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6748040" y="5910636"/>
            <a:ext cx="964548" cy="333615"/>
          </a:xfrm>
          <a:custGeom>
            <a:avLst/>
            <a:gdLst/>
            <a:ahLst/>
            <a:cxnLst/>
            <a:rect l="l" t="t" r="r" b="b"/>
            <a:pathLst>
              <a:path w="793114" h="274320">
                <a:moveTo>
                  <a:pt x="424195" y="0"/>
                </a:moveTo>
                <a:lnTo>
                  <a:pt x="368877" y="0"/>
                </a:lnTo>
                <a:lnTo>
                  <a:pt x="313993" y="2659"/>
                </a:lnTo>
                <a:lnTo>
                  <a:pt x="260410" y="7978"/>
                </a:lnTo>
                <a:lnTo>
                  <a:pt x="208996" y="15956"/>
                </a:lnTo>
                <a:lnTo>
                  <a:pt x="160618" y="26593"/>
                </a:lnTo>
                <a:lnTo>
                  <a:pt x="116143" y="39890"/>
                </a:lnTo>
                <a:lnTo>
                  <a:pt x="65330" y="61433"/>
                </a:lnTo>
                <a:lnTo>
                  <a:pt x="29035" y="85319"/>
                </a:lnTo>
                <a:lnTo>
                  <a:pt x="0" y="136996"/>
                </a:lnTo>
                <a:lnTo>
                  <a:pt x="7258" y="163225"/>
                </a:lnTo>
                <a:lnTo>
                  <a:pt x="65330" y="212559"/>
                </a:lnTo>
                <a:lnTo>
                  <a:pt x="116143" y="234102"/>
                </a:lnTo>
                <a:lnTo>
                  <a:pt x="160618" y="247399"/>
                </a:lnTo>
                <a:lnTo>
                  <a:pt x="208996" y="258036"/>
                </a:lnTo>
                <a:lnTo>
                  <a:pt x="260410" y="266015"/>
                </a:lnTo>
                <a:lnTo>
                  <a:pt x="313993" y="271333"/>
                </a:lnTo>
                <a:lnTo>
                  <a:pt x="368877" y="273993"/>
                </a:lnTo>
                <a:lnTo>
                  <a:pt x="424195" y="273993"/>
                </a:lnTo>
                <a:lnTo>
                  <a:pt x="479079" y="271333"/>
                </a:lnTo>
                <a:lnTo>
                  <a:pt x="532662" y="266015"/>
                </a:lnTo>
                <a:lnTo>
                  <a:pt x="584077" y="258036"/>
                </a:lnTo>
                <a:lnTo>
                  <a:pt x="632455" y="247399"/>
                </a:lnTo>
                <a:lnTo>
                  <a:pt x="676929" y="234102"/>
                </a:lnTo>
                <a:lnTo>
                  <a:pt x="727742" y="212559"/>
                </a:lnTo>
                <a:lnTo>
                  <a:pt x="764037" y="188673"/>
                </a:lnTo>
                <a:lnTo>
                  <a:pt x="793073" y="136996"/>
                </a:lnTo>
                <a:lnTo>
                  <a:pt x="785814" y="110767"/>
                </a:lnTo>
                <a:lnTo>
                  <a:pt x="727742" y="61433"/>
                </a:lnTo>
                <a:lnTo>
                  <a:pt x="676929" y="39890"/>
                </a:lnTo>
                <a:lnTo>
                  <a:pt x="632455" y="26593"/>
                </a:lnTo>
                <a:lnTo>
                  <a:pt x="584077" y="15956"/>
                </a:lnTo>
                <a:lnTo>
                  <a:pt x="532662" y="7978"/>
                </a:lnTo>
                <a:lnTo>
                  <a:pt x="479079" y="2659"/>
                </a:lnTo>
                <a:lnTo>
                  <a:pt x="424195" y="0"/>
                </a:lnTo>
                <a:close/>
              </a:path>
            </a:pathLst>
          </a:custGeom>
          <a:solidFill>
            <a:srgbClr val="E1E1E1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6748040" y="5910636"/>
            <a:ext cx="964548" cy="333615"/>
          </a:xfrm>
          <a:custGeom>
            <a:avLst/>
            <a:gdLst/>
            <a:ahLst/>
            <a:cxnLst/>
            <a:rect l="l" t="t" r="r" b="b"/>
            <a:pathLst>
              <a:path w="793114" h="274320">
                <a:moveTo>
                  <a:pt x="676929" y="39890"/>
                </a:moveTo>
                <a:lnTo>
                  <a:pt x="727742" y="61433"/>
                </a:lnTo>
                <a:lnTo>
                  <a:pt x="764037" y="85319"/>
                </a:lnTo>
                <a:lnTo>
                  <a:pt x="785814" y="110767"/>
                </a:lnTo>
                <a:lnTo>
                  <a:pt x="793073" y="136996"/>
                </a:lnTo>
                <a:lnTo>
                  <a:pt x="785814" y="163225"/>
                </a:lnTo>
                <a:lnTo>
                  <a:pt x="727742" y="212559"/>
                </a:lnTo>
                <a:lnTo>
                  <a:pt x="676929" y="234102"/>
                </a:lnTo>
                <a:lnTo>
                  <a:pt x="632455" y="247399"/>
                </a:lnTo>
                <a:lnTo>
                  <a:pt x="584077" y="258036"/>
                </a:lnTo>
                <a:lnTo>
                  <a:pt x="532662" y="266015"/>
                </a:lnTo>
                <a:lnTo>
                  <a:pt x="479079" y="271333"/>
                </a:lnTo>
                <a:lnTo>
                  <a:pt x="424195" y="273993"/>
                </a:lnTo>
                <a:lnTo>
                  <a:pt x="368877" y="273993"/>
                </a:lnTo>
                <a:lnTo>
                  <a:pt x="313993" y="271333"/>
                </a:lnTo>
                <a:lnTo>
                  <a:pt x="260410" y="266015"/>
                </a:lnTo>
                <a:lnTo>
                  <a:pt x="208996" y="258036"/>
                </a:lnTo>
                <a:lnTo>
                  <a:pt x="160618" y="247399"/>
                </a:lnTo>
                <a:lnTo>
                  <a:pt x="116143" y="234102"/>
                </a:lnTo>
                <a:lnTo>
                  <a:pt x="65330" y="212559"/>
                </a:lnTo>
                <a:lnTo>
                  <a:pt x="29035" y="188673"/>
                </a:lnTo>
                <a:lnTo>
                  <a:pt x="0" y="136996"/>
                </a:lnTo>
                <a:lnTo>
                  <a:pt x="7258" y="110767"/>
                </a:lnTo>
                <a:lnTo>
                  <a:pt x="65330" y="61433"/>
                </a:lnTo>
                <a:lnTo>
                  <a:pt x="116143" y="39890"/>
                </a:lnTo>
                <a:lnTo>
                  <a:pt x="160618" y="26593"/>
                </a:lnTo>
                <a:lnTo>
                  <a:pt x="208996" y="15956"/>
                </a:lnTo>
                <a:lnTo>
                  <a:pt x="260410" y="7978"/>
                </a:lnTo>
                <a:lnTo>
                  <a:pt x="313993" y="2659"/>
                </a:lnTo>
                <a:lnTo>
                  <a:pt x="368877" y="0"/>
                </a:lnTo>
                <a:lnTo>
                  <a:pt x="424195" y="0"/>
                </a:lnTo>
                <a:lnTo>
                  <a:pt x="479079" y="2659"/>
                </a:lnTo>
                <a:lnTo>
                  <a:pt x="532662" y="7978"/>
                </a:lnTo>
                <a:lnTo>
                  <a:pt x="584077" y="15956"/>
                </a:lnTo>
                <a:lnTo>
                  <a:pt x="632455" y="26593"/>
                </a:lnTo>
                <a:lnTo>
                  <a:pt x="676929" y="39890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6890960" y="5942272"/>
            <a:ext cx="678813" cy="241705"/>
          </a:xfrm>
          <a:prstGeom prst="rect">
            <a:avLst/>
          </a:prstGeom>
        </p:spPr>
        <p:txBody>
          <a:bodyPr vert="horz" wrap="square" lIns="0" tIns="16990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Arad</a:t>
            </a:r>
            <a:r>
              <a:rPr kumimoji="0" sz="1459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4566288" y="6646758"/>
            <a:ext cx="1750706" cy="334387"/>
          </a:xfrm>
          <a:custGeom>
            <a:avLst/>
            <a:gdLst/>
            <a:ahLst/>
            <a:cxnLst/>
            <a:rect l="l" t="t" r="r" b="b"/>
            <a:pathLst>
              <a:path w="1439545" h="274954">
                <a:moveTo>
                  <a:pt x="1229532" y="40223"/>
                </a:moveTo>
                <a:lnTo>
                  <a:pt x="1289509" y="53160"/>
                </a:lnTo>
                <a:lnTo>
                  <a:pt x="1339490" y="67098"/>
                </a:lnTo>
                <a:lnTo>
                  <a:pt x="1379475" y="81856"/>
                </a:lnTo>
                <a:lnTo>
                  <a:pt x="1429456" y="113100"/>
                </a:lnTo>
                <a:lnTo>
                  <a:pt x="1439453" y="129222"/>
                </a:lnTo>
                <a:lnTo>
                  <a:pt x="1439453" y="145435"/>
                </a:lnTo>
                <a:lnTo>
                  <a:pt x="1409464" y="177407"/>
                </a:lnTo>
                <a:lnTo>
                  <a:pt x="1339490" y="207559"/>
                </a:lnTo>
                <a:lnTo>
                  <a:pt x="1289509" y="221497"/>
                </a:lnTo>
                <a:lnTo>
                  <a:pt x="1229532" y="234434"/>
                </a:lnTo>
                <a:lnTo>
                  <a:pt x="1186030" y="242077"/>
                </a:lnTo>
                <a:lnTo>
                  <a:pt x="1140166" y="248915"/>
                </a:lnTo>
                <a:lnTo>
                  <a:pt x="1092203" y="254948"/>
                </a:lnTo>
                <a:lnTo>
                  <a:pt x="1042404" y="260177"/>
                </a:lnTo>
                <a:lnTo>
                  <a:pt x="991030" y="264602"/>
                </a:lnTo>
                <a:lnTo>
                  <a:pt x="938343" y="268222"/>
                </a:lnTo>
                <a:lnTo>
                  <a:pt x="884607" y="271038"/>
                </a:lnTo>
                <a:lnTo>
                  <a:pt x="830084" y="273049"/>
                </a:lnTo>
                <a:lnTo>
                  <a:pt x="775036" y="274255"/>
                </a:lnTo>
                <a:lnTo>
                  <a:pt x="719726" y="274658"/>
                </a:lnTo>
                <a:lnTo>
                  <a:pt x="664416" y="274255"/>
                </a:lnTo>
                <a:lnTo>
                  <a:pt x="609368" y="273049"/>
                </a:lnTo>
                <a:lnTo>
                  <a:pt x="554845" y="271038"/>
                </a:lnTo>
                <a:lnTo>
                  <a:pt x="501109" y="268222"/>
                </a:lnTo>
                <a:lnTo>
                  <a:pt x="448423" y="264602"/>
                </a:lnTo>
                <a:lnTo>
                  <a:pt x="397048" y="260177"/>
                </a:lnTo>
                <a:lnTo>
                  <a:pt x="347249" y="254948"/>
                </a:lnTo>
                <a:lnTo>
                  <a:pt x="299286" y="248915"/>
                </a:lnTo>
                <a:lnTo>
                  <a:pt x="253422" y="242077"/>
                </a:lnTo>
                <a:lnTo>
                  <a:pt x="209920" y="234434"/>
                </a:lnTo>
                <a:lnTo>
                  <a:pt x="149943" y="221497"/>
                </a:lnTo>
                <a:lnTo>
                  <a:pt x="99962" y="207559"/>
                </a:lnTo>
                <a:lnTo>
                  <a:pt x="59977" y="192801"/>
                </a:lnTo>
                <a:lnTo>
                  <a:pt x="9996" y="161558"/>
                </a:lnTo>
                <a:lnTo>
                  <a:pt x="0" y="145435"/>
                </a:lnTo>
                <a:lnTo>
                  <a:pt x="0" y="129222"/>
                </a:lnTo>
                <a:lnTo>
                  <a:pt x="29988" y="97250"/>
                </a:lnTo>
                <a:lnTo>
                  <a:pt x="99962" y="67098"/>
                </a:lnTo>
                <a:lnTo>
                  <a:pt x="149943" y="53160"/>
                </a:lnTo>
                <a:lnTo>
                  <a:pt x="209920" y="40223"/>
                </a:lnTo>
                <a:lnTo>
                  <a:pt x="253422" y="32580"/>
                </a:lnTo>
                <a:lnTo>
                  <a:pt x="299286" y="25742"/>
                </a:lnTo>
                <a:lnTo>
                  <a:pt x="347249" y="19709"/>
                </a:lnTo>
                <a:lnTo>
                  <a:pt x="397048" y="14480"/>
                </a:lnTo>
                <a:lnTo>
                  <a:pt x="448423" y="10055"/>
                </a:lnTo>
                <a:lnTo>
                  <a:pt x="501109" y="6435"/>
                </a:lnTo>
                <a:lnTo>
                  <a:pt x="554845" y="3620"/>
                </a:lnTo>
                <a:lnTo>
                  <a:pt x="609368" y="1608"/>
                </a:lnTo>
                <a:lnTo>
                  <a:pt x="664416" y="402"/>
                </a:lnTo>
                <a:lnTo>
                  <a:pt x="719726" y="0"/>
                </a:lnTo>
                <a:lnTo>
                  <a:pt x="775036" y="402"/>
                </a:lnTo>
                <a:lnTo>
                  <a:pt x="830084" y="1608"/>
                </a:lnTo>
                <a:lnTo>
                  <a:pt x="884607" y="3620"/>
                </a:lnTo>
                <a:lnTo>
                  <a:pt x="938343" y="6435"/>
                </a:lnTo>
                <a:lnTo>
                  <a:pt x="991030" y="10055"/>
                </a:lnTo>
                <a:lnTo>
                  <a:pt x="1042404" y="14480"/>
                </a:lnTo>
                <a:lnTo>
                  <a:pt x="1092203" y="19709"/>
                </a:lnTo>
                <a:lnTo>
                  <a:pt x="1140166" y="25742"/>
                </a:lnTo>
                <a:lnTo>
                  <a:pt x="1186030" y="32580"/>
                </a:lnTo>
                <a:lnTo>
                  <a:pt x="1229532" y="40223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4788659" y="6678798"/>
            <a:ext cx="1305886" cy="241705"/>
          </a:xfrm>
          <a:prstGeom prst="rect">
            <a:avLst/>
          </a:prstGeom>
        </p:spPr>
        <p:txBody>
          <a:bodyPr vert="horz" wrap="square" lIns="0" tIns="16990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Timisoara</a:t>
            </a:r>
            <a:r>
              <a:rPr kumimoji="0" sz="1459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(118)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9014610" y="6646975"/>
            <a:ext cx="1271905" cy="333615"/>
          </a:xfrm>
          <a:custGeom>
            <a:avLst/>
            <a:gdLst/>
            <a:ahLst/>
            <a:cxnLst/>
            <a:rect l="l" t="t" r="r" b="b"/>
            <a:pathLst>
              <a:path w="1045845" h="274320">
                <a:moveTo>
                  <a:pt x="892317" y="40044"/>
                </a:moveTo>
                <a:lnTo>
                  <a:pt x="947432" y="57066"/>
                </a:lnTo>
                <a:lnTo>
                  <a:pt x="990299" y="75687"/>
                </a:lnTo>
                <a:lnTo>
                  <a:pt x="1039291" y="116129"/>
                </a:lnTo>
                <a:lnTo>
                  <a:pt x="1045414" y="137150"/>
                </a:lnTo>
                <a:lnTo>
                  <a:pt x="1039291" y="158170"/>
                </a:lnTo>
                <a:lnTo>
                  <a:pt x="990299" y="198612"/>
                </a:lnTo>
                <a:lnTo>
                  <a:pt x="947432" y="217234"/>
                </a:lnTo>
                <a:lnTo>
                  <a:pt x="892317" y="234256"/>
                </a:lnTo>
                <a:lnTo>
                  <a:pt x="849875" y="244267"/>
                </a:lnTo>
                <a:lnTo>
                  <a:pt x="804502" y="252848"/>
                </a:lnTo>
                <a:lnTo>
                  <a:pt x="756648" y="259999"/>
                </a:lnTo>
                <a:lnTo>
                  <a:pt x="706766" y="265719"/>
                </a:lnTo>
                <a:lnTo>
                  <a:pt x="655305" y="270010"/>
                </a:lnTo>
                <a:lnTo>
                  <a:pt x="602717" y="272870"/>
                </a:lnTo>
                <a:lnTo>
                  <a:pt x="549452" y="274300"/>
                </a:lnTo>
                <a:lnTo>
                  <a:pt x="495962" y="274300"/>
                </a:lnTo>
                <a:lnTo>
                  <a:pt x="442697" y="272870"/>
                </a:lnTo>
                <a:lnTo>
                  <a:pt x="390109" y="270010"/>
                </a:lnTo>
                <a:lnTo>
                  <a:pt x="338648" y="265719"/>
                </a:lnTo>
                <a:lnTo>
                  <a:pt x="288766" y="259999"/>
                </a:lnTo>
                <a:lnTo>
                  <a:pt x="240912" y="252848"/>
                </a:lnTo>
                <a:lnTo>
                  <a:pt x="195539" y="244267"/>
                </a:lnTo>
                <a:lnTo>
                  <a:pt x="153097" y="234256"/>
                </a:lnTo>
                <a:lnTo>
                  <a:pt x="97982" y="217234"/>
                </a:lnTo>
                <a:lnTo>
                  <a:pt x="55115" y="198612"/>
                </a:lnTo>
                <a:lnTo>
                  <a:pt x="6123" y="158170"/>
                </a:lnTo>
                <a:lnTo>
                  <a:pt x="0" y="137150"/>
                </a:lnTo>
                <a:lnTo>
                  <a:pt x="6123" y="116129"/>
                </a:lnTo>
                <a:lnTo>
                  <a:pt x="55115" y="75687"/>
                </a:lnTo>
                <a:lnTo>
                  <a:pt x="97982" y="57066"/>
                </a:lnTo>
                <a:lnTo>
                  <a:pt x="153097" y="40044"/>
                </a:lnTo>
                <a:lnTo>
                  <a:pt x="195539" y="30033"/>
                </a:lnTo>
                <a:lnTo>
                  <a:pt x="240912" y="21452"/>
                </a:lnTo>
                <a:lnTo>
                  <a:pt x="288766" y="14301"/>
                </a:lnTo>
                <a:lnTo>
                  <a:pt x="338648" y="8580"/>
                </a:lnTo>
                <a:lnTo>
                  <a:pt x="390109" y="4290"/>
                </a:lnTo>
                <a:lnTo>
                  <a:pt x="442697" y="1430"/>
                </a:lnTo>
                <a:lnTo>
                  <a:pt x="495962" y="0"/>
                </a:lnTo>
                <a:lnTo>
                  <a:pt x="549452" y="0"/>
                </a:lnTo>
                <a:lnTo>
                  <a:pt x="602717" y="1430"/>
                </a:lnTo>
                <a:lnTo>
                  <a:pt x="655305" y="4290"/>
                </a:lnTo>
                <a:lnTo>
                  <a:pt x="706766" y="8580"/>
                </a:lnTo>
                <a:lnTo>
                  <a:pt x="756648" y="14301"/>
                </a:lnTo>
                <a:lnTo>
                  <a:pt x="804502" y="21452"/>
                </a:lnTo>
                <a:lnTo>
                  <a:pt x="849875" y="30033"/>
                </a:lnTo>
                <a:lnTo>
                  <a:pt x="892317" y="40044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9189669" y="6678798"/>
            <a:ext cx="921302" cy="241705"/>
          </a:xfrm>
          <a:prstGeom prst="rect">
            <a:avLst/>
          </a:prstGeom>
        </p:spPr>
        <p:txBody>
          <a:bodyPr vert="horz" wrap="square" lIns="0" tIns="16990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Zerind</a:t>
            </a:r>
            <a:r>
              <a:rPr kumimoji="0" sz="1459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(75)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6601904" y="6646975"/>
            <a:ext cx="1257234" cy="333615"/>
          </a:xfrm>
          <a:custGeom>
            <a:avLst/>
            <a:gdLst/>
            <a:ahLst/>
            <a:cxnLst/>
            <a:rect l="l" t="t" r="r" b="b"/>
            <a:pathLst>
              <a:path w="1033779" h="274320">
                <a:moveTo>
                  <a:pt x="882060" y="40044"/>
                </a:moveTo>
                <a:lnTo>
                  <a:pt x="936541" y="57066"/>
                </a:lnTo>
                <a:lnTo>
                  <a:pt x="978916" y="75687"/>
                </a:lnTo>
                <a:lnTo>
                  <a:pt x="1027345" y="116129"/>
                </a:lnTo>
                <a:lnTo>
                  <a:pt x="1033398" y="137150"/>
                </a:lnTo>
                <a:lnTo>
                  <a:pt x="1027345" y="158170"/>
                </a:lnTo>
                <a:lnTo>
                  <a:pt x="978916" y="198612"/>
                </a:lnTo>
                <a:lnTo>
                  <a:pt x="936541" y="217234"/>
                </a:lnTo>
                <a:lnTo>
                  <a:pt x="882060" y="234256"/>
                </a:lnTo>
                <a:lnTo>
                  <a:pt x="840106" y="244267"/>
                </a:lnTo>
                <a:lnTo>
                  <a:pt x="795254" y="252848"/>
                </a:lnTo>
                <a:lnTo>
                  <a:pt x="747951" y="259999"/>
                </a:lnTo>
                <a:lnTo>
                  <a:pt x="698642" y="265719"/>
                </a:lnTo>
                <a:lnTo>
                  <a:pt x="647773" y="270010"/>
                </a:lnTo>
                <a:lnTo>
                  <a:pt x="595789" y="272870"/>
                </a:lnTo>
                <a:lnTo>
                  <a:pt x="543136" y="274300"/>
                </a:lnTo>
                <a:lnTo>
                  <a:pt x="490261" y="274300"/>
                </a:lnTo>
                <a:lnTo>
                  <a:pt x="437609" y="272870"/>
                </a:lnTo>
                <a:lnTo>
                  <a:pt x="385625" y="270010"/>
                </a:lnTo>
                <a:lnTo>
                  <a:pt x="334756" y="265719"/>
                </a:lnTo>
                <a:lnTo>
                  <a:pt x="285447" y="259999"/>
                </a:lnTo>
                <a:lnTo>
                  <a:pt x="238143" y="252848"/>
                </a:lnTo>
                <a:lnTo>
                  <a:pt x="193292" y="244267"/>
                </a:lnTo>
                <a:lnTo>
                  <a:pt x="151338" y="234256"/>
                </a:lnTo>
                <a:lnTo>
                  <a:pt x="96856" y="217234"/>
                </a:lnTo>
                <a:lnTo>
                  <a:pt x="54481" y="198612"/>
                </a:lnTo>
                <a:lnTo>
                  <a:pt x="6053" y="158170"/>
                </a:lnTo>
                <a:lnTo>
                  <a:pt x="0" y="137150"/>
                </a:lnTo>
                <a:lnTo>
                  <a:pt x="6053" y="116129"/>
                </a:lnTo>
                <a:lnTo>
                  <a:pt x="54481" y="75687"/>
                </a:lnTo>
                <a:lnTo>
                  <a:pt x="96856" y="57066"/>
                </a:lnTo>
                <a:lnTo>
                  <a:pt x="151338" y="40044"/>
                </a:lnTo>
                <a:lnTo>
                  <a:pt x="193292" y="30033"/>
                </a:lnTo>
                <a:lnTo>
                  <a:pt x="238143" y="21452"/>
                </a:lnTo>
                <a:lnTo>
                  <a:pt x="285447" y="14301"/>
                </a:lnTo>
                <a:lnTo>
                  <a:pt x="334756" y="8580"/>
                </a:lnTo>
                <a:lnTo>
                  <a:pt x="385625" y="4290"/>
                </a:lnTo>
                <a:lnTo>
                  <a:pt x="437609" y="1430"/>
                </a:lnTo>
                <a:lnTo>
                  <a:pt x="490261" y="0"/>
                </a:lnTo>
                <a:lnTo>
                  <a:pt x="543136" y="0"/>
                </a:lnTo>
                <a:lnTo>
                  <a:pt x="595789" y="1430"/>
                </a:lnTo>
                <a:lnTo>
                  <a:pt x="647773" y="4290"/>
                </a:lnTo>
                <a:lnTo>
                  <a:pt x="698642" y="8580"/>
                </a:lnTo>
                <a:lnTo>
                  <a:pt x="747951" y="14301"/>
                </a:lnTo>
                <a:lnTo>
                  <a:pt x="795254" y="21452"/>
                </a:lnTo>
                <a:lnTo>
                  <a:pt x="840106" y="30033"/>
                </a:lnTo>
                <a:lnTo>
                  <a:pt x="882060" y="40044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6774798" y="6678798"/>
            <a:ext cx="911263" cy="241705"/>
          </a:xfrm>
          <a:prstGeom prst="rect">
            <a:avLst/>
          </a:prstGeom>
        </p:spPr>
        <p:txBody>
          <a:bodyPr vert="horz" wrap="square" lIns="0" tIns="16990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Sibiu</a:t>
            </a:r>
            <a:r>
              <a:rPr kumimoji="0" sz="1459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(140)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5809806" y="6205067"/>
            <a:ext cx="1110505" cy="457176"/>
          </a:xfrm>
          <a:custGeom>
            <a:avLst/>
            <a:gdLst/>
            <a:ahLst/>
            <a:cxnLst/>
            <a:rect l="l" t="t" r="r" b="b"/>
            <a:pathLst>
              <a:path w="913129" h="375920">
                <a:moveTo>
                  <a:pt x="912760" y="0"/>
                </a:moveTo>
                <a:lnTo>
                  <a:pt x="0" y="375842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7230289" y="6244257"/>
            <a:ext cx="0" cy="403118"/>
          </a:xfrm>
          <a:custGeom>
            <a:avLst/>
            <a:gdLst/>
            <a:ahLst/>
            <a:cxnLst/>
            <a:rect l="l" t="t" r="r" b="b"/>
            <a:pathLst>
              <a:path h="331470">
                <a:moveTo>
                  <a:pt x="0" y="0"/>
                </a:moveTo>
                <a:lnTo>
                  <a:pt x="0" y="330962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7592547" y="6187497"/>
            <a:ext cx="1642590" cy="500422"/>
          </a:xfrm>
          <a:custGeom>
            <a:avLst/>
            <a:gdLst/>
            <a:ahLst/>
            <a:cxnLst/>
            <a:rect l="l" t="t" r="r" b="b"/>
            <a:pathLst>
              <a:path w="1350645" h="411479">
                <a:moveTo>
                  <a:pt x="0" y="0"/>
                </a:moveTo>
                <a:lnTo>
                  <a:pt x="1350443" y="411005"/>
                </a:lnTo>
              </a:path>
            </a:pathLst>
          </a:custGeom>
          <a:ln w="9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8854591" y="6761162"/>
            <a:ext cx="116909" cy="1169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9C9A8B4-B66D-6748-803F-7B069B78FDA0}"/>
              </a:ext>
            </a:extLst>
          </p:cNvPr>
          <p:cNvSpPr/>
          <p:nvPr/>
        </p:nvSpPr>
        <p:spPr>
          <a:xfrm>
            <a:off x="897466" y="4927598"/>
            <a:ext cx="5646913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F08E78A-9E34-6D9A-9027-CFB1B432ECBC}"/>
              </a:ext>
            </a:extLst>
          </p:cNvPr>
          <p:cNvSpPr txBox="1"/>
          <p:nvPr/>
        </p:nvSpPr>
        <p:spPr>
          <a:xfrm>
            <a:off x="1630697" y="7555780"/>
            <a:ext cx="9743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g(node) = g(parent) + edge cost (parent, node)</a:t>
            </a:r>
          </a:p>
        </p:txBody>
      </p:sp>
    </p:spTree>
    <p:extLst>
      <p:ext uri="{BB962C8B-B14F-4D97-AF65-F5344CB8AC3E}">
        <p14:creationId xmlns:p14="http://schemas.microsoft.com/office/powerpoint/2010/main" val="2563063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7466" y="819272"/>
            <a:ext cx="7886611" cy="728599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15446">
              <a:spcBef>
                <a:spcPts val="152"/>
              </a:spcBef>
            </a:pPr>
            <a:r>
              <a:rPr spc="-85" dirty="0"/>
              <a:t>Uniform-cost</a:t>
            </a:r>
            <a:r>
              <a:rPr spc="26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130" name="object 13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129" name="object 129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0545" y="3400697"/>
            <a:ext cx="1281174" cy="1621739"/>
          </a:xfrm>
          <a:custGeom>
            <a:avLst/>
            <a:gdLst/>
            <a:ahLst/>
            <a:cxnLst/>
            <a:rect l="l" t="t" r="r" b="b"/>
            <a:pathLst>
              <a:path w="1053465" h="1333500">
                <a:moveTo>
                  <a:pt x="0" y="0"/>
                </a:moveTo>
                <a:lnTo>
                  <a:pt x="1052961" y="1332936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06712" y="4756837"/>
            <a:ext cx="664913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Urziceni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80196" y="1853953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Neamt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72356" y="2204767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73412" y="2668585"/>
            <a:ext cx="40234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27255" y="3709023"/>
            <a:ext cx="800058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53965" y="4210434"/>
            <a:ext cx="47416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75633" y="4749455"/>
            <a:ext cx="6826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94852" y="5526667"/>
            <a:ext cx="62861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94771" y="2981951"/>
            <a:ext cx="4293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50616" y="3013294"/>
            <a:ext cx="65564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54724" y="4143227"/>
            <a:ext cx="519729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613617" y="3320432"/>
            <a:ext cx="366050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Vasl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162201" y="2480554"/>
            <a:ext cx="30272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Iasi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154885" y="2218551"/>
            <a:ext cx="884234" cy="383039"/>
          </a:xfrm>
          <a:custGeom>
            <a:avLst/>
            <a:gdLst/>
            <a:ahLst/>
            <a:cxnLst/>
            <a:rect l="l" t="t" r="r" b="b"/>
            <a:pathLst>
              <a:path w="727075" h="314960">
                <a:moveTo>
                  <a:pt x="726680" y="314380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844331" y="3490901"/>
            <a:ext cx="695803" cy="1234838"/>
          </a:xfrm>
          <a:custGeom>
            <a:avLst/>
            <a:gdLst/>
            <a:ahLst/>
            <a:cxnLst/>
            <a:rect l="l" t="t" r="r" b="b"/>
            <a:pathLst>
              <a:path w="572134" h="1015364">
                <a:moveTo>
                  <a:pt x="0" y="1015281"/>
                </a:moveTo>
                <a:lnTo>
                  <a:pt x="572071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038636" y="2638488"/>
            <a:ext cx="501967" cy="771484"/>
          </a:xfrm>
          <a:custGeom>
            <a:avLst/>
            <a:gdLst/>
            <a:ahLst/>
            <a:cxnLst/>
            <a:rect l="l" t="t" r="r" b="b"/>
            <a:pathLst>
              <a:path w="412750" h="634364">
                <a:moveTo>
                  <a:pt x="412299" y="633909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885078" y="4763243"/>
            <a:ext cx="925163" cy="0"/>
          </a:xfrm>
          <a:custGeom>
            <a:avLst/>
            <a:gdLst/>
            <a:ahLst/>
            <a:cxnLst/>
            <a:rect l="l" t="t" r="r" b="b"/>
            <a:pathLst>
              <a:path w="760729">
                <a:moveTo>
                  <a:pt x="0" y="0"/>
                </a:moveTo>
                <a:lnTo>
                  <a:pt x="760175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847170" y="4719370"/>
            <a:ext cx="155996" cy="305041"/>
          </a:xfrm>
          <a:custGeom>
            <a:avLst/>
            <a:gdLst/>
            <a:ahLst/>
            <a:cxnLst/>
            <a:rect l="l" t="t" r="r" b="b"/>
            <a:pathLst>
              <a:path w="128270" h="250825">
                <a:moveTo>
                  <a:pt x="0" y="0"/>
                </a:moveTo>
                <a:lnTo>
                  <a:pt x="128215" y="250331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73401" y="4763243"/>
            <a:ext cx="733644" cy="269518"/>
          </a:xfrm>
          <a:custGeom>
            <a:avLst/>
            <a:gdLst/>
            <a:ahLst/>
            <a:cxnLst/>
            <a:rect l="l" t="t" r="r" b="b"/>
            <a:pathLst>
              <a:path w="603250" h="221614">
                <a:moveTo>
                  <a:pt x="0" y="221612"/>
                </a:moveTo>
                <a:lnTo>
                  <a:pt x="60299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105082" y="5115102"/>
            <a:ext cx="82708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691083" y="5070362"/>
            <a:ext cx="383039" cy="771484"/>
          </a:xfrm>
          <a:custGeom>
            <a:avLst/>
            <a:gdLst/>
            <a:ahLst/>
            <a:cxnLst/>
            <a:rect l="l" t="t" r="r" b="b"/>
            <a:pathLst>
              <a:path w="314959" h="634364">
                <a:moveTo>
                  <a:pt x="314366" y="0"/>
                </a:moveTo>
                <a:lnTo>
                  <a:pt x="0" y="633909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995358" y="4487468"/>
            <a:ext cx="1041002" cy="545985"/>
          </a:xfrm>
          <a:custGeom>
            <a:avLst/>
            <a:gdLst/>
            <a:ahLst/>
            <a:cxnLst/>
            <a:rect l="l" t="t" r="r" b="b"/>
            <a:pathLst>
              <a:path w="855979" h="448945">
                <a:moveTo>
                  <a:pt x="0" y="0"/>
                </a:moveTo>
                <a:lnTo>
                  <a:pt x="855518" y="448373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074018" y="4531340"/>
            <a:ext cx="884234" cy="1078070"/>
          </a:xfrm>
          <a:custGeom>
            <a:avLst/>
            <a:gdLst/>
            <a:ahLst/>
            <a:cxnLst/>
            <a:rect l="l" t="t" r="r" b="b"/>
            <a:pathLst>
              <a:path w="727075" h="886460">
                <a:moveTo>
                  <a:pt x="0" y="886437"/>
                </a:moveTo>
                <a:lnTo>
                  <a:pt x="726666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798230" y="3948439"/>
            <a:ext cx="1122089" cy="539035"/>
          </a:xfrm>
          <a:custGeom>
            <a:avLst/>
            <a:gdLst/>
            <a:ahLst/>
            <a:cxnLst/>
            <a:rect l="l" t="t" r="r" b="b"/>
            <a:pathLst>
              <a:path w="922654" h="443229">
                <a:moveTo>
                  <a:pt x="0" y="0"/>
                </a:moveTo>
                <a:lnTo>
                  <a:pt x="922505" y="443224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459777" y="3296594"/>
            <a:ext cx="1304341" cy="75681"/>
          </a:xfrm>
          <a:custGeom>
            <a:avLst/>
            <a:gdLst/>
            <a:ahLst/>
            <a:cxnLst/>
            <a:rect l="l" t="t" r="r" b="b"/>
            <a:pathLst>
              <a:path w="1072515" h="62230">
                <a:moveTo>
                  <a:pt x="0" y="0"/>
                </a:moveTo>
                <a:lnTo>
                  <a:pt x="1071966" y="61851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04491" y="3986057"/>
            <a:ext cx="226271" cy="1586215"/>
          </a:xfrm>
          <a:custGeom>
            <a:avLst/>
            <a:gdLst/>
            <a:ahLst/>
            <a:cxnLst/>
            <a:rect l="l" t="t" r="r" b="b"/>
            <a:pathLst>
              <a:path w="186054" h="1304289">
                <a:moveTo>
                  <a:pt x="185541" y="1303883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876873" y="5452689"/>
            <a:ext cx="1153751" cy="119700"/>
          </a:xfrm>
          <a:custGeom>
            <a:avLst/>
            <a:gdLst/>
            <a:ahLst/>
            <a:cxnLst/>
            <a:rect l="l" t="t" r="r" b="b"/>
            <a:pathLst>
              <a:path w="948690" h="98425">
                <a:moveTo>
                  <a:pt x="0" y="0"/>
                </a:moveTo>
                <a:lnTo>
                  <a:pt x="948289" y="97923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858070" y="4906558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43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440974" y="3296595"/>
            <a:ext cx="319714" cy="576876"/>
          </a:xfrm>
          <a:custGeom>
            <a:avLst/>
            <a:gdLst/>
            <a:ahLst/>
            <a:cxnLst/>
            <a:rect l="l" t="t" r="r" b="b"/>
            <a:pathLst>
              <a:path w="262890" h="474344">
                <a:moveTo>
                  <a:pt x="262839" y="474151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74047" y="2795175"/>
            <a:ext cx="1542196" cy="464126"/>
          </a:xfrm>
          <a:custGeom>
            <a:avLst/>
            <a:gdLst/>
            <a:ahLst/>
            <a:cxnLst/>
            <a:rect l="l" t="t" r="r" b="b"/>
            <a:pathLst>
              <a:path w="1268095" h="381635">
                <a:moveTo>
                  <a:pt x="0" y="0"/>
                </a:moveTo>
                <a:lnTo>
                  <a:pt x="1267809" y="38138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413063" y="1754750"/>
            <a:ext cx="1003161" cy="1504356"/>
          </a:xfrm>
          <a:custGeom>
            <a:avLst/>
            <a:gdLst/>
            <a:ahLst/>
            <a:cxnLst/>
            <a:rect l="l" t="t" r="r" b="b"/>
            <a:pathLst>
              <a:path w="824865" h="1236980">
                <a:moveTo>
                  <a:pt x="824595" y="1236886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858077" y="4415396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37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911657" y="3948440"/>
            <a:ext cx="928252" cy="389217"/>
          </a:xfrm>
          <a:custGeom>
            <a:avLst/>
            <a:gdLst/>
            <a:ahLst/>
            <a:cxnLst/>
            <a:rect l="l" t="t" r="r" b="b"/>
            <a:pathLst>
              <a:path w="763270" h="320039">
                <a:moveTo>
                  <a:pt x="0" y="0"/>
                </a:moveTo>
                <a:lnTo>
                  <a:pt x="762747" y="319534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855243" y="2873527"/>
            <a:ext cx="0" cy="1044863"/>
          </a:xfrm>
          <a:custGeom>
            <a:avLst/>
            <a:gdLst/>
            <a:ahLst/>
            <a:cxnLst/>
            <a:rect l="l" t="t" r="r" b="b"/>
            <a:pathLst>
              <a:path h="859155">
                <a:moveTo>
                  <a:pt x="0" y="0"/>
                </a:moveTo>
                <a:lnTo>
                  <a:pt x="0" y="858790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836441" y="2256153"/>
            <a:ext cx="232449" cy="539035"/>
          </a:xfrm>
          <a:custGeom>
            <a:avLst/>
            <a:gdLst/>
            <a:ahLst/>
            <a:cxnLst/>
            <a:rect l="l" t="t" r="r" b="b"/>
            <a:pathLst>
              <a:path w="191135" h="443230">
                <a:moveTo>
                  <a:pt x="190691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068351" y="1717131"/>
            <a:ext cx="307357" cy="539035"/>
          </a:xfrm>
          <a:custGeom>
            <a:avLst/>
            <a:gdLst/>
            <a:ahLst/>
            <a:cxnLst/>
            <a:rect l="l" t="t" r="r" b="b"/>
            <a:pathLst>
              <a:path w="252729" h="443230">
                <a:moveTo>
                  <a:pt x="252527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989389" y="55341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989389" y="55341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723026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723025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647203" y="576295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647203" y="576295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769127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769127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9917023" y="445300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9917023" y="445300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073401" y="214336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1073401" y="214336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9725848" y="333421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9725848" y="333421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839262" y="483219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839262" y="483219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798521" y="537434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798521" y="537434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798521" y="429944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798521" y="429944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795700" y="275757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795700" y="275757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833297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833297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7030735" y="221543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030735" y="221543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334722" y="167640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7334722" y="167640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8378293" y="3221408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378293" y="3221410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2809568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2809568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2478441" y="33989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2478441" y="33989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11994758" y="256017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1994758" y="256017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0998181" y="499201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0998180" y="499201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028184" y="1590543"/>
            <a:ext cx="1043319" cy="400317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466461" marR="0" lvl="0" indent="0" algn="l" defTabSz="1112093" rtl="0" eaLnBrk="1" fontAlgn="auto" latinLnBrk="0" hangingPunct="1">
              <a:lnSpc>
                <a:spcPts val="1453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ts val="14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739193" y="2348444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553301" y="3243221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146211" y="4117105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638991" y="4482849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108960" y="4943798"/>
            <a:ext cx="719743" cy="561237"/>
          </a:xfrm>
          <a:prstGeom prst="rect">
            <a:avLst/>
          </a:prstGeom>
        </p:spPr>
        <p:txBody>
          <a:bodyPr vert="horz" wrap="square" lIns="0" tIns="90354" rIns="0" bIns="0" rtlCol="0">
            <a:spAutoFit/>
          </a:bodyPr>
          <a:lstStyle/>
          <a:p>
            <a:pPr marL="0" marR="6178" lvl="0" indent="0" algn="r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5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308094" y="5248844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120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947665" y="2277128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151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496697" y="274707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100544" y="3083044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99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656563" y="3434247"/>
            <a:ext cx="1315925" cy="409432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41329" marR="0" lvl="0" indent="0" algn="l" defTabSz="1112093" rtl="0" eaLnBrk="1" fontAlgn="auto" latinLnBrk="0" hangingPunct="1">
              <a:lnSpc>
                <a:spcPct val="100000"/>
              </a:lnSpc>
              <a:spcBef>
                <a:spcPts val="3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1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208372" y="4226469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0234263" y="4730855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101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0507284" y="407790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211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9511039" y="502724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138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8964054" y="467969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146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1308759" y="4661025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0789774" y="5321572"/>
            <a:ext cx="610083" cy="566696"/>
          </a:xfrm>
          <a:prstGeom prst="rect">
            <a:avLst/>
          </a:prstGeom>
        </p:spPr>
        <p:txBody>
          <a:bodyPr vert="horz" wrap="square" lIns="0" tIns="95760" rIns="0" bIns="0" rtlCol="0">
            <a:spAutoFit/>
          </a:bodyPr>
          <a:lstStyle/>
          <a:p>
            <a:pPr marL="134377" marR="0" lvl="0" indent="0" algn="l" defTabSz="1112093" rtl="0" eaLnBrk="1" fontAlgn="auto" latinLnBrk="0" hangingPunct="1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Giurgiu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2295969" y="4502877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2248831" y="398404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142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2357041" y="2858513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92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1590343" y="2164910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44059" y="2705939"/>
            <a:ext cx="219321" cy="219321"/>
          </a:xfrm>
          <a:custGeom>
            <a:avLst/>
            <a:gdLst/>
            <a:ahLst/>
            <a:cxnLst/>
            <a:rect l="l" t="t" r="r" b="b"/>
            <a:pathLst>
              <a:path w="180339" h="180339">
                <a:moveTo>
                  <a:pt x="180260" y="90129"/>
                </a:moveTo>
                <a:lnTo>
                  <a:pt x="173177" y="55047"/>
                </a:lnTo>
                <a:lnTo>
                  <a:pt x="153861" y="26398"/>
                </a:lnTo>
                <a:lnTo>
                  <a:pt x="125212" y="7083"/>
                </a:lnTo>
                <a:lnTo>
                  <a:pt x="90130" y="0"/>
                </a:lnTo>
                <a:lnTo>
                  <a:pt x="55048" y="7083"/>
                </a:lnTo>
                <a:lnTo>
                  <a:pt x="26399" y="26398"/>
                </a:lnTo>
                <a:lnTo>
                  <a:pt x="7083" y="55047"/>
                </a:lnTo>
                <a:lnTo>
                  <a:pt x="0" y="90129"/>
                </a:lnTo>
                <a:lnTo>
                  <a:pt x="7083" y="125210"/>
                </a:lnTo>
                <a:lnTo>
                  <a:pt x="26399" y="153859"/>
                </a:lnTo>
                <a:lnTo>
                  <a:pt x="55048" y="173175"/>
                </a:lnTo>
                <a:lnTo>
                  <a:pt x="90130" y="180258"/>
                </a:lnTo>
                <a:lnTo>
                  <a:pt x="125212" y="173175"/>
                </a:lnTo>
                <a:lnTo>
                  <a:pt x="153861" y="153859"/>
                </a:lnTo>
                <a:lnTo>
                  <a:pt x="173177" y="125210"/>
                </a:lnTo>
                <a:lnTo>
                  <a:pt x="180260" y="90129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10946564" y="4940380"/>
            <a:ext cx="219321" cy="219321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80258" y="90130"/>
                </a:moveTo>
                <a:lnTo>
                  <a:pt x="173175" y="55049"/>
                </a:lnTo>
                <a:lnTo>
                  <a:pt x="153859" y="26400"/>
                </a:lnTo>
                <a:lnTo>
                  <a:pt x="125210" y="7083"/>
                </a:lnTo>
                <a:lnTo>
                  <a:pt x="90129" y="0"/>
                </a:lnTo>
                <a:lnTo>
                  <a:pt x="55047" y="7083"/>
                </a:lnTo>
                <a:lnTo>
                  <a:pt x="26398" y="26400"/>
                </a:lnTo>
                <a:lnTo>
                  <a:pt x="7083" y="55049"/>
                </a:lnTo>
                <a:lnTo>
                  <a:pt x="0" y="90130"/>
                </a:lnTo>
                <a:lnTo>
                  <a:pt x="7083" y="125212"/>
                </a:lnTo>
                <a:lnTo>
                  <a:pt x="26398" y="153861"/>
                </a:lnTo>
                <a:lnTo>
                  <a:pt x="55047" y="173177"/>
                </a:lnTo>
                <a:lnTo>
                  <a:pt x="90129" y="180260"/>
                </a:lnTo>
                <a:lnTo>
                  <a:pt x="125210" y="173177"/>
                </a:lnTo>
                <a:lnTo>
                  <a:pt x="153859" y="153861"/>
                </a:lnTo>
                <a:lnTo>
                  <a:pt x="173175" y="125212"/>
                </a:lnTo>
                <a:lnTo>
                  <a:pt x="180258" y="90130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10911207" y="4905031"/>
            <a:ext cx="290368" cy="290368"/>
          </a:xfrm>
          <a:custGeom>
            <a:avLst/>
            <a:gdLst/>
            <a:ahLst/>
            <a:cxnLst/>
            <a:rect l="l" t="t" r="r" b="b"/>
            <a:pathLst>
              <a:path w="238759" h="238760">
                <a:moveTo>
                  <a:pt x="238389" y="119197"/>
                </a:moveTo>
                <a:lnTo>
                  <a:pt x="229023" y="72801"/>
                </a:lnTo>
                <a:lnTo>
                  <a:pt x="203481" y="34913"/>
                </a:lnTo>
                <a:lnTo>
                  <a:pt x="165595" y="9367"/>
                </a:lnTo>
                <a:lnTo>
                  <a:pt x="119201" y="0"/>
                </a:lnTo>
                <a:lnTo>
                  <a:pt x="72805" y="9367"/>
                </a:lnTo>
                <a:lnTo>
                  <a:pt x="34915" y="34913"/>
                </a:lnTo>
                <a:lnTo>
                  <a:pt x="9368" y="72801"/>
                </a:lnTo>
                <a:lnTo>
                  <a:pt x="0" y="119197"/>
                </a:lnTo>
                <a:lnTo>
                  <a:pt x="9368" y="165593"/>
                </a:lnTo>
                <a:lnTo>
                  <a:pt x="34915" y="203482"/>
                </a:lnTo>
                <a:lnTo>
                  <a:pt x="72805" y="229028"/>
                </a:lnTo>
                <a:lnTo>
                  <a:pt x="119201" y="238396"/>
                </a:lnTo>
                <a:lnTo>
                  <a:pt x="165595" y="229028"/>
                </a:lnTo>
                <a:lnTo>
                  <a:pt x="203481" y="203482"/>
                </a:lnTo>
                <a:lnTo>
                  <a:pt x="229023" y="165593"/>
                </a:lnTo>
                <a:lnTo>
                  <a:pt x="238389" y="119197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065714" y="4900702"/>
            <a:ext cx="5282235" cy="963862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44837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45610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node with minimum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r>
              <a:rPr kumimoji="0" sz="2493" b="0" i="1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value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760703" marR="0" lvl="1" indent="-332856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760703" algn="l"/>
                <a:tab pos="76147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priority queue, ordered by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r>
              <a:rPr kumimoji="0" sz="2493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values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3406639" y="5878503"/>
            <a:ext cx="8897166" cy="1924463"/>
          </a:xfrm>
          <a:custGeom>
            <a:avLst/>
            <a:gdLst/>
            <a:ahLst/>
            <a:cxnLst/>
            <a:rect l="l" t="t" r="r" b="b"/>
            <a:pathLst>
              <a:path w="7315834" h="1582420">
                <a:moveTo>
                  <a:pt x="0" y="1582018"/>
                </a:moveTo>
                <a:lnTo>
                  <a:pt x="7315638" y="1582018"/>
                </a:lnTo>
                <a:lnTo>
                  <a:pt x="7315638" y="0"/>
                </a:lnTo>
                <a:lnTo>
                  <a:pt x="0" y="0"/>
                </a:lnTo>
                <a:lnTo>
                  <a:pt x="0" y="15820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6739343" y="5910555"/>
            <a:ext cx="962232" cy="332843"/>
          </a:xfrm>
          <a:custGeom>
            <a:avLst/>
            <a:gdLst/>
            <a:ahLst/>
            <a:cxnLst/>
            <a:rect l="l" t="t" r="r" b="b"/>
            <a:pathLst>
              <a:path w="791210" h="273685">
                <a:moveTo>
                  <a:pt x="423091" y="0"/>
                </a:moveTo>
                <a:lnTo>
                  <a:pt x="367917" y="0"/>
                </a:lnTo>
                <a:lnTo>
                  <a:pt x="313176" y="2652"/>
                </a:lnTo>
                <a:lnTo>
                  <a:pt x="259732" y="7957"/>
                </a:lnTo>
                <a:lnTo>
                  <a:pt x="208452" y="15914"/>
                </a:lnTo>
                <a:lnTo>
                  <a:pt x="160200" y="26524"/>
                </a:lnTo>
                <a:lnTo>
                  <a:pt x="115841" y="39786"/>
                </a:lnTo>
                <a:lnTo>
                  <a:pt x="65160" y="61273"/>
                </a:lnTo>
                <a:lnTo>
                  <a:pt x="28960" y="85097"/>
                </a:lnTo>
                <a:lnTo>
                  <a:pt x="0" y="136640"/>
                </a:lnTo>
                <a:lnTo>
                  <a:pt x="7240" y="162800"/>
                </a:lnTo>
                <a:lnTo>
                  <a:pt x="65160" y="212006"/>
                </a:lnTo>
                <a:lnTo>
                  <a:pt x="115841" y="233493"/>
                </a:lnTo>
                <a:lnTo>
                  <a:pt x="160200" y="246755"/>
                </a:lnTo>
                <a:lnTo>
                  <a:pt x="208452" y="257365"/>
                </a:lnTo>
                <a:lnTo>
                  <a:pt x="259732" y="265322"/>
                </a:lnTo>
                <a:lnTo>
                  <a:pt x="313176" y="270627"/>
                </a:lnTo>
                <a:lnTo>
                  <a:pt x="367917" y="273280"/>
                </a:lnTo>
                <a:lnTo>
                  <a:pt x="423091" y="273280"/>
                </a:lnTo>
                <a:lnTo>
                  <a:pt x="477832" y="270627"/>
                </a:lnTo>
                <a:lnTo>
                  <a:pt x="531276" y="265322"/>
                </a:lnTo>
                <a:lnTo>
                  <a:pt x="582556" y="257365"/>
                </a:lnTo>
                <a:lnTo>
                  <a:pt x="630809" y="246755"/>
                </a:lnTo>
                <a:lnTo>
                  <a:pt x="675168" y="233493"/>
                </a:lnTo>
                <a:lnTo>
                  <a:pt x="725848" y="212006"/>
                </a:lnTo>
                <a:lnTo>
                  <a:pt x="762049" y="188182"/>
                </a:lnTo>
                <a:lnTo>
                  <a:pt x="791009" y="136640"/>
                </a:lnTo>
                <a:lnTo>
                  <a:pt x="783769" y="110479"/>
                </a:lnTo>
                <a:lnTo>
                  <a:pt x="725848" y="61273"/>
                </a:lnTo>
                <a:lnTo>
                  <a:pt x="675168" y="39786"/>
                </a:lnTo>
                <a:lnTo>
                  <a:pt x="630809" y="26524"/>
                </a:lnTo>
                <a:lnTo>
                  <a:pt x="582556" y="15914"/>
                </a:lnTo>
                <a:lnTo>
                  <a:pt x="531276" y="7957"/>
                </a:lnTo>
                <a:lnTo>
                  <a:pt x="477832" y="2652"/>
                </a:lnTo>
                <a:lnTo>
                  <a:pt x="423091" y="0"/>
                </a:lnTo>
                <a:close/>
              </a:path>
            </a:pathLst>
          </a:custGeom>
          <a:solidFill>
            <a:srgbClr val="E1E1E1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6739343" y="5910555"/>
            <a:ext cx="962232" cy="332843"/>
          </a:xfrm>
          <a:custGeom>
            <a:avLst/>
            <a:gdLst/>
            <a:ahLst/>
            <a:cxnLst/>
            <a:rect l="l" t="t" r="r" b="b"/>
            <a:pathLst>
              <a:path w="791210" h="273685">
                <a:moveTo>
                  <a:pt x="675168" y="39786"/>
                </a:moveTo>
                <a:lnTo>
                  <a:pt x="725848" y="61273"/>
                </a:lnTo>
                <a:lnTo>
                  <a:pt x="762049" y="85097"/>
                </a:lnTo>
                <a:lnTo>
                  <a:pt x="783769" y="110479"/>
                </a:lnTo>
                <a:lnTo>
                  <a:pt x="791009" y="136640"/>
                </a:lnTo>
                <a:lnTo>
                  <a:pt x="783769" y="162800"/>
                </a:lnTo>
                <a:lnTo>
                  <a:pt x="725848" y="212006"/>
                </a:lnTo>
                <a:lnTo>
                  <a:pt x="675168" y="233493"/>
                </a:lnTo>
                <a:lnTo>
                  <a:pt x="630809" y="246755"/>
                </a:lnTo>
                <a:lnTo>
                  <a:pt x="582556" y="257365"/>
                </a:lnTo>
                <a:lnTo>
                  <a:pt x="531276" y="265322"/>
                </a:lnTo>
                <a:lnTo>
                  <a:pt x="477832" y="270627"/>
                </a:lnTo>
                <a:lnTo>
                  <a:pt x="423091" y="273280"/>
                </a:lnTo>
                <a:lnTo>
                  <a:pt x="367917" y="273280"/>
                </a:lnTo>
                <a:lnTo>
                  <a:pt x="313176" y="270627"/>
                </a:lnTo>
                <a:lnTo>
                  <a:pt x="259732" y="265322"/>
                </a:lnTo>
                <a:lnTo>
                  <a:pt x="208452" y="257365"/>
                </a:lnTo>
                <a:lnTo>
                  <a:pt x="160200" y="246755"/>
                </a:lnTo>
                <a:lnTo>
                  <a:pt x="115841" y="233493"/>
                </a:lnTo>
                <a:lnTo>
                  <a:pt x="65160" y="212006"/>
                </a:lnTo>
                <a:lnTo>
                  <a:pt x="28960" y="188182"/>
                </a:lnTo>
                <a:lnTo>
                  <a:pt x="0" y="136640"/>
                </a:lnTo>
                <a:lnTo>
                  <a:pt x="7240" y="110479"/>
                </a:lnTo>
                <a:lnTo>
                  <a:pt x="65160" y="61273"/>
                </a:lnTo>
                <a:lnTo>
                  <a:pt x="115841" y="39786"/>
                </a:lnTo>
                <a:lnTo>
                  <a:pt x="160200" y="26524"/>
                </a:lnTo>
                <a:lnTo>
                  <a:pt x="208452" y="15914"/>
                </a:lnTo>
                <a:lnTo>
                  <a:pt x="259732" y="7957"/>
                </a:lnTo>
                <a:lnTo>
                  <a:pt x="313176" y="2652"/>
                </a:lnTo>
                <a:lnTo>
                  <a:pt x="367917" y="0"/>
                </a:lnTo>
                <a:lnTo>
                  <a:pt x="423091" y="0"/>
                </a:lnTo>
                <a:lnTo>
                  <a:pt x="477832" y="2652"/>
                </a:lnTo>
                <a:lnTo>
                  <a:pt x="531276" y="7957"/>
                </a:lnTo>
                <a:lnTo>
                  <a:pt x="582556" y="15914"/>
                </a:lnTo>
                <a:lnTo>
                  <a:pt x="630809" y="26524"/>
                </a:lnTo>
                <a:lnTo>
                  <a:pt x="675168" y="39786"/>
                </a:lnTo>
              </a:path>
            </a:pathLst>
          </a:custGeom>
          <a:ln w="95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6881851" y="5942069"/>
            <a:ext cx="677269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Arad</a:t>
            </a:r>
            <a:r>
              <a:rPr kumimoji="0" sz="1459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4563269" y="6644760"/>
            <a:ext cx="1746072" cy="333615"/>
          </a:xfrm>
          <a:custGeom>
            <a:avLst/>
            <a:gdLst/>
            <a:ahLst/>
            <a:cxnLst/>
            <a:rect l="l" t="t" r="r" b="b"/>
            <a:pathLst>
              <a:path w="1435735" h="274320">
                <a:moveTo>
                  <a:pt x="1226332" y="40118"/>
                </a:moveTo>
                <a:lnTo>
                  <a:pt x="1286153" y="53022"/>
                </a:lnTo>
                <a:lnTo>
                  <a:pt x="1336004" y="66924"/>
                </a:lnTo>
                <a:lnTo>
                  <a:pt x="1375885" y="81643"/>
                </a:lnTo>
                <a:lnTo>
                  <a:pt x="1425736" y="112805"/>
                </a:lnTo>
                <a:lnTo>
                  <a:pt x="1435706" y="128886"/>
                </a:lnTo>
                <a:lnTo>
                  <a:pt x="1435706" y="145057"/>
                </a:lnTo>
                <a:lnTo>
                  <a:pt x="1405796" y="176945"/>
                </a:lnTo>
                <a:lnTo>
                  <a:pt x="1336004" y="207019"/>
                </a:lnTo>
                <a:lnTo>
                  <a:pt x="1286153" y="220921"/>
                </a:lnTo>
                <a:lnTo>
                  <a:pt x="1226332" y="233824"/>
                </a:lnTo>
                <a:lnTo>
                  <a:pt x="1182943" y="241447"/>
                </a:lnTo>
                <a:lnTo>
                  <a:pt x="1137199" y="248267"/>
                </a:lnTo>
                <a:lnTo>
                  <a:pt x="1089361" y="254285"/>
                </a:lnTo>
                <a:lnTo>
                  <a:pt x="1039691" y="259500"/>
                </a:lnTo>
                <a:lnTo>
                  <a:pt x="988450" y="263913"/>
                </a:lnTo>
                <a:lnTo>
                  <a:pt x="935901" y="267524"/>
                </a:lnTo>
                <a:lnTo>
                  <a:pt x="882305" y="270332"/>
                </a:lnTo>
                <a:lnTo>
                  <a:pt x="827924" y="272338"/>
                </a:lnTo>
                <a:lnTo>
                  <a:pt x="773019" y="273542"/>
                </a:lnTo>
                <a:lnTo>
                  <a:pt x="717853" y="273943"/>
                </a:lnTo>
                <a:lnTo>
                  <a:pt x="662686" y="273542"/>
                </a:lnTo>
                <a:lnTo>
                  <a:pt x="607782" y="272338"/>
                </a:lnTo>
                <a:lnTo>
                  <a:pt x="553401" y="270332"/>
                </a:lnTo>
                <a:lnTo>
                  <a:pt x="499805" y="267524"/>
                </a:lnTo>
                <a:lnTo>
                  <a:pt x="447255" y="263913"/>
                </a:lnTo>
                <a:lnTo>
                  <a:pt x="396015" y="259500"/>
                </a:lnTo>
                <a:lnTo>
                  <a:pt x="346345" y="254285"/>
                </a:lnTo>
                <a:lnTo>
                  <a:pt x="298507" y="248267"/>
                </a:lnTo>
                <a:lnTo>
                  <a:pt x="252763" y="241447"/>
                </a:lnTo>
                <a:lnTo>
                  <a:pt x="209374" y="233824"/>
                </a:lnTo>
                <a:lnTo>
                  <a:pt x="149553" y="220921"/>
                </a:lnTo>
                <a:lnTo>
                  <a:pt x="99702" y="207019"/>
                </a:lnTo>
                <a:lnTo>
                  <a:pt x="59821" y="192300"/>
                </a:lnTo>
                <a:lnTo>
                  <a:pt x="9970" y="161137"/>
                </a:lnTo>
                <a:lnTo>
                  <a:pt x="0" y="145057"/>
                </a:lnTo>
                <a:lnTo>
                  <a:pt x="0" y="128886"/>
                </a:lnTo>
                <a:lnTo>
                  <a:pt x="29910" y="96997"/>
                </a:lnTo>
                <a:lnTo>
                  <a:pt x="99702" y="66924"/>
                </a:lnTo>
                <a:lnTo>
                  <a:pt x="149553" y="53022"/>
                </a:lnTo>
                <a:lnTo>
                  <a:pt x="209374" y="40118"/>
                </a:lnTo>
                <a:lnTo>
                  <a:pt x="252763" y="32496"/>
                </a:lnTo>
                <a:lnTo>
                  <a:pt x="298507" y="25675"/>
                </a:lnTo>
                <a:lnTo>
                  <a:pt x="346345" y="19658"/>
                </a:lnTo>
                <a:lnTo>
                  <a:pt x="396015" y="14442"/>
                </a:lnTo>
                <a:lnTo>
                  <a:pt x="447255" y="10029"/>
                </a:lnTo>
                <a:lnTo>
                  <a:pt x="499805" y="6418"/>
                </a:lnTo>
                <a:lnTo>
                  <a:pt x="553401" y="3610"/>
                </a:lnTo>
                <a:lnTo>
                  <a:pt x="607782" y="1604"/>
                </a:lnTo>
                <a:lnTo>
                  <a:pt x="662686" y="401"/>
                </a:lnTo>
                <a:lnTo>
                  <a:pt x="717853" y="0"/>
                </a:lnTo>
                <a:lnTo>
                  <a:pt x="773019" y="401"/>
                </a:lnTo>
                <a:lnTo>
                  <a:pt x="827924" y="1604"/>
                </a:lnTo>
                <a:lnTo>
                  <a:pt x="882305" y="3610"/>
                </a:lnTo>
                <a:lnTo>
                  <a:pt x="935901" y="6418"/>
                </a:lnTo>
                <a:lnTo>
                  <a:pt x="988450" y="10029"/>
                </a:lnTo>
                <a:lnTo>
                  <a:pt x="1039691" y="14442"/>
                </a:lnTo>
                <a:lnTo>
                  <a:pt x="1089361" y="19658"/>
                </a:lnTo>
                <a:lnTo>
                  <a:pt x="1137199" y="25675"/>
                </a:lnTo>
                <a:lnTo>
                  <a:pt x="1182943" y="32496"/>
                </a:lnTo>
                <a:lnTo>
                  <a:pt x="1226332" y="40118"/>
                </a:lnTo>
              </a:path>
            </a:pathLst>
          </a:custGeom>
          <a:ln w="95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4785021" y="6676678"/>
            <a:ext cx="1302797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Timisoara</a:t>
            </a:r>
            <a:r>
              <a:rPr kumimoji="0" sz="1459" b="0" i="0" u="none" strike="noStrike" kern="1200" cap="none" spc="-4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(118)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9000015" y="6644978"/>
            <a:ext cx="1268817" cy="332843"/>
          </a:xfrm>
          <a:custGeom>
            <a:avLst/>
            <a:gdLst/>
            <a:ahLst/>
            <a:cxnLst/>
            <a:rect l="l" t="t" r="r" b="b"/>
            <a:pathLst>
              <a:path w="1043304" h="273685">
                <a:moveTo>
                  <a:pt x="548022" y="0"/>
                </a:moveTo>
                <a:lnTo>
                  <a:pt x="494671" y="0"/>
                </a:lnTo>
                <a:lnTo>
                  <a:pt x="441545" y="1426"/>
                </a:lnTo>
                <a:lnTo>
                  <a:pt x="389094" y="4279"/>
                </a:lnTo>
                <a:lnTo>
                  <a:pt x="337767" y="8558"/>
                </a:lnTo>
                <a:lnTo>
                  <a:pt x="288014" y="14264"/>
                </a:lnTo>
                <a:lnTo>
                  <a:pt x="240285" y="21396"/>
                </a:lnTo>
                <a:lnTo>
                  <a:pt x="195030" y="29955"/>
                </a:lnTo>
                <a:lnTo>
                  <a:pt x="152699" y="39940"/>
                </a:lnTo>
                <a:lnTo>
                  <a:pt x="97727" y="56917"/>
                </a:lnTo>
                <a:lnTo>
                  <a:pt x="54971" y="75490"/>
                </a:lnTo>
                <a:lnTo>
                  <a:pt x="6107" y="115827"/>
                </a:lnTo>
                <a:lnTo>
                  <a:pt x="0" y="136793"/>
                </a:lnTo>
                <a:lnTo>
                  <a:pt x="6107" y="157759"/>
                </a:lnTo>
                <a:lnTo>
                  <a:pt x="54971" y="198095"/>
                </a:lnTo>
                <a:lnTo>
                  <a:pt x="97727" y="216668"/>
                </a:lnTo>
                <a:lnTo>
                  <a:pt x="152699" y="233646"/>
                </a:lnTo>
                <a:lnTo>
                  <a:pt x="195030" y="243631"/>
                </a:lnTo>
                <a:lnTo>
                  <a:pt x="240285" y="252190"/>
                </a:lnTo>
                <a:lnTo>
                  <a:pt x="288014" y="259322"/>
                </a:lnTo>
                <a:lnTo>
                  <a:pt x="337767" y="265027"/>
                </a:lnTo>
                <a:lnTo>
                  <a:pt x="389094" y="269307"/>
                </a:lnTo>
                <a:lnTo>
                  <a:pt x="441545" y="272160"/>
                </a:lnTo>
                <a:lnTo>
                  <a:pt x="494671" y="273586"/>
                </a:lnTo>
                <a:lnTo>
                  <a:pt x="548022" y="273586"/>
                </a:lnTo>
                <a:lnTo>
                  <a:pt x="601148" y="272160"/>
                </a:lnTo>
                <a:lnTo>
                  <a:pt x="653599" y="269307"/>
                </a:lnTo>
                <a:lnTo>
                  <a:pt x="704926" y="265027"/>
                </a:lnTo>
                <a:lnTo>
                  <a:pt x="754679" y="259322"/>
                </a:lnTo>
                <a:lnTo>
                  <a:pt x="802408" y="252190"/>
                </a:lnTo>
                <a:lnTo>
                  <a:pt x="847663" y="243631"/>
                </a:lnTo>
                <a:lnTo>
                  <a:pt x="889994" y="233646"/>
                </a:lnTo>
                <a:lnTo>
                  <a:pt x="944966" y="216668"/>
                </a:lnTo>
                <a:lnTo>
                  <a:pt x="987722" y="198095"/>
                </a:lnTo>
                <a:lnTo>
                  <a:pt x="1036586" y="157759"/>
                </a:lnTo>
                <a:lnTo>
                  <a:pt x="1042694" y="136793"/>
                </a:lnTo>
                <a:lnTo>
                  <a:pt x="1036586" y="115827"/>
                </a:lnTo>
                <a:lnTo>
                  <a:pt x="987722" y="75490"/>
                </a:lnTo>
                <a:lnTo>
                  <a:pt x="944966" y="56917"/>
                </a:lnTo>
                <a:lnTo>
                  <a:pt x="889994" y="39940"/>
                </a:lnTo>
                <a:lnTo>
                  <a:pt x="847663" y="29955"/>
                </a:lnTo>
                <a:lnTo>
                  <a:pt x="802408" y="21396"/>
                </a:lnTo>
                <a:lnTo>
                  <a:pt x="754679" y="14264"/>
                </a:lnTo>
                <a:lnTo>
                  <a:pt x="704926" y="8558"/>
                </a:lnTo>
                <a:lnTo>
                  <a:pt x="653599" y="4279"/>
                </a:lnTo>
                <a:lnTo>
                  <a:pt x="601148" y="1426"/>
                </a:lnTo>
                <a:lnTo>
                  <a:pt x="548022" y="0"/>
                </a:lnTo>
                <a:close/>
              </a:path>
            </a:pathLst>
          </a:custGeom>
          <a:solidFill>
            <a:srgbClr val="E1E1E1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9000015" y="6644978"/>
            <a:ext cx="1268817" cy="332843"/>
          </a:xfrm>
          <a:custGeom>
            <a:avLst/>
            <a:gdLst/>
            <a:ahLst/>
            <a:cxnLst/>
            <a:rect l="l" t="t" r="r" b="b"/>
            <a:pathLst>
              <a:path w="1043304" h="273685">
                <a:moveTo>
                  <a:pt x="889994" y="39940"/>
                </a:moveTo>
                <a:lnTo>
                  <a:pt x="944966" y="56917"/>
                </a:lnTo>
                <a:lnTo>
                  <a:pt x="987722" y="75490"/>
                </a:lnTo>
                <a:lnTo>
                  <a:pt x="1036586" y="115827"/>
                </a:lnTo>
                <a:lnTo>
                  <a:pt x="1042694" y="136793"/>
                </a:lnTo>
                <a:lnTo>
                  <a:pt x="1036586" y="157759"/>
                </a:lnTo>
                <a:lnTo>
                  <a:pt x="987722" y="198095"/>
                </a:lnTo>
                <a:lnTo>
                  <a:pt x="944966" y="216668"/>
                </a:lnTo>
                <a:lnTo>
                  <a:pt x="889994" y="233646"/>
                </a:lnTo>
                <a:lnTo>
                  <a:pt x="847663" y="243631"/>
                </a:lnTo>
                <a:lnTo>
                  <a:pt x="802408" y="252190"/>
                </a:lnTo>
                <a:lnTo>
                  <a:pt x="754679" y="259322"/>
                </a:lnTo>
                <a:lnTo>
                  <a:pt x="704926" y="265028"/>
                </a:lnTo>
                <a:lnTo>
                  <a:pt x="653599" y="269307"/>
                </a:lnTo>
                <a:lnTo>
                  <a:pt x="601148" y="272160"/>
                </a:lnTo>
                <a:lnTo>
                  <a:pt x="548022" y="273586"/>
                </a:lnTo>
                <a:lnTo>
                  <a:pt x="494671" y="273586"/>
                </a:lnTo>
                <a:lnTo>
                  <a:pt x="441545" y="272160"/>
                </a:lnTo>
                <a:lnTo>
                  <a:pt x="389094" y="269307"/>
                </a:lnTo>
                <a:lnTo>
                  <a:pt x="337767" y="265028"/>
                </a:lnTo>
                <a:lnTo>
                  <a:pt x="288014" y="259322"/>
                </a:lnTo>
                <a:lnTo>
                  <a:pt x="240285" y="252190"/>
                </a:lnTo>
                <a:lnTo>
                  <a:pt x="195030" y="243631"/>
                </a:lnTo>
                <a:lnTo>
                  <a:pt x="152699" y="233646"/>
                </a:lnTo>
                <a:lnTo>
                  <a:pt x="97727" y="216668"/>
                </a:lnTo>
                <a:lnTo>
                  <a:pt x="54971" y="198095"/>
                </a:lnTo>
                <a:lnTo>
                  <a:pt x="6107" y="157759"/>
                </a:lnTo>
                <a:lnTo>
                  <a:pt x="0" y="136793"/>
                </a:lnTo>
                <a:lnTo>
                  <a:pt x="6107" y="115827"/>
                </a:lnTo>
                <a:lnTo>
                  <a:pt x="54971" y="75490"/>
                </a:lnTo>
                <a:lnTo>
                  <a:pt x="97727" y="56917"/>
                </a:lnTo>
                <a:lnTo>
                  <a:pt x="152699" y="39940"/>
                </a:lnTo>
                <a:lnTo>
                  <a:pt x="195030" y="29955"/>
                </a:lnTo>
                <a:lnTo>
                  <a:pt x="240285" y="21396"/>
                </a:lnTo>
                <a:lnTo>
                  <a:pt x="288014" y="14264"/>
                </a:lnTo>
                <a:lnTo>
                  <a:pt x="337767" y="8558"/>
                </a:lnTo>
                <a:lnTo>
                  <a:pt x="389094" y="4279"/>
                </a:lnTo>
                <a:lnTo>
                  <a:pt x="441545" y="1426"/>
                </a:lnTo>
                <a:lnTo>
                  <a:pt x="494671" y="0"/>
                </a:lnTo>
                <a:lnTo>
                  <a:pt x="548022" y="0"/>
                </a:lnTo>
                <a:lnTo>
                  <a:pt x="601148" y="1426"/>
                </a:lnTo>
                <a:lnTo>
                  <a:pt x="653599" y="4279"/>
                </a:lnTo>
                <a:lnTo>
                  <a:pt x="704926" y="8558"/>
                </a:lnTo>
                <a:lnTo>
                  <a:pt x="754679" y="14264"/>
                </a:lnTo>
                <a:lnTo>
                  <a:pt x="802408" y="21396"/>
                </a:lnTo>
                <a:lnTo>
                  <a:pt x="847663" y="29955"/>
                </a:lnTo>
                <a:lnTo>
                  <a:pt x="889994" y="39940"/>
                </a:lnTo>
              </a:path>
            </a:pathLst>
          </a:custGeom>
          <a:ln w="95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9174576" y="6676678"/>
            <a:ext cx="918985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Zerind</a:t>
            </a:r>
            <a:r>
              <a:rPr kumimoji="0" sz="1459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(75)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6593587" y="6644978"/>
            <a:ext cx="1254145" cy="332843"/>
          </a:xfrm>
          <a:custGeom>
            <a:avLst/>
            <a:gdLst/>
            <a:ahLst/>
            <a:cxnLst/>
            <a:rect l="l" t="t" r="r" b="b"/>
            <a:pathLst>
              <a:path w="1031239" h="273685">
                <a:moveTo>
                  <a:pt x="879764" y="39940"/>
                </a:moveTo>
                <a:lnTo>
                  <a:pt x="934104" y="56917"/>
                </a:lnTo>
                <a:lnTo>
                  <a:pt x="976369" y="75490"/>
                </a:lnTo>
                <a:lnTo>
                  <a:pt x="1024671" y="115827"/>
                </a:lnTo>
                <a:lnTo>
                  <a:pt x="1030709" y="136793"/>
                </a:lnTo>
                <a:lnTo>
                  <a:pt x="1024671" y="157759"/>
                </a:lnTo>
                <a:lnTo>
                  <a:pt x="976369" y="198095"/>
                </a:lnTo>
                <a:lnTo>
                  <a:pt x="934104" y="216668"/>
                </a:lnTo>
                <a:lnTo>
                  <a:pt x="879764" y="233646"/>
                </a:lnTo>
                <a:lnTo>
                  <a:pt x="837919" y="243631"/>
                </a:lnTo>
                <a:lnTo>
                  <a:pt x="793185" y="252190"/>
                </a:lnTo>
                <a:lnTo>
                  <a:pt x="746004" y="259322"/>
                </a:lnTo>
                <a:lnTo>
                  <a:pt x="696824" y="265028"/>
                </a:lnTo>
                <a:lnTo>
                  <a:pt x="646087" y="269307"/>
                </a:lnTo>
                <a:lnTo>
                  <a:pt x="594238" y="272160"/>
                </a:lnTo>
                <a:lnTo>
                  <a:pt x="541723" y="273586"/>
                </a:lnTo>
                <a:lnTo>
                  <a:pt x="488985" y="273586"/>
                </a:lnTo>
                <a:lnTo>
                  <a:pt x="436470" y="272160"/>
                </a:lnTo>
                <a:lnTo>
                  <a:pt x="384621" y="269307"/>
                </a:lnTo>
                <a:lnTo>
                  <a:pt x="333884" y="265028"/>
                </a:lnTo>
                <a:lnTo>
                  <a:pt x="284704" y="259322"/>
                </a:lnTo>
                <a:lnTo>
                  <a:pt x="237524" y="252190"/>
                </a:lnTo>
                <a:lnTo>
                  <a:pt x="192789" y="243631"/>
                </a:lnTo>
                <a:lnTo>
                  <a:pt x="150944" y="233646"/>
                </a:lnTo>
                <a:lnTo>
                  <a:pt x="96604" y="216668"/>
                </a:lnTo>
                <a:lnTo>
                  <a:pt x="54340" y="198095"/>
                </a:lnTo>
                <a:lnTo>
                  <a:pt x="6037" y="157759"/>
                </a:lnTo>
                <a:lnTo>
                  <a:pt x="0" y="136793"/>
                </a:lnTo>
                <a:lnTo>
                  <a:pt x="6037" y="115827"/>
                </a:lnTo>
                <a:lnTo>
                  <a:pt x="54340" y="75490"/>
                </a:lnTo>
                <a:lnTo>
                  <a:pt x="96604" y="56917"/>
                </a:lnTo>
                <a:lnTo>
                  <a:pt x="150944" y="39940"/>
                </a:lnTo>
                <a:lnTo>
                  <a:pt x="192789" y="29955"/>
                </a:lnTo>
                <a:lnTo>
                  <a:pt x="237524" y="21396"/>
                </a:lnTo>
                <a:lnTo>
                  <a:pt x="284704" y="14264"/>
                </a:lnTo>
                <a:lnTo>
                  <a:pt x="333884" y="8558"/>
                </a:lnTo>
                <a:lnTo>
                  <a:pt x="384621" y="4279"/>
                </a:lnTo>
                <a:lnTo>
                  <a:pt x="436470" y="1426"/>
                </a:lnTo>
                <a:lnTo>
                  <a:pt x="488985" y="0"/>
                </a:lnTo>
                <a:lnTo>
                  <a:pt x="541723" y="0"/>
                </a:lnTo>
                <a:lnTo>
                  <a:pt x="594238" y="1426"/>
                </a:lnTo>
                <a:lnTo>
                  <a:pt x="646087" y="4279"/>
                </a:lnTo>
                <a:lnTo>
                  <a:pt x="696824" y="8558"/>
                </a:lnTo>
                <a:lnTo>
                  <a:pt x="746004" y="14264"/>
                </a:lnTo>
                <a:lnTo>
                  <a:pt x="793185" y="21396"/>
                </a:lnTo>
                <a:lnTo>
                  <a:pt x="837919" y="29955"/>
                </a:lnTo>
                <a:lnTo>
                  <a:pt x="879764" y="39940"/>
                </a:lnTo>
              </a:path>
            </a:pathLst>
          </a:custGeom>
          <a:ln w="95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765993" y="6676678"/>
            <a:ext cx="908946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Sibiu</a:t>
            </a:r>
            <a:r>
              <a:rPr kumimoji="0" sz="1459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(140)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5803552" y="6204221"/>
            <a:ext cx="1107416" cy="456404"/>
          </a:xfrm>
          <a:custGeom>
            <a:avLst/>
            <a:gdLst/>
            <a:ahLst/>
            <a:cxnLst/>
            <a:rect l="l" t="t" r="r" b="b"/>
            <a:pathLst>
              <a:path w="910589" h="375285">
                <a:moveTo>
                  <a:pt x="910384" y="0"/>
                </a:moveTo>
                <a:lnTo>
                  <a:pt x="0" y="374864"/>
                </a:lnTo>
              </a:path>
            </a:pathLst>
          </a:custGeom>
          <a:ln w="95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7220337" y="6243309"/>
            <a:ext cx="0" cy="401573"/>
          </a:xfrm>
          <a:custGeom>
            <a:avLst/>
            <a:gdLst/>
            <a:ahLst/>
            <a:cxnLst/>
            <a:rect l="l" t="t" r="r" b="b"/>
            <a:pathLst>
              <a:path h="330200">
                <a:moveTo>
                  <a:pt x="0" y="0"/>
                </a:moveTo>
                <a:lnTo>
                  <a:pt x="0" y="330101"/>
                </a:lnTo>
              </a:path>
            </a:pathLst>
          </a:custGeom>
          <a:ln w="95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7581652" y="6186696"/>
            <a:ext cx="1638728" cy="498877"/>
          </a:xfrm>
          <a:custGeom>
            <a:avLst/>
            <a:gdLst/>
            <a:ahLst/>
            <a:cxnLst/>
            <a:rect l="l" t="t" r="r" b="b"/>
            <a:pathLst>
              <a:path w="1347470" h="410210">
                <a:moveTo>
                  <a:pt x="0" y="0"/>
                </a:moveTo>
                <a:lnTo>
                  <a:pt x="1346928" y="409935"/>
                </a:lnTo>
              </a:path>
            </a:pathLst>
          </a:custGeom>
          <a:ln w="95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4380287" y="6758868"/>
            <a:ext cx="116603" cy="116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10774219" y="7437840"/>
            <a:ext cx="1498178" cy="332843"/>
          </a:xfrm>
          <a:custGeom>
            <a:avLst/>
            <a:gdLst/>
            <a:ahLst/>
            <a:cxnLst/>
            <a:rect l="l" t="t" r="r" b="b"/>
            <a:pathLst>
              <a:path w="1231900" h="273685">
                <a:moveTo>
                  <a:pt x="1052177" y="39979"/>
                </a:moveTo>
                <a:lnTo>
                  <a:pt x="1111940" y="55342"/>
                </a:lnTo>
                <a:lnTo>
                  <a:pt x="1159751" y="72052"/>
                </a:lnTo>
                <a:lnTo>
                  <a:pt x="1195608" y="89812"/>
                </a:lnTo>
                <a:lnTo>
                  <a:pt x="1231466" y="127278"/>
                </a:lnTo>
                <a:lnTo>
                  <a:pt x="1231466" y="146386"/>
                </a:lnTo>
                <a:lnTo>
                  <a:pt x="1195608" y="183853"/>
                </a:lnTo>
                <a:lnTo>
                  <a:pt x="1159751" y="201612"/>
                </a:lnTo>
                <a:lnTo>
                  <a:pt x="1111940" y="218323"/>
                </a:lnTo>
                <a:lnTo>
                  <a:pt x="1052177" y="233685"/>
                </a:lnTo>
                <a:lnTo>
                  <a:pt x="1008147" y="242570"/>
                </a:lnTo>
                <a:lnTo>
                  <a:pt x="961373" y="250344"/>
                </a:lnTo>
                <a:lnTo>
                  <a:pt x="912221" y="257007"/>
                </a:lnTo>
                <a:lnTo>
                  <a:pt x="861058" y="262560"/>
                </a:lnTo>
                <a:lnTo>
                  <a:pt x="808248" y="267002"/>
                </a:lnTo>
                <a:lnTo>
                  <a:pt x="754158" y="270334"/>
                </a:lnTo>
                <a:lnTo>
                  <a:pt x="699154" y="272555"/>
                </a:lnTo>
                <a:lnTo>
                  <a:pt x="643601" y="273665"/>
                </a:lnTo>
                <a:lnTo>
                  <a:pt x="587865" y="273665"/>
                </a:lnTo>
                <a:lnTo>
                  <a:pt x="532312" y="272555"/>
                </a:lnTo>
                <a:lnTo>
                  <a:pt x="477307" y="270334"/>
                </a:lnTo>
                <a:lnTo>
                  <a:pt x="423217" y="267002"/>
                </a:lnTo>
                <a:lnTo>
                  <a:pt x="370408" y="262560"/>
                </a:lnTo>
                <a:lnTo>
                  <a:pt x="319244" y="257007"/>
                </a:lnTo>
                <a:lnTo>
                  <a:pt x="270093" y="250344"/>
                </a:lnTo>
                <a:lnTo>
                  <a:pt x="223319" y="242570"/>
                </a:lnTo>
                <a:lnTo>
                  <a:pt x="179288" y="233685"/>
                </a:lnTo>
                <a:lnTo>
                  <a:pt x="119525" y="218323"/>
                </a:lnTo>
                <a:lnTo>
                  <a:pt x="71715" y="201612"/>
                </a:lnTo>
                <a:lnTo>
                  <a:pt x="35857" y="183853"/>
                </a:lnTo>
                <a:lnTo>
                  <a:pt x="0" y="146386"/>
                </a:lnTo>
                <a:lnTo>
                  <a:pt x="0" y="127278"/>
                </a:lnTo>
                <a:lnTo>
                  <a:pt x="35857" y="89812"/>
                </a:lnTo>
                <a:lnTo>
                  <a:pt x="71715" y="72052"/>
                </a:lnTo>
                <a:lnTo>
                  <a:pt x="119525" y="55342"/>
                </a:lnTo>
                <a:lnTo>
                  <a:pt x="179288" y="39979"/>
                </a:lnTo>
                <a:lnTo>
                  <a:pt x="223319" y="31095"/>
                </a:lnTo>
                <a:lnTo>
                  <a:pt x="270093" y="23321"/>
                </a:lnTo>
                <a:lnTo>
                  <a:pt x="319244" y="16658"/>
                </a:lnTo>
                <a:lnTo>
                  <a:pt x="370408" y="11105"/>
                </a:lnTo>
                <a:lnTo>
                  <a:pt x="423217" y="6663"/>
                </a:lnTo>
                <a:lnTo>
                  <a:pt x="477307" y="3331"/>
                </a:lnTo>
                <a:lnTo>
                  <a:pt x="532312" y="1110"/>
                </a:lnTo>
                <a:lnTo>
                  <a:pt x="587865" y="0"/>
                </a:lnTo>
                <a:lnTo>
                  <a:pt x="643601" y="0"/>
                </a:lnTo>
                <a:lnTo>
                  <a:pt x="699154" y="1110"/>
                </a:lnTo>
                <a:lnTo>
                  <a:pt x="754158" y="3331"/>
                </a:lnTo>
                <a:lnTo>
                  <a:pt x="808248" y="6663"/>
                </a:lnTo>
                <a:lnTo>
                  <a:pt x="861058" y="11105"/>
                </a:lnTo>
                <a:lnTo>
                  <a:pt x="912221" y="16658"/>
                </a:lnTo>
                <a:lnTo>
                  <a:pt x="961373" y="23321"/>
                </a:lnTo>
                <a:lnTo>
                  <a:pt x="1008147" y="31095"/>
                </a:lnTo>
                <a:lnTo>
                  <a:pt x="1052177" y="39979"/>
                </a:lnTo>
              </a:path>
            </a:pathLst>
          </a:custGeom>
          <a:ln w="95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0970193" y="7469589"/>
            <a:ext cx="1105870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Oradea</a:t>
            </a:r>
            <a:r>
              <a:rPr kumimoji="0" sz="1459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(146)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9970514" y="6952571"/>
            <a:ext cx="1201631" cy="505056"/>
          </a:xfrm>
          <a:custGeom>
            <a:avLst/>
            <a:gdLst/>
            <a:ahLst/>
            <a:cxnLst/>
            <a:rect l="l" t="t" r="r" b="b"/>
            <a:pathLst>
              <a:path w="988059" h="415289">
                <a:moveTo>
                  <a:pt x="0" y="0"/>
                </a:moveTo>
                <a:lnTo>
                  <a:pt x="988036" y="414731"/>
                </a:lnTo>
              </a:path>
            </a:pathLst>
          </a:custGeom>
          <a:ln w="95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8496427" y="7437672"/>
            <a:ext cx="1224799" cy="333615"/>
          </a:xfrm>
          <a:custGeom>
            <a:avLst/>
            <a:gdLst/>
            <a:ahLst/>
            <a:cxnLst/>
            <a:rect l="l" t="t" r="r" b="b"/>
            <a:pathLst>
              <a:path w="1007109" h="274320">
                <a:moveTo>
                  <a:pt x="503370" y="0"/>
                </a:moveTo>
                <a:lnTo>
                  <a:pt x="448249" y="818"/>
                </a:lnTo>
                <a:lnTo>
                  <a:pt x="393662" y="3274"/>
                </a:lnTo>
                <a:lnTo>
                  <a:pt x="340143" y="7368"/>
                </a:lnTo>
                <a:lnTo>
                  <a:pt x="288227" y="13099"/>
                </a:lnTo>
                <a:lnTo>
                  <a:pt x="238447" y="20468"/>
                </a:lnTo>
                <a:lnTo>
                  <a:pt x="191338" y="29474"/>
                </a:lnTo>
                <a:lnTo>
                  <a:pt x="147434" y="40118"/>
                </a:lnTo>
                <a:lnTo>
                  <a:pt x="94357" y="57095"/>
                </a:lnTo>
                <a:lnTo>
                  <a:pt x="53076" y="75668"/>
                </a:lnTo>
                <a:lnTo>
                  <a:pt x="5897" y="116005"/>
                </a:lnTo>
                <a:lnTo>
                  <a:pt x="0" y="136971"/>
                </a:lnTo>
                <a:lnTo>
                  <a:pt x="5897" y="157937"/>
                </a:lnTo>
                <a:lnTo>
                  <a:pt x="53076" y="198273"/>
                </a:lnTo>
                <a:lnTo>
                  <a:pt x="94357" y="216846"/>
                </a:lnTo>
                <a:lnTo>
                  <a:pt x="147434" y="233824"/>
                </a:lnTo>
                <a:lnTo>
                  <a:pt x="191338" y="244468"/>
                </a:lnTo>
                <a:lnTo>
                  <a:pt x="238447" y="253474"/>
                </a:lnTo>
                <a:lnTo>
                  <a:pt x="288227" y="260842"/>
                </a:lnTo>
                <a:lnTo>
                  <a:pt x="340143" y="266574"/>
                </a:lnTo>
                <a:lnTo>
                  <a:pt x="393662" y="270667"/>
                </a:lnTo>
                <a:lnTo>
                  <a:pt x="448249" y="273124"/>
                </a:lnTo>
                <a:lnTo>
                  <a:pt x="503370" y="273942"/>
                </a:lnTo>
                <a:lnTo>
                  <a:pt x="558491" y="273124"/>
                </a:lnTo>
                <a:lnTo>
                  <a:pt x="613078" y="270667"/>
                </a:lnTo>
                <a:lnTo>
                  <a:pt x="666596" y="266574"/>
                </a:lnTo>
                <a:lnTo>
                  <a:pt x="718513" y="260842"/>
                </a:lnTo>
                <a:lnTo>
                  <a:pt x="768292" y="253474"/>
                </a:lnTo>
                <a:lnTo>
                  <a:pt x="815401" y="244468"/>
                </a:lnTo>
                <a:lnTo>
                  <a:pt x="859306" y="233824"/>
                </a:lnTo>
                <a:lnTo>
                  <a:pt x="912382" y="216846"/>
                </a:lnTo>
                <a:lnTo>
                  <a:pt x="953663" y="198273"/>
                </a:lnTo>
                <a:lnTo>
                  <a:pt x="1000842" y="157937"/>
                </a:lnTo>
                <a:lnTo>
                  <a:pt x="1006740" y="136971"/>
                </a:lnTo>
                <a:lnTo>
                  <a:pt x="1000842" y="116005"/>
                </a:lnTo>
                <a:lnTo>
                  <a:pt x="953663" y="75668"/>
                </a:lnTo>
                <a:lnTo>
                  <a:pt x="912382" y="57095"/>
                </a:lnTo>
                <a:lnTo>
                  <a:pt x="859306" y="40118"/>
                </a:lnTo>
                <a:lnTo>
                  <a:pt x="815401" y="29474"/>
                </a:lnTo>
                <a:lnTo>
                  <a:pt x="768292" y="20468"/>
                </a:lnTo>
                <a:lnTo>
                  <a:pt x="718513" y="13099"/>
                </a:lnTo>
                <a:lnTo>
                  <a:pt x="666596" y="7368"/>
                </a:lnTo>
                <a:lnTo>
                  <a:pt x="613078" y="3274"/>
                </a:lnTo>
                <a:lnTo>
                  <a:pt x="558491" y="818"/>
                </a:lnTo>
                <a:lnTo>
                  <a:pt x="503370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8508188" y="7451389"/>
            <a:ext cx="1205492" cy="315079"/>
          </a:xfrm>
          <a:custGeom>
            <a:avLst/>
            <a:gdLst/>
            <a:ahLst/>
            <a:cxnLst/>
            <a:rect l="l" t="t" r="r" b="b"/>
            <a:pathLst>
              <a:path w="991234" h="259079">
                <a:moveTo>
                  <a:pt x="306038" y="19"/>
                </a:moveTo>
                <a:lnTo>
                  <a:pt x="493301" y="0"/>
                </a:lnTo>
                <a:lnTo>
                  <a:pt x="551373" y="376"/>
                </a:lnTo>
                <a:lnTo>
                  <a:pt x="609479" y="1409"/>
                </a:lnTo>
                <a:lnTo>
                  <a:pt x="661994" y="2936"/>
                </a:lnTo>
                <a:lnTo>
                  <a:pt x="703290" y="4791"/>
                </a:lnTo>
                <a:lnTo>
                  <a:pt x="728304" y="8521"/>
                </a:lnTo>
                <a:lnTo>
                  <a:pt x="708585" y="10161"/>
                </a:lnTo>
                <a:lnTo>
                  <a:pt x="671853" y="11634"/>
                </a:lnTo>
                <a:lnTo>
                  <a:pt x="621379" y="12838"/>
                </a:lnTo>
                <a:lnTo>
                  <a:pt x="560434" y="13673"/>
                </a:lnTo>
                <a:lnTo>
                  <a:pt x="492286" y="14039"/>
                </a:lnTo>
                <a:lnTo>
                  <a:pt x="421060" y="14429"/>
                </a:lnTo>
                <a:lnTo>
                  <a:pt x="351601" y="15328"/>
                </a:lnTo>
                <a:lnTo>
                  <a:pt x="288266" y="16628"/>
                </a:lnTo>
                <a:lnTo>
                  <a:pt x="235412" y="18221"/>
                </a:lnTo>
                <a:lnTo>
                  <a:pt x="178579" y="21851"/>
                </a:lnTo>
                <a:lnTo>
                  <a:pt x="182039" y="23422"/>
                </a:lnTo>
                <a:lnTo>
                  <a:pt x="241426" y="26261"/>
                </a:lnTo>
                <a:lnTo>
                  <a:pt x="291852" y="27404"/>
                </a:lnTo>
                <a:lnTo>
                  <a:pt x="352431" y="28280"/>
                </a:lnTo>
                <a:lnTo>
                  <a:pt x="420415" y="28827"/>
                </a:lnTo>
                <a:lnTo>
                  <a:pt x="493051" y="28982"/>
                </a:lnTo>
                <a:lnTo>
                  <a:pt x="567262" y="29118"/>
                </a:lnTo>
                <a:lnTo>
                  <a:pt x="639654" y="29614"/>
                </a:lnTo>
                <a:lnTo>
                  <a:pt x="707003" y="30411"/>
                </a:lnTo>
                <a:lnTo>
                  <a:pt x="766088" y="31454"/>
                </a:lnTo>
                <a:lnTo>
                  <a:pt x="813685" y="32684"/>
                </a:lnTo>
                <a:lnTo>
                  <a:pt x="861525" y="35483"/>
                </a:lnTo>
                <a:lnTo>
                  <a:pt x="856967" y="36753"/>
                </a:lnTo>
                <a:lnTo>
                  <a:pt x="801227" y="39151"/>
                </a:lnTo>
                <a:lnTo>
                  <a:pt x="754384" y="40198"/>
                </a:lnTo>
                <a:lnTo>
                  <a:pt x="697787" y="41090"/>
                </a:lnTo>
                <a:lnTo>
                  <a:pt x="633604" y="41785"/>
                </a:lnTo>
                <a:lnTo>
                  <a:pt x="564007" y="42244"/>
                </a:lnTo>
                <a:lnTo>
                  <a:pt x="491165" y="42424"/>
                </a:lnTo>
                <a:lnTo>
                  <a:pt x="417430" y="42628"/>
                </a:lnTo>
                <a:lnTo>
                  <a:pt x="345307" y="43149"/>
                </a:lnTo>
                <a:lnTo>
                  <a:pt x="277200" y="43943"/>
                </a:lnTo>
                <a:lnTo>
                  <a:pt x="215512" y="44963"/>
                </a:lnTo>
                <a:lnTo>
                  <a:pt x="162646" y="46161"/>
                </a:lnTo>
                <a:lnTo>
                  <a:pt x="121005" y="47492"/>
                </a:lnTo>
                <a:lnTo>
                  <a:pt x="81014" y="50366"/>
                </a:lnTo>
                <a:lnTo>
                  <a:pt x="87495" y="51800"/>
                </a:lnTo>
                <a:lnTo>
                  <a:pt x="151081" y="54384"/>
                </a:lnTo>
                <a:lnTo>
                  <a:pt x="203360" y="55452"/>
                </a:lnTo>
                <a:lnTo>
                  <a:pt x="266081" y="56318"/>
                </a:lnTo>
                <a:lnTo>
                  <a:pt x="336830" y="56941"/>
                </a:lnTo>
                <a:lnTo>
                  <a:pt x="413195" y="57280"/>
                </a:lnTo>
                <a:lnTo>
                  <a:pt x="492763" y="57294"/>
                </a:lnTo>
                <a:lnTo>
                  <a:pt x="564145" y="57279"/>
                </a:lnTo>
                <a:lnTo>
                  <a:pt x="634207" y="57506"/>
                </a:lnTo>
                <a:lnTo>
                  <a:pt x="701129" y="57948"/>
                </a:lnTo>
                <a:lnTo>
                  <a:pt x="763092" y="58579"/>
                </a:lnTo>
                <a:lnTo>
                  <a:pt x="818277" y="59373"/>
                </a:lnTo>
                <a:lnTo>
                  <a:pt x="864864" y="60303"/>
                </a:lnTo>
                <a:lnTo>
                  <a:pt x="924970" y="62469"/>
                </a:lnTo>
                <a:lnTo>
                  <a:pt x="934849" y="63652"/>
                </a:lnTo>
                <a:lnTo>
                  <a:pt x="928982" y="64866"/>
                </a:lnTo>
                <a:lnTo>
                  <a:pt x="874017" y="67254"/>
                </a:lnTo>
                <a:lnTo>
                  <a:pt x="828548" y="68362"/>
                </a:lnTo>
                <a:lnTo>
                  <a:pt x="773508" y="69368"/>
                </a:lnTo>
                <a:lnTo>
                  <a:pt x="710711" y="70239"/>
                </a:lnTo>
                <a:lnTo>
                  <a:pt x="641971" y="70942"/>
                </a:lnTo>
                <a:lnTo>
                  <a:pt x="569104" y="71444"/>
                </a:lnTo>
                <a:lnTo>
                  <a:pt x="493923" y="71712"/>
                </a:lnTo>
                <a:lnTo>
                  <a:pt x="418329" y="71967"/>
                </a:lnTo>
                <a:lnTo>
                  <a:pt x="344285" y="72433"/>
                </a:lnTo>
                <a:lnTo>
                  <a:pt x="273701" y="73081"/>
                </a:lnTo>
                <a:lnTo>
                  <a:pt x="208487" y="73879"/>
                </a:lnTo>
                <a:lnTo>
                  <a:pt x="150553" y="74798"/>
                </a:lnTo>
                <a:lnTo>
                  <a:pt x="101809" y="75806"/>
                </a:lnTo>
                <a:lnTo>
                  <a:pt x="39530" y="77973"/>
                </a:lnTo>
                <a:lnTo>
                  <a:pt x="29815" y="79071"/>
                </a:lnTo>
                <a:lnTo>
                  <a:pt x="36664" y="80158"/>
                </a:lnTo>
                <a:lnTo>
                  <a:pt x="95426" y="82253"/>
                </a:lnTo>
                <a:lnTo>
                  <a:pt x="143515" y="83204"/>
                </a:lnTo>
                <a:lnTo>
                  <a:pt x="201525" y="84053"/>
                </a:lnTo>
                <a:lnTo>
                  <a:pt x="267546" y="84773"/>
                </a:lnTo>
                <a:lnTo>
                  <a:pt x="339663" y="85335"/>
                </a:lnTo>
                <a:lnTo>
                  <a:pt x="415965" y="85712"/>
                </a:lnTo>
                <a:lnTo>
                  <a:pt x="494539" y="85875"/>
                </a:lnTo>
                <a:lnTo>
                  <a:pt x="565571" y="86011"/>
                </a:lnTo>
                <a:lnTo>
                  <a:pt x="635373" y="86321"/>
                </a:lnTo>
                <a:lnTo>
                  <a:pt x="702500" y="86784"/>
                </a:lnTo>
                <a:lnTo>
                  <a:pt x="765507" y="87381"/>
                </a:lnTo>
                <a:lnTo>
                  <a:pt x="822950" y="88091"/>
                </a:lnTo>
                <a:lnTo>
                  <a:pt x="873384" y="88893"/>
                </a:lnTo>
                <a:lnTo>
                  <a:pt x="915364" y="89768"/>
                </a:lnTo>
                <a:lnTo>
                  <a:pt x="968183" y="91655"/>
                </a:lnTo>
                <a:lnTo>
                  <a:pt x="976132" y="92626"/>
                </a:lnTo>
                <a:lnTo>
                  <a:pt x="970126" y="93594"/>
                </a:lnTo>
                <a:lnTo>
                  <a:pt x="919966" y="95455"/>
                </a:lnTo>
                <a:lnTo>
                  <a:pt x="878697" y="96308"/>
                </a:lnTo>
                <a:lnTo>
                  <a:pt x="828557" y="97085"/>
                </a:lnTo>
                <a:lnTo>
                  <a:pt x="770991" y="97766"/>
                </a:lnTo>
                <a:lnTo>
                  <a:pt x="707440" y="98330"/>
                </a:lnTo>
                <a:lnTo>
                  <a:pt x="639347" y="98759"/>
                </a:lnTo>
                <a:lnTo>
                  <a:pt x="568154" y="99033"/>
                </a:lnTo>
                <a:lnTo>
                  <a:pt x="495304" y="99133"/>
                </a:lnTo>
                <a:lnTo>
                  <a:pt x="422287" y="99248"/>
                </a:lnTo>
                <a:lnTo>
                  <a:pt x="350618" y="99567"/>
                </a:lnTo>
                <a:lnTo>
                  <a:pt x="281773" y="100068"/>
                </a:lnTo>
                <a:lnTo>
                  <a:pt x="217229" y="100728"/>
                </a:lnTo>
                <a:lnTo>
                  <a:pt x="158464" y="101523"/>
                </a:lnTo>
                <a:lnTo>
                  <a:pt x="106953" y="102432"/>
                </a:lnTo>
                <a:lnTo>
                  <a:pt x="64175" y="103430"/>
                </a:lnTo>
                <a:lnTo>
                  <a:pt x="10721" y="105607"/>
                </a:lnTo>
                <a:lnTo>
                  <a:pt x="3000" y="106739"/>
                </a:lnTo>
                <a:lnTo>
                  <a:pt x="9536" y="107868"/>
                </a:lnTo>
                <a:lnTo>
                  <a:pt x="61298" y="110021"/>
                </a:lnTo>
                <a:lnTo>
                  <a:pt x="103577" y="111002"/>
                </a:lnTo>
                <a:lnTo>
                  <a:pt x="154824" y="111888"/>
                </a:lnTo>
                <a:lnTo>
                  <a:pt x="213566" y="112658"/>
                </a:lnTo>
                <a:lnTo>
                  <a:pt x="278329" y="113291"/>
                </a:lnTo>
                <a:lnTo>
                  <a:pt x="347642" y="113762"/>
                </a:lnTo>
                <a:lnTo>
                  <a:pt x="420030" y="114051"/>
                </a:lnTo>
                <a:lnTo>
                  <a:pt x="494021" y="114135"/>
                </a:lnTo>
                <a:lnTo>
                  <a:pt x="568097" y="114218"/>
                </a:lnTo>
                <a:lnTo>
                  <a:pt x="640729" y="114504"/>
                </a:lnTo>
                <a:lnTo>
                  <a:pt x="710427" y="114971"/>
                </a:lnTo>
                <a:lnTo>
                  <a:pt x="775699" y="115596"/>
                </a:lnTo>
                <a:lnTo>
                  <a:pt x="835056" y="116358"/>
                </a:lnTo>
                <a:lnTo>
                  <a:pt x="887005" y="117236"/>
                </a:lnTo>
                <a:lnTo>
                  <a:pt x="930058" y="118206"/>
                </a:lnTo>
                <a:lnTo>
                  <a:pt x="983507" y="120337"/>
                </a:lnTo>
                <a:lnTo>
                  <a:pt x="990923" y="121454"/>
                </a:lnTo>
                <a:lnTo>
                  <a:pt x="983954" y="122584"/>
                </a:lnTo>
                <a:lnTo>
                  <a:pt x="931246" y="124807"/>
                </a:lnTo>
                <a:lnTo>
                  <a:pt x="888480" y="125851"/>
                </a:lnTo>
                <a:lnTo>
                  <a:pt x="836753" y="126817"/>
                </a:lnTo>
                <a:lnTo>
                  <a:pt x="777550" y="127682"/>
                </a:lnTo>
                <a:lnTo>
                  <a:pt x="712358" y="128419"/>
                </a:lnTo>
                <a:lnTo>
                  <a:pt x="642663" y="129006"/>
                </a:lnTo>
                <a:lnTo>
                  <a:pt x="569949" y="129417"/>
                </a:lnTo>
                <a:lnTo>
                  <a:pt x="495703" y="129627"/>
                </a:lnTo>
                <a:lnTo>
                  <a:pt x="421449" y="129829"/>
                </a:lnTo>
                <a:lnTo>
                  <a:pt x="348715" y="130213"/>
                </a:lnTo>
                <a:lnTo>
                  <a:pt x="278988" y="130758"/>
                </a:lnTo>
                <a:lnTo>
                  <a:pt x="213754" y="131440"/>
                </a:lnTo>
                <a:lnTo>
                  <a:pt x="154501" y="132238"/>
                </a:lnTo>
                <a:lnTo>
                  <a:pt x="102717" y="133128"/>
                </a:lnTo>
                <a:lnTo>
                  <a:pt x="59887" y="134088"/>
                </a:lnTo>
                <a:lnTo>
                  <a:pt x="7041" y="136127"/>
                </a:lnTo>
                <a:lnTo>
                  <a:pt x="0" y="137161"/>
                </a:lnTo>
                <a:lnTo>
                  <a:pt x="7281" y="138172"/>
                </a:lnTo>
                <a:lnTo>
                  <a:pt x="60136" y="140044"/>
                </a:lnTo>
                <a:lnTo>
                  <a:pt x="102755" y="140869"/>
                </a:lnTo>
                <a:lnTo>
                  <a:pt x="154201" y="141596"/>
                </a:lnTo>
                <a:lnTo>
                  <a:pt x="212997" y="142207"/>
                </a:lnTo>
                <a:lnTo>
                  <a:pt x="277666" y="142685"/>
                </a:lnTo>
                <a:lnTo>
                  <a:pt x="346732" y="143011"/>
                </a:lnTo>
                <a:lnTo>
                  <a:pt x="418718" y="143166"/>
                </a:lnTo>
                <a:lnTo>
                  <a:pt x="492148" y="143135"/>
                </a:lnTo>
                <a:lnTo>
                  <a:pt x="565519" y="143110"/>
                </a:lnTo>
                <a:lnTo>
                  <a:pt x="637334" y="143285"/>
                </a:lnTo>
                <a:lnTo>
                  <a:pt x="706131" y="143641"/>
                </a:lnTo>
                <a:lnTo>
                  <a:pt x="770444" y="144159"/>
                </a:lnTo>
                <a:lnTo>
                  <a:pt x="828809" y="144819"/>
                </a:lnTo>
                <a:lnTo>
                  <a:pt x="879763" y="145602"/>
                </a:lnTo>
                <a:lnTo>
                  <a:pt x="921841" y="146488"/>
                </a:lnTo>
                <a:lnTo>
                  <a:pt x="973514" y="148494"/>
                </a:lnTo>
                <a:lnTo>
                  <a:pt x="980180" y="149575"/>
                </a:lnTo>
                <a:lnTo>
                  <a:pt x="972733" y="150666"/>
                </a:lnTo>
                <a:lnTo>
                  <a:pt x="920261" y="152743"/>
                </a:lnTo>
                <a:lnTo>
                  <a:pt x="878148" y="153687"/>
                </a:lnTo>
                <a:lnTo>
                  <a:pt x="827390" y="154540"/>
                </a:lnTo>
                <a:lnTo>
                  <a:pt x="769444" y="155280"/>
                </a:lnTo>
                <a:lnTo>
                  <a:pt x="705766" y="155885"/>
                </a:lnTo>
                <a:lnTo>
                  <a:pt x="637812" y="156335"/>
                </a:lnTo>
                <a:lnTo>
                  <a:pt x="567037" y="156608"/>
                </a:lnTo>
                <a:lnTo>
                  <a:pt x="494897" y="156684"/>
                </a:lnTo>
                <a:lnTo>
                  <a:pt x="422927" y="156771"/>
                </a:lnTo>
                <a:lnTo>
                  <a:pt x="352636" y="157082"/>
                </a:lnTo>
                <a:lnTo>
                  <a:pt x="285447" y="157590"/>
                </a:lnTo>
                <a:lnTo>
                  <a:pt x="222779" y="158273"/>
                </a:lnTo>
                <a:lnTo>
                  <a:pt x="166054" y="159106"/>
                </a:lnTo>
                <a:lnTo>
                  <a:pt x="116693" y="160065"/>
                </a:lnTo>
                <a:lnTo>
                  <a:pt x="76115" y="161127"/>
                </a:lnTo>
                <a:lnTo>
                  <a:pt x="26996" y="163461"/>
                </a:lnTo>
                <a:lnTo>
                  <a:pt x="21296" y="164686"/>
                </a:lnTo>
                <a:lnTo>
                  <a:pt x="31035" y="166030"/>
                </a:lnTo>
                <a:lnTo>
                  <a:pt x="94443" y="168483"/>
                </a:lnTo>
                <a:lnTo>
                  <a:pt x="144209" y="169534"/>
                </a:lnTo>
                <a:lnTo>
                  <a:pt x="203414" y="170429"/>
                </a:lnTo>
                <a:lnTo>
                  <a:pt x="270106" y="171137"/>
                </a:lnTo>
                <a:lnTo>
                  <a:pt x="342334" y="171629"/>
                </a:lnTo>
                <a:lnTo>
                  <a:pt x="418144" y="171876"/>
                </a:lnTo>
                <a:lnTo>
                  <a:pt x="495587" y="171849"/>
                </a:lnTo>
                <a:lnTo>
                  <a:pt x="572690" y="171809"/>
                </a:lnTo>
                <a:lnTo>
                  <a:pt x="647537" y="172019"/>
                </a:lnTo>
                <a:lnTo>
                  <a:pt x="718253" y="172454"/>
                </a:lnTo>
                <a:lnTo>
                  <a:pt x="782966" y="173086"/>
                </a:lnTo>
                <a:lnTo>
                  <a:pt x="839800" y="173890"/>
                </a:lnTo>
                <a:lnTo>
                  <a:pt x="886884" y="174838"/>
                </a:lnTo>
                <a:lnTo>
                  <a:pt x="944301" y="177062"/>
                </a:lnTo>
                <a:lnTo>
                  <a:pt x="950889" y="178285"/>
                </a:lnTo>
                <a:lnTo>
                  <a:pt x="941213" y="179530"/>
                </a:lnTo>
                <a:lnTo>
                  <a:pt x="879790" y="181911"/>
                </a:lnTo>
                <a:lnTo>
                  <a:pt x="831802" y="182984"/>
                </a:lnTo>
                <a:lnTo>
                  <a:pt x="774800" y="183937"/>
                </a:lnTo>
                <a:lnTo>
                  <a:pt x="710665" y="184738"/>
                </a:lnTo>
                <a:lnTo>
                  <a:pt x="641275" y="185356"/>
                </a:lnTo>
                <a:lnTo>
                  <a:pt x="568510" y="185760"/>
                </a:lnTo>
                <a:lnTo>
                  <a:pt x="494249" y="185918"/>
                </a:lnTo>
                <a:lnTo>
                  <a:pt x="420472" y="186080"/>
                </a:lnTo>
                <a:lnTo>
                  <a:pt x="349086" y="186496"/>
                </a:lnTo>
                <a:lnTo>
                  <a:pt x="281858" y="187131"/>
                </a:lnTo>
                <a:lnTo>
                  <a:pt x="220556" y="187955"/>
                </a:lnTo>
                <a:lnTo>
                  <a:pt x="166946" y="188935"/>
                </a:lnTo>
                <a:lnTo>
                  <a:pt x="122796" y="190039"/>
                </a:lnTo>
                <a:lnTo>
                  <a:pt x="69946" y="192489"/>
                </a:lnTo>
                <a:lnTo>
                  <a:pt x="64781" y="193770"/>
                </a:lnTo>
                <a:lnTo>
                  <a:pt x="77189" y="195198"/>
                </a:lnTo>
                <a:lnTo>
                  <a:pt x="149967" y="197829"/>
                </a:lnTo>
                <a:lnTo>
                  <a:pt x="205304" y="198946"/>
                </a:lnTo>
                <a:lnTo>
                  <a:pt x="269918" y="199873"/>
                </a:lnTo>
                <a:lnTo>
                  <a:pt x="341293" y="200569"/>
                </a:lnTo>
                <a:lnTo>
                  <a:pt x="416911" y="200989"/>
                </a:lnTo>
                <a:lnTo>
                  <a:pt x="494258" y="201090"/>
                </a:lnTo>
                <a:lnTo>
                  <a:pt x="570752" y="201178"/>
                </a:lnTo>
                <a:lnTo>
                  <a:pt x="643964" y="201559"/>
                </a:lnTo>
                <a:lnTo>
                  <a:pt x="711598" y="202193"/>
                </a:lnTo>
                <a:lnTo>
                  <a:pt x="771360" y="203041"/>
                </a:lnTo>
                <a:lnTo>
                  <a:pt x="820957" y="204065"/>
                </a:lnTo>
                <a:lnTo>
                  <a:pt x="880475" y="206480"/>
                </a:lnTo>
                <a:lnTo>
                  <a:pt x="885808" y="207793"/>
                </a:lnTo>
                <a:lnTo>
                  <a:pt x="873479" y="209130"/>
                </a:lnTo>
                <a:lnTo>
                  <a:pt x="805521" y="211719"/>
                </a:lnTo>
                <a:lnTo>
                  <a:pt x="754518" y="212880"/>
                </a:lnTo>
                <a:lnTo>
                  <a:pt x="695251" y="213890"/>
                </a:lnTo>
                <a:lnTo>
                  <a:pt x="630034" y="214706"/>
                </a:lnTo>
                <a:lnTo>
                  <a:pt x="561178" y="215280"/>
                </a:lnTo>
                <a:lnTo>
                  <a:pt x="490998" y="215567"/>
                </a:lnTo>
                <a:lnTo>
                  <a:pt x="412268" y="215911"/>
                </a:lnTo>
                <a:lnTo>
                  <a:pt x="338260" y="216605"/>
                </a:lnTo>
                <a:lnTo>
                  <a:pt x="272000" y="217583"/>
                </a:lnTo>
                <a:lnTo>
                  <a:pt x="216514" y="218780"/>
                </a:lnTo>
                <a:lnTo>
                  <a:pt x="174829" y="220131"/>
                </a:lnTo>
                <a:lnTo>
                  <a:pt x="144968" y="223032"/>
                </a:lnTo>
                <a:lnTo>
                  <a:pt x="160214" y="224478"/>
                </a:lnTo>
                <a:lnTo>
                  <a:pt x="237443" y="227148"/>
                </a:lnTo>
                <a:lnTo>
                  <a:pt x="293330" y="228252"/>
                </a:lnTo>
                <a:lnTo>
                  <a:pt x="356667" y="229122"/>
                </a:lnTo>
                <a:lnTo>
                  <a:pt x="424407" y="229698"/>
                </a:lnTo>
                <a:lnTo>
                  <a:pt x="493499" y="229920"/>
                </a:lnTo>
                <a:lnTo>
                  <a:pt x="571479" y="230238"/>
                </a:lnTo>
                <a:lnTo>
                  <a:pt x="642372" y="231068"/>
                </a:lnTo>
                <a:lnTo>
                  <a:pt x="702250" y="232304"/>
                </a:lnTo>
                <a:lnTo>
                  <a:pt x="747181" y="233844"/>
                </a:lnTo>
                <a:lnTo>
                  <a:pt x="776483" y="237415"/>
                </a:lnTo>
                <a:lnTo>
                  <a:pt x="757446" y="239246"/>
                </a:lnTo>
                <a:lnTo>
                  <a:pt x="673748" y="242506"/>
                </a:lnTo>
                <a:lnTo>
                  <a:pt x="616958" y="243729"/>
                </a:lnTo>
                <a:lnTo>
                  <a:pt x="555454" y="244543"/>
                </a:lnTo>
                <a:lnTo>
                  <a:pt x="493170" y="244845"/>
                </a:lnTo>
                <a:lnTo>
                  <a:pt x="424180" y="245230"/>
                </a:lnTo>
                <a:lnTo>
                  <a:pt x="367360" y="246249"/>
                </a:lnTo>
                <a:lnTo>
                  <a:pt x="327031" y="247743"/>
                </a:lnTo>
                <a:lnTo>
                  <a:pt x="307514" y="249551"/>
                </a:lnTo>
                <a:lnTo>
                  <a:pt x="313129" y="251514"/>
                </a:lnTo>
                <a:lnTo>
                  <a:pt x="347150" y="253981"/>
                </a:lnTo>
                <a:lnTo>
                  <a:pt x="394475" y="256196"/>
                </a:lnTo>
                <a:lnTo>
                  <a:pt x="446581" y="257829"/>
                </a:lnTo>
                <a:lnTo>
                  <a:pt x="494947" y="258551"/>
                </a:lnTo>
                <a:lnTo>
                  <a:pt x="609029" y="258960"/>
                </a:lnTo>
              </a:path>
            </a:pathLst>
          </a:custGeom>
          <a:ln w="958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666384" y="7469589"/>
            <a:ext cx="885006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Arad</a:t>
            </a:r>
            <a:r>
              <a:rPr kumimoji="0" sz="1459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(150)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9217250" y="6975463"/>
            <a:ext cx="308130" cy="464898"/>
          </a:xfrm>
          <a:custGeom>
            <a:avLst/>
            <a:gdLst/>
            <a:ahLst/>
            <a:cxnLst/>
            <a:rect l="l" t="t" r="r" b="b"/>
            <a:pathLst>
              <a:path w="253365" h="382270">
                <a:moveTo>
                  <a:pt x="253291" y="0"/>
                </a:moveTo>
                <a:lnTo>
                  <a:pt x="0" y="382221"/>
                </a:lnTo>
              </a:path>
            </a:pathLst>
          </a:custGeom>
          <a:ln w="9587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C28B18F-DA82-0747-8364-D60387057DB6}"/>
              </a:ext>
            </a:extLst>
          </p:cNvPr>
          <p:cNvSpPr/>
          <p:nvPr/>
        </p:nvSpPr>
        <p:spPr>
          <a:xfrm>
            <a:off x="897466" y="4927598"/>
            <a:ext cx="5646913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25781548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7466" y="819272"/>
            <a:ext cx="7886611" cy="728599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15446">
              <a:spcBef>
                <a:spcPts val="152"/>
              </a:spcBef>
            </a:pPr>
            <a:r>
              <a:rPr spc="-85" dirty="0"/>
              <a:t>Uniform-cost</a:t>
            </a:r>
            <a:r>
              <a:rPr spc="26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116" name="object 1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115" name="object 115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0545" y="3400697"/>
            <a:ext cx="1281174" cy="1621739"/>
          </a:xfrm>
          <a:custGeom>
            <a:avLst/>
            <a:gdLst/>
            <a:ahLst/>
            <a:cxnLst/>
            <a:rect l="l" t="t" r="r" b="b"/>
            <a:pathLst>
              <a:path w="1053465" h="1333500">
                <a:moveTo>
                  <a:pt x="0" y="0"/>
                </a:moveTo>
                <a:lnTo>
                  <a:pt x="1052961" y="1332936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06712" y="4756837"/>
            <a:ext cx="664913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Urziceni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80196" y="1853953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Neamt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72356" y="2204767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73412" y="2668585"/>
            <a:ext cx="40234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27255" y="3709023"/>
            <a:ext cx="800058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53965" y="4210434"/>
            <a:ext cx="47416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75633" y="4749455"/>
            <a:ext cx="6826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94852" y="5526667"/>
            <a:ext cx="62861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94771" y="2981951"/>
            <a:ext cx="4293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50616" y="3013294"/>
            <a:ext cx="65564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54724" y="4143227"/>
            <a:ext cx="519729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613617" y="3320432"/>
            <a:ext cx="366050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Vasl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162201" y="2480554"/>
            <a:ext cx="30272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Iasi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154885" y="2218551"/>
            <a:ext cx="884234" cy="383039"/>
          </a:xfrm>
          <a:custGeom>
            <a:avLst/>
            <a:gdLst/>
            <a:ahLst/>
            <a:cxnLst/>
            <a:rect l="l" t="t" r="r" b="b"/>
            <a:pathLst>
              <a:path w="727075" h="314960">
                <a:moveTo>
                  <a:pt x="726680" y="314380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844331" y="3490901"/>
            <a:ext cx="695803" cy="1234838"/>
          </a:xfrm>
          <a:custGeom>
            <a:avLst/>
            <a:gdLst/>
            <a:ahLst/>
            <a:cxnLst/>
            <a:rect l="l" t="t" r="r" b="b"/>
            <a:pathLst>
              <a:path w="572134" h="1015364">
                <a:moveTo>
                  <a:pt x="0" y="1015281"/>
                </a:moveTo>
                <a:lnTo>
                  <a:pt x="572071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038636" y="2638488"/>
            <a:ext cx="501967" cy="771484"/>
          </a:xfrm>
          <a:custGeom>
            <a:avLst/>
            <a:gdLst/>
            <a:ahLst/>
            <a:cxnLst/>
            <a:rect l="l" t="t" r="r" b="b"/>
            <a:pathLst>
              <a:path w="412750" h="634364">
                <a:moveTo>
                  <a:pt x="412299" y="633909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885078" y="4763243"/>
            <a:ext cx="925163" cy="0"/>
          </a:xfrm>
          <a:custGeom>
            <a:avLst/>
            <a:gdLst/>
            <a:ahLst/>
            <a:cxnLst/>
            <a:rect l="l" t="t" r="r" b="b"/>
            <a:pathLst>
              <a:path w="760729">
                <a:moveTo>
                  <a:pt x="0" y="0"/>
                </a:moveTo>
                <a:lnTo>
                  <a:pt x="760175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847170" y="4719370"/>
            <a:ext cx="155996" cy="305041"/>
          </a:xfrm>
          <a:custGeom>
            <a:avLst/>
            <a:gdLst/>
            <a:ahLst/>
            <a:cxnLst/>
            <a:rect l="l" t="t" r="r" b="b"/>
            <a:pathLst>
              <a:path w="128270" h="250825">
                <a:moveTo>
                  <a:pt x="0" y="0"/>
                </a:moveTo>
                <a:lnTo>
                  <a:pt x="128215" y="250331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73401" y="4763243"/>
            <a:ext cx="733644" cy="269518"/>
          </a:xfrm>
          <a:custGeom>
            <a:avLst/>
            <a:gdLst/>
            <a:ahLst/>
            <a:cxnLst/>
            <a:rect l="l" t="t" r="r" b="b"/>
            <a:pathLst>
              <a:path w="603250" h="221614">
                <a:moveTo>
                  <a:pt x="0" y="221612"/>
                </a:moveTo>
                <a:lnTo>
                  <a:pt x="60299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105082" y="5115102"/>
            <a:ext cx="82708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691083" y="5070362"/>
            <a:ext cx="383039" cy="771484"/>
          </a:xfrm>
          <a:custGeom>
            <a:avLst/>
            <a:gdLst/>
            <a:ahLst/>
            <a:cxnLst/>
            <a:rect l="l" t="t" r="r" b="b"/>
            <a:pathLst>
              <a:path w="314959" h="634364">
                <a:moveTo>
                  <a:pt x="314366" y="0"/>
                </a:moveTo>
                <a:lnTo>
                  <a:pt x="0" y="633909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995358" y="4487468"/>
            <a:ext cx="1041002" cy="545985"/>
          </a:xfrm>
          <a:custGeom>
            <a:avLst/>
            <a:gdLst/>
            <a:ahLst/>
            <a:cxnLst/>
            <a:rect l="l" t="t" r="r" b="b"/>
            <a:pathLst>
              <a:path w="855979" h="448945">
                <a:moveTo>
                  <a:pt x="0" y="0"/>
                </a:moveTo>
                <a:lnTo>
                  <a:pt x="855518" y="448373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074018" y="4531340"/>
            <a:ext cx="884234" cy="1078070"/>
          </a:xfrm>
          <a:custGeom>
            <a:avLst/>
            <a:gdLst/>
            <a:ahLst/>
            <a:cxnLst/>
            <a:rect l="l" t="t" r="r" b="b"/>
            <a:pathLst>
              <a:path w="727075" h="886460">
                <a:moveTo>
                  <a:pt x="0" y="886437"/>
                </a:moveTo>
                <a:lnTo>
                  <a:pt x="726666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798230" y="3948439"/>
            <a:ext cx="1122089" cy="539035"/>
          </a:xfrm>
          <a:custGeom>
            <a:avLst/>
            <a:gdLst/>
            <a:ahLst/>
            <a:cxnLst/>
            <a:rect l="l" t="t" r="r" b="b"/>
            <a:pathLst>
              <a:path w="922654" h="443229">
                <a:moveTo>
                  <a:pt x="0" y="0"/>
                </a:moveTo>
                <a:lnTo>
                  <a:pt x="922505" y="443224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459777" y="3296594"/>
            <a:ext cx="1304341" cy="75681"/>
          </a:xfrm>
          <a:custGeom>
            <a:avLst/>
            <a:gdLst/>
            <a:ahLst/>
            <a:cxnLst/>
            <a:rect l="l" t="t" r="r" b="b"/>
            <a:pathLst>
              <a:path w="1072515" h="62230">
                <a:moveTo>
                  <a:pt x="0" y="0"/>
                </a:moveTo>
                <a:lnTo>
                  <a:pt x="1071966" y="61851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04491" y="3986057"/>
            <a:ext cx="226271" cy="1586215"/>
          </a:xfrm>
          <a:custGeom>
            <a:avLst/>
            <a:gdLst/>
            <a:ahLst/>
            <a:cxnLst/>
            <a:rect l="l" t="t" r="r" b="b"/>
            <a:pathLst>
              <a:path w="186054" h="1304289">
                <a:moveTo>
                  <a:pt x="185541" y="1303883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876873" y="5452689"/>
            <a:ext cx="1153751" cy="119700"/>
          </a:xfrm>
          <a:custGeom>
            <a:avLst/>
            <a:gdLst/>
            <a:ahLst/>
            <a:cxnLst/>
            <a:rect l="l" t="t" r="r" b="b"/>
            <a:pathLst>
              <a:path w="948690" h="98425">
                <a:moveTo>
                  <a:pt x="0" y="0"/>
                </a:moveTo>
                <a:lnTo>
                  <a:pt x="948289" y="97923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858070" y="4906558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43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440974" y="3296595"/>
            <a:ext cx="319714" cy="576876"/>
          </a:xfrm>
          <a:custGeom>
            <a:avLst/>
            <a:gdLst/>
            <a:ahLst/>
            <a:cxnLst/>
            <a:rect l="l" t="t" r="r" b="b"/>
            <a:pathLst>
              <a:path w="262890" h="474344">
                <a:moveTo>
                  <a:pt x="262839" y="474151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74047" y="2795175"/>
            <a:ext cx="1542196" cy="464126"/>
          </a:xfrm>
          <a:custGeom>
            <a:avLst/>
            <a:gdLst/>
            <a:ahLst/>
            <a:cxnLst/>
            <a:rect l="l" t="t" r="r" b="b"/>
            <a:pathLst>
              <a:path w="1268095" h="381635">
                <a:moveTo>
                  <a:pt x="0" y="0"/>
                </a:moveTo>
                <a:lnTo>
                  <a:pt x="1267809" y="38138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413063" y="1754750"/>
            <a:ext cx="1003161" cy="1504356"/>
          </a:xfrm>
          <a:custGeom>
            <a:avLst/>
            <a:gdLst/>
            <a:ahLst/>
            <a:cxnLst/>
            <a:rect l="l" t="t" r="r" b="b"/>
            <a:pathLst>
              <a:path w="824865" h="1236980">
                <a:moveTo>
                  <a:pt x="824595" y="1236886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858077" y="4415396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37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911657" y="3948440"/>
            <a:ext cx="928252" cy="389217"/>
          </a:xfrm>
          <a:custGeom>
            <a:avLst/>
            <a:gdLst/>
            <a:ahLst/>
            <a:cxnLst/>
            <a:rect l="l" t="t" r="r" b="b"/>
            <a:pathLst>
              <a:path w="763270" h="320039">
                <a:moveTo>
                  <a:pt x="0" y="0"/>
                </a:moveTo>
                <a:lnTo>
                  <a:pt x="762747" y="319534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855243" y="2873527"/>
            <a:ext cx="0" cy="1044863"/>
          </a:xfrm>
          <a:custGeom>
            <a:avLst/>
            <a:gdLst/>
            <a:ahLst/>
            <a:cxnLst/>
            <a:rect l="l" t="t" r="r" b="b"/>
            <a:pathLst>
              <a:path h="859155">
                <a:moveTo>
                  <a:pt x="0" y="0"/>
                </a:moveTo>
                <a:lnTo>
                  <a:pt x="0" y="858790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836441" y="2256153"/>
            <a:ext cx="232449" cy="539035"/>
          </a:xfrm>
          <a:custGeom>
            <a:avLst/>
            <a:gdLst/>
            <a:ahLst/>
            <a:cxnLst/>
            <a:rect l="l" t="t" r="r" b="b"/>
            <a:pathLst>
              <a:path w="191135" h="443230">
                <a:moveTo>
                  <a:pt x="190691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068351" y="1717131"/>
            <a:ext cx="307357" cy="539035"/>
          </a:xfrm>
          <a:custGeom>
            <a:avLst/>
            <a:gdLst/>
            <a:ahLst/>
            <a:cxnLst/>
            <a:rect l="l" t="t" r="r" b="b"/>
            <a:pathLst>
              <a:path w="252729" h="443230">
                <a:moveTo>
                  <a:pt x="252527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989389" y="55341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989389" y="55341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723026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723025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647203" y="576295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647203" y="576295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769127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769127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9917023" y="445300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9917023" y="445300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073401" y="214336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1073401" y="214336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9725848" y="333421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9725848" y="333421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839262" y="483219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839262" y="483219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798521" y="537434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798521" y="537434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798521" y="429944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798521" y="429944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795700" y="275757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795700" y="275757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833297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833297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7030735" y="221543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030735" y="221543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334722" y="167640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7334722" y="167640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8378293" y="3221408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378293" y="3221410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2809568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2809568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2478441" y="33989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2478441" y="33989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11994758" y="256017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1994758" y="256017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0998181" y="499201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0998180" y="499201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028184" y="1590543"/>
            <a:ext cx="1043319" cy="400317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466461" marR="0" lvl="0" indent="0" algn="l" defTabSz="1112093" rtl="0" eaLnBrk="1" fontAlgn="auto" latinLnBrk="0" hangingPunct="1">
              <a:lnSpc>
                <a:spcPts val="1453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ts val="14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739193" y="2348444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553301" y="3243221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146211" y="4117105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638991" y="4482849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108960" y="4943798"/>
            <a:ext cx="719743" cy="561237"/>
          </a:xfrm>
          <a:prstGeom prst="rect">
            <a:avLst/>
          </a:prstGeom>
        </p:spPr>
        <p:txBody>
          <a:bodyPr vert="horz" wrap="square" lIns="0" tIns="90354" rIns="0" bIns="0" rtlCol="0">
            <a:spAutoFit/>
          </a:bodyPr>
          <a:lstStyle/>
          <a:p>
            <a:pPr marL="0" marR="6178" lvl="0" indent="0" algn="r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5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308094" y="5248844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120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947665" y="2277128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151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496697" y="274707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100544" y="3083044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99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656563" y="3434247"/>
            <a:ext cx="1315925" cy="409432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41329" marR="0" lvl="0" indent="0" algn="l" defTabSz="1112093" rtl="0" eaLnBrk="1" fontAlgn="auto" latinLnBrk="0" hangingPunct="1">
              <a:lnSpc>
                <a:spcPct val="100000"/>
              </a:lnSpc>
              <a:spcBef>
                <a:spcPts val="3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1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208372" y="4226469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0234263" y="4730855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101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0507284" y="407790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211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9511039" y="502724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138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8964054" y="467969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146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1308759" y="4661025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0789774" y="5321572"/>
            <a:ext cx="610083" cy="566696"/>
          </a:xfrm>
          <a:prstGeom prst="rect">
            <a:avLst/>
          </a:prstGeom>
        </p:spPr>
        <p:txBody>
          <a:bodyPr vert="horz" wrap="square" lIns="0" tIns="95760" rIns="0" bIns="0" rtlCol="0">
            <a:spAutoFit/>
          </a:bodyPr>
          <a:lstStyle/>
          <a:p>
            <a:pPr marL="134377" marR="0" lvl="0" indent="0" algn="l" defTabSz="1112093" rtl="0" eaLnBrk="1" fontAlgn="auto" latinLnBrk="0" hangingPunct="1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Giurgiu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2295969" y="4502877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2248831" y="398404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142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2357041" y="2858513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92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1590343" y="2164910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44059" y="2705939"/>
            <a:ext cx="219321" cy="219321"/>
          </a:xfrm>
          <a:custGeom>
            <a:avLst/>
            <a:gdLst/>
            <a:ahLst/>
            <a:cxnLst/>
            <a:rect l="l" t="t" r="r" b="b"/>
            <a:pathLst>
              <a:path w="180339" h="180339">
                <a:moveTo>
                  <a:pt x="180260" y="90129"/>
                </a:moveTo>
                <a:lnTo>
                  <a:pt x="173177" y="55047"/>
                </a:lnTo>
                <a:lnTo>
                  <a:pt x="153861" y="26398"/>
                </a:lnTo>
                <a:lnTo>
                  <a:pt x="125212" y="7083"/>
                </a:lnTo>
                <a:lnTo>
                  <a:pt x="90130" y="0"/>
                </a:lnTo>
                <a:lnTo>
                  <a:pt x="55048" y="7083"/>
                </a:lnTo>
                <a:lnTo>
                  <a:pt x="26399" y="26398"/>
                </a:lnTo>
                <a:lnTo>
                  <a:pt x="7083" y="55047"/>
                </a:lnTo>
                <a:lnTo>
                  <a:pt x="0" y="90129"/>
                </a:lnTo>
                <a:lnTo>
                  <a:pt x="7083" y="125210"/>
                </a:lnTo>
                <a:lnTo>
                  <a:pt x="26399" y="153859"/>
                </a:lnTo>
                <a:lnTo>
                  <a:pt x="55048" y="173175"/>
                </a:lnTo>
                <a:lnTo>
                  <a:pt x="90130" y="180258"/>
                </a:lnTo>
                <a:lnTo>
                  <a:pt x="125212" y="173175"/>
                </a:lnTo>
                <a:lnTo>
                  <a:pt x="153861" y="153859"/>
                </a:lnTo>
                <a:lnTo>
                  <a:pt x="173177" y="125210"/>
                </a:lnTo>
                <a:lnTo>
                  <a:pt x="180260" y="90129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10946564" y="4940380"/>
            <a:ext cx="219321" cy="219321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80258" y="90130"/>
                </a:moveTo>
                <a:lnTo>
                  <a:pt x="173175" y="55049"/>
                </a:lnTo>
                <a:lnTo>
                  <a:pt x="153859" y="26400"/>
                </a:lnTo>
                <a:lnTo>
                  <a:pt x="125210" y="7083"/>
                </a:lnTo>
                <a:lnTo>
                  <a:pt x="90129" y="0"/>
                </a:lnTo>
                <a:lnTo>
                  <a:pt x="55047" y="7083"/>
                </a:lnTo>
                <a:lnTo>
                  <a:pt x="26398" y="26400"/>
                </a:lnTo>
                <a:lnTo>
                  <a:pt x="7083" y="55049"/>
                </a:lnTo>
                <a:lnTo>
                  <a:pt x="0" y="90130"/>
                </a:lnTo>
                <a:lnTo>
                  <a:pt x="7083" y="125212"/>
                </a:lnTo>
                <a:lnTo>
                  <a:pt x="26398" y="153861"/>
                </a:lnTo>
                <a:lnTo>
                  <a:pt x="55047" y="173177"/>
                </a:lnTo>
                <a:lnTo>
                  <a:pt x="90129" y="180260"/>
                </a:lnTo>
                <a:lnTo>
                  <a:pt x="125210" y="173177"/>
                </a:lnTo>
                <a:lnTo>
                  <a:pt x="153859" y="153861"/>
                </a:lnTo>
                <a:lnTo>
                  <a:pt x="173175" y="125212"/>
                </a:lnTo>
                <a:lnTo>
                  <a:pt x="180258" y="90130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10911207" y="4905031"/>
            <a:ext cx="290368" cy="290368"/>
          </a:xfrm>
          <a:custGeom>
            <a:avLst/>
            <a:gdLst/>
            <a:ahLst/>
            <a:cxnLst/>
            <a:rect l="l" t="t" r="r" b="b"/>
            <a:pathLst>
              <a:path w="238759" h="238760">
                <a:moveTo>
                  <a:pt x="238389" y="119197"/>
                </a:moveTo>
                <a:lnTo>
                  <a:pt x="229023" y="72801"/>
                </a:lnTo>
                <a:lnTo>
                  <a:pt x="203481" y="34913"/>
                </a:lnTo>
                <a:lnTo>
                  <a:pt x="165595" y="9367"/>
                </a:lnTo>
                <a:lnTo>
                  <a:pt x="119201" y="0"/>
                </a:lnTo>
                <a:lnTo>
                  <a:pt x="72805" y="9367"/>
                </a:lnTo>
                <a:lnTo>
                  <a:pt x="34915" y="34913"/>
                </a:lnTo>
                <a:lnTo>
                  <a:pt x="9368" y="72801"/>
                </a:lnTo>
                <a:lnTo>
                  <a:pt x="0" y="119197"/>
                </a:lnTo>
                <a:lnTo>
                  <a:pt x="9368" y="165593"/>
                </a:lnTo>
                <a:lnTo>
                  <a:pt x="34915" y="203482"/>
                </a:lnTo>
                <a:lnTo>
                  <a:pt x="72805" y="229028"/>
                </a:lnTo>
                <a:lnTo>
                  <a:pt x="119201" y="238396"/>
                </a:lnTo>
                <a:lnTo>
                  <a:pt x="165595" y="229028"/>
                </a:lnTo>
                <a:lnTo>
                  <a:pt x="203481" y="203482"/>
                </a:lnTo>
                <a:lnTo>
                  <a:pt x="229023" y="165593"/>
                </a:lnTo>
                <a:lnTo>
                  <a:pt x="238389" y="119197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065714" y="4900702"/>
            <a:ext cx="5282235" cy="963862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44837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45610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node with minimum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r>
              <a:rPr kumimoji="0" sz="2493" b="0" i="1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value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760703" marR="0" lvl="1" indent="-332856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760703" algn="l"/>
                <a:tab pos="76147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priority queue, ordered by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r>
              <a:rPr kumimoji="0" sz="2493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values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896004" y="5941879"/>
            <a:ext cx="675724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Arad</a:t>
            </a:r>
            <a:r>
              <a:rPr kumimoji="0" sz="1459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3406639" y="5878519"/>
            <a:ext cx="8896972" cy="19189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4804645" y="6674571"/>
            <a:ext cx="1299708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Timisoara</a:t>
            </a:r>
            <a:r>
              <a:rPr kumimoji="0" sz="1459" b="0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(118)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9182746" y="6674571"/>
            <a:ext cx="916669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Zerind</a:t>
            </a:r>
            <a:r>
              <a:rPr kumimoji="0" sz="1459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(75)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0973677" y="7465413"/>
            <a:ext cx="1103555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Oradea</a:t>
            </a:r>
            <a:r>
              <a:rPr kumimoji="0" sz="1459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(146)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6780446" y="6674571"/>
            <a:ext cx="906629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Sibiu</a:t>
            </a:r>
            <a:r>
              <a:rPr kumimoji="0" sz="1459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(140)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617916" y="7465413"/>
            <a:ext cx="951420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Lugoj</a:t>
            </a:r>
            <a:r>
              <a:rPr kumimoji="0" sz="1459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(229)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5221761" y="7465413"/>
            <a:ext cx="882689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Arad</a:t>
            </a:r>
            <a:r>
              <a:rPr kumimoji="0" sz="1459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(236)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E51E99C-12EB-A747-8D5C-92F3FCDFE106}"/>
              </a:ext>
            </a:extLst>
          </p:cNvPr>
          <p:cNvSpPr/>
          <p:nvPr/>
        </p:nvSpPr>
        <p:spPr>
          <a:xfrm>
            <a:off x="897466" y="4927598"/>
            <a:ext cx="5646913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10940475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7466" y="819272"/>
            <a:ext cx="7886611" cy="728599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15446">
              <a:spcBef>
                <a:spcPts val="152"/>
              </a:spcBef>
            </a:pPr>
            <a:r>
              <a:rPr spc="-85" dirty="0"/>
              <a:t>Uniform-cost</a:t>
            </a:r>
            <a:r>
              <a:rPr spc="26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118" name="object 11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117" name="object 117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0545" y="3400697"/>
            <a:ext cx="1281174" cy="1621739"/>
          </a:xfrm>
          <a:custGeom>
            <a:avLst/>
            <a:gdLst/>
            <a:ahLst/>
            <a:cxnLst/>
            <a:rect l="l" t="t" r="r" b="b"/>
            <a:pathLst>
              <a:path w="1053465" h="1333500">
                <a:moveTo>
                  <a:pt x="0" y="0"/>
                </a:moveTo>
                <a:lnTo>
                  <a:pt x="1052961" y="1332936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06712" y="4756837"/>
            <a:ext cx="664913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Urziceni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80196" y="1853953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Neamt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72356" y="2204767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73412" y="2668585"/>
            <a:ext cx="40234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27255" y="3709023"/>
            <a:ext cx="800058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53965" y="4210434"/>
            <a:ext cx="47416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75633" y="4749455"/>
            <a:ext cx="6826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94852" y="5526667"/>
            <a:ext cx="62861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94771" y="2981951"/>
            <a:ext cx="4293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50616" y="3013294"/>
            <a:ext cx="65564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54724" y="4143227"/>
            <a:ext cx="519729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613617" y="3320432"/>
            <a:ext cx="366050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Vasl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162201" y="2480554"/>
            <a:ext cx="30272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Iasi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154885" y="2218551"/>
            <a:ext cx="884234" cy="383039"/>
          </a:xfrm>
          <a:custGeom>
            <a:avLst/>
            <a:gdLst/>
            <a:ahLst/>
            <a:cxnLst/>
            <a:rect l="l" t="t" r="r" b="b"/>
            <a:pathLst>
              <a:path w="727075" h="314960">
                <a:moveTo>
                  <a:pt x="726680" y="314380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844331" y="3490901"/>
            <a:ext cx="695803" cy="1234838"/>
          </a:xfrm>
          <a:custGeom>
            <a:avLst/>
            <a:gdLst/>
            <a:ahLst/>
            <a:cxnLst/>
            <a:rect l="l" t="t" r="r" b="b"/>
            <a:pathLst>
              <a:path w="572134" h="1015364">
                <a:moveTo>
                  <a:pt x="0" y="1015281"/>
                </a:moveTo>
                <a:lnTo>
                  <a:pt x="572071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038636" y="2638488"/>
            <a:ext cx="501967" cy="771484"/>
          </a:xfrm>
          <a:custGeom>
            <a:avLst/>
            <a:gdLst/>
            <a:ahLst/>
            <a:cxnLst/>
            <a:rect l="l" t="t" r="r" b="b"/>
            <a:pathLst>
              <a:path w="412750" h="634364">
                <a:moveTo>
                  <a:pt x="412299" y="633909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885078" y="4763243"/>
            <a:ext cx="925163" cy="0"/>
          </a:xfrm>
          <a:custGeom>
            <a:avLst/>
            <a:gdLst/>
            <a:ahLst/>
            <a:cxnLst/>
            <a:rect l="l" t="t" r="r" b="b"/>
            <a:pathLst>
              <a:path w="760729">
                <a:moveTo>
                  <a:pt x="0" y="0"/>
                </a:moveTo>
                <a:lnTo>
                  <a:pt x="760175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847170" y="4719370"/>
            <a:ext cx="155996" cy="305041"/>
          </a:xfrm>
          <a:custGeom>
            <a:avLst/>
            <a:gdLst/>
            <a:ahLst/>
            <a:cxnLst/>
            <a:rect l="l" t="t" r="r" b="b"/>
            <a:pathLst>
              <a:path w="128270" h="250825">
                <a:moveTo>
                  <a:pt x="0" y="0"/>
                </a:moveTo>
                <a:lnTo>
                  <a:pt x="128215" y="250331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073401" y="4763243"/>
            <a:ext cx="733644" cy="269518"/>
          </a:xfrm>
          <a:custGeom>
            <a:avLst/>
            <a:gdLst/>
            <a:ahLst/>
            <a:cxnLst/>
            <a:rect l="l" t="t" r="r" b="b"/>
            <a:pathLst>
              <a:path w="603250" h="221614">
                <a:moveTo>
                  <a:pt x="0" y="221612"/>
                </a:moveTo>
                <a:lnTo>
                  <a:pt x="60299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105082" y="5115102"/>
            <a:ext cx="82708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691083" y="5070362"/>
            <a:ext cx="383039" cy="771484"/>
          </a:xfrm>
          <a:custGeom>
            <a:avLst/>
            <a:gdLst/>
            <a:ahLst/>
            <a:cxnLst/>
            <a:rect l="l" t="t" r="r" b="b"/>
            <a:pathLst>
              <a:path w="314959" h="634364">
                <a:moveTo>
                  <a:pt x="314366" y="0"/>
                </a:moveTo>
                <a:lnTo>
                  <a:pt x="0" y="633909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995358" y="4487468"/>
            <a:ext cx="1041002" cy="545985"/>
          </a:xfrm>
          <a:custGeom>
            <a:avLst/>
            <a:gdLst/>
            <a:ahLst/>
            <a:cxnLst/>
            <a:rect l="l" t="t" r="r" b="b"/>
            <a:pathLst>
              <a:path w="855979" h="448945">
                <a:moveTo>
                  <a:pt x="0" y="0"/>
                </a:moveTo>
                <a:lnTo>
                  <a:pt x="855518" y="448373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074018" y="4531340"/>
            <a:ext cx="884234" cy="1078070"/>
          </a:xfrm>
          <a:custGeom>
            <a:avLst/>
            <a:gdLst/>
            <a:ahLst/>
            <a:cxnLst/>
            <a:rect l="l" t="t" r="r" b="b"/>
            <a:pathLst>
              <a:path w="727075" h="886460">
                <a:moveTo>
                  <a:pt x="0" y="886437"/>
                </a:moveTo>
                <a:lnTo>
                  <a:pt x="726666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798230" y="3948439"/>
            <a:ext cx="1122089" cy="539035"/>
          </a:xfrm>
          <a:custGeom>
            <a:avLst/>
            <a:gdLst/>
            <a:ahLst/>
            <a:cxnLst/>
            <a:rect l="l" t="t" r="r" b="b"/>
            <a:pathLst>
              <a:path w="922654" h="443229">
                <a:moveTo>
                  <a:pt x="0" y="0"/>
                </a:moveTo>
                <a:lnTo>
                  <a:pt x="922505" y="443224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459777" y="3296594"/>
            <a:ext cx="1304341" cy="75681"/>
          </a:xfrm>
          <a:custGeom>
            <a:avLst/>
            <a:gdLst/>
            <a:ahLst/>
            <a:cxnLst/>
            <a:rect l="l" t="t" r="r" b="b"/>
            <a:pathLst>
              <a:path w="1072515" h="62230">
                <a:moveTo>
                  <a:pt x="0" y="0"/>
                </a:moveTo>
                <a:lnTo>
                  <a:pt x="1071966" y="61851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04491" y="3986057"/>
            <a:ext cx="226271" cy="1586215"/>
          </a:xfrm>
          <a:custGeom>
            <a:avLst/>
            <a:gdLst/>
            <a:ahLst/>
            <a:cxnLst/>
            <a:rect l="l" t="t" r="r" b="b"/>
            <a:pathLst>
              <a:path w="186054" h="1304289">
                <a:moveTo>
                  <a:pt x="185541" y="1303883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876873" y="5452689"/>
            <a:ext cx="1153751" cy="119700"/>
          </a:xfrm>
          <a:custGeom>
            <a:avLst/>
            <a:gdLst/>
            <a:ahLst/>
            <a:cxnLst/>
            <a:rect l="l" t="t" r="r" b="b"/>
            <a:pathLst>
              <a:path w="948690" h="98425">
                <a:moveTo>
                  <a:pt x="0" y="0"/>
                </a:moveTo>
                <a:lnTo>
                  <a:pt x="948289" y="97923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858070" y="4906558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43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440974" y="3296595"/>
            <a:ext cx="319714" cy="576876"/>
          </a:xfrm>
          <a:custGeom>
            <a:avLst/>
            <a:gdLst/>
            <a:ahLst/>
            <a:cxnLst/>
            <a:rect l="l" t="t" r="r" b="b"/>
            <a:pathLst>
              <a:path w="262890" h="474344">
                <a:moveTo>
                  <a:pt x="262839" y="474151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74047" y="2795175"/>
            <a:ext cx="1542196" cy="464126"/>
          </a:xfrm>
          <a:custGeom>
            <a:avLst/>
            <a:gdLst/>
            <a:ahLst/>
            <a:cxnLst/>
            <a:rect l="l" t="t" r="r" b="b"/>
            <a:pathLst>
              <a:path w="1268095" h="381635">
                <a:moveTo>
                  <a:pt x="0" y="0"/>
                </a:moveTo>
                <a:lnTo>
                  <a:pt x="1267809" y="38138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413063" y="1754750"/>
            <a:ext cx="1003161" cy="1504356"/>
          </a:xfrm>
          <a:custGeom>
            <a:avLst/>
            <a:gdLst/>
            <a:ahLst/>
            <a:cxnLst/>
            <a:rect l="l" t="t" r="r" b="b"/>
            <a:pathLst>
              <a:path w="824865" h="1236980">
                <a:moveTo>
                  <a:pt x="824595" y="1236886"/>
                </a:moveTo>
                <a:lnTo>
                  <a:pt x="0" y="0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858077" y="4415396"/>
            <a:ext cx="0" cy="467987"/>
          </a:xfrm>
          <a:custGeom>
            <a:avLst/>
            <a:gdLst/>
            <a:ahLst/>
            <a:cxnLst/>
            <a:rect l="l" t="t" r="r" b="b"/>
            <a:pathLst>
              <a:path h="384810">
                <a:moveTo>
                  <a:pt x="0" y="0"/>
                </a:moveTo>
                <a:lnTo>
                  <a:pt x="0" y="384637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911657" y="3948440"/>
            <a:ext cx="928252" cy="389217"/>
          </a:xfrm>
          <a:custGeom>
            <a:avLst/>
            <a:gdLst/>
            <a:ahLst/>
            <a:cxnLst/>
            <a:rect l="l" t="t" r="r" b="b"/>
            <a:pathLst>
              <a:path w="763270" h="320039">
                <a:moveTo>
                  <a:pt x="0" y="0"/>
                </a:moveTo>
                <a:lnTo>
                  <a:pt x="762747" y="319534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855243" y="2873527"/>
            <a:ext cx="0" cy="1044863"/>
          </a:xfrm>
          <a:custGeom>
            <a:avLst/>
            <a:gdLst/>
            <a:ahLst/>
            <a:cxnLst/>
            <a:rect l="l" t="t" r="r" b="b"/>
            <a:pathLst>
              <a:path h="859155">
                <a:moveTo>
                  <a:pt x="0" y="0"/>
                </a:moveTo>
                <a:lnTo>
                  <a:pt x="0" y="858790"/>
                </a:lnTo>
              </a:path>
            </a:pathLst>
          </a:custGeom>
          <a:ln w="4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836441" y="2256153"/>
            <a:ext cx="232449" cy="539035"/>
          </a:xfrm>
          <a:custGeom>
            <a:avLst/>
            <a:gdLst/>
            <a:ahLst/>
            <a:cxnLst/>
            <a:rect l="l" t="t" r="r" b="b"/>
            <a:pathLst>
              <a:path w="191135" h="443230">
                <a:moveTo>
                  <a:pt x="190691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068351" y="1717131"/>
            <a:ext cx="307357" cy="539035"/>
          </a:xfrm>
          <a:custGeom>
            <a:avLst/>
            <a:gdLst/>
            <a:ahLst/>
            <a:cxnLst/>
            <a:rect l="l" t="t" r="r" b="b"/>
            <a:pathLst>
              <a:path w="252729" h="443230">
                <a:moveTo>
                  <a:pt x="252527" y="0"/>
                </a:moveTo>
                <a:lnTo>
                  <a:pt x="0" y="443218"/>
                </a:lnTo>
              </a:path>
            </a:pathLst>
          </a:custGeom>
          <a:ln w="11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989389" y="55341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989389" y="55341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723026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723025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647203" y="576295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647203" y="576295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769127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769127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9917023" y="445300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9917023" y="445300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073401" y="214336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1073401" y="214336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9725848" y="333421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9725848" y="333421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839262" y="483219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839262" y="483219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798521" y="537434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798521" y="537434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798521" y="429944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798521" y="429944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795700" y="275757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795700" y="2757575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833297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833297" y="3870106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7030735" y="221543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030735" y="221543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334722" y="167640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7334722" y="167640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5" h="95884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8378293" y="3221408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378293" y="3221410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2809568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2809568" y="4684903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2478441" y="33989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2478441" y="3398979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11994758" y="2560171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1994758" y="2560172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0998181" y="499201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0998180" y="4992014"/>
            <a:ext cx="116611" cy="116611"/>
          </a:xfrm>
          <a:custGeom>
            <a:avLst/>
            <a:gdLst/>
            <a:ahLst/>
            <a:cxnLst/>
            <a:rect l="l" t="t" r="r" b="b"/>
            <a:pathLst>
              <a:path w="95884" h="95885">
                <a:moveTo>
                  <a:pt x="0" y="95342"/>
                </a:moveTo>
                <a:lnTo>
                  <a:pt x="95342" y="95342"/>
                </a:lnTo>
                <a:lnTo>
                  <a:pt x="95342" y="0"/>
                </a:lnTo>
                <a:lnTo>
                  <a:pt x="0" y="0"/>
                </a:lnTo>
                <a:lnTo>
                  <a:pt x="0" y="95342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028184" y="1590543"/>
            <a:ext cx="1043319" cy="400317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466461" marR="0" lvl="0" indent="0" algn="l" defTabSz="1112093" rtl="0" eaLnBrk="1" fontAlgn="auto" latinLnBrk="0" hangingPunct="1">
              <a:lnSpc>
                <a:spcPts val="1453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ts val="14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739193" y="2348444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553301" y="3243221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146211" y="4117105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638991" y="4482849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108960" y="4943798"/>
            <a:ext cx="719743" cy="561237"/>
          </a:xfrm>
          <a:prstGeom prst="rect">
            <a:avLst/>
          </a:prstGeom>
        </p:spPr>
        <p:txBody>
          <a:bodyPr vert="horz" wrap="square" lIns="0" tIns="90354" rIns="0" bIns="0" rtlCol="0">
            <a:spAutoFit/>
          </a:bodyPr>
          <a:lstStyle/>
          <a:p>
            <a:pPr marL="0" marR="6178" lvl="0" indent="0" algn="r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5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308094" y="5248844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120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947665" y="2277128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151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496697" y="274707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100544" y="3083044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99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656563" y="3434247"/>
            <a:ext cx="1315925" cy="409432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41329" marR="0" lvl="0" indent="0" algn="l" defTabSz="1112093" rtl="0" eaLnBrk="1" fontAlgn="auto" latinLnBrk="0" hangingPunct="1">
              <a:lnSpc>
                <a:spcPct val="100000"/>
              </a:lnSpc>
              <a:spcBef>
                <a:spcPts val="3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1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208372" y="4226469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0234263" y="4730855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101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0507284" y="407790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211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9511039" y="502724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138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8964054" y="467969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146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1308759" y="4661025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0789774" y="5321572"/>
            <a:ext cx="610083" cy="566696"/>
          </a:xfrm>
          <a:prstGeom prst="rect">
            <a:avLst/>
          </a:prstGeom>
        </p:spPr>
        <p:txBody>
          <a:bodyPr vert="horz" wrap="square" lIns="0" tIns="95760" rIns="0" bIns="0" rtlCol="0">
            <a:spAutoFit/>
          </a:bodyPr>
          <a:lstStyle/>
          <a:p>
            <a:pPr marL="134377" marR="0" lvl="0" indent="0" algn="l" defTabSz="1112093" rtl="0" eaLnBrk="1" fontAlgn="auto" latinLnBrk="0" hangingPunct="1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Giurgiu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2295969" y="4502877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2248831" y="398404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142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2357041" y="2858513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92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1590343" y="2164910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44059" y="2705939"/>
            <a:ext cx="219321" cy="219321"/>
          </a:xfrm>
          <a:custGeom>
            <a:avLst/>
            <a:gdLst/>
            <a:ahLst/>
            <a:cxnLst/>
            <a:rect l="l" t="t" r="r" b="b"/>
            <a:pathLst>
              <a:path w="180339" h="180339">
                <a:moveTo>
                  <a:pt x="180260" y="90129"/>
                </a:moveTo>
                <a:lnTo>
                  <a:pt x="173177" y="55047"/>
                </a:lnTo>
                <a:lnTo>
                  <a:pt x="153861" y="26398"/>
                </a:lnTo>
                <a:lnTo>
                  <a:pt x="125212" y="7083"/>
                </a:lnTo>
                <a:lnTo>
                  <a:pt x="90130" y="0"/>
                </a:lnTo>
                <a:lnTo>
                  <a:pt x="55048" y="7083"/>
                </a:lnTo>
                <a:lnTo>
                  <a:pt x="26399" y="26398"/>
                </a:lnTo>
                <a:lnTo>
                  <a:pt x="7083" y="55047"/>
                </a:lnTo>
                <a:lnTo>
                  <a:pt x="0" y="90129"/>
                </a:lnTo>
                <a:lnTo>
                  <a:pt x="7083" y="125210"/>
                </a:lnTo>
                <a:lnTo>
                  <a:pt x="26399" y="153859"/>
                </a:lnTo>
                <a:lnTo>
                  <a:pt x="55048" y="173175"/>
                </a:lnTo>
                <a:lnTo>
                  <a:pt x="90130" y="180258"/>
                </a:lnTo>
                <a:lnTo>
                  <a:pt x="125212" y="173175"/>
                </a:lnTo>
                <a:lnTo>
                  <a:pt x="153861" y="153859"/>
                </a:lnTo>
                <a:lnTo>
                  <a:pt x="173177" y="125210"/>
                </a:lnTo>
                <a:lnTo>
                  <a:pt x="180260" y="90129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10946564" y="4940380"/>
            <a:ext cx="219321" cy="219321"/>
          </a:xfrm>
          <a:custGeom>
            <a:avLst/>
            <a:gdLst/>
            <a:ahLst/>
            <a:cxnLst/>
            <a:rect l="l" t="t" r="r" b="b"/>
            <a:pathLst>
              <a:path w="180340" h="180339">
                <a:moveTo>
                  <a:pt x="180258" y="90130"/>
                </a:moveTo>
                <a:lnTo>
                  <a:pt x="173175" y="55049"/>
                </a:lnTo>
                <a:lnTo>
                  <a:pt x="153859" y="26400"/>
                </a:lnTo>
                <a:lnTo>
                  <a:pt x="125210" y="7083"/>
                </a:lnTo>
                <a:lnTo>
                  <a:pt x="90129" y="0"/>
                </a:lnTo>
                <a:lnTo>
                  <a:pt x="55047" y="7083"/>
                </a:lnTo>
                <a:lnTo>
                  <a:pt x="26398" y="26400"/>
                </a:lnTo>
                <a:lnTo>
                  <a:pt x="7083" y="55049"/>
                </a:lnTo>
                <a:lnTo>
                  <a:pt x="0" y="90130"/>
                </a:lnTo>
                <a:lnTo>
                  <a:pt x="7083" y="125212"/>
                </a:lnTo>
                <a:lnTo>
                  <a:pt x="26398" y="153861"/>
                </a:lnTo>
                <a:lnTo>
                  <a:pt x="55047" y="173177"/>
                </a:lnTo>
                <a:lnTo>
                  <a:pt x="90129" y="180260"/>
                </a:lnTo>
                <a:lnTo>
                  <a:pt x="125210" y="173177"/>
                </a:lnTo>
                <a:lnTo>
                  <a:pt x="153859" y="153861"/>
                </a:lnTo>
                <a:lnTo>
                  <a:pt x="173175" y="125212"/>
                </a:lnTo>
                <a:lnTo>
                  <a:pt x="180258" y="90130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10911207" y="4905031"/>
            <a:ext cx="290368" cy="290368"/>
          </a:xfrm>
          <a:custGeom>
            <a:avLst/>
            <a:gdLst/>
            <a:ahLst/>
            <a:cxnLst/>
            <a:rect l="l" t="t" r="r" b="b"/>
            <a:pathLst>
              <a:path w="238759" h="238760">
                <a:moveTo>
                  <a:pt x="238389" y="119197"/>
                </a:moveTo>
                <a:lnTo>
                  <a:pt x="229023" y="72801"/>
                </a:lnTo>
                <a:lnTo>
                  <a:pt x="203481" y="34913"/>
                </a:lnTo>
                <a:lnTo>
                  <a:pt x="165595" y="9367"/>
                </a:lnTo>
                <a:lnTo>
                  <a:pt x="119201" y="0"/>
                </a:lnTo>
                <a:lnTo>
                  <a:pt x="72805" y="9367"/>
                </a:lnTo>
                <a:lnTo>
                  <a:pt x="34915" y="34913"/>
                </a:lnTo>
                <a:lnTo>
                  <a:pt x="9368" y="72801"/>
                </a:lnTo>
                <a:lnTo>
                  <a:pt x="0" y="119197"/>
                </a:lnTo>
                <a:lnTo>
                  <a:pt x="9368" y="165593"/>
                </a:lnTo>
                <a:lnTo>
                  <a:pt x="34915" y="203482"/>
                </a:lnTo>
                <a:lnTo>
                  <a:pt x="72805" y="229028"/>
                </a:lnTo>
                <a:lnTo>
                  <a:pt x="119201" y="238396"/>
                </a:lnTo>
                <a:lnTo>
                  <a:pt x="165595" y="229028"/>
                </a:lnTo>
                <a:lnTo>
                  <a:pt x="203481" y="203482"/>
                </a:lnTo>
                <a:lnTo>
                  <a:pt x="229023" y="165593"/>
                </a:lnTo>
                <a:lnTo>
                  <a:pt x="238389" y="119197"/>
                </a:lnTo>
                <a:close/>
              </a:path>
            </a:pathLst>
          </a:custGeom>
          <a:ln w="2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065714" y="4900702"/>
            <a:ext cx="5282235" cy="963862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44837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45610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node with minimum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r>
              <a:rPr kumimoji="0" sz="2493" b="0" i="1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value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760703" marR="0" lvl="1" indent="-332856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760703" algn="l"/>
                <a:tab pos="76147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priority queue, ordered by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r>
              <a:rPr kumimoji="0" sz="2493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values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896004" y="5941879"/>
            <a:ext cx="675724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Arad</a:t>
            </a:r>
            <a:r>
              <a:rPr kumimoji="0" sz="1459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3406639" y="5878519"/>
            <a:ext cx="8896972" cy="19189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9182746" y="6674571"/>
            <a:ext cx="916669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Zerind</a:t>
            </a:r>
            <a:r>
              <a:rPr kumimoji="0" sz="1459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(75)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0973677" y="7465413"/>
            <a:ext cx="1103555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Oradea</a:t>
            </a:r>
            <a:r>
              <a:rPr kumimoji="0" sz="1459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(146)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6780446" y="6674571"/>
            <a:ext cx="906629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Sibiu</a:t>
            </a:r>
            <a:r>
              <a:rPr kumimoji="0" sz="1459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(140)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617916" y="7465413"/>
            <a:ext cx="951420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Lugoj</a:t>
            </a:r>
            <a:r>
              <a:rPr kumimoji="0" sz="1459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(229)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5227511" y="7465413"/>
            <a:ext cx="1709776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Rimnicu </a:t>
            </a:r>
            <a:r>
              <a:rPr kumimoji="0" sz="1459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Vilcea</a:t>
            </a:r>
            <a:r>
              <a:rPr kumimoji="0" sz="1459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(220)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517551" y="7465413"/>
            <a:ext cx="1158385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Fagaras</a:t>
            </a:r>
            <a:r>
              <a:rPr kumimoji="0" sz="1459" b="0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(239)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9194282" y="7465413"/>
            <a:ext cx="1103555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Oradea</a:t>
            </a:r>
            <a:r>
              <a:rPr kumimoji="0" sz="1459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(280)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4804644" y="6674571"/>
            <a:ext cx="1465743" cy="619361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Timisoara</a:t>
            </a:r>
            <a:r>
              <a:rPr kumimoji="0" sz="1459" b="0" i="0" u="none" strike="noStrike" kern="1200" cap="none" spc="-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(118)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  <a:p>
            <a:pPr marL="597750" marR="0" lvl="0" indent="0" algn="l" defTabSz="1112093" rtl="0" eaLnBrk="1" fontAlgn="auto" latinLnBrk="0" hangingPunct="1"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Arad</a:t>
            </a:r>
            <a:r>
              <a:rPr kumimoji="0" sz="1459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(280)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7EAED9C-EAAE-8E4A-BAB3-B4F270B7E412}"/>
              </a:ext>
            </a:extLst>
          </p:cNvPr>
          <p:cNvSpPr/>
          <p:nvPr/>
        </p:nvSpPr>
        <p:spPr>
          <a:xfrm>
            <a:off x="897466" y="4927598"/>
            <a:ext cx="5646913" cy="1202267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9619019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604" y="819272"/>
            <a:ext cx="7687473" cy="728599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15446">
              <a:spcBef>
                <a:spcPts val="152"/>
              </a:spcBef>
            </a:pPr>
            <a:r>
              <a:rPr spc="-85" dirty="0"/>
              <a:t>Uniform-cost</a:t>
            </a:r>
            <a:r>
              <a:rPr spc="261" dirty="0"/>
              <a:t> </a:t>
            </a:r>
            <a:r>
              <a:rPr spc="-213" dirty="0"/>
              <a:t>search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7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/>
                <a:ea typeface="+mn-ea"/>
                <a:cs typeface="Arial"/>
                <a:sym typeface="Palatino"/>
              </a:defRPr>
            </a:lvl1pPr>
            <a:lvl2pPr marL="0" marR="0" indent="228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2pPr>
            <a:lvl3pPr marL="0" marR="0" indent="457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3pPr>
            <a:lvl4pPr marL="0" marR="0" indent="685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4pPr>
            <a:lvl5pPr marL="0" marR="0" indent="9144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5pPr>
            <a:lvl6pPr marL="0" marR="0" indent="11430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6pPr>
            <a:lvl7pPr marL="0" marR="0" indent="13716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7pPr>
            <a:lvl8pPr marL="0" marR="0" indent="16002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8pPr>
            <a:lvl9pPr marL="0" marR="0" indent="182880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Palatino"/>
              </a:defRPr>
            </a:lvl9pPr>
          </a:lstStyle>
          <a:p>
            <a:pPr marL="15446" marR="0" lvl="0" indent="0" algn="l" defTabSz="1112093" rtl="0" eaLnBrk="1" fontAlgn="auto" latinLnBrk="0" hangingPunct="1">
              <a:lnSpc>
                <a:spcPts val="10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6"/>
              <a:t>Nau: </a:t>
            </a:r>
            <a:r>
              <a:rPr lang="en-US" spc="-24"/>
              <a:t>CMSC</a:t>
            </a:r>
            <a:r>
              <a:rPr lang="en-US" spc="-91"/>
              <a:t> </a:t>
            </a:r>
            <a:r>
              <a:rPr lang="en-US" spc="-30"/>
              <a:t>421</a:t>
            </a:r>
            <a:endParaRPr kumimoji="0" sz="973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8168" y="1686246"/>
            <a:ext cx="332302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4055" y="2024773"/>
            <a:ext cx="2419480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4055" y="2343846"/>
            <a:ext cx="4757872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81112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46779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80196" y="1853953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Neamt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72356" y="2204767"/>
            <a:ext cx="52899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27255" y="3709023"/>
            <a:ext cx="800058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53965" y="4210434"/>
            <a:ext cx="47416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75633" y="4749455"/>
            <a:ext cx="6826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94852" y="5526667"/>
            <a:ext cx="62861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94771" y="2981951"/>
            <a:ext cx="42937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50616" y="3013294"/>
            <a:ext cx="655646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54724" y="4143227"/>
            <a:ext cx="519729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613617" y="3320432"/>
            <a:ext cx="366050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Vasl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62201" y="2480554"/>
            <a:ext cx="302725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Iasi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05082" y="5115102"/>
            <a:ext cx="827087" cy="212124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28184" y="1590543"/>
            <a:ext cx="1043319" cy="400317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466461" marR="0" lvl="0" indent="0" algn="l" defTabSz="1112093" rtl="0" eaLnBrk="1" fontAlgn="auto" latinLnBrk="0" hangingPunct="1">
              <a:lnSpc>
                <a:spcPts val="1453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ts val="14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73412" y="2348444"/>
            <a:ext cx="559886" cy="537672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0" marR="6178" lvl="0" indent="0" algn="r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53301" y="3243221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46211" y="4117105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38991" y="4482849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08960" y="4943798"/>
            <a:ext cx="719743" cy="561237"/>
          </a:xfrm>
          <a:prstGeom prst="rect">
            <a:avLst/>
          </a:prstGeom>
        </p:spPr>
        <p:txBody>
          <a:bodyPr vert="horz" wrap="square" lIns="0" tIns="90354" rIns="0" bIns="0" rtlCol="0">
            <a:spAutoFit/>
          </a:bodyPr>
          <a:lstStyle/>
          <a:p>
            <a:pPr marL="0" marR="6178" lvl="0" indent="0" algn="r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75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5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08094" y="5248844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120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47665" y="2277128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151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96697" y="274707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00544" y="3083044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99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656563" y="3434247"/>
            <a:ext cx="1315925" cy="409432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41329" marR="0" lvl="0" indent="0" algn="l" defTabSz="1112093" rtl="0" eaLnBrk="1" fontAlgn="auto" latinLnBrk="0" hangingPunct="1">
              <a:lnSpc>
                <a:spcPct val="100000"/>
              </a:lnSpc>
              <a:spcBef>
                <a:spcPts val="3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1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433534" y="1662182"/>
            <a:ext cx="9576675" cy="68926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08372" y="4226469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234263" y="4730855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101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507284" y="407790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211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11039" y="5027243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138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64054" y="467969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146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308759" y="4661025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85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789774" y="5321572"/>
            <a:ext cx="610083" cy="566696"/>
          </a:xfrm>
          <a:prstGeom prst="rect">
            <a:avLst/>
          </a:prstGeom>
        </p:spPr>
        <p:txBody>
          <a:bodyPr vert="horz" wrap="square" lIns="0" tIns="95760" rIns="0" bIns="0" rtlCol="0">
            <a:spAutoFit/>
          </a:bodyPr>
          <a:lstStyle/>
          <a:p>
            <a:pPr marL="134377" marR="0" lvl="0" indent="0" algn="l" defTabSz="1112093" rtl="0" eaLnBrk="1" fontAlgn="auto" latinLnBrk="0" hangingPunct="1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90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Giurgiu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706711" y="4444306"/>
            <a:ext cx="783068" cy="532037"/>
          </a:xfrm>
          <a:prstGeom prst="rect">
            <a:avLst/>
          </a:prstGeom>
        </p:spPr>
        <p:txBody>
          <a:bodyPr vert="horz" wrap="square" lIns="0" tIns="74137" rIns="0" bIns="0" rtlCol="0">
            <a:spAutoFit/>
          </a:bodyPr>
          <a:lstStyle/>
          <a:p>
            <a:pPr marL="0" marR="6178" lvl="0" indent="0" algn="r" defTabSz="1112093" rtl="0" eaLnBrk="1" fontAlgn="auto" latinLnBrk="0" hangingPunct="1">
              <a:lnSpc>
                <a:spcPct val="100000"/>
              </a:lnSpc>
              <a:spcBef>
                <a:spcPts val="5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98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Urziceni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248831" y="3984046"/>
            <a:ext cx="27569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142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357041" y="2858513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92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590343" y="2164910"/>
            <a:ext cx="193836" cy="21290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87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96004" y="5945951"/>
            <a:ext cx="675724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Arad</a:t>
            </a:r>
            <a:r>
              <a:rPr kumimoji="0" sz="1459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804645" y="6678644"/>
            <a:ext cx="1299708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Timisoara</a:t>
            </a:r>
            <a:r>
              <a:rPr kumimoji="0" sz="1459" b="0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(118)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182746" y="6678644"/>
            <a:ext cx="916669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Zerind</a:t>
            </a:r>
            <a:r>
              <a:rPr kumimoji="0" sz="1459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(75)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973677" y="7469486"/>
            <a:ext cx="1103555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Oradea</a:t>
            </a:r>
            <a:r>
              <a:rPr kumimoji="0" sz="1459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(146)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780446" y="6678644"/>
            <a:ext cx="906629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Sibiu</a:t>
            </a:r>
            <a:r>
              <a:rPr kumimoji="0" sz="1459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(140)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617916" y="7469486"/>
            <a:ext cx="951420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Lugoj</a:t>
            </a:r>
            <a:r>
              <a:rPr kumimoji="0" sz="1459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(229)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227511" y="7469486"/>
            <a:ext cx="1709776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Rimnicu </a:t>
            </a:r>
            <a:r>
              <a:rPr kumimoji="0" sz="1459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Vilcea</a:t>
            </a:r>
            <a:r>
              <a:rPr kumimoji="0" sz="1459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(220)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17551" y="7469486"/>
            <a:ext cx="1158385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Fagaras</a:t>
            </a:r>
            <a:r>
              <a:rPr kumimoji="0" sz="1459" b="0" i="0" u="none" strike="noStrike" kern="1200" cap="none" spc="-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(239)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071927" y="8248698"/>
            <a:ext cx="906629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Sibiu</a:t>
            </a:r>
            <a:r>
              <a:rPr kumimoji="0" sz="1459" b="0" i="0" u="none" strike="noStrike" kern="1200" cap="none" spc="-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(297)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194282" y="7469486"/>
            <a:ext cx="1103555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Oradea</a:t>
            </a:r>
            <a:r>
              <a:rPr kumimoji="0" sz="1459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(280)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426855" y="8248698"/>
            <a:ext cx="1020151" cy="240924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Zerind</a:t>
            </a:r>
            <a:r>
              <a:rPr kumimoji="0" sz="1459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 </a:t>
            </a:r>
            <a:r>
              <a:rPr kumimoji="0" sz="145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/>
                <a:ea typeface="+mn-ea"/>
                <a:cs typeface="Helvetica Neue"/>
                <a:sym typeface="Palatino"/>
              </a:rPr>
              <a:t>(221)</a:t>
            </a:r>
            <a:endParaRPr kumimoji="0" sz="145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/>
              <a:ea typeface="+mn-ea"/>
              <a:cs typeface="Helvetica Neue"/>
              <a:sym typeface="Palatino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50269" y="4900701"/>
            <a:ext cx="5313125" cy="1552677"/>
          </a:xfrm>
          <a:prstGeom prst="rect">
            <a:avLst/>
          </a:prstGeom>
        </p:spPr>
        <p:txBody>
          <a:bodyPr vert="horz" wrap="square" lIns="0" tIns="105799" rIns="0" bIns="0" rtlCol="0">
            <a:spAutoFit/>
          </a:bodyPr>
          <a:lstStyle/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83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 node with minimum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r>
              <a:rPr kumimoji="0" sz="2493" b="0" i="1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value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776148" marR="0" lvl="1" indent="-332856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776148" algn="l"/>
                <a:tab pos="776921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priority queue, ordered by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r>
              <a:rPr kumimoji="0" sz="2493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values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1575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On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solvable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problems,</a:t>
            </a:r>
            <a:r>
              <a:rPr kumimoji="0" sz="2493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guaranteed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495520" y="6423761"/>
            <a:ext cx="3019523" cy="401566"/>
          </a:xfrm>
          <a:prstGeom prst="rect">
            <a:avLst/>
          </a:prstGeom>
        </p:spPr>
        <p:txBody>
          <a:bodyPr vert="horz" wrap="square" lIns="0" tIns="1776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 </a:t>
            </a:r>
            <a:r>
              <a:rPr kumimoji="0" sz="2493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find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optimal</a:t>
            </a:r>
            <a:r>
              <a:rPr kumimoji="0" sz="2493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22317653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1DC1A8-47F6-0527-B873-ACC0C0C552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88" b="2120"/>
          <a:stretch/>
        </p:blipFill>
        <p:spPr>
          <a:xfrm>
            <a:off x="7122694" y="625642"/>
            <a:ext cx="5785854" cy="8934471"/>
          </a:xfrm>
          <a:prstGeom prst="rect">
            <a:avLst/>
          </a:prstGeom>
        </p:spPr>
      </p:pic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F0E4EB9-61DA-E145-7ED9-A1AF9B4873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95"/>
          <a:stretch/>
        </p:blipFill>
        <p:spPr>
          <a:xfrm>
            <a:off x="82890" y="208546"/>
            <a:ext cx="6911467" cy="935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359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10B0D-1159-12EA-03B4-CCD6798D1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9B5524-BCCB-FB1F-FE57-85733F2796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93763" y="2597150"/>
          <a:ext cx="11216640" cy="4005072"/>
        </p:xfrm>
        <a:graphic>
          <a:graphicData uri="http://schemas.openxmlformats.org/drawingml/2006/table">
            <a:tbl>
              <a:tblPr firstRow="1" bandRow="1">
                <a:tableStyleId>{33BA23B1-9221-436E-865A-0063620EA4FD}</a:tableStyleId>
              </a:tblPr>
              <a:tblGrid>
                <a:gridCol w="2243328">
                  <a:extLst>
                    <a:ext uri="{9D8B030D-6E8A-4147-A177-3AD203B41FA5}">
                      <a16:colId xmlns:a16="http://schemas.microsoft.com/office/drawing/2014/main" val="3544019128"/>
                    </a:ext>
                  </a:extLst>
                </a:gridCol>
                <a:gridCol w="2243328">
                  <a:extLst>
                    <a:ext uri="{9D8B030D-6E8A-4147-A177-3AD203B41FA5}">
                      <a16:colId xmlns:a16="http://schemas.microsoft.com/office/drawing/2014/main" val="1415641076"/>
                    </a:ext>
                  </a:extLst>
                </a:gridCol>
                <a:gridCol w="2243328">
                  <a:extLst>
                    <a:ext uri="{9D8B030D-6E8A-4147-A177-3AD203B41FA5}">
                      <a16:colId xmlns:a16="http://schemas.microsoft.com/office/drawing/2014/main" val="1635522472"/>
                    </a:ext>
                  </a:extLst>
                </a:gridCol>
                <a:gridCol w="2243328">
                  <a:extLst>
                    <a:ext uri="{9D8B030D-6E8A-4147-A177-3AD203B41FA5}">
                      <a16:colId xmlns:a16="http://schemas.microsoft.com/office/drawing/2014/main" val="724054620"/>
                    </a:ext>
                  </a:extLst>
                </a:gridCol>
                <a:gridCol w="2243328">
                  <a:extLst>
                    <a:ext uri="{9D8B030D-6E8A-4147-A177-3AD203B41FA5}">
                      <a16:colId xmlns:a16="http://schemas.microsoft.com/office/drawing/2014/main" val="127024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Optimal?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Running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456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all costs are same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2468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601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With cycle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2774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Iterative Deepening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3004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all costs are same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35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48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UCS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all costs are 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all costs are 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645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36324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89545-F493-82B8-34F7-0D5955B1F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F0FA0D0E-29CF-4A26-16D9-1C2E6A6D21CA}"/>
              </a:ext>
            </a:extLst>
          </p:cNvPr>
          <p:cNvSpPr txBox="1"/>
          <p:nvPr/>
        </p:nvSpPr>
        <p:spPr>
          <a:xfrm>
            <a:off x="12124659" y="8779485"/>
            <a:ext cx="154451" cy="30490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97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sz="97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8B1B07C-072D-CC2C-526C-CD3E3A8ADE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0269" y="819272"/>
            <a:ext cx="7353425" cy="728599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15446">
              <a:spcBef>
                <a:spcPts val="152"/>
              </a:spcBef>
            </a:pPr>
            <a:r>
              <a:rPr spc="-79" dirty="0"/>
              <a:t>Heuristic</a:t>
            </a:r>
            <a:r>
              <a:rPr spc="261" dirty="0"/>
              <a:t> </a:t>
            </a:r>
            <a:r>
              <a:rPr spc="-164" dirty="0"/>
              <a:t>Search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CC3C87F-8ACC-82C9-9839-DD7713B43EE7}"/>
              </a:ext>
            </a:extLst>
          </p:cNvPr>
          <p:cNvSpPr txBox="1"/>
          <p:nvPr/>
        </p:nvSpPr>
        <p:spPr>
          <a:xfrm>
            <a:off x="1050269" y="1805682"/>
            <a:ext cx="11228841" cy="1855384"/>
          </a:xfrm>
          <a:prstGeom prst="rect">
            <a:avLst/>
          </a:prstGeom>
        </p:spPr>
        <p:txBody>
          <a:bodyPr vert="horz" wrap="square" lIns="0" tIns="191520" rIns="0" bIns="0" rtlCol="0">
            <a:spAutoFit/>
          </a:bodyPr>
          <a:lstStyle/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1399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Can sometimes do much better on the </a:t>
            </a:r>
            <a:r>
              <a:rPr kumimoji="0" sz="32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average,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using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heuristics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Tx/>
              <a:buSzTx/>
              <a:buFont typeface="Menlo"/>
              <a:buChar char="•"/>
              <a:tabLst/>
              <a:defRPr/>
            </a:pPr>
            <a:endParaRPr kumimoji="0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6"/>
              </a:spcBef>
              <a:spcAft>
                <a:spcPts val="0"/>
              </a:spcAft>
              <a:buClr>
                <a:srgbClr val="000000"/>
              </a:buClr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Heuristic</a:t>
            </a:r>
            <a:r>
              <a:rPr kumimoji="0" lang="en-US" sz="3200" b="0" i="0" u="none" strike="noStrike" kern="1200" cap="none" spc="6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?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9295009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2124659" y="8779485"/>
            <a:ext cx="154451" cy="30490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97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sz="97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269" y="819272"/>
            <a:ext cx="7353425" cy="728599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15446">
              <a:spcBef>
                <a:spcPts val="152"/>
              </a:spcBef>
            </a:pPr>
            <a:r>
              <a:rPr spc="-79" dirty="0"/>
              <a:t>Heuristic</a:t>
            </a:r>
            <a:r>
              <a:rPr spc="261" dirty="0"/>
              <a:t> </a:t>
            </a:r>
            <a:r>
              <a:rPr spc="-164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0269" y="1805682"/>
            <a:ext cx="11228841" cy="6540897"/>
          </a:xfrm>
          <a:prstGeom prst="rect">
            <a:avLst/>
          </a:prstGeom>
        </p:spPr>
        <p:txBody>
          <a:bodyPr vert="horz" wrap="square" lIns="0" tIns="191520" rIns="0" bIns="0" rtlCol="0">
            <a:spAutoFit/>
          </a:bodyPr>
          <a:lstStyle/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1399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Can sometimes do much better on the </a:t>
            </a:r>
            <a:r>
              <a:rPr kumimoji="0" sz="32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average,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using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heuristics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Tx/>
              <a:buSzTx/>
              <a:buFont typeface="Menlo"/>
              <a:buChar char="•"/>
              <a:tabLst/>
              <a:defRPr/>
            </a:pPr>
            <a:endParaRPr kumimoji="0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6"/>
              </a:spcBef>
              <a:spcAft>
                <a:spcPts val="0"/>
              </a:spcAft>
              <a:buClr>
                <a:srgbClr val="000000"/>
              </a:buClr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Heuristic: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an educated</a:t>
            </a:r>
            <a:r>
              <a:rPr kumimoji="0" sz="3200" b="0" i="0" u="none" strike="noStrike" kern="1200" cap="none" spc="13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guess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1393"/>
              </a:spcBef>
              <a:spcAft>
                <a:spcPts val="0"/>
              </a:spcAft>
              <a:buClr>
                <a:srgbClr val="000000"/>
              </a:buClr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3200" b="0" i="1" u="none" strike="noStrike" kern="1200" cap="none" spc="6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Heuristic function </a:t>
            </a:r>
            <a:r>
              <a:rPr kumimoji="0" sz="3200" b="0" i="1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h</a:t>
            </a:r>
            <a:r>
              <a:rPr kumimoji="0" sz="3200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(</a:t>
            </a:r>
            <a:r>
              <a:rPr kumimoji="0" sz="3200" b="0" i="1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3200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)</a:t>
            </a:r>
            <a:r>
              <a:rPr kumimoji="0" sz="3200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,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where </a:t>
            </a:r>
            <a:r>
              <a:rPr kumimoji="0" sz="3200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</a:t>
            </a:r>
            <a:r>
              <a:rPr kumimoji="0" sz="32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state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1107460" marR="0" lvl="1" indent="-325905" algn="l" defTabSz="1112093" rtl="0" eaLnBrk="1" fontAlgn="auto" latinLnBrk="0" hangingPunct="1">
              <a:lnSpc>
                <a:spcPct val="100000"/>
              </a:lnSpc>
              <a:spcBef>
                <a:spcPts val="718"/>
              </a:spcBef>
              <a:spcAft>
                <a:spcPts val="0"/>
              </a:spcAft>
              <a:buClrTx/>
              <a:buSzPct val="68292"/>
              <a:buFont typeface="Menlo"/>
              <a:buChar char="•"/>
              <a:tabLst>
                <a:tab pos="1107460" algn="l"/>
                <a:tab pos="1108232" algn="l"/>
              </a:tabLst>
              <a:defRPr/>
            </a:pP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estimate of </a:t>
            </a:r>
            <a:r>
              <a:rPr kumimoji="0" sz="3200" b="0" i="1" u="none" strike="noStrike" kern="1200" cap="none" spc="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h</a:t>
            </a:r>
            <a:r>
              <a:rPr kumimoji="0" sz="3200" b="0" i="1" u="none" strike="noStrike" kern="1200" cap="none" spc="63" normalizeH="0" baseline="2976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∗</a:t>
            </a:r>
            <a:r>
              <a:rPr kumimoji="0" sz="3200" b="0" i="0" u="none" strike="noStrike" kern="1200" cap="none" spc="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(</a:t>
            </a:r>
            <a:r>
              <a:rPr kumimoji="0" sz="3200" b="0" i="1" u="none" strike="noStrike" kern="1200" cap="none" spc="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3200" b="0" i="0" u="none" strike="noStrike" kern="1200" cap="none" spc="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) </a:t>
            </a:r>
            <a:r>
              <a:rPr kumimoji="0" sz="3200" b="0" i="0" u="none" strike="noStrike" kern="1200" cap="none" spc="49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3200" b="0" i="0" u="none" strike="noStrike" kern="1200" cap="none" spc="-29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smallest possible cost of going from </a:t>
            </a:r>
            <a:r>
              <a:rPr kumimoji="0" sz="3200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 goal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776148" marR="0" lvl="0" indent="-332856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776148" algn="l"/>
                <a:tab pos="776921" algn="l"/>
              </a:tabLst>
              <a:defRPr/>
            </a:pP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Use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it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when choosing which node to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</a:t>
            </a:r>
            <a:r>
              <a:rPr kumimoji="0" sz="3200" b="0" i="0" u="none" strike="noStrike" kern="1200" cap="none" spc="-3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32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next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1597862" lvl="0" indent="-399272" algn="l" defTabSz="1112093" rtl="0" eaLnBrk="1" fontAlgn="auto" latinLnBrk="0" hangingPunct="1">
              <a:lnSpc>
                <a:spcPct val="10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3200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good heuristic function can reduce the amount of</a:t>
            </a:r>
            <a:r>
              <a:rPr kumimoji="0" sz="32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search by leading you </a:t>
            </a:r>
            <a:r>
              <a:rPr kumimoji="0" sz="320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toward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</a:t>
            </a:r>
            <a:r>
              <a:rPr kumimoji="0" sz="3200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goal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0" lvl="0" indent="-400045" algn="l" defTabSz="1112093" rtl="0" eaLnBrk="1" fontAlgn="auto" latinLnBrk="0" hangingPunct="1">
              <a:lnSpc>
                <a:spcPct val="100000"/>
              </a:lnSpc>
              <a:spcBef>
                <a:spcPts val="139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3200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bad one can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make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you go in the wrong</a:t>
            </a:r>
            <a:r>
              <a:rPr kumimoji="0" sz="3200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3200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direction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40323145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B1A07-2F0C-5442-BE83-9DCE19981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DC070-D5DE-2C4D-BFC7-184EE2EB3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Is a </a:t>
            </a:r>
            <a:r>
              <a:rPr lang="en-US" i="1" dirty="0"/>
              <a:t>systematic guess!</a:t>
            </a:r>
          </a:p>
          <a:p>
            <a:endParaRPr lang="en-US" i="1" dirty="0"/>
          </a:p>
          <a:p>
            <a:r>
              <a:rPr lang="en-US" i="1" dirty="0"/>
              <a:t>g(x)</a:t>
            </a:r>
            <a:r>
              <a:rPr lang="en-US" dirty="0"/>
              <a:t>: minimum cost to reach </a:t>
            </a:r>
            <a:r>
              <a:rPr lang="en-US" i="1" dirty="0"/>
              <a:t>x</a:t>
            </a:r>
            <a:r>
              <a:rPr lang="en-US" dirty="0"/>
              <a:t> from start state</a:t>
            </a:r>
            <a:endParaRPr lang="en-US" i="1" baseline="-25000" dirty="0">
              <a:solidFill>
                <a:srgbClr val="C00000"/>
              </a:solidFill>
            </a:endParaRPr>
          </a:p>
          <a:p>
            <a:r>
              <a:rPr lang="en-US" i="1" dirty="0"/>
              <a:t>h(x)</a:t>
            </a:r>
            <a:r>
              <a:rPr lang="en-US" dirty="0"/>
              <a:t>: </a:t>
            </a:r>
            <a:r>
              <a:rPr lang="en-US" dirty="0">
                <a:solidFill>
                  <a:srgbClr val="C00000"/>
                </a:solidFill>
              </a:rPr>
              <a:t>heuristic</a:t>
            </a:r>
            <a:r>
              <a:rPr lang="en-US" dirty="0"/>
              <a:t> --- guess about the cost to go </a:t>
            </a:r>
            <a:r>
              <a:rPr lang="en-US" dirty="0">
                <a:solidFill>
                  <a:srgbClr val="C00000"/>
                </a:solidFill>
              </a:rPr>
              <a:t>from </a:t>
            </a:r>
            <a:r>
              <a:rPr lang="en-US" i="1" dirty="0">
                <a:solidFill>
                  <a:srgbClr val="C00000"/>
                </a:solidFill>
              </a:rPr>
              <a:t>x</a:t>
            </a:r>
            <a:r>
              <a:rPr lang="en-US" dirty="0">
                <a:solidFill>
                  <a:srgbClr val="C00000"/>
                </a:solidFill>
              </a:rPr>
              <a:t> to </a:t>
            </a:r>
            <a:r>
              <a:rPr lang="en-US" i="1" dirty="0">
                <a:solidFill>
                  <a:srgbClr val="C00000"/>
                </a:solidFill>
              </a:rPr>
              <a:t>G</a:t>
            </a:r>
            <a:endParaRPr lang="en-US" i="1" baseline="-25000" dirty="0">
              <a:solidFill>
                <a:srgbClr val="C00000"/>
              </a:solidFill>
            </a:endParaRPr>
          </a:p>
          <a:p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UCS</a:t>
            </a:r>
            <a:r>
              <a:rPr lang="en-US" sz="3600" dirty="0"/>
              <a:t>: choose node in frontier with lowest </a:t>
            </a:r>
            <a:r>
              <a:rPr lang="en-US" sz="3600" i="1" dirty="0"/>
              <a:t>g(x)</a:t>
            </a:r>
          </a:p>
          <a:p>
            <a:r>
              <a:rPr lang="en-US" sz="3600" dirty="0">
                <a:solidFill>
                  <a:srgbClr val="C00000"/>
                </a:solidFill>
              </a:rPr>
              <a:t>A*</a:t>
            </a:r>
            <a:r>
              <a:rPr lang="en-US" sz="3600" dirty="0"/>
              <a:t>: choose node in frontier with lowest </a:t>
            </a:r>
            <a:r>
              <a:rPr lang="en-US" sz="3600" i="1" dirty="0"/>
              <a:t>g(x)</a:t>
            </a:r>
            <a:r>
              <a:rPr lang="en-US" sz="3600" dirty="0"/>
              <a:t> + </a:t>
            </a:r>
            <a:r>
              <a:rPr lang="en-US" sz="3600" i="1" dirty="0"/>
              <a:t>h(x)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0114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9FD9-0646-8242-9BA7-D5690DC9F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come up with a heuristic?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5DA2-22E6-664A-BF24-E42DDB56D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 always possible -- just use </a:t>
            </a:r>
            <a:r>
              <a:rPr lang="en-US" i="1" dirty="0"/>
              <a:t>h(x) = 0</a:t>
            </a:r>
          </a:p>
          <a:p>
            <a:r>
              <a:rPr lang="en-US" dirty="0"/>
              <a:t>Depending on the specific problem, you may have extra information that you can use</a:t>
            </a:r>
          </a:p>
          <a:p>
            <a:endParaRPr lang="en-US" dirty="0"/>
          </a:p>
          <a:p>
            <a:r>
              <a:rPr lang="en-US" i="1" dirty="0"/>
              <a:t>h(x</a:t>
            </a:r>
            <a:r>
              <a:rPr lang="en-US" i="1" baseline="-25000" dirty="0"/>
              <a:t>i</a:t>
            </a:r>
            <a:r>
              <a:rPr lang="en-US" i="1" dirty="0"/>
              <a:t>) = 0 </a:t>
            </a:r>
            <a:r>
              <a:rPr lang="en-US" dirty="0"/>
              <a:t>(UCS/Dijkstra)</a:t>
            </a:r>
          </a:p>
          <a:p>
            <a:r>
              <a:rPr lang="en-US" i="1" dirty="0"/>
              <a:t>h(x</a:t>
            </a:r>
            <a:r>
              <a:rPr lang="en-US" i="1" baseline="-25000" dirty="0"/>
              <a:t>i</a:t>
            </a:r>
            <a:r>
              <a:rPr lang="en-US" i="1" dirty="0"/>
              <a:t>) </a:t>
            </a:r>
            <a:r>
              <a:rPr lang="en-US" dirty="0"/>
              <a:t>= Euclidean distance from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to </a:t>
            </a:r>
            <a:r>
              <a:rPr lang="en-US" i="1" dirty="0" err="1"/>
              <a:t>x</a:t>
            </a:r>
            <a:r>
              <a:rPr lang="en-US" i="1" baseline="-25000" dirty="0" err="1"/>
              <a:t>G</a:t>
            </a:r>
            <a:endParaRPr lang="en-US" i="1" baseline="-25000" dirty="0"/>
          </a:p>
          <a:p>
            <a:r>
              <a:rPr lang="en-US" sz="2400" i="1" dirty="0">
                <a:hlinkClick r:id="rId2"/>
              </a:rPr>
              <a:t>http://theory.stanford.edu/~amitp/GameProgramming/Heuristics.html</a:t>
            </a:r>
            <a:r>
              <a:rPr lang="en-US" sz="2400" i="1" dirty="0"/>
              <a:t>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7FB8FE-453A-EB4F-A14F-85F9F28CC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616" y="3752603"/>
            <a:ext cx="2863627" cy="243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748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6274" y="819272"/>
            <a:ext cx="9083727" cy="728599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15446">
              <a:spcBef>
                <a:spcPts val="152"/>
              </a:spcBef>
            </a:pPr>
            <a:r>
              <a:rPr lang="en-US" spc="-109" dirty="0"/>
              <a:t>Straight line distance as h(x)</a:t>
            </a:r>
            <a:endParaRPr spc="-73" dirty="0"/>
          </a:p>
        </p:txBody>
      </p:sp>
      <p:sp>
        <p:nvSpPr>
          <p:cNvPr id="3" name="object 3"/>
          <p:cNvSpPr txBox="1"/>
          <p:nvPr/>
        </p:nvSpPr>
        <p:spPr>
          <a:xfrm>
            <a:off x="1096604" y="1633346"/>
            <a:ext cx="7158818" cy="1140188"/>
          </a:xfrm>
          <a:prstGeom prst="rect">
            <a:avLst/>
          </a:prstGeom>
        </p:spPr>
        <p:txBody>
          <a:bodyPr vert="horz" wrap="square" lIns="0" tIns="191520" rIns="0" bIns="0" rtlCol="0">
            <a:spAutoFit/>
          </a:bodyPr>
          <a:lstStyle/>
          <a:p>
            <a:pPr marL="369925" marR="0" lvl="0" indent="-355252" algn="l" defTabSz="1112093" rtl="0" eaLnBrk="1" fontAlgn="auto" latinLnBrk="0" hangingPunct="1">
              <a:lnSpc>
                <a:spcPct val="100000"/>
              </a:lnSpc>
              <a:spcBef>
                <a:spcPts val="1508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370698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Recall that we </a:t>
            </a: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want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 get to</a:t>
            </a:r>
            <a:r>
              <a:rPr kumimoji="0" sz="2493" b="0" i="0" u="none" strike="noStrike" kern="1200" cap="none" spc="-4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Bucharest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13946" marR="0" lvl="0" indent="-399272" algn="l" defTabSz="1112093" rtl="0" eaLnBrk="1" fontAlgn="auto" latinLnBrk="0" hangingPunct="1">
              <a:lnSpc>
                <a:spcPct val="100000"/>
              </a:lnSpc>
              <a:spcBef>
                <a:spcPts val="1399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14718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Let </a:t>
            </a:r>
            <a:r>
              <a:rPr kumimoji="0" sz="2493" b="0" i="1" u="none" strike="noStrike" kern="1200" cap="none" spc="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h</a:t>
            </a:r>
            <a:r>
              <a:rPr kumimoji="0" sz="2493" b="0" i="0" u="none" strike="noStrike" kern="1200" cap="none" spc="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(</a:t>
            </a:r>
            <a:r>
              <a:rPr kumimoji="0" sz="2493" b="0" i="1" u="none" strike="noStrike" kern="1200" cap="none" spc="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493" b="0" i="0" u="none" strike="noStrike" kern="1200" cap="none" spc="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) </a:t>
            </a:r>
            <a:r>
              <a:rPr kumimoji="0" sz="2493" b="0" i="0" u="none" strike="noStrike" kern="1200" cap="none" spc="49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493" b="0" i="0" u="none" strike="noStrike" kern="1200" cap="none" spc="-3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straight-line distance from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 Bucharest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12049" y="2960987"/>
            <a:ext cx="11120494" cy="5436686"/>
          </a:xfrm>
          <a:custGeom>
            <a:avLst/>
            <a:gdLst/>
            <a:ahLst/>
            <a:cxnLst/>
            <a:rect l="l" t="t" r="r" b="b"/>
            <a:pathLst>
              <a:path w="9144000" h="4470400">
                <a:moveTo>
                  <a:pt x="0" y="4470220"/>
                </a:moveTo>
                <a:lnTo>
                  <a:pt x="9144003" y="4470220"/>
                </a:lnTo>
                <a:lnTo>
                  <a:pt x="9144003" y="0"/>
                </a:lnTo>
                <a:lnTo>
                  <a:pt x="0" y="0"/>
                </a:lnTo>
                <a:lnTo>
                  <a:pt x="0" y="44702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06402" y="2942479"/>
            <a:ext cx="1833337" cy="467294"/>
          </a:xfrm>
          <a:prstGeom prst="rect">
            <a:avLst/>
          </a:prstGeom>
        </p:spPr>
        <p:txBody>
          <a:bodyPr vert="horz" wrap="square" lIns="0" tIns="56375" rIns="0" bIns="0" rtlCol="0">
            <a:spAutoFit/>
          </a:bodyPr>
          <a:lstStyle/>
          <a:p>
            <a:pPr marL="15446" marR="6178" lvl="0" indent="0" algn="l" defTabSz="1112093" rtl="0" eaLnBrk="1" fontAlgn="auto" latinLnBrk="0" hangingPunct="1">
              <a:lnSpc>
                <a:spcPts val="1618"/>
              </a:lnSpc>
              <a:spcBef>
                <a:spcPts val="4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Straight−line</a:t>
            </a:r>
            <a:r>
              <a:rPr kumimoji="0" sz="1581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158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distance  to</a:t>
            </a:r>
            <a:r>
              <a:rPr kumimoji="0" sz="15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158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Bucharest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83071" y="4707120"/>
            <a:ext cx="308903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ts val="153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178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85963" y="6662100"/>
            <a:ext cx="206192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ts val="153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98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18073" y="5259980"/>
            <a:ext cx="1544513" cy="1955354"/>
          </a:xfrm>
          <a:custGeom>
            <a:avLst/>
            <a:gdLst/>
            <a:ahLst/>
            <a:cxnLst/>
            <a:rect l="l" t="t" r="r" b="b"/>
            <a:pathLst>
              <a:path w="1270000" h="1607820">
                <a:moveTo>
                  <a:pt x="0" y="0"/>
                </a:moveTo>
                <a:lnTo>
                  <a:pt x="1269916" y="1607577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82176" y="8027104"/>
            <a:ext cx="638656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Giurgiu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93377" y="6917261"/>
            <a:ext cx="695031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Urziceni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90076" y="6726953"/>
            <a:ext cx="657190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Hirsova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33702" y="7891047"/>
            <a:ext cx="515095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Eforie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88019" y="3416259"/>
            <a:ext cx="552934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Neamt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90958" y="3098581"/>
            <a:ext cx="620122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13008" y="3839362"/>
            <a:ext cx="552934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9847" y="4398747"/>
            <a:ext cx="420108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40889" y="5653551"/>
            <a:ext cx="837898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50333" y="6258281"/>
            <a:ext cx="495789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95679" y="6908364"/>
            <a:ext cx="714337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48286" y="7558447"/>
            <a:ext cx="676497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41223" y="7845713"/>
            <a:ext cx="657190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00419" y="4776678"/>
            <a:ext cx="448681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93025" y="4814481"/>
            <a:ext cx="686536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29579" y="6177227"/>
            <a:ext cx="543669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74322" y="5184893"/>
            <a:ext cx="534402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Vaslui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14939" y="4171973"/>
            <a:ext cx="315853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Iasi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08617" y="5562829"/>
            <a:ext cx="1245650" cy="222266"/>
          </a:xfrm>
          <a:prstGeom prst="rect">
            <a:avLst/>
          </a:prstGeom>
        </p:spPr>
        <p:txBody>
          <a:bodyPr vert="horz" wrap="square" lIns="0" tIns="16217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338" b="1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33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875584" y="3834261"/>
            <a:ext cx="1066486" cy="461809"/>
          </a:xfrm>
          <a:custGeom>
            <a:avLst/>
            <a:gdLst/>
            <a:ahLst/>
            <a:cxnLst/>
            <a:rect l="l" t="t" r="r" b="b"/>
            <a:pathLst>
              <a:path w="876934" h="379729">
                <a:moveTo>
                  <a:pt x="876407" y="379156"/>
                </a:moveTo>
                <a:lnTo>
                  <a:pt x="0" y="0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707087" y="5368769"/>
            <a:ext cx="839443" cy="1489683"/>
          </a:xfrm>
          <a:custGeom>
            <a:avLst/>
            <a:gdLst/>
            <a:ahLst/>
            <a:cxnLst/>
            <a:rect l="l" t="t" r="r" b="b"/>
            <a:pathLst>
              <a:path w="690245" h="1224914">
                <a:moveTo>
                  <a:pt x="0" y="1224473"/>
                </a:moveTo>
                <a:lnTo>
                  <a:pt x="689942" y="0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41428" y="4340723"/>
            <a:ext cx="605449" cy="929797"/>
          </a:xfrm>
          <a:custGeom>
            <a:avLst/>
            <a:gdLst/>
            <a:ahLst/>
            <a:cxnLst/>
            <a:rect l="l" t="t" r="r" b="b"/>
            <a:pathLst>
              <a:path w="497840" h="764539">
                <a:moveTo>
                  <a:pt x="497251" y="764521"/>
                </a:moveTo>
                <a:lnTo>
                  <a:pt x="0" y="0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756227" y="6903268"/>
            <a:ext cx="1115138" cy="0"/>
          </a:xfrm>
          <a:custGeom>
            <a:avLst/>
            <a:gdLst/>
            <a:ahLst/>
            <a:cxnLst/>
            <a:rect l="l" t="t" r="r" b="b"/>
            <a:pathLst>
              <a:path w="916940">
                <a:moveTo>
                  <a:pt x="0" y="0"/>
                </a:moveTo>
                <a:lnTo>
                  <a:pt x="916804" y="0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916553" y="6850354"/>
            <a:ext cx="476482" cy="929797"/>
          </a:xfrm>
          <a:custGeom>
            <a:avLst/>
            <a:gdLst/>
            <a:ahLst/>
            <a:cxnLst/>
            <a:rect l="l" t="t" r="r" b="b"/>
            <a:pathLst>
              <a:path w="391795" h="764539">
                <a:moveTo>
                  <a:pt x="0" y="0"/>
                </a:moveTo>
                <a:lnTo>
                  <a:pt x="391575" y="764521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777311" y="6903269"/>
            <a:ext cx="885006" cy="325120"/>
          </a:xfrm>
          <a:custGeom>
            <a:avLst/>
            <a:gdLst/>
            <a:ahLst/>
            <a:cxnLst/>
            <a:rect l="l" t="t" r="r" b="b"/>
            <a:pathLst>
              <a:path w="727710" h="267335">
                <a:moveTo>
                  <a:pt x="0" y="267273"/>
                </a:moveTo>
                <a:lnTo>
                  <a:pt x="727231" y="0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316219" y="7273667"/>
            <a:ext cx="461809" cy="929797"/>
          </a:xfrm>
          <a:custGeom>
            <a:avLst/>
            <a:gdLst/>
            <a:ahLst/>
            <a:cxnLst/>
            <a:rect l="l" t="t" r="r" b="b"/>
            <a:pathLst>
              <a:path w="379729" h="764540">
                <a:moveTo>
                  <a:pt x="379139" y="0"/>
                </a:moveTo>
                <a:lnTo>
                  <a:pt x="0" y="764522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477145" y="6570671"/>
            <a:ext cx="1254917" cy="657963"/>
          </a:xfrm>
          <a:custGeom>
            <a:avLst/>
            <a:gdLst/>
            <a:ahLst/>
            <a:cxnLst/>
            <a:rect l="l" t="t" r="r" b="b"/>
            <a:pathLst>
              <a:path w="1031875" h="541020">
                <a:moveTo>
                  <a:pt x="0" y="0"/>
                </a:moveTo>
                <a:lnTo>
                  <a:pt x="1031792" y="540756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365972" y="6623583"/>
            <a:ext cx="1066486" cy="1300480"/>
          </a:xfrm>
          <a:custGeom>
            <a:avLst/>
            <a:gdLst/>
            <a:ahLst/>
            <a:cxnLst/>
            <a:rect l="l" t="t" r="r" b="b"/>
            <a:pathLst>
              <a:path w="876935" h="1069339">
                <a:moveTo>
                  <a:pt x="0" y="1069081"/>
                </a:moveTo>
                <a:lnTo>
                  <a:pt x="876390" y="0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033359" y="5920581"/>
            <a:ext cx="1353766" cy="650240"/>
          </a:xfrm>
          <a:custGeom>
            <a:avLst/>
            <a:gdLst/>
            <a:ahLst/>
            <a:cxnLst/>
            <a:rect l="l" t="t" r="r" b="b"/>
            <a:pathLst>
              <a:path w="1113154" h="534670">
                <a:moveTo>
                  <a:pt x="0" y="0"/>
                </a:moveTo>
                <a:lnTo>
                  <a:pt x="1112581" y="534547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625168" y="5134427"/>
            <a:ext cx="1572314" cy="91126"/>
          </a:xfrm>
          <a:custGeom>
            <a:avLst/>
            <a:gdLst/>
            <a:ahLst/>
            <a:cxnLst/>
            <a:rect l="l" t="t" r="r" b="b"/>
            <a:pathLst>
              <a:path w="1292860" h="74929">
                <a:moveTo>
                  <a:pt x="0" y="0"/>
                </a:moveTo>
                <a:lnTo>
                  <a:pt x="1292836" y="74595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040910" y="5965951"/>
            <a:ext cx="272605" cy="1912879"/>
          </a:xfrm>
          <a:custGeom>
            <a:avLst/>
            <a:gdLst/>
            <a:ahLst/>
            <a:cxnLst/>
            <a:rect l="l" t="t" r="r" b="b"/>
            <a:pathLst>
              <a:path w="224154" h="1572895">
                <a:moveTo>
                  <a:pt x="223771" y="1572539"/>
                </a:moveTo>
                <a:lnTo>
                  <a:pt x="0" y="0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922164" y="7734769"/>
            <a:ext cx="1391606" cy="143640"/>
          </a:xfrm>
          <a:custGeom>
            <a:avLst/>
            <a:gdLst/>
            <a:ahLst/>
            <a:cxnLst/>
            <a:rect l="l" t="t" r="r" b="b"/>
            <a:pathLst>
              <a:path w="1144270" h="118110">
                <a:moveTo>
                  <a:pt x="0" y="0"/>
                </a:moveTo>
                <a:lnTo>
                  <a:pt x="1143677" y="118099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899486" y="7076113"/>
            <a:ext cx="0" cy="564518"/>
          </a:xfrm>
          <a:custGeom>
            <a:avLst/>
            <a:gdLst/>
            <a:ahLst/>
            <a:cxnLst/>
            <a:rect l="l" t="t" r="r" b="b"/>
            <a:pathLst>
              <a:path h="464185">
                <a:moveTo>
                  <a:pt x="0" y="0"/>
                </a:moveTo>
                <a:lnTo>
                  <a:pt x="0" y="463896"/>
                </a:lnTo>
              </a:path>
            </a:pathLst>
          </a:custGeom>
          <a:ln w="51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602493" y="5134428"/>
            <a:ext cx="386128" cy="695803"/>
          </a:xfrm>
          <a:custGeom>
            <a:avLst/>
            <a:gdLst/>
            <a:ahLst/>
            <a:cxnLst/>
            <a:rect l="l" t="t" r="r" b="b"/>
            <a:pathLst>
              <a:path w="317500" h="572135">
                <a:moveTo>
                  <a:pt x="316995" y="571846"/>
                </a:moveTo>
                <a:lnTo>
                  <a:pt x="0" y="0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712712" y="4529695"/>
            <a:ext cx="1859594" cy="559886"/>
          </a:xfrm>
          <a:custGeom>
            <a:avLst/>
            <a:gdLst/>
            <a:ahLst/>
            <a:cxnLst/>
            <a:rect l="l" t="t" r="r" b="b"/>
            <a:pathLst>
              <a:path w="1529080" h="460375">
                <a:moveTo>
                  <a:pt x="0" y="0"/>
                </a:moveTo>
                <a:lnTo>
                  <a:pt x="1529031" y="459961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362786" y="3274898"/>
            <a:ext cx="1210125" cy="1814803"/>
          </a:xfrm>
          <a:custGeom>
            <a:avLst/>
            <a:gdLst/>
            <a:ahLst/>
            <a:cxnLst/>
            <a:rect l="l" t="t" r="r" b="b"/>
            <a:pathLst>
              <a:path w="995044" h="1492250">
                <a:moveTo>
                  <a:pt x="994497" y="1491737"/>
                </a:moveTo>
                <a:lnTo>
                  <a:pt x="0" y="0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899495" y="6483749"/>
            <a:ext cx="0" cy="564518"/>
          </a:xfrm>
          <a:custGeom>
            <a:avLst/>
            <a:gdLst/>
            <a:ahLst/>
            <a:cxnLst/>
            <a:rect l="l" t="t" r="r" b="b"/>
            <a:pathLst>
              <a:path h="464185">
                <a:moveTo>
                  <a:pt x="0" y="0"/>
                </a:moveTo>
                <a:lnTo>
                  <a:pt x="0" y="463889"/>
                </a:lnTo>
              </a:path>
            </a:pathLst>
          </a:custGeom>
          <a:ln w="51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758072" y="5920581"/>
            <a:ext cx="1119000" cy="468760"/>
          </a:xfrm>
          <a:custGeom>
            <a:avLst/>
            <a:gdLst/>
            <a:ahLst/>
            <a:cxnLst/>
            <a:rect l="l" t="t" r="r" b="b"/>
            <a:pathLst>
              <a:path w="920114" h="385445">
                <a:moveTo>
                  <a:pt x="0" y="0"/>
                </a:moveTo>
                <a:lnTo>
                  <a:pt x="919906" y="385365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690034" y="4624193"/>
            <a:ext cx="0" cy="1260321"/>
          </a:xfrm>
          <a:custGeom>
            <a:avLst/>
            <a:gdLst/>
            <a:ahLst/>
            <a:cxnLst/>
            <a:rect l="l" t="t" r="r" b="b"/>
            <a:pathLst>
              <a:path h="1036320">
                <a:moveTo>
                  <a:pt x="0" y="0"/>
                </a:moveTo>
                <a:lnTo>
                  <a:pt x="0" y="1035737"/>
                </a:lnTo>
              </a:path>
            </a:pathLst>
          </a:custGeom>
          <a:ln w="513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667358" y="3879611"/>
            <a:ext cx="280328" cy="650240"/>
          </a:xfrm>
          <a:custGeom>
            <a:avLst/>
            <a:gdLst/>
            <a:ahLst/>
            <a:cxnLst/>
            <a:rect l="l" t="t" r="r" b="b"/>
            <a:pathLst>
              <a:path w="230505" h="534670">
                <a:moveTo>
                  <a:pt x="229982" y="0"/>
                </a:moveTo>
                <a:lnTo>
                  <a:pt x="0" y="534540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947051" y="3229528"/>
            <a:ext cx="370683" cy="650240"/>
          </a:xfrm>
          <a:custGeom>
            <a:avLst/>
            <a:gdLst/>
            <a:ahLst/>
            <a:cxnLst/>
            <a:rect l="l" t="t" r="r" b="b"/>
            <a:pathLst>
              <a:path w="304800" h="534669">
                <a:moveTo>
                  <a:pt x="304558" y="0"/>
                </a:moveTo>
                <a:lnTo>
                  <a:pt x="0" y="534540"/>
                </a:lnTo>
              </a:path>
            </a:pathLst>
          </a:custGeom>
          <a:ln w="14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263903" y="7833050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263903" y="7833050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942656" y="5826109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942658" y="5826107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263297" y="8108959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6263298" y="8108959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616385" y="6808786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616385" y="6808786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382669" y="6529102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382669" y="6529103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777310" y="3743585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69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777311" y="3743585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69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152104" y="5179800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152104" y="5179800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876801" y="6986428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69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876801" y="6986428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69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827665" y="7640280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69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2827665" y="7640280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69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2827665" y="6343906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69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827665" y="6343906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69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618221" y="4484349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69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618221" y="4484348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69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663573" y="5826109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69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663573" y="5826107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69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901682" y="3830509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69" h="115569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901683" y="3830509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69" h="115569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2268305" y="3180406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69" h="115569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2268305" y="3180405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69" h="115569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3526895" y="5043751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69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3526897" y="5043751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69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9339844" y="7738561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9339845" y="7738560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8871201" y="6808786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8871201" y="6808786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8471847" y="5257909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8471849" y="5257908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7888504" y="4246271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7888505" y="4246270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6686591" y="7179176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6686592" y="7179175"/>
            <a:ext cx="140551" cy="140551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0" y="114987"/>
                </a:moveTo>
                <a:lnTo>
                  <a:pt x="114987" y="114987"/>
                </a:lnTo>
                <a:lnTo>
                  <a:pt x="114987" y="0"/>
                </a:lnTo>
                <a:lnTo>
                  <a:pt x="0" y="0"/>
                </a:lnTo>
                <a:lnTo>
                  <a:pt x="0" y="114987"/>
                </a:lnTo>
                <a:close/>
              </a:path>
            </a:pathLst>
          </a:custGeom>
          <a:ln w="282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913527" y="3238969"/>
            <a:ext cx="252528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564998" y="3941872"/>
            <a:ext cx="252528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347208" y="5021011"/>
            <a:ext cx="363733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118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2062273" y="6074953"/>
            <a:ext cx="363733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111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650184" y="6516056"/>
            <a:ext cx="252528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644895" y="7162015"/>
            <a:ext cx="252528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463561" y="7439878"/>
            <a:ext cx="363733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120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028868" y="3855861"/>
            <a:ext cx="363733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151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484982" y="4422637"/>
            <a:ext cx="363733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4412890" y="4827832"/>
            <a:ext cx="252528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99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877437" y="5251397"/>
            <a:ext cx="252528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542934" y="6206856"/>
            <a:ext cx="252528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97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786597" y="6815160"/>
            <a:ext cx="363733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101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115872" y="6027675"/>
            <a:ext cx="363733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211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4914367" y="7172615"/>
            <a:ext cx="363733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138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4254678" y="6753460"/>
            <a:ext cx="363733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146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076087" y="6730942"/>
            <a:ext cx="252528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593910" y="7236801"/>
            <a:ext cx="1041774" cy="643766"/>
          </a:xfrm>
          <a:prstGeom prst="rect">
            <a:avLst/>
          </a:prstGeom>
        </p:spPr>
        <p:txBody>
          <a:bodyPr vert="horz" wrap="square" lIns="0" tIns="100393" rIns="0" bIns="0" rtlCol="0">
            <a:spAutoFit/>
          </a:bodyPr>
          <a:lstStyle/>
          <a:p>
            <a:pPr marL="190755" marR="0" lvl="0" indent="0" algn="l" defTabSz="1112093" rtl="0" eaLnBrk="1" fontAlgn="auto" latinLnBrk="0" hangingPunct="1">
              <a:lnSpc>
                <a:spcPct val="100000"/>
              </a:lnSpc>
              <a:spcBef>
                <a:spcPts val="7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3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</a:t>
            </a:r>
            <a:endParaRPr kumimoji="0" sz="13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82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8266705" y="6540209"/>
            <a:ext cx="252528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8216257" y="5914481"/>
            <a:ext cx="363733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142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340360" y="4557032"/>
            <a:ext cx="252528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92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415691" y="3720517"/>
            <a:ext cx="252528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87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9256065" y="7089033"/>
            <a:ext cx="252528" cy="255744"/>
          </a:xfrm>
          <a:prstGeom prst="rect">
            <a:avLst/>
          </a:prstGeom>
        </p:spPr>
        <p:txBody>
          <a:bodyPr vert="horz" wrap="square" lIns="0" tIns="2162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86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11836447" y="4682784"/>
            <a:ext cx="396168" cy="227816"/>
          </a:xfrm>
          <a:custGeom>
            <a:avLst/>
            <a:gdLst/>
            <a:ahLst/>
            <a:cxnLst/>
            <a:rect l="l" t="t" r="r" b="b"/>
            <a:pathLst>
              <a:path w="325754" h="187325">
                <a:moveTo>
                  <a:pt x="0" y="0"/>
                </a:moveTo>
                <a:lnTo>
                  <a:pt x="325699" y="0"/>
                </a:lnTo>
                <a:lnTo>
                  <a:pt x="325699" y="187276"/>
                </a:lnTo>
                <a:lnTo>
                  <a:pt x="0" y="1872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11826545" y="6653380"/>
            <a:ext cx="396168" cy="227816"/>
          </a:xfrm>
          <a:custGeom>
            <a:avLst/>
            <a:gdLst/>
            <a:ahLst/>
            <a:cxnLst/>
            <a:rect l="l" t="t" r="r" b="b"/>
            <a:pathLst>
              <a:path w="325754" h="187325">
                <a:moveTo>
                  <a:pt x="0" y="0"/>
                </a:moveTo>
                <a:lnTo>
                  <a:pt x="325699" y="0"/>
                </a:lnTo>
                <a:lnTo>
                  <a:pt x="325699" y="187276"/>
                </a:lnTo>
                <a:lnTo>
                  <a:pt x="0" y="1872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graphicFrame>
        <p:nvGraphicFramePr>
          <p:cNvPr id="115" name="object 115"/>
          <p:cNvGraphicFramePr>
            <a:graphicFrameLocks noGrp="1"/>
          </p:cNvGraphicFramePr>
          <p:nvPr/>
        </p:nvGraphicFramePr>
        <p:xfrm>
          <a:off x="10083235" y="3449700"/>
          <a:ext cx="2147646" cy="4892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976">
                <a:tc>
                  <a:txBody>
                    <a:bodyPr/>
                    <a:lstStyle/>
                    <a:p>
                      <a:pPr marL="31750">
                        <a:lnSpc>
                          <a:spcPts val="1355"/>
                        </a:lnSpc>
                      </a:pPr>
                      <a:r>
                        <a:rPr sz="1700" b="1" spc="15" dirty="0">
                          <a:latin typeface="Times New Roman"/>
                          <a:cs typeface="Times New Roman"/>
                        </a:rPr>
                        <a:t>Arad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366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175">
                <a:tc>
                  <a:txBody>
                    <a:bodyPr/>
                    <a:lstStyle/>
                    <a:p>
                      <a:pPr marL="31750">
                        <a:lnSpc>
                          <a:spcPts val="1355"/>
                        </a:lnSpc>
                      </a:pPr>
                      <a:r>
                        <a:rPr sz="1700" b="1" spc="15" dirty="0">
                          <a:latin typeface="Times New Roman"/>
                          <a:cs typeface="Times New Roman"/>
                        </a:rPr>
                        <a:t>Bucharest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760">
                <a:tc>
                  <a:txBody>
                    <a:bodyPr/>
                    <a:lstStyle/>
                    <a:p>
                      <a:pPr marL="31750">
                        <a:lnSpc>
                          <a:spcPts val="1365"/>
                        </a:lnSpc>
                      </a:pPr>
                      <a:r>
                        <a:rPr sz="1700" b="1" spc="10" dirty="0">
                          <a:latin typeface="Times New Roman"/>
                          <a:cs typeface="Times New Roman"/>
                        </a:rPr>
                        <a:t>Craiova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500"/>
                        </a:lnSpc>
                        <a:spcBef>
                          <a:spcPts val="2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160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089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191">
                <a:tc>
                  <a:txBody>
                    <a:bodyPr/>
                    <a:lstStyle/>
                    <a:p>
                      <a:pPr marL="31750">
                        <a:lnSpc>
                          <a:spcPts val="1325"/>
                        </a:lnSpc>
                      </a:pPr>
                      <a:r>
                        <a:rPr sz="1700" b="1" spc="10" dirty="0">
                          <a:latin typeface="Times New Roman"/>
                          <a:cs typeface="Times New Roman"/>
                        </a:rPr>
                        <a:t>Dobreta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178">
                <a:tc>
                  <a:txBody>
                    <a:bodyPr/>
                    <a:lstStyle/>
                    <a:p>
                      <a:pPr marL="31750">
                        <a:lnSpc>
                          <a:spcPts val="1340"/>
                        </a:lnSpc>
                      </a:pPr>
                      <a:r>
                        <a:rPr sz="1700" b="1" spc="15" dirty="0">
                          <a:latin typeface="Times New Roman"/>
                          <a:cs typeface="Times New Roman"/>
                        </a:rPr>
                        <a:t>Eforie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161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058">
                <a:tc>
                  <a:txBody>
                    <a:bodyPr/>
                    <a:lstStyle/>
                    <a:p>
                      <a:pPr marL="31750">
                        <a:lnSpc>
                          <a:spcPts val="1350"/>
                        </a:lnSpc>
                      </a:pPr>
                      <a:r>
                        <a:rPr sz="1700" b="1" spc="15" dirty="0">
                          <a:latin typeface="Times New Roman"/>
                          <a:cs typeface="Times New Roman"/>
                        </a:rPr>
                        <a:t>Fagaras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115" algn="r">
                        <a:lnSpc>
                          <a:spcPts val="1440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176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904">
                <a:tc>
                  <a:txBody>
                    <a:bodyPr/>
                    <a:lstStyle/>
                    <a:p>
                      <a:pPr marL="31750">
                        <a:lnSpc>
                          <a:spcPts val="1390"/>
                        </a:lnSpc>
                      </a:pPr>
                      <a:r>
                        <a:rPr sz="1700" b="1" spc="15" dirty="0">
                          <a:latin typeface="Times New Roman"/>
                          <a:cs typeface="Times New Roman"/>
                        </a:rPr>
                        <a:t>Giurgiu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500"/>
                        </a:lnSpc>
                        <a:spcBef>
                          <a:spcPts val="5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77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723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182">
                <a:tc>
                  <a:txBody>
                    <a:bodyPr/>
                    <a:lstStyle/>
                    <a:p>
                      <a:pPr marL="31750">
                        <a:lnSpc>
                          <a:spcPts val="1325"/>
                        </a:lnSpc>
                      </a:pPr>
                      <a:r>
                        <a:rPr sz="1700" b="1" spc="15" dirty="0">
                          <a:latin typeface="Times New Roman"/>
                          <a:cs typeface="Times New Roman"/>
                        </a:rPr>
                        <a:t>Hirsova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151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182">
                <a:tc>
                  <a:txBody>
                    <a:bodyPr/>
                    <a:lstStyle/>
                    <a:p>
                      <a:pPr marL="31750">
                        <a:lnSpc>
                          <a:spcPts val="1335"/>
                        </a:lnSpc>
                      </a:pP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Iasi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226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188">
                <a:tc>
                  <a:txBody>
                    <a:bodyPr/>
                    <a:lstStyle/>
                    <a:p>
                      <a:pPr marL="31750">
                        <a:lnSpc>
                          <a:spcPts val="1350"/>
                        </a:lnSpc>
                      </a:pPr>
                      <a:r>
                        <a:rPr sz="1700" b="1" spc="15" dirty="0">
                          <a:latin typeface="Times New Roman"/>
                          <a:cs typeface="Times New Roman"/>
                        </a:rPr>
                        <a:t>Lugoj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778">
                <a:tc>
                  <a:txBody>
                    <a:bodyPr/>
                    <a:lstStyle/>
                    <a:p>
                      <a:pPr marL="31750">
                        <a:lnSpc>
                          <a:spcPts val="1365"/>
                        </a:lnSpc>
                      </a:pPr>
                      <a:r>
                        <a:rPr sz="1700" b="1" spc="15" dirty="0">
                          <a:latin typeface="Times New Roman"/>
                          <a:cs typeface="Times New Roman"/>
                        </a:rPr>
                        <a:t>Mehadia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500"/>
                        </a:lnSpc>
                        <a:spcBef>
                          <a:spcPts val="2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61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181">
                <a:tc>
                  <a:txBody>
                    <a:bodyPr/>
                    <a:lstStyle/>
                    <a:p>
                      <a:pPr marL="31750">
                        <a:lnSpc>
                          <a:spcPts val="1325"/>
                        </a:lnSpc>
                      </a:pPr>
                      <a:r>
                        <a:rPr sz="1700" b="1" spc="15" dirty="0">
                          <a:latin typeface="Times New Roman"/>
                          <a:cs typeface="Times New Roman"/>
                        </a:rPr>
                        <a:t>Neamt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234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2182">
                <a:tc>
                  <a:txBody>
                    <a:bodyPr/>
                    <a:lstStyle/>
                    <a:p>
                      <a:pPr marL="31750">
                        <a:lnSpc>
                          <a:spcPts val="1335"/>
                        </a:lnSpc>
                      </a:pPr>
                      <a:r>
                        <a:rPr sz="1700" b="1" spc="15" dirty="0">
                          <a:latin typeface="Times New Roman"/>
                          <a:cs typeface="Times New Roman"/>
                        </a:rPr>
                        <a:t>Oradea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380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5846">
                <a:tc>
                  <a:txBody>
                    <a:bodyPr/>
                    <a:lstStyle/>
                    <a:p>
                      <a:pPr marL="31750">
                        <a:lnSpc>
                          <a:spcPts val="1350"/>
                        </a:lnSpc>
                      </a:pPr>
                      <a:r>
                        <a:rPr sz="1700" b="1" spc="10" dirty="0">
                          <a:latin typeface="Times New Roman"/>
                          <a:cs typeface="Times New Roman"/>
                        </a:rPr>
                        <a:t>Pitesti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" algn="r">
                        <a:lnSpc>
                          <a:spcPts val="141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2356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105">
                <a:tc>
                  <a:txBody>
                    <a:bodyPr/>
                    <a:lstStyle/>
                    <a:p>
                      <a:pPr marL="31750">
                        <a:lnSpc>
                          <a:spcPts val="1340"/>
                        </a:lnSpc>
                      </a:pPr>
                      <a:r>
                        <a:rPr sz="1700" b="1" spc="10" dirty="0">
                          <a:latin typeface="Times New Roman"/>
                          <a:cs typeface="Times New Roman"/>
                        </a:rPr>
                        <a:t>Rimnicu</a:t>
                      </a:r>
                      <a:r>
                        <a:rPr sz="1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10" dirty="0">
                          <a:latin typeface="Times New Roman"/>
                          <a:cs typeface="Times New Roman"/>
                        </a:rPr>
                        <a:t>Vilcea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9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193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2189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10" dirty="0">
                          <a:latin typeface="Times New Roman"/>
                          <a:cs typeface="Times New Roman"/>
                        </a:rPr>
                        <a:t>Sibiu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253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2193">
                <a:tc>
                  <a:txBody>
                    <a:bodyPr/>
                    <a:lstStyle/>
                    <a:p>
                      <a:pPr marL="31750">
                        <a:lnSpc>
                          <a:spcPts val="1335"/>
                        </a:lnSpc>
                      </a:pPr>
                      <a:r>
                        <a:rPr sz="1700" b="1" spc="15" dirty="0">
                          <a:latin typeface="Times New Roman"/>
                          <a:cs typeface="Times New Roman"/>
                        </a:rPr>
                        <a:t>Timisoara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329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2178">
                <a:tc>
                  <a:txBody>
                    <a:bodyPr/>
                    <a:lstStyle/>
                    <a:p>
                      <a:pPr marL="31750">
                        <a:lnSpc>
                          <a:spcPts val="1350"/>
                        </a:lnSpc>
                      </a:pPr>
                      <a:r>
                        <a:rPr sz="1700" b="1" spc="10" dirty="0">
                          <a:latin typeface="Times New Roman"/>
                          <a:cs typeface="Times New Roman"/>
                        </a:rPr>
                        <a:t>Urziceni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80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2191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</a:pPr>
                      <a:r>
                        <a:rPr sz="1700" b="1" spc="10" dirty="0">
                          <a:latin typeface="Times New Roman"/>
                          <a:cs typeface="Times New Roman"/>
                        </a:rPr>
                        <a:t>Vaslui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199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4347">
                <a:tc>
                  <a:txBody>
                    <a:bodyPr/>
                    <a:lstStyle/>
                    <a:p>
                      <a:pPr marL="31750">
                        <a:lnSpc>
                          <a:spcPts val="1375"/>
                        </a:lnSpc>
                      </a:pPr>
                      <a:r>
                        <a:rPr sz="1700" b="1" spc="15" dirty="0">
                          <a:latin typeface="Times New Roman"/>
                          <a:cs typeface="Times New Roman"/>
                        </a:rPr>
                        <a:t>Zerind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535"/>
                        </a:lnSpc>
                        <a:spcBef>
                          <a:spcPts val="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374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545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16" name="object 116"/>
          <p:cNvSpPr txBox="1"/>
          <p:nvPr/>
        </p:nvSpPr>
        <p:spPr>
          <a:xfrm>
            <a:off x="12124659" y="8779485"/>
            <a:ext cx="15445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97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sz="97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28470673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E04C73D-4184-474D-A930-C1D50C584615}"/>
              </a:ext>
            </a:extLst>
          </p:cNvPr>
          <p:cNvSpPr/>
          <p:nvPr/>
        </p:nvSpPr>
        <p:spPr>
          <a:xfrm>
            <a:off x="958653" y="5078285"/>
            <a:ext cx="4139785" cy="3185579"/>
          </a:xfrm>
          <a:prstGeom prst="rect">
            <a:avLst/>
          </a:prstGeom>
          <a:solidFill>
            <a:srgbClr val="DAE3F3">
              <a:alpha val="26275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159" y="819249"/>
            <a:ext cx="7111587" cy="728599"/>
          </a:xfrm>
          <a:prstGeom prst="rect">
            <a:avLst/>
          </a:prstGeom>
        </p:spPr>
        <p:txBody>
          <a:bodyPr vert="horz" wrap="square" lIns="0" tIns="19306" rIns="0" bIns="0" rtlCol="0">
            <a:spAutoFit/>
          </a:bodyPr>
          <a:lstStyle/>
          <a:p>
            <a:pPr marL="30891">
              <a:spcBef>
                <a:spcPts val="152"/>
              </a:spcBef>
            </a:pPr>
            <a:r>
              <a:rPr lang="en-US" spc="-97" dirty="0"/>
              <a:t>A*</a:t>
            </a:r>
            <a:r>
              <a:rPr sz="3740" b="0" i="1" spc="-146" baseline="29810" dirty="0">
                <a:latin typeface="Menlo"/>
                <a:cs typeface="Menlo"/>
              </a:rPr>
              <a:t> </a:t>
            </a:r>
            <a:r>
              <a:rPr spc="-24" dirty="0"/>
              <a:t>tree</a:t>
            </a:r>
            <a:r>
              <a:rPr spc="243" dirty="0"/>
              <a:t> </a:t>
            </a:r>
            <a:r>
              <a:rPr spc="-213" dirty="0"/>
              <a:t>search</a:t>
            </a:r>
            <a:endParaRPr dirty="0">
              <a:latin typeface="Menlo"/>
              <a:cs typeface="Menlo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0269" y="1844906"/>
            <a:ext cx="8835386" cy="1997217"/>
          </a:xfrm>
          <a:prstGeom prst="rect">
            <a:avLst/>
          </a:prstGeom>
        </p:spPr>
        <p:txBody>
          <a:bodyPr vert="horz" wrap="square" lIns="0" tIns="191520" rIns="0" bIns="0" rtlCol="0">
            <a:spAutoFit/>
          </a:bodyPr>
          <a:lstStyle/>
          <a:p>
            <a:pPr marL="429392" marR="0" lvl="0" indent="-399272" algn="l" defTabSz="1112093" rtl="0" eaLnBrk="1" fontAlgn="auto" latinLnBrk="0" hangingPunct="1">
              <a:lnSpc>
                <a:spcPct val="100000"/>
              </a:lnSpc>
              <a:spcBef>
                <a:spcPts val="1399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30164" algn="l"/>
              </a:tabLst>
              <a:defRPr/>
            </a:pPr>
            <a:r>
              <a:rPr kumimoji="0" sz="249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Evaluation</a:t>
            </a:r>
            <a:r>
              <a:rPr kumimoji="0" sz="249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493" b="0" i="0" u="none" strike="noStrike" kern="1200" cap="none" spc="38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</a:t>
            </a:r>
            <a:r>
              <a:rPr kumimoji="0" sz="2493" b="0" i="1" u="none" strike="noStrike" kern="1200" cap="none" spc="-2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(</a:t>
            </a:r>
            <a:r>
              <a:rPr kumimoji="0" sz="2493" b="0" i="1" u="none" strike="noStrike" kern="1200" cap="none" spc="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493" b="0" i="0" u="none" strike="noStrike" kern="1200" cap="none" spc="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)</a:t>
            </a:r>
            <a:r>
              <a:rPr kumimoji="0" sz="2493" b="0" i="0" u="none" strike="noStrike" kern="1200" cap="none" spc="-1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493" b="0" i="0" u="none" strike="noStrike" kern="1200" cap="none" spc="49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=</a:t>
            </a:r>
            <a:r>
              <a:rPr kumimoji="0" sz="2493" b="0" i="0" u="none" strike="noStrike" kern="1200" cap="none" spc="-13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493" b="0" i="1" u="none" strike="noStrike" kern="1200" cap="none" spc="23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r>
              <a:rPr kumimoji="0" sz="2493" b="0" i="0" u="none" strike="noStrike" kern="1200" cap="none" spc="23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(</a:t>
            </a:r>
            <a:r>
              <a:rPr kumimoji="0" sz="2493" b="0" i="1" u="none" strike="noStrike" kern="1200" cap="none" spc="23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493" b="0" i="0" u="none" strike="noStrike" kern="1200" cap="none" spc="23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)+</a:t>
            </a:r>
            <a:r>
              <a:rPr kumimoji="0" sz="2493" b="0" i="0" u="none" strike="noStrike" kern="1200" cap="none" spc="-34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493" b="0" i="1" u="none" strike="noStrike" kern="1200" cap="none" spc="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h</a:t>
            </a:r>
            <a:r>
              <a:rPr kumimoji="0" sz="2493" b="0" i="0" u="none" strike="noStrike" kern="1200" cap="none" spc="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(</a:t>
            </a:r>
            <a:r>
              <a:rPr kumimoji="0" sz="2493" b="0" i="1" u="none" strike="noStrike" kern="1200" cap="none" spc="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493" b="0" i="0" u="none" strike="noStrike" kern="1200" cap="none" spc="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)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  <a:p>
            <a:pPr marL="745257" marR="0" lvl="1" indent="-332856" algn="l" defTabSz="1112093" rtl="0" eaLnBrk="1" fontAlgn="auto" latinLnBrk="0" hangingPunct="1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745257" algn="l"/>
                <a:tab pos="746029" algn="l"/>
              </a:tabLst>
              <a:defRPr/>
            </a:pPr>
            <a:r>
              <a:rPr kumimoji="0" sz="2493" b="0" i="1" u="none" strike="noStrike" kern="1200" cap="none" spc="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</a:t>
            </a:r>
            <a:r>
              <a:rPr kumimoji="0" sz="2493" b="0" i="0" u="none" strike="noStrike" kern="1200" cap="none" spc="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(</a:t>
            </a:r>
            <a:r>
              <a:rPr kumimoji="0" sz="2493" b="0" i="1" u="none" strike="noStrike" kern="1200" cap="none" spc="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493" b="0" i="0" u="none" strike="noStrike" kern="1200" cap="none" spc="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)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= cost of path from root to</a:t>
            </a:r>
            <a:r>
              <a:rPr kumimoji="0" sz="2493" b="0" i="0" u="none" strike="noStrike" kern="1200" cap="none" spc="-18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745257" marR="0" lvl="1" indent="-332856" algn="l" defTabSz="1112093" rtl="0" eaLnBrk="1" fontAlgn="auto" latinLnBrk="0" hangingPunct="1">
              <a:lnSpc>
                <a:spcPct val="100000"/>
              </a:lnSpc>
              <a:spcBef>
                <a:spcPts val="718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745257" algn="l"/>
                <a:tab pos="746029" algn="l"/>
              </a:tabLst>
              <a:defRPr/>
            </a:pPr>
            <a:r>
              <a:rPr kumimoji="0" sz="2493" b="0" i="1" u="none" strike="noStrike" kern="1200" cap="none" spc="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h</a:t>
            </a:r>
            <a:r>
              <a:rPr kumimoji="0" sz="2493" b="0" i="0" u="none" strike="noStrike" kern="1200" cap="none" spc="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(</a:t>
            </a:r>
            <a:r>
              <a:rPr kumimoji="0" sz="2493" b="0" i="1" u="none" strike="noStrike" kern="1200" cap="none" spc="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493" b="0" i="0" u="none" strike="noStrike" kern="1200" cap="none" spc="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)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= estimated cost from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493" b="0" i="0" u="none" strike="noStrike" kern="1200" cap="none" spc="-16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goal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793139" marR="0" lvl="1" indent="-380737" algn="l" defTabSz="1112093" rtl="0" eaLnBrk="1" fontAlgn="auto" latinLnBrk="0" hangingPunct="1">
              <a:lnSpc>
                <a:spcPct val="100000"/>
              </a:lnSpc>
              <a:spcBef>
                <a:spcPts val="718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793139" algn="l"/>
                <a:tab pos="793911" algn="l"/>
              </a:tabLst>
              <a:defRPr/>
            </a:pPr>
            <a:r>
              <a:rPr kumimoji="0" sz="2493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 </a:t>
            </a:r>
            <a:r>
              <a:rPr kumimoji="0" sz="2493" b="0" i="0" u="none" strike="noStrike" kern="1200" cap="none" spc="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(</a:t>
            </a:r>
            <a:r>
              <a:rPr kumimoji="0" sz="2493" b="0" i="1" u="none" strike="noStrike" kern="1200" cap="none" spc="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493" b="0" i="0" u="none" strike="noStrike" kern="1200" cap="none" spc="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)</a:t>
            </a:r>
            <a:r>
              <a:rPr kumimoji="0" sz="2493" b="0" i="0" u="none" strike="noStrike" kern="1200" cap="none" spc="-38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= estimated total cost of path from root, through </a:t>
            </a:r>
            <a:r>
              <a:rPr kumimoji="0" sz="2493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, to goal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0269" y="4259125"/>
            <a:ext cx="4048169" cy="3704203"/>
          </a:xfrm>
          <a:prstGeom prst="rect">
            <a:avLst/>
          </a:prstGeom>
        </p:spPr>
        <p:txBody>
          <a:bodyPr vert="horz" wrap="square" lIns="0" tIns="13128" rIns="0" bIns="0" rtlCol="0">
            <a:spAutoFit/>
          </a:bodyPr>
          <a:lstStyle/>
          <a:p>
            <a:pPr marL="460283" marR="67961" lvl="0" indent="-399272" algn="l" defTabSz="1112093" rtl="0" eaLnBrk="1" fontAlgn="auto" latinLnBrk="0" hangingPunct="1">
              <a:lnSpc>
                <a:spcPct val="101200"/>
              </a:lnSpc>
              <a:spcBef>
                <a:spcPts val="10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Same tree-search</a:t>
            </a:r>
            <a:r>
              <a:rPr kumimoji="0" sz="2493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algorithm  same as</a:t>
            </a:r>
            <a:r>
              <a:rPr kumimoji="0" sz="2493" b="0" i="0" u="none" strike="noStrike" kern="1200" cap="none" spc="-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before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139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</a:t>
            </a:r>
            <a:r>
              <a:rPr kumimoji="0" sz="2554" b="0" i="1" u="none" strike="noStrike" kern="1200" cap="none" spc="-108" normalizeH="0" baseline="2976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∗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</a:t>
            </a:r>
            <a:r>
              <a:rPr kumimoji="0" sz="2493" b="0" i="0" u="none" strike="noStrike" kern="1200" cap="none" spc="-27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selection: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776148" marR="0" lvl="1" indent="-332856" algn="l" defTabSz="1112093" rtl="0" eaLnBrk="1" fontAlgn="auto" latinLnBrk="0" hangingPunct="1">
              <a:lnSpc>
                <a:spcPct val="100000"/>
              </a:lnSpc>
              <a:spcBef>
                <a:spcPts val="718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776148" algn="l"/>
                <a:tab pos="776921" algn="l"/>
              </a:tabLst>
              <a:defRPr/>
            </a:pPr>
            <a:r>
              <a:rPr kumimoji="0" sz="2493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argmin</a:t>
            </a:r>
            <a:r>
              <a:rPr kumimoji="0" sz="2554" b="0" i="1" u="none" strike="noStrike" kern="1200" cap="none" spc="45" normalizeH="0" baseline="-1190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554" b="0" i="1" u="none" strike="noStrike" kern="1200" cap="none" spc="45" normalizeH="0" baseline="-1190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∈</a:t>
            </a:r>
            <a:r>
              <a:rPr kumimoji="0" sz="2554" b="0" i="1" u="none" strike="noStrike" kern="1200" cap="none" spc="45" normalizeH="0" baseline="-1190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493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</a:t>
            </a:r>
            <a:r>
              <a:rPr kumimoji="0" sz="2493" b="0" i="1" u="none" strike="noStrike" kern="1200" cap="none" spc="-5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(</a:t>
            </a:r>
            <a:r>
              <a:rPr kumimoji="0" sz="2493" b="0" i="1" u="none" strike="noStrike" kern="1200" cap="none" spc="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493" b="0" i="0" u="none" strike="noStrike" kern="1200" cap="none" spc="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)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  <a:sym typeface="Palatino"/>
            </a:endParaRPr>
          </a:p>
          <a:p>
            <a:pPr marL="776148" marR="0" lvl="1" indent="-332856" algn="l" defTabSz="1112093" rtl="0" eaLnBrk="1" fontAlgn="auto" latinLnBrk="0" hangingPunct="1">
              <a:lnSpc>
                <a:spcPct val="100000"/>
              </a:lnSpc>
              <a:spcBef>
                <a:spcPts val="718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776148" algn="l"/>
                <a:tab pos="776921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tie-breaking:</a:t>
            </a:r>
            <a:r>
              <a:rPr kumimoji="0" sz="2493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oldest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460283" marR="0" lvl="0" indent="-399272" algn="l" defTabSz="1112093" rtl="0" eaLnBrk="1" fontAlgn="auto" latinLnBrk="0" hangingPunct="1">
              <a:lnSpc>
                <a:spcPct val="100000"/>
              </a:lnSpc>
              <a:spcBef>
                <a:spcPts val="1393"/>
              </a:spcBef>
              <a:spcAft>
                <a:spcPts val="0"/>
              </a:spcAft>
              <a:buClrTx/>
              <a:buSzTx/>
              <a:buFont typeface="Menlo"/>
              <a:buChar char="•"/>
              <a:tabLst>
                <a:tab pos="461055" algn="l"/>
              </a:tabLst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Implementation: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779238" marR="746029" lvl="1" indent="-335173" algn="l" defTabSz="1112093" rtl="0" eaLnBrk="1" fontAlgn="auto" latinLnBrk="0" hangingPunct="1">
              <a:lnSpc>
                <a:spcPct val="101200"/>
              </a:lnSpc>
              <a:spcBef>
                <a:spcPts val="681"/>
              </a:spcBef>
              <a:spcAft>
                <a:spcPts val="0"/>
              </a:spcAft>
              <a:buClrTx/>
              <a:buSzPct val="68292"/>
              <a:buFont typeface="Arial"/>
              <a:buChar char="►"/>
              <a:tabLst>
                <a:tab pos="697375" algn="l"/>
              </a:tabLst>
              <a:defRPr/>
            </a:pPr>
            <a:r>
              <a:rPr kumimoji="0" sz="2493" b="0" i="1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priority  queue, ordered by</a:t>
            </a:r>
            <a:r>
              <a:rPr kumimoji="0" sz="2493" b="0" i="0" u="none" strike="noStrike" kern="1200" cap="none" spc="29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</a:t>
            </a:r>
            <a:endParaRPr kumimoji="0" sz="249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02811" y="4741341"/>
            <a:ext cx="3307575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function</a:t>
            </a:r>
            <a:r>
              <a:rPr kumimoji="0" sz="2068" b="1" i="0" u="none" strike="noStrike" kern="1200" cap="none" spc="3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srgbClr val="F2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Tree-Search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(</a:t>
            </a:r>
            <a:r>
              <a:rPr kumimoji="0" sz="2068" b="0" i="1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problem</a:t>
            </a:r>
            <a:r>
              <a:rPr kumimoji="0" sz="2068" b="0" i="0" u="none" strike="noStrike" kern="1200" cap="none" spc="-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)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8714" y="5079866"/>
            <a:ext cx="2404035" cy="3369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1" u="none" strike="noStrike" kern="1200" cap="none" spc="8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←</a:t>
            </a:r>
            <a:r>
              <a:rPr kumimoji="0" sz="2068" b="0" i="1" u="none" strike="noStrike" kern="1200" cap="none" spc="-74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+mn-ea"/>
                <a:cs typeface="Menlo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[root node]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68715" y="5398939"/>
            <a:ext cx="4742427" cy="2409501"/>
          </a:xfrm>
          <a:prstGeom prst="rect">
            <a:avLst/>
          </a:prstGeom>
        </p:spPr>
        <p:txBody>
          <a:bodyPr vert="horz" wrap="square" lIns="0" tIns="37841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29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loop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65667" marR="19307" lvl="0" indent="0" algn="l" defTabSz="1112093" rtl="0" eaLnBrk="1" fontAlgn="auto" latinLnBrk="0" hangingPunct="1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empty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 </a:t>
            </a: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Failure 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choose and </a:t>
            </a:r>
            <a:r>
              <a:rPr kumimoji="0" sz="20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remove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a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 </a:t>
            </a:r>
            <a:r>
              <a:rPr kumimoji="0" sz="2068" b="0" i="1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from</a:t>
            </a:r>
            <a:r>
              <a:rPr kumimoji="0" sz="2068" b="0" i="0" u="none" strike="noStrike" kern="1200" cap="none" spc="-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  </a:t>
            </a: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if 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Palatino"/>
              </a:rPr>
              <a:t>State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[</a:t>
            </a:r>
            <a:r>
              <a:rPr kumimoji="0" sz="2068" b="0" i="1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]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is a goal</a:t>
            </a:r>
            <a:r>
              <a:rPr kumimoji="0" sz="2068" b="0" i="0" u="none" strike="noStrike" kern="1200" cap="none" spc="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31333" marR="0" lvl="0" indent="0" algn="l" defTabSz="1112093" rtl="0" eaLnBrk="1" fontAlgn="auto" latinLnBrk="0" hangingPunct="1">
              <a:lnSpc>
                <a:spcPct val="100000"/>
              </a:lnSpc>
              <a:spcBef>
                <a:spcPts val="1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return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corresponding</a:t>
            </a:r>
            <a:r>
              <a:rPr kumimoji="0" sz="2068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solution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265667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else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  <a:p>
            <a:pPr marL="531333" marR="0" lvl="0" indent="0" algn="l" defTabSz="1112093" rtl="0" eaLnBrk="1" fontAlgn="auto" latinLnBrk="0" hangingPunct="1">
              <a:lnSpc>
                <a:spcPct val="100000"/>
              </a:lnSpc>
              <a:spcBef>
                <a:spcPts val="18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expand </a:t>
            </a:r>
            <a:r>
              <a:rPr kumimoji="0" sz="2068" b="0" i="1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x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; add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the </a:t>
            </a:r>
            <a:r>
              <a:rPr kumimoji="0" sz="2068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new </a:t>
            </a:r>
            <a:r>
              <a:rPr kumimoji="0" sz="2068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nodes </a:t>
            </a:r>
            <a:r>
              <a:rPr kumimoji="0" sz="2068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to</a:t>
            </a:r>
            <a:r>
              <a:rPr kumimoji="0" sz="2068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068" b="0" i="1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frontier</a:t>
            </a:r>
            <a:endParaRPr kumimoji="0" sz="206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05098" y="4645693"/>
            <a:ext cx="5621255" cy="0"/>
          </a:xfrm>
          <a:custGeom>
            <a:avLst/>
            <a:gdLst/>
            <a:ahLst/>
            <a:cxnLst/>
            <a:rect l="l" t="t" r="r" b="b"/>
            <a:pathLst>
              <a:path w="4622165">
                <a:moveTo>
                  <a:pt x="0" y="0"/>
                </a:moveTo>
                <a:lnTo>
                  <a:pt x="4622076" y="0"/>
                </a:lnTo>
              </a:path>
            </a:pathLst>
          </a:custGeom>
          <a:ln w="12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12788" y="4645694"/>
            <a:ext cx="0" cy="3228032"/>
          </a:xfrm>
          <a:custGeom>
            <a:avLst/>
            <a:gdLst/>
            <a:ahLst/>
            <a:cxnLst/>
            <a:rect l="l" t="t" r="r" b="b"/>
            <a:pathLst>
              <a:path h="2654300">
                <a:moveTo>
                  <a:pt x="0" y="2653753"/>
                </a:moveTo>
                <a:lnTo>
                  <a:pt x="0" y="0"/>
                </a:lnTo>
              </a:path>
            </a:pathLst>
          </a:custGeom>
          <a:ln w="12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618536" y="4645694"/>
            <a:ext cx="0" cy="3228032"/>
          </a:xfrm>
          <a:custGeom>
            <a:avLst/>
            <a:gdLst/>
            <a:ahLst/>
            <a:cxnLst/>
            <a:rect l="l" t="t" r="r" b="b"/>
            <a:pathLst>
              <a:path h="2654300">
                <a:moveTo>
                  <a:pt x="0" y="2653753"/>
                </a:moveTo>
                <a:lnTo>
                  <a:pt x="0" y="0"/>
                </a:lnTo>
              </a:path>
            </a:pathLst>
          </a:custGeom>
          <a:ln w="12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05098" y="7873062"/>
            <a:ext cx="5621255" cy="0"/>
          </a:xfrm>
          <a:custGeom>
            <a:avLst/>
            <a:gdLst/>
            <a:ahLst/>
            <a:cxnLst/>
            <a:rect l="l" t="t" r="r" b="b"/>
            <a:pathLst>
              <a:path w="4622165">
                <a:moveTo>
                  <a:pt x="0" y="0"/>
                </a:moveTo>
                <a:lnTo>
                  <a:pt x="4622076" y="0"/>
                </a:lnTo>
              </a:path>
            </a:pathLst>
          </a:custGeom>
          <a:ln w="12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8C805E-331B-9A46-B2A9-02035345DF6B}"/>
              </a:ext>
            </a:extLst>
          </p:cNvPr>
          <p:cNvSpPr/>
          <p:nvPr/>
        </p:nvSpPr>
        <p:spPr>
          <a:xfrm>
            <a:off x="4025686" y="2145176"/>
            <a:ext cx="2620647" cy="631892"/>
          </a:xfrm>
          <a:prstGeom prst="rect">
            <a:avLst/>
          </a:prstGeom>
          <a:solidFill>
            <a:srgbClr val="DAE3F3">
              <a:alpha val="2627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20214362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6F368E-A80A-6741-81DE-8A98C088F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497" y="5300930"/>
            <a:ext cx="3724442" cy="36857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FEF5CE-167A-EB4A-94FA-EF4274F69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838" y="5300931"/>
            <a:ext cx="3707831" cy="36857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0FA6AF-3322-9147-9691-3424A6376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90" y="5300931"/>
            <a:ext cx="3741020" cy="36857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6668B7-F9E3-F64F-AD13-48AD759B7320}"/>
              </a:ext>
            </a:extLst>
          </p:cNvPr>
          <p:cNvSpPr txBox="1"/>
          <p:nvPr/>
        </p:nvSpPr>
        <p:spPr>
          <a:xfrm>
            <a:off x="546265" y="5486400"/>
            <a:ext cx="64972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 Linotype" panose="02040502050505030304"/>
                <a:ea typeface="+mn-ea"/>
                <a:cs typeface="+mn-cs"/>
                <a:sym typeface="Palatino"/>
              </a:rPr>
              <a:t>A* with straight-line heuristic. </a:t>
            </a:r>
            <a:endParaRPr kumimoji="0" lang="en-US" sz="36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/>
              <a:ea typeface="+mn-ea"/>
              <a:cs typeface="+mn-cs"/>
              <a:sym typeface="Palatin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C82606-1B53-1540-B457-F305988748B4}"/>
              </a:ext>
            </a:extLst>
          </p:cNvPr>
          <p:cNvSpPr/>
          <p:nvPr/>
        </p:nvSpPr>
        <p:spPr>
          <a:xfrm>
            <a:off x="4429838" y="9059767"/>
            <a:ext cx="45191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 Linotype" panose="02040502050505030304"/>
                <a:ea typeface="+mn-ea"/>
                <a:cs typeface="+mn-cs"/>
                <a:sym typeface="Palatino"/>
              </a:rPr>
              <a:t>Blue nodes are frontier.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/>
              <a:ea typeface="+mn-ea"/>
              <a:cs typeface="+mn-cs"/>
              <a:sym typeface="Palatin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0CAEA3-6D04-5E4E-A84D-1DEA4E8B06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10" y="1053212"/>
            <a:ext cx="3026051" cy="30260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735B6E-8118-C94E-95EB-2FBFF48D36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083" y="1053212"/>
            <a:ext cx="3030567" cy="30260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74B016-8C82-4E4C-BE94-A33756DF98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706" y="1053212"/>
            <a:ext cx="3057714" cy="30260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CCD346-A036-2E49-B2AF-B1FD82E9B474}"/>
              </a:ext>
            </a:extLst>
          </p:cNvPr>
          <p:cNvSpPr txBox="1"/>
          <p:nvPr/>
        </p:nvSpPr>
        <p:spPr>
          <a:xfrm>
            <a:off x="652883" y="1053739"/>
            <a:ext cx="2707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 Linotype" panose="02040502050505030304"/>
                <a:ea typeface="+mn-ea"/>
                <a:cs typeface="+mn-cs"/>
                <a:sym typeface="Palatino"/>
              </a:rPr>
              <a:t>No heuristic</a:t>
            </a:r>
            <a:endParaRPr kumimoji="0" lang="en-US" sz="36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16404022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02692" y="591108"/>
            <a:ext cx="1779279" cy="466514"/>
          </a:xfrm>
          <a:prstGeom prst="rect">
            <a:avLst/>
          </a:prstGeom>
        </p:spPr>
        <p:txBody>
          <a:bodyPr vert="horz" wrap="square" lIns="0" tIns="55602" rIns="0" bIns="0" rtlCol="0">
            <a:spAutoFit/>
          </a:bodyPr>
          <a:lstStyle/>
          <a:p>
            <a:pPr marL="15446" marR="6178" lvl="0" indent="0" algn="l" defTabSz="1112093" rtl="0" eaLnBrk="1" fontAlgn="auto" latinLnBrk="0" hangingPunct="1">
              <a:lnSpc>
                <a:spcPts val="1569"/>
              </a:lnSpc>
              <a:spcBef>
                <a:spcPts val="43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Straight−line </a:t>
            </a: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distance  to</a:t>
            </a:r>
            <a:r>
              <a:rPr kumimoji="0" sz="158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Bucharest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26564" y="2303312"/>
            <a:ext cx="29963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ts val="1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178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6371" y="4199685"/>
            <a:ext cx="200014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ts val="1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98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61369" y="2839598"/>
            <a:ext cx="1498178" cy="1896662"/>
          </a:xfrm>
          <a:custGeom>
            <a:avLst/>
            <a:gdLst/>
            <a:ahLst/>
            <a:cxnLst/>
            <a:rect l="l" t="t" r="r" b="b"/>
            <a:pathLst>
              <a:path w="1231900" h="1559560">
                <a:moveTo>
                  <a:pt x="0" y="0"/>
                </a:moveTo>
                <a:lnTo>
                  <a:pt x="1231847" y="1559385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87113" y="5523307"/>
            <a:ext cx="62012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Giurgiu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5003" y="4446735"/>
            <a:ext cx="67495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Urziceni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6834" y="4262133"/>
            <a:ext cx="6386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Hirsova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56153" y="5391328"/>
            <a:ext cx="50042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Eforie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89784" y="1050684"/>
            <a:ext cx="537489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Neamt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5543" y="742531"/>
            <a:ext cx="602360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8922" y="1461105"/>
            <a:ext cx="537489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4936" y="2003721"/>
            <a:ext cx="408524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84962" y="3220909"/>
            <a:ext cx="81395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58150" y="3807510"/>
            <a:ext cx="48188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02136" y="4438104"/>
            <a:ext cx="69348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6141" y="5068700"/>
            <a:ext cx="65641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07343" y="5347354"/>
            <a:ext cx="6386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88748" y="2370322"/>
            <a:ext cx="436325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42603" y="2406992"/>
            <a:ext cx="666457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72066" y="3728886"/>
            <a:ext cx="528223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13545" y="2766300"/>
            <a:ext cx="5189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Vaslui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70929" y="1783744"/>
            <a:ext cx="307357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Iasi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84708" y="3132906"/>
            <a:ext cx="1209354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1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69191" y="1456619"/>
            <a:ext cx="1034051" cy="447909"/>
          </a:xfrm>
          <a:custGeom>
            <a:avLst/>
            <a:gdLst/>
            <a:ahLst/>
            <a:cxnLst/>
            <a:rect l="l" t="t" r="r" b="b"/>
            <a:pathLst>
              <a:path w="850264" h="368300">
                <a:moveTo>
                  <a:pt x="850134" y="367789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175767" y="2945127"/>
            <a:ext cx="813958" cy="1444892"/>
          </a:xfrm>
          <a:custGeom>
            <a:avLst/>
            <a:gdLst/>
            <a:ahLst/>
            <a:cxnLst/>
            <a:rect l="l" t="t" r="r" b="b"/>
            <a:pathLst>
              <a:path w="669290" h="1188085">
                <a:moveTo>
                  <a:pt x="0" y="1187766"/>
                </a:moveTo>
                <a:lnTo>
                  <a:pt x="669259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3082" y="1947898"/>
            <a:ext cx="586915" cy="901996"/>
          </a:xfrm>
          <a:custGeom>
            <a:avLst/>
            <a:gdLst/>
            <a:ahLst/>
            <a:cxnLst/>
            <a:rect l="l" t="t" r="r" b="b"/>
            <a:pathLst>
              <a:path w="482600" h="741680">
                <a:moveTo>
                  <a:pt x="482344" y="741602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223435" y="4433624"/>
            <a:ext cx="1081931" cy="0"/>
          </a:xfrm>
          <a:custGeom>
            <a:avLst/>
            <a:gdLst/>
            <a:ahLst/>
            <a:cxnLst/>
            <a:rect l="l" t="t" r="r" b="b"/>
            <a:pathLst>
              <a:path w="889634">
                <a:moveTo>
                  <a:pt x="0" y="0"/>
                </a:moveTo>
                <a:lnTo>
                  <a:pt x="88932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48975" y="4382297"/>
            <a:ext cx="462582" cy="901996"/>
          </a:xfrm>
          <a:custGeom>
            <a:avLst/>
            <a:gdLst/>
            <a:ahLst/>
            <a:cxnLst/>
            <a:rect l="l" t="t" r="r" b="b"/>
            <a:pathLst>
              <a:path w="380365" h="741679">
                <a:moveTo>
                  <a:pt x="0" y="0"/>
                </a:moveTo>
                <a:lnTo>
                  <a:pt x="379836" y="74160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73865" y="4433625"/>
            <a:ext cx="857977" cy="315853"/>
          </a:xfrm>
          <a:custGeom>
            <a:avLst/>
            <a:gdLst/>
            <a:ahLst/>
            <a:cxnLst/>
            <a:rect l="l" t="t" r="r" b="b"/>
            <a:pathLst>
              <a:path w="705485" h="259714">
                <a:moveTo>
                  <a:pt x="0" y="259261"/>
                </a:moveTo>
                <a:lnTo>
                  <a:pt x="70543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826595" y="4792918"/>
            <a:ext cx="447909" cy="901996"/>
          </a:xfrm>
          <a:custGeom>
            <a:avLst/>
            <a:gdLst/>
            <a:ahLst/>
            <a:cxnLst/>
            <a:rect l="l" t="t" r="r" b="b"/>
            <a:pathLst>
              <a:path w="368300" h="741679">
                <a:moveTo>
                  <a:pt x="367773" y="0"/>
                </a:moveTo>
                <a:lnTo>
                  <a:pt x="0" y="741603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012675" y="4110998"/>
            <a:ext cx="1217847" cy="638656"/>
          </a:xfrm>
          <a:custGeom>
            <a:avLst/>
            <a:gdLst/>
            <a:ahLst/>
            <a:cxnLst/>
            <a:rect l="l" t="t" r="r" b="b"/>
            <a:pathLst>
              <a:path w="1001395" h="525145">
                <a:moveTo>
                  <a:pt x="0" y="0"/>
                </a:moveTo>
                <a:lnTo>
                  <a:pt x="1000861" y="52454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934811" y="4162324"/>
            <a:ext cx="1034051" cy="1261867"/>
          </a:xfrm>
          <a:custGeom>
            <a:avLst/>
            <a:gdLst/>
            <a:ahLst/>
            <a:cxnLst/>
            <a:rect l="l" t="t" r="r" b="b"/>
            <a:pathLst>
              <a:path w="850264" h="1037589">
                <a:moveTo>
                  <a:pt x="0" y="1037033"/>
                </a:moveTo>
                <a:lnTo>
                  <a:pt x="850118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612169" y="3480396"/>
            <a:ext cx="1312836" cy="630934"/>
          </a:xfrm>
          <a:custGeom>
            <a:avLst/>
            <a:gdLst/>
            <a:ahLst/>
            <a:cxnLst/>
            <a:rect l="l" t="t" r="r" b="b"/>
            <a:pathLst>
              <a:path w="1079500" h="518794">
                <a:moveTo>
                  <a:pt x="0" y="0"/>
                </a:moveTo>
                <a:lnTo>
                  <a:pt x="1079228" y="51852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216215" y="2717809"/>
            <a:ext cx="1525207" cy="88037"/>
          </a:xfrm>
          <a:custGeom>
            <a:avLst/>
            <a:gdLst/>
            <a:ahLst/>
            <a:cxnLst/>
            <a:rect l="l" t="t" r="r" b="b"/>
            <a:pathLst>
              <a:path w="1254125" h="72389">
                <a:moveTo>
                  <a:pt x="0" y="0"/>
                </a:moveTo>
                <a:lnTo>
                  <a:pt x="1254080" y="72359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619493" y="3524406"/>
            <a:ext cx="264112" cy="1855732"/>
          </a:xfrm>
          <a:custGeom>
            <a:avLst/>
            <a:gdLst/>
            <a:ahLst/>
            <a:cxnLst/>
            <a:rect l="l" t="t" r="r" b="b"/>
            <a:pathLst>
              <a:path w="217169" h="1525904">
                <a:moveTo>
                  <a:pt x="217062" y="1525397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534286" y="5240199"/>
            <a:ext cx="1349904" cy="139778"/>
          </a:xfrm>
          <a:custGeom>
            <a:avLst/>
            <a:gdLst/>
            <a:ahLst/>
            <a:cxnLst/>
            <a:rect l="l" t="t" r="r" b="b"/>
            <a:pathLst>
              <a:path w="1109980" h="114935">
                <a:moveTo>
                  <a:pt x="0" y="0"/>
                </a:moveTo>
                <a:lnTo>
                  <a:pt x="1109392" y="114559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512288" y="4601287"/>
            <a:ext cx="0" cy="547530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49990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194220" y="2717809"/>
            <a:ext cx="374544" cy="674952"/>
          </a:xfrm>
          <a:custGeom>
            <a:avLst/>
            <a:gdLst/>
            <a:ahLst/>
            <a:cxnLst/>
            <a:rect l="l" t="t" r="r" b="b"/>
            <a:pathLst>
              <a:path w="307975" h="554989">
                <a:moveTo>
                  <a:pt x="307492" y="554704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361091" y="2131206"/>
            <a:ext cx="1803991" cy="542896"/>
          </a:xfrm>
          <a:custGeom>
            <a:avLst/>
            <a:gdLst/>
            <a:ahLst/>
            <a:cxnLst/>
            <a:rect l="l" t="t" r="r" b="b"/>
            <a:pathLst>
              <a:path w="1483360" h="446405">
                <a:moveTo>
                  <a:pt x="0" y="0"/>
                </a:moveTo>
                <a:lnTo>
                  <a:pt x="1483194" y="44617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991678" y="914025"/>
            <a:ext cx="1173830" cy="1759973"/>
          </a:xfrm>
          <a:custGeom>
            <a:avLst/>
            <a:gdLst/>
            <a:ahLst/>
            <a:cxnLst/>
            <a:rect l="l" t="t" r="r" b="b"/>
            <a:pathLst>
              <a:path w="965200" h="1447164">
                <a:moveTo>
                  <a:pt x="964684" y="1447018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512296" y="4026682"/>
            <a:ext cx="0" cy="547530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49982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405090" y="3480397"/>
            <a:ext cx="1085793" cy="454859"/>
          </a:xfrm>
          <a:custGeom>
            <a:avLst/>
            <a:gdLst/>
            <a:ahLst/>
            <a:cxnLst/>
            <a:rect l="l" t="t" r="r" b="b"/>
            <a:pathLst>
              <a:path w="892810" h="374014">
                <a:moveTo>
                  <a:pt x="0" y="0"/>
                </a:moveTo>
                <a:lnTo>
                  <a:pt x="892329" y="373813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339093" y="2222870"/>
            <a:ext cx="0" cy="1222482"/>
          </a:xfrm>
          <a:custGeom>
            <a:avLst/>
            <a:gdLst/>
            <a:ahLst/>
            <a:cxnLst/>
            <a:rect l="l" t="t" r="r" b="b"/>
            <a:pathLst>
              <a:path h="1005205">
                <a:moveTo>
                  <a:pt x="0" y="0"/>
                </a:moveTo>
                <a:lnTo>
                  <a:pt x="0" y="1004687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317095" y="1500610"/>
            <a:ext cx="271834" cy="630934"/>
          </a:xfrm>
          <a:custGeom>
            <a:avLst/>
            <a:gdLst/>
            <a:ahLst/>
            <a:cxnLst/>
            <a:rect l="l" t="t" r="r" b="b"/>
            <a:pathLst>
              <a:path w="223519" h="518794">
                <a:moveTo>
                  <a:pt x="223087" y="0"/>
                </a:moveTo>
                <a:lnTo>
                  <a:pt x="0" y="51851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588404" y="870016"/>
            <a:ext cx="359872" cy="630934"/>
          </a:xfrm>
          <a:custGeom>
            <a:avLst/>
            <a:gdLst/>
            <a:ahLst/>
            <a:cxnLst/>
            <a:rect l="l" t="t" r="r" b="b"/>
            <a:pathLst>
              <a:path w="295909" h="518794">
                <a:moveTo>
                  <a:pt x="295428" y="0"/>
                </a:moveTo>
                <a:lnTo>
                  <a:pt x="0" y="51851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835802" y="533553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835803" y="533553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524187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524187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775260" y="560317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775260" y="560317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087784" y="43419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087785" y="434197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921030" y="40706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921030" y="40706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273863" y="13686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273864" y="13686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697376" y="276182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697378" y="276182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490283" y="451429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490283" y="451429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442620" y="514854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442621" y="514854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442620" y="389103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442621" y="389103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269433" y="208721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269433" y="208721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313425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313425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544396" y="14529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544396" y="14529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900027" y="82236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900027" y="82236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3120889" y="262985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120889" y="262985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8759577" y="5243877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759579" y="524387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8304983" y="43419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8304985" y="434197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917602" y="283758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7917603" y="2837588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7351746" y="18562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7351747" y="1856277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6185862" y="47012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6185865" y="47012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555422" y="87870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217342" y="156054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006080" y="2607330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118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699709" y="3629676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111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269997" y="4057558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264866" y="468415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058990" y="495368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120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637328" y="1477109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151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109747" y="2026893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979859" y="2419941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99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460459" y="283080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106006" y="3757625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97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312385" y="434769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101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631790" y="3583816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211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466304" y="4694434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138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826392" y="4287843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146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563220" y="4266001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095498" y="4756696"/>
            <a:ext cx="1010884" cy="634404"/>
          </a:xfrm>
          <a:prstGeom prst="rect">
            <a:avLst/>
          </a:prstGeom>
        </p:spPr>
        <p:txBody>
          <a:bodyPr vert="horz" wrap="square" lIns="0" tIns="100393" rIns="0" bIns="0" rtlCol="0">
            <a:spAutoFit/>
          </a:bodyPr>
          <a:lstStyle/>
          <a:p>
            <a:pPr marL="185349" marR="0" lvl="0" indent="0" algn="l" defTabSz="1112093" rtl="0" eaLnBrk="1" fontAlgn="auto" latinLnBrk="0" hangingPunct="1">
              <a:lnSpc>
                <a:spcPct val="100000"/>
              </a:lnSpc>
              <a:spcBef>
                <a:spcPts val="7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718146" y="4080985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669209" y="347401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142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789593" y="215725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92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892643" y="134582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87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8677847" y="4613357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86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11181337" y="2279705"/>
            <a:ext cx="384584" cy="221638"/>
          </a:xfrm>
          <a:custGeom>
            <a:avLst/>
            <a:gdLst/>
            <a:ahLst/>
            <a:cxnLst/>
            <a:rect l="l" t="t" r="r" b="b"/>
            <a:pathLst>
              <a:path w="316229" h="182244">
                <a:moveTo>
                  <a:pt x="0" y="0"/>
                </a:moveTo>
                <a:lnTo>
                  <a:pt x="315935" y="0"/>
                </a:lnTo>
                <a:lnTo>
                  <a:pt x="315935" y="181662"/>
                </a:lnTo>
                <a:lnTo>
                  <a:pt x="0" y="1816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11171732" y="4191226"/>
            <a:ext cx="384584" cy="221638"/>
          </a:xfrm>
          <a:custGeom>
            <a:avLst/>
            <a:gdLst/>
            <a:ahLst/>
            <a:cxnLst/>
            <a:rect l="l" t="t" r="r" b="b"/>
            <a:pathLst>
              <a:path w="316229" h="182245">
                <a:moveTo>
                  <a:pt x="0" y="0"/>
                </a:moveTo>
                <a:lnTo>
                  <a:pt x="315935" y="0"/>
                </a:lnTo>
                <a:lnTo>
                  <a:pt x="315935" y="181662"/>
                </a:lnTo>
                <a:lnTo>
                  <a:pt x="0" y="1816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graphicFrame>
        <p:nvGraphicFramePr>
          <p:cNvPr id="112" name="object 112"/>
          <p:cNvGraphicFramePr>
            <a:graphicFrameLocks noGrp="1"/>
          </p:cNvGraphicFramePr>
          <p:nvPr/>
        </p:nvGraphicFramePr>
        <p:xfrm>
          <a:off x="9479524" y="1083587"/>
          <a:ext cx="2084321" cy="4746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7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631">
                <a:tc>
                  <a:txBody>
                    <a:bodyPr/>
                    <a:lstStyle/>
                    <a:p>
                      <a:pPr marL="31750">
                        <a:lnSpc>
                          <a:spcPts val="132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Arad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4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366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Bucharest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43">
                <a:tc>
                  <a:txBody>
                    <a:bodyPr/>
                    <a:lstStyle/>
                    <a:p>
                      <a:pPr marL="31750">
                        <a:lnSpc>
                          <a:spcPts val="133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Craiova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160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930">
                <a:tc>
                  <a:txBody>
                    <a:bodyPr/>
                    <a:lstStyle/>
                    <a:p>
                      <a:pPr marL="31750">
                        <a:lnSpc>
                          <a:spcPts val="129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Dobreta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918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Eforie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161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922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Fagaras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39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176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263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Giurgiu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90"/>
                        </a:lnSpc>
                        <a:spcBef>
                          <a:spcPts val="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77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54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Hirsova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151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Iasi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226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928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Lugoj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260">
                <a:tc>
                  <a:txBody>
                    <a:bodyPr/>
                    <a:lstStyle/>
                    <a:p>
                      <a:pPr marL="31750">
                        <a:lnSpc>
                          <a:spcPts val="133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Mehadia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Neamt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234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Oradea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380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476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Pitesti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ts val="1400"/>
                        </a:lnSpc>
                        <a:spcBef>
                          <a:spcPts val="4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178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697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Rimnicu</a:t>
                      </a:r>
                      <a:r>
                        <a:rPr sz="1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Vilcea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193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929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Sibiu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253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4933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Timisoara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329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4918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Urziceni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80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4930">
                <a:tc>
                  <a:txBody>
                    <a:bodyPr/>
                    <a:lstStyle/>
                    <a:p>
                      <a:pPr marL="31750">
                        <a:lnSpc>
                          <a:spcPts val="133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Vaslui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199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6722">
                <a:tc>
                  <a:txBody>
                    <a:bodyPr/>
                    <a:lstStyle/>
                    <a:p>
                      <a:pPr marL="31750">
                        <a:lnSpc>
                          <a:spcPts val="134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Zerind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9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374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13" name="object 113"/>
          <p:cNvSpPr txBox="1"/>
          <p:nvPr/>
        </p:nvSpPr>
        <p:spPr>
          <a:xfrm>
            <a:off x="1176394" y="5933130"/>
            <a:ext cx="1546830" cy="401566"/>
          </a:xfrm>
          <a:prstGeom prst="rect">
            <a:avLst/>
          </a:prstGeom>
        </p:spPr>
        <p:txBody>
          <a:bodyPr vert="horz" wrap="square" lIns="0" tIns="1776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Search</a:t>
            </a:r>
            <a:r>
              <a:rPr kumimoji="0" sz="2493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tree: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7428052" y="5545231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859641" y="124776"/>
                </a:moveTo>
                <a:lnTo>
                  <a:pt x="837728" y="85338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6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5"/>
                </a:lnTo>
                <a:lnTo>
                  <a:pt x="47976" y="182119"/>
                </a:lnTo>
                <a:lnTo>
                  <a:pt x="82930" y="198471"/>
                </a:lnTo>
                <a:lnTo>
                  <a:pt x="125892" y="213012"/>
                </a:lnTo>
                <a:lnTo>
                  <a:pt x="175974" y="225486"/>
                </a:lnTo>
                <a:lnTo>
                  <a:pt x="232293" y="235636"/>
                </a:lnTo>
                <a:lnTo>
                  <a:pt x="293964" y="243204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4"/>
                </a:lnTo>
                <a:lnTo>
                  <a:pt x="627347" y="235636"/>
                </a:lnTo>
                <a:lnTo>
                  <a:pt x="683666" y="225486"/>
                </a:lnTo>
                <a:lnTo>
                  <a:pt x="733749" y="213012"/>
                </a:lnTo>
                <a:lnTo>
                  <a:pt x="776710" y="198471"/>
                </a:lnTo>
                <a:lnTo>
                  <a:pt x="811665" y="182119"/>
                </a:lnTo>
                <a:lnTo>
                  <a:pt x="854015" y="145015"/>
                </a:lnTo>
                <a:lnTo>
                  <a:pt x="859641" y="124776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7243435" y="5595423"/>
            <a:ext cx="160027" cy="203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7461504" y="5487620"/>
            <a:ext cx="959915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274934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366=0+366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7" name="object 117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30539058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02692" y="591108"/>
            <a:ext cx="1779279" cy="466514"/>
          </a:xfrm>
          <a:prstGeom prst="rect">
            <a:avLst/>
          </a:prstGeom>
        </p:spPr>
        <p:txBody>
          <a:bodyPr vert="horz" wrap="square" lIns="0" tIns="55602" rIns="0" bIns="0" rtlCol="0">
            <a:spAutoFit/>
          </a:bodyPr>
          <a:lstStyle/>
          <a:p>
            <a:pPr marL="15446" marR="6178" lvl="0" indent="0" algn="l" defTabSz="1112093" rtl="0" eaLnBrk="1" fontAlgn="auto" latinLnBrk="0" hangingPunct="1">
              <a:lnSpc>
                <a:spcPts val="1569"/>
              </a:lnSpc>
              <a:spcBef>
                <a:spcPts val="43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Straight−line </a:t>
            </a: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distance  to</a:t>
            </a:r>
            <a:r>
              <a:rPr kumimoji="0" sz="158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Bucharest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26564" y="2303312"/>
            <a:ext cx="29963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ts val="1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178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6371" y="4199685"/>
            <a:ext cx="200014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ts val="1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98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61369" y="2839598"/>
            <a:ext cx="1498178" cy="1896662"/>
          </a:xfrm>
          <a:custGeom>
            <a:avLst/>
            <a:gdLst/>
            <a:ahLst/>
            <a:cxnLst/>
            <a:rect l="l" t="t" r="r" b="b"/>
            <a:pathLst>
              <a:path w="1231900" h="1559560">
                <a:moveTo>
                  <a:pt x="0" y="0"/>
                </a:moveTo>
                <a:lnTo>
                  <a:pt x="1231847" y="1559385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87113" y="5523307"/>
            <a:ext cx="62012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Giurgiu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5003" y="4446735"/>
            <a:ext cx="67495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Urziceni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6834" y="4262133"/>
            <a:ext cx="6386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Hirsova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56153" y="5391328"/>
            <a:ext cx="50042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Eforie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89784" y="1050684"/>
            <a:ext cx="537489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Neamt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5543" y="742531"/>
            <a:ext cx="602360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8922" y="1461105"/>
            <a:ext cx="537489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4936" y="2003721"/>
            <a:ext cx="408524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84962" y="3220909"/>
            <a:ext cx="81395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58150" y="3807510"/>
            <a:ext cx="48188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02136" y="4438104"/>
            <a:ext cx="69348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6141" y="5068700"/>
            <a:ext cx="65641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07343" y="5347354"/>
            <a:ext cx="6386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88748" y="2370322"/>
            <a:ext cx="436325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42603" y="2406992"/>
            <a:ext cx="666457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72066" y="3728886"/>
            <a:ext cx="528223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13545" y="2766300"/>
            <a:ext cx="5189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Vaslui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70929" y="1783744"/>
            <a:ext cx="307357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Iasi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84708" y="3132906"/>
            <a:ext cx="1209354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1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69191" y="1456619"/>
            <a:ext cx="1034051" cy="447909"/>
          </a:xfrm>
          <a:custGeom>
            <a:avLst/>
            <a:gdLst/>
            <a:ahLst/>
            <a:cxnLst/>
            <a:rect l="l" t="t" r="r" b="b"/>
            <a:pathLst>
              <a:path w="850264" h="368300">
                <a:moveTo>
                  <a:pt x="850134" y="367789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175767" y="2945127"/>
            <a:ext cx="813958" cy="1444892"/>
          </a:xfrm>
          <a:custGeom>
            <a:avLst/>
            <a:gdLst/>
            <a:ahLst/>
            <a:cxnLst/>
            <a:rect l="l" t="t" r="r" b="b"/>
            <a:pathLst>
              <a:path w="669290" h="1188085">
                <a:moveTo>
                  <a:pt x="0" y="1187766"/>
                </a:moveTo>
                <a:lnTo>
                  <a:pt x="669259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3082" y="1947898"/>
            <a:ext cx="586915" cy="901996"/>
          </a:xfrm>
          <a:custGeom>
            <a:avLst/>
            <a:gdLst/>
            <a:ahLst/>
            <a:cxnLst/>
            <a:rect l="l" t="t" r="r" b="b"/>
            <a:pathLst>
              <a:path w="482600" h="741680">
                <a:moveTo>
                  <a:pt x="482344" y="741602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223435" y="4433624"/>
            <a:ext cx="1081931" cy="0"/>
          </a:xfrm>
          <a:custGeom>
            <a:avLst/>
            <a:gdLst/>
            <a:ahLst/>
            <a:cxnLst/>
            <a:rect l="l" t="t" r="r" b="b"/>
            <a:pathLst>
              <a:path w="889634">
                <a:moveTo>
                  <a:pt x="0" y="0"/>
                </a:moveTo>
                <a:lnTo>
                  <a:pt x="88932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48975" y="4382297"/>
            <a:ext cx="462582" cy="901996"/>
          </a:xfrm>
          <a:custGeom>
            <a:avLst/>
            <a:gdLst/>
            <a:ahLst/>
            <a:cxnLst/>
            <a:rect l="l" t="t" r="r" b="b"/>
            <a:pathLst>
              <a:path w="380365" h="741679">
                <a:moveTo>
                  <a:pt x="0" y="0"/>
                </a:moveTo>
                <a:lnTo>
                  <a:pt x="379836" y="74160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73865" y="4433625"/>
            <a:ext cx="857977" cy="315853"/>
          </a:xfrm>
          <a:custGeom>
            <a:avLst/>
            <a:gdLst/>
            <a:ahLst/>
            <a:cxnLst/>
            <a:rect l="l" t="t" r="r" b="b"/>
            <a:pathLst>
              <a:path w="705485" h="259714">
                <a:moveTo>
                  <a:pt x="0" y="259261"/>
                </a:moveTo>
                <a:lnTo>
                  <a:pt x="70543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826595" y="4792918"/>
            <a:ext cx="447909" cy="901996"/>
          </a:xfrm>
          <a:custGeom>
            <a:avLst/>
            <a:gdLst/>
            <a:ahLst/>
            <a:cxnLst/>
            <a:rect l="l" t="t" r="r" b="b"/>
            <a:pathLst>
              <a:path w="368300" h="741679">
                <a:moveTo>
                  <a:pt x="367773" y="0"/>
                </a:moveTo>
                <a:lnTo>
                  <a:pt x="0" y="741603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012675" y="4110998"/>
            <a:ext cx="1217847" cy="638656"/>
          </a:xfrm>
          <a:custGeom>
            <a:avLst/>
            <a:gdLst/>
            <a:ahLst/>
            <a:cxnLst/>
            <a:rect l="l" t="t" r="r" b="b"/>
            <a:pathLst>
              <a:path w="1001395" h="525145">
                <a:moveTo>
                  <a:pt x="0" y="0"/>
                </a:moveTo>
                <a:lnTo>
                  <a:pt x="1000861" y="52454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934811" y="4162324"/>
            <a:ext cx="1034051" cy="1261867"/>
          </a:xfrm>
          <a:custGeom>
            <a:avLst/>
            <a:gdLst/>
            <a:ahLst/>
            <a:cxnLst/>
            <a:rect l="l" t="t" r="r" b="b"/>
            <a:pathLst>
              <a:path w="850264" h="1037589">
                <a:moveTo>
                  <a:pt x="0" y="1037033"/>
                </a:moveTo>
                <a:lnTo>
                  <a:pt x="850118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612169" y="3480396"/>
            <a:ext cx="1312836" cy="630934"/>
          </a:xfrm>
          <a:custGeom>
            <a:avLst/>
            <a:gdLst/>
            <a:ahLst/>
            <a:cxnLst/>
            <a:rect l="l" t="t" r="r" b="b"/>
            <a:pathLst>
              <a:path w="1079500" h="518794">
                <a:moveTo>
                  <a:pt x="0" y="0"/>
                </a:moveTo>
                <a:lnTo>
                  <a:pt x="1079228" y="51852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216215" y="2717809"/>
            <a:ext cx="1525207" cy="88037"/>
          </a:xfrm>
          <a:custGeom>
            <a:avLst/>
            <a:gdLst/>
            <a:ahLst/>
            <a:cxnLst/>
            <a:rect l="l" t="t" r="r" b="b"/>
            <a:pathLst>
              <a:path w="1254125" h="72389">
                <a:moveTo>
                  <a:pt x="0" y="0"/>
                </a:moveTo>
                <a:lnTo>
                  <a:pt x="1254080" y="72359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619493" y="3524406"/>
            <a:ext cx="264112" cy="1855732"/>
          </a:xfrm>
          <a:custGeom>
            <a:avLst/>
            <a:gdLst/>
            <a:ahLst/>
            <a:cxnLst/>
            <a:rect l="l" t="t" r="r" b="b"/>
            <a:pathLst>
              <a:path w="217169" h="1525904">
                <a:moveTo>
                  <a:pt x="217062" y="1525397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534286" y="5240199"/>
            <a:ext cx="1349904" cy="139778"/>
          </a:xfrm>
          <a:custGeom>
            <a:avLst/>
            <a:gdLst/>
            <a:ahLst/>
            <a:cxnLst/>
            <a:rect l="l" t="t" r="r" b="b"/>
            <a:pathLst>
              <a:path w="1109980" h="114935">
                <a:moveTo>
                  <a:pt x="0" y="0"/>
                </a:moveTo>
                <a:lnTo>
                  <a:pt x="1109392" y="114559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512288" y="4601287"/>
            <a:ext cx="0" cy="547530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49990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194220" y="2717809"/>
            <a:ext cx="374544" cy="674952"/>
          </a:xfrm>
          <a:custGeom>
            <a:avLst/>
            <a:gdLst/>
            <a:ahLst/>
            <a:cxnLst/>
            <a:rect l="l" t="t" r="r" b="b"/>
            <a:pathLst>
              <a:path w="307975" h="554989">
                <a:moveTo>
                  <a:pt x="307492" y="554704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361091" y="2131206"/>
            <a:ext cx="1803991" cy="542896"/>
          </a:xfrm>
          <a:custGeom>
            <a:avLst/>
            <a:gdLst/>
            <a:ahLst/>
            <a:cxnLst/>
            <a:rect l="l" t="t" r="r" b="b"/>
            <a:pathLst>
              <a:path w="1483360" h="446405">
                <a:moveTo>
                  <a:pt x="0" y="0"/>
                </a:moveTo>
                <a:lnTo>
                  <a:pt x="1483194" y="44617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991678" y="914025"/>
            <a:ext cx="1173830" cy="1759973"/>
          </a:xfrm>
          <a:custGeom>
            <a:avLst/>
            <a:gdLst/>
            <a:ahLst/>
            <a:cxnLst/>
            <a:rect l="l" t="t" r="r" b="b"/>
            <a:pathLst>
              <a:path w="965200" h="1447164">
                <a:moveTo>
                  <a:pt x="964684" y="1447018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512296" y="4026682"/>
            <a:ext cx="0" cy="547530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49982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405090" y="3480397"/>
            <a:ext cx="1085793" cy="454859"/>
          </a:xfrm>
          <a:custGeom>
            <a:avLst/>
            <a:gdLst/>
            <a:ahLst/>
            <a:cxnLst/>
            <a:rect l="l" t="t" r="r" b="b"/>
            <a:pathLst>
              <a:path w="892810" h="374014">
                <a:moveTo>
                  <a:pt x="0" y="0"/>
                </a:moveTo>
                <a:lnTo>
                  <a:pt x="892329" y="373813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339093" y="2222870"/>
            <a:ext cx="0" cy="1222482"/>
          </a:xfrm>
          <a:custGeom>
            <a:avLst/>
            <a:gdLst/>
            <a:ahLst/>
            <a:cxnLst/>
            <a:rect l="l" t="t" r="r" b="b"/>
            <a:pathLst>
              <a:path h="1005205">
                <a:moveTo>
                  <a:pt x="0" y="0"/>
                </a:moveTo>
                <a:lnTo>
                  <a:pt x="0" y="1004687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317095" y="1500610"/>
            <a:ext cx="271834" cy="630934"/>
          </a:xfrm>
          <a:custGeom>
            <a:avLst/>
            <a:gdLst/>
            <a:ahLst/>
            <a:cxnLst/>
            <a:rect l="l" t="t" r="r" b="b"/>
            <a:pathLst>
              <a:path w="223519" h="518794">
                <a:moveTo>
                  <a:pt x="223087" y="0"/>
                </a:moveTo>
                <a:lnTo>
                  <a:pt x="0" y="51851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588404" y="870016"/>
            <a:ext cx="359872" cy="630934"/>
          </a:xfrm>
          <a:custGeom>
            <a:avLst/>
            <a:gdLst/>
            <a:ahLst/>
            <a:cxnLst/>
            <a:rect l="l" t="t" r="r" b="b"/>
            <a:pathLst>
              <a:path w="295909" h="518794">
                <a:moveTo>
                  <a:pt x="295428" y="0"/>
                </a:moveTo>
                <a:lnTo>
                  <a:pt x="0" y="51851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835802" y="533553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835803" y="533553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524187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524187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775260" y="560317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775260" y="560317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087784" y="43419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087785" y="434197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921030" y="40706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921030" y="40706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273863" y="13686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273864" y="13686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697376" y="276182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697378" y="276182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490283" y="451429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490283" y="451429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442620" y="514854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442621" y="514854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442620" y="389103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442621" y="389103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269433" y="208721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269433" y="208721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313425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313425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544396" y="14529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544396" y="14529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900027" y="82236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900027" y="82236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3120889" y="262985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120889" y="262985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8759577" y="5243877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759579" y="524387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8304983" y="43419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8304985" y="434197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917602" y="283758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7917603" y="2837588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7351746" y="18562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7351747" y="1856277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6185862" y="47012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6185865" y="47012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555422" y="87870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217342" y="156054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006080" y="2607330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118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699709" y="3629676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111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269997" y="4057558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264866" y="468415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058990" y="495368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120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637328" y="1477109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151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109747" y="2026893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979859" y="2419941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99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460459" y="283080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106006" y="3757625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97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312385" y="434769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101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631790" y="3583816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211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466304" y="4694434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138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826392" y="4287843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146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563220" y="4266001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095498" y="4756696"/>
            <a:ext cx="1010884" cy="634404"/>
          </a:xfrm>
          <a:prstGeom prst="rect">
            <a:avLst/>
          </a:prstGeom>
        </p:spPr>
        <p:txBody>
          <a:bodyPr vert="horz" wrap="square" lIns="0" tIns="100393" rIns="0" bIns="0" rtlCol="0">
            <a:spAutoFit/>
          </a:bodyPr>
          <a:lstStyle/>
          <a:p>
            <a:pPr marL="185349" marR="0" lvl="0" indent="0" algn="l" defTabSz="1112093" rtl="0" eaLnBrk="1" fontAlgn="auto" latinLnBrk="0" hangingPunct="1">
              <a:lnSpc>
                <a:spcPct val="100000"/>
              </a:lnSpc>
              <a:spcBef>
                <a:spcPts val="7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718146" y="4080985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669209" y="347401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142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789593" y="215725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92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892643" y="134582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87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8677847" y="4613357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86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11181337" y="2279705"/>
            <a:ext cx="384584" cy="221638"/>
          </a:xfrm>
          <a:custGeom>
            <a:avLst/>
            <a:gdLst/>
            <a:ahLst/>
            <a:cxnLst/>
            <a:rect l="l" t="t" r="r" b="b"/>
            <a:pathLst>
              <a:path w="316229" h="182244">
                <a:moveTo>
                  <a:pt x="0" y="0"/>
                </a:moveTo>
                <a:lnTo>
                  <a:pt x="315935" y="0"/>
                </a:lnTo>
                <a:lnTo>
                  <a:pt x="315935" y="181662"/>
                </a:lnTo>
                <a:lnTo>
                  <a:pt x="0" y="1816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11171732" y="4191226"/>
            <a:ext cx="384584" cy="221638"/>
          </a:xfrm>
          <a:custGeom>
            <a:avLst/>
            <a:gdLst/>
            <a:ahLst/>
            <a:cxnLst/>
            <a:rect l="l" t="t" r="r" b="b"/>
            <a:pathLst>
              <a:path w="316229" h="182245">
                <a:moveTo>
                  <a:pt x="0" y="0"/>
                </a:moveTo>
                <a:lnTo>
                  <a:pt x="315935" y="0"/>
                </a:lnTo>
                <a:lnTo>
                  <a:pt x="315935" y="181662"/>
                </a:lnTo>
                <a:lnTo>
                  <a:pt x="0" y="1816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graphicFrame>
        <p:nvGraphicFramePr>
          <p:cNvPr id="112" name="object 112"/>
          <p:cNvGraphicFramePr>
            <a:graphicFrameLocks noGrp="1"/>
          </p:cNvGraphicFramePr>
          <p:nvPr/>
        </p:nvGraphicFramePr>
        <p:xfrm>
          <a:off x="9479524" y="1083587"/>
          <a:ext cx="2084321" cy="4746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7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631">
                <a:tc>
                  <a:txBody>
                    <a:bodyPr/>
                    <a:lstStyle/>
                    <a:p>
                      <a:pPr marL="31750">
                        <a:lnSpc>
                          <a:spcPts val="132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Arad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4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366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Bucharest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43">
                <a:tc>
                  <a:txBody>
                    <a:bodyPr/>
                    <a:lstStyle/>
                    <a:p>
                      <a:pPr marL="31750">
                        <a:lnSpc>
                          <a:spcPts val="133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Craiova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160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930">
                <a:tc>
                  <a:txBody>
                    <a:bodyPr/>
                    <a:lstStyle/>
                    <a:p>
                      <a:pPr marL="31750">
                        <a:lnSpc>
                          <a:spcPts val="129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Dobreta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918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Eforie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161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922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Fagaras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39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176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263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Giurgiu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90"/>
                        </a:lnSpc>
                        <a:spcBef>
                          <a:spcPts val="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77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54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Hirsova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151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Iasi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226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928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Lugoj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260">
                <a:tc>
                  <a:txBody>
                    <a:bodyPr/>
                    <a:lstStyle/>
                    <a:p>
                      <a:pPr marL="31750">
                        <a:lnSpc>
                          <a:spcPts val="133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Mehadia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Neamt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234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Oradea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380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476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Pitesti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ts val="1400"/>
                        </a:lnSpc>
                        <a:spcBef>
                          <a:spcPts val="4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178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697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Rimnicu</a:t>
                      </a:r>
                      <a:r>
                        <a:rPr sz="1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Vilcea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193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929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Sibiu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253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4933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Timisoara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329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4918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Urziceni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80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4930">
                <a:tc>
                  <a:txBody>
                    <a:bodyPr/>
                    <a:lstStyle/>
                    <a:p>
                      <a:pPr marL="31750">
                        <a:lnSpc>
                          <a:spcPts val="133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Vaslui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199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6722">
                <a:tc>
                  <a:txBody>
                    <a:bodyPr/>
                    <a:lstStyle/>
                    <a:p>
                      <a:pPr marL="31750">
                        <a:lnSpc>
                          <a:spcPts val="134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Zerind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9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374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13" name="object 113"/>
          <p:cNvSpPr txBox="1"/>
          <p:nvPr/>
        </p:nvSpPr>
        <p:spPr>
          <a:xfrm>
            <a:off x="1176394" y="5933130"/>
            <a:ext cx="1546830" cy="401566"/>
          </a:xfrm>
          <a:prstGeom prst="rect">
            <a:avLst/>
          </a:prstGeom>
        </p:spPr>
        <p:txBody>
          <a:bodyPr vert="horz" wrap="square" lIns="0" tIns="1776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Search</a:t>
            </a:r>
            <a:r>
              <a:rPr kumimoji="0" sz="2493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tree: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4861955" y="5852461"/>
            <a:ext cx="3988705" cy="506599"/>
          </a:xfrm>
          <a:custGeom>
            <a:avLst/>
            <a:gdLst/>
            <a:ahLst/>
            <a:cxnLst/>
            <a:rect l="l" t="t" r="r" b="b"/>
            <a:pathLst>
              <a:path w="3279775" h="416560">
                <a:moveTo>
                  <a:pt x="0" y="415955"/>
                </a:moveTo>
                <a:lnTo>
                  <a:pt x="2558162" y="0"/>
                </a:lnTo>
                <a:lnTo>
                  <a:pt x="3279162" y="41595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7973069" y="5852461"/>
            <a:ext cx="3575548" cy="506599"/>
          </a:xfrm>
          <a:custGeom>
            <a:avLst/>
            <a:gdLst/>
            <a:ahLst/>
            <a:cxnLst/>
            <a:rect l="l" t="t" r="r" b="b"/>
            <a:pathLst>
              <a:path w="2940050" h="416560">
                <a:moveTo>
                  <a:pt x="0" y="0"/>
                </a:moveTo>
                <a:lnTo>
                  <a:pt x="2939446" y="41595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11045578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859641" y="124790"/>
                </a:moveTo>
                <a:lnTo>
                  <a:pt x="837728" y="85351"/>
                </a:lnTo>
                <a:lnTo>
                  <a:pt x="776710" y="51096"/>
                </a:lnTo>
                <a:lnTo>
                  <a:pt x="733749" y="36554"/>
                </a:lnTo>
                <a:lnTo>
                  <a:pt x="683666" y="24080"/>
                </a:lnTo>
                <a:lnTo>
                  <a:pt x="627347" y="13931"/>
                </a:lnTo>
                <a:lnTo>
                  <a:pt x="565676" y="6363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3"/>
                </a:lnTo>
                <a:lnTo>
                  <a:pt x="232293" y="13931"/>
                </a:lnTo>
                <a:lnTo>
                  <a:pt x="175974" y="24080"/>
                </a:lnTo>
                <a:lnTo>
                  <a:pt x="125892" y="36554"/>
                </a:lnTo>
                <a:lnTo>
                  <a:pt x="82930" y="51096"/>
                </a:lnTo>
                <a:lnTo>
                  <a:pt x="47976" y="67447"/>
                </a:lnTo>
                <a:lnTo>
                  <a:pt x="5625" y="104552"/>
                </a:lnTo>
                <a:lnTo>
                  <a:pt x="0" y="124790"/>
                </a:lnTo>
                <a:lnTo>
                  <a:pt x="5625" y="145029"/>
                </a:lnTo>
                <a:lnTo>
                  <a:pt x="47976" y="182131"/>
                </a:lnTo>
                <a:lnTo>
                  <a:pt x="82930" y="198480"/>
                </a:lnTo>
                <a:lnTo>
                  <a:pt x="125892" y="213019"/>
                </a:lnTo>
                <a:lnTo>
                  <a:pt x="175974" y="225491"/>
                </a:lnTo>
                <a:lnTo>
                  <a:pt x="232293" y="235639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9"/>
                </a:lnTo>
                <a:lnTo>
                  <a:pt x="683666" y="225491"/>
                </a:lnTo>
                <a:lnTo>
                  <a:pt x="733749" y="213019"/>
                </a:lnTo>
                <a:lnTo>
                  <a:pt x="776710" y="198480"/>
                </a:lnTo>
                <a:lnTo>
                  <a:pt x="811665" y="182131"/>
                </a:lnTo>
                <a:lnTo>
                  <a:pt x="854015" y="145029"/>
                </a:lnTo>
                <a:lnTo>
                  <a:pt x="859641" y="124790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7428052" y="5545231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429820" y="0"/>
                </a:move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8"/>
                </a:lnTo>
                <a:lnTo>
                  <a:pt x="0" y="124776"/>
                </a:lnTo>
                <a:lnTo>
                  <a:pt x="5625" y="145018"/>
                </a:lnTo>
                <a:lnTo>
                  <a:pt x="47976" y="182126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7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6"/>
                </a:lnTo>
                <a:lnTo>
                  <a:pt x="854015" y="145018"/>
                </a:lnTo>
                <a:lnTo>
                  <a:pt x="859641" y="124776"/>
                </a:lnTo>
                <a:lnTo>
                  <a:pt x="854015" y="104538"/>
                </a:lnTo>
                <a:lnTo>
                  <a:pt x="811665" y="67436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7" y="6361"/>
                </a:lnTo>
                <a:lnTo>
                  <a:pt x="499539" y="1633"/>
                </a:lnTo>
                <a:lnTo>
                  <a:pt x="42982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7428052" y="5545231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859641" y="124776"/>
                </a:moveTo>
                <a:lnTo>
                  <a:pt x="837728" y="85338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6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8"/>
                </a:lnTo>
                <a:lnTo>
                  <a:pt x="47976" y="182126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6"/>
                </a:lnTo>
                <a:lnTo>
                  <a:pt x="854015" y="145018"/>
                </a:lnTo>
                <a:lnTo>
                  <a:pt x="859641" y="12477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7736647" y="5552824"/>
            <a:ext cx="418563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4341448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41" y="124790"/>
                </a:moveTo>
                <a:lnTo>
                  <a:pt x="837728" y="85351"/>
                </a:lnTo>
                <a:lnTo>
                  <a:pt x="776710" y="51096"/>
                </a:lnTo>
                <a:lnTo>
                  <a:pt x="733749" y="36554"/>
                </a:lnTo>
                <a:lnTo>
                  <a:pt x="683666" y="24080"/>
                </a:lnTo>
                <a:lnTo>
                  <a:pt x="627347" y="13931"/>
                </a:lnTo>
                <a:lnTo>
                  <a:pt x="565676" y="6363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3"/>
                </a:lnTo>
                <a:lnTo>
                  <a:pt x="232293" y="13931"/>
                </a:lnTo>
                <a:lnTo>
                  <a:pt x="175974" y="24080"/>
                </a:lnTo>
                <a:lnTo>
                  <a:pt x="125892" y="36554"/>
                </a:lnTo>
                <a:lnTo>
                  <a:pt x="82930" y="51096"/>
                </a:lnTo>
                <a:lnTo>
                  <a:pt x="47976" y="67447"/>
                </a:lnTo>
                <a:lnTo>
                  <a:pt x="5625" y="104552"/>
                </a:lnTo>
                <a:lnTo>
                  <a:pt x="0" y="124790"/>
                </a:lnTo>
                <a:lnTo>
                  <a:pt x="5625" y="145029"/>
                </a:lnTo>
                <a:lnTo>
                  <a:pt x="47976" y="182131"/>
                </a:lnTo>
                <a:lnTo>
                  <a:pt x="82930" y="198480"/>
                </a:lnTo>
                <a:lnTo>
                  <a:pt x="125892" y="213019"/>
                </a:lnTo>
                <a:lnTo>
                  <a:pt x="175974" y="225491"/>
                </a:lnTo>
                <a:lnTo>
                  <a:pt x="232293" y="235639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9"/>
                </a:lnTo>
                <a:lnTo>
                  <a:pt x="683666" y="225491"/>
                </a:lnTo>
                <a:lnTo>
                  <a:pt x="733749" y="213019"/>
                </a:lnTo>
                <a:lnTo>
                  <a:pt x="776710" y="198480"/>
                </a:lnTo>
                <a:lnTo>
                  <a:pt x="811665" y="182131"/>
                </a:lnTo>
                <a:lnTo>
                  <a:pt x="854015" y="145029"/>
                </a:lnTo>
                <a:lnTo>
                  <a:pt x="859641" y="124790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8318130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859641" y="124790"/>
                </a:moveTo>
                <a:lnTo>
                  <a:pt x="837728" y="85351"/>
                </a:lnTo>
                <a:lnTo>
                  <a:pt x="776710" y="51096"/>
                </a:lnTo>
                <a:lnTo>
                  <a:pt x="733749" y="36554"/>
                </a:lnTo>
                <a:lnTo>
                  <a:pt x="683666" y="24080"/>
                </a:lnTo>
                <a:lnTo>
                  <a:pt x="627347" y="13931"/>
                </a:lnTo>
                <a:lnTo>
                  <a:pt x="565676" y="6363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3"/>
                </a:lnTo>
                <a:lnTo>
                  <a:pt x="232293" y="13931"/>
                </a:lnTo>
                <a:lnTo>
                  <a:pt x="175974" y="24080"/>
                </a:lnTo>
                <a:lnTo>
                  <a:pt x="125892" y="36554"/>
                </a:lnTo>
                <a:lnTo>
                  <a:pt x="82930" y="51096"/>
                </a:lnTo>
                <a:lnTo>
                  <a:pt x="47976" y="67447"/>
                </a:lnTo>
                <a:lnTo>
                  <a:pt x="5625" y="104552"/>
                </a:lnTo>
                <a:lnTo>
                  <a:pt x="0" y="124790"/>
                </a:lnTo>
                <a:lnTo>
                  <a:pt x="5625" y="145029"/>
                </a:lnTo>
                <a:lnTo>
                  <a:pt x="47976" y="182131"/>
                </a:lnTo>
                <a:lnTo>
                  <a:pt x="82930" y="198480"/>
                </a:lnTo>
                <a:lnTo>
                  <a:pt x="125892" y="213019"/>
                </a:lnTo>
                <a:lnTo>
                  <a:pt x="175974" y="225491"/>
                </a:lnTo>
                <a:lnTo>
                  <a:pt x="232293" y="235639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9"/>
                </a:lnTo>
                <a:lnTo>
                  <a:pt x="683666" y="225491"/>
                </a:lnTo>
                <a:lnTo>
                  <a:pt x="733749" y="213019"/>
                </a:lnTo>
                <a:lnTo>
                  <a:pt x="776710" y="198480"/>
                </a:lnTo>
                <a:lnTo>
                  <a:pt x="811665" y="182131"/>
                </a:lnTo>
                <a:lnTo>
                  <a:pt x="854015" y="145029"/>
                </a:lnTo>
                <a:lnTo>
                  <a:pt x="859641" y="124790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4156830" y="6409012"/>
            <a:ext cx="160009" cy="2031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8244573" y="6301155"/>
            <a:ext cx="1163789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183032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447=118+329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6" name="object 126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1025765" y="6301156"/>
            <a:ext cx="1061853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251766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449=75+374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267908" y="6301210"/>
            <a:ext cx="1163789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373787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393=140+253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32062515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02692" y="591108"/>
            <a:ext cx="1779279" cy="466514"/>
          </a:xfrm>
          <a:prstGeom prst="rect">
            <a:avLst/>
          </a:prstGeom>
        </p:spPr>
        <p:txBody>
          <a:bodyPr vert="horz" wrap="square" lIns="0" tIns="55602" rIns="0" bIns="0" rtlCol="0">
            <a:spAutoFit/>
          </a:bodyPr>
          <a:lstStyle/>
          <a:p>
            <a:pPr marL="15446" marR="6178" lvl="0" indent="0" algn="l" defTabSz="1112093" rtl="0" eaLnBrk="1" fontAlgn="auto" latinLnBrk="0" hangingPunct="1">
              <a:lnSpc>
                <a:spcPts val="1569"/>
              </a:lnSpc>
              <a:spcBef>
                <a:spcPts val="43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Straight−line </a:t>
            </a: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distance  to</a:t>
            </a:r>
            <a:r>
              <a:rPr kumimoji="0" sz="158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Bucharest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26564" y="2303312"/>
            <a:ext cx="29963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ts val="1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178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6371" y="4199685"/>
            <a:ext cx="200014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ts val="1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98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61369" y="2839598"/>
            <a:ext cx="1498178" cy="1896662"/>
          </a:xfrm>
          <a:custGeom>
            <a:avLst/>
            <a:gdLst/>
            <a:ahLst/>
            <a:cxnLst/>
            <a:rect l="l" t="t" r="r" b="b"/>
            <a:pathLst>
              <a:path w="1231900" h="1559560">
                <a:moveTo>
                  <a:pt x="0" y="0"/>
                </a:moveTo>
                <a:lnTo>
                  <a:pt x="1231847" y="1559385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87113" y="5523307"/>
            <a:ext cx="62012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Giurgiu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5003" y="4446735"/>
            <a:ext cx="67495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Urziceni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6834" y="4262133"/>
            <a:ext cx="6386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Hirsova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56153" y="5391328"/>
            <a:ext cx="50042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Eforie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89784" y="1050684"/>
            <a:ext cx="537489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Neamt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5543" y="742531"/>
            <a:ext cx="602360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8922" y="1461105"/>
            <a:ext cx="537489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4936" y="2003721"/>
            <a:ext cx="408524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84962" y="3220909"/>
            <a:ext cx="81395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58150" y="3807510"/>
            <a:ext cx="48188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02136" y="4438104"/>
            <a:ext cx="69348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6141" y="5068700"/>
            <a:ext cx="65641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07343" y="5347354"/>
            <a:ext cx="6386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88748" y="2370322"/>
            <a:ext cx="436325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42603" y="2406992"/>
            <a:ext cx="666457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72066" y="3728886"/>
            <a:ext cx="528223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13545" y="2766300"/>
            <a:ext cx="5189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Vaslui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70929" y="1783744"/>
            <a:ext cx="307357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Iasi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84708" y="3132906"/>
            <a:ext cx="1209354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1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69191" y="1456619"/>
            <a:ext cx="1034051" cy="447909"/>
          </a:xfrm>
          <a:custGeom>
            <a:avLst/>
            <a:gdLst/>
            <a:ahLst/>
            <a:cxnLst/>
            <a:rect l="l" t="t" r="r" b="b"/>
            <a:pathLst>
              <a:path w="850264" h="368300">
                <a:moveTo>
                  <a:pt x="850134" y="367789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175767" y="2945127"/>
            <a:ext cx="813958" cy="1444892"/>
          </a:xfrm>
          <a:custGeom>
            <a:avLst/>
            <a:gdLst/>
            <a:ahLst/>
            <a:cxnLst/>
            <a:rect l="l" t="t" r="r" b="b"/>
            <a:pathLst>
              <a:path w="669290" h="1188085">
                <a:moveTo>
                  <a:pt x="0" y="1187766"/>
                </a:moveTo>
                <a:lnTo>
                  <a:pt x="669259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3082" y="1947898"/>
            <a:ext cx="586915" cy="901996"/>
          </a:xfrm>
          <a:custGeom>
            <a:avLst/>
            <a:gdLst/>
            <a:ahLst/>
            <a:cxnLst/>
            <a:rect l="l" t="t" r="r" b="b"/>
            <a:pathLst>
              <a:path w="482600" h="741680">
                <a:moveTo>
                  <a:pt x="482344" y="741602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223435" y="4433624"/>
            <a:ext cx="1081931" cy="0"/>
          </a:xfrm>
          <a:custGeom>
            <a:avLst/>
            <a:gdLst/>
            <a:ahLst/>
            <a:cxnLst/>
            <a:rect l="l" t="t" r="r" b="b"/>
            <a:pathLst>
              <a:path w="889634">
                <a:moveTo>
                  <a:pt x="0" y="0"/>
                </a:moveTo>
                <a:lnTo>
                  <a:pt x="88932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48975" y="4382297"/>
            <a:ext cx="462582" cy="901996"/>
          </a:xfrm>
          <a:custGeom>
            <a:avLst/>
            <a:gdLst/>
            <a:ahLst/>
            <a:cxnLst/>
            <a:rect l="l" t="t" r="r" b="b"/>
            <a:pathLst>
              <a:path w="380365" h="741679">
                <a:moveTo>
                  <a:pt x="0" y="0"/>
                </a:moveTo>
                <a:lnTo>
                  <a:pt x="379836" y="74160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73865" y="4433625"/>
            <a:ext cx="857977" cy="315853"/>
          </a:xfrm>
          <a:custGeom>
            <a:avLst/>
            <a:gdLst/>
            <a:ahLst/>
            <a:cxnLst/>
            <a:rect l="l" t="t" r="r" b="b"/>
            <a:pathLst>
              <a:path w="705485" h="259714">
                <a:moveTo>
                  <a:pt x="0" y="259261"/>
                </a:moveTo>
                <a:lnTo>
                  <a:pt x="70543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826595" y="4792918"/>
            <a:ext cx="447909" cy="901996"/>
          </a:xfrm>
          <a:custGeom>
            <a:avLst/>
            <a:gdLst/>
            <a:ahLst/>
            <a:cxnLst/>
            <a:rect l="l" t="t" r="r" b="b"/>
            <a:pathLst>
              <a:path w="368300" h="741679">
                <a:moveTo>
                  <a:pt x="367773" y="0"/>
                </a:moveTo>
                <a:lnTo>
                  <a:pt x="0" y="741603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012675" y="4110998"/>
            <a:ext cx="1217847" cy="638656"/>
          </a:xfrm>
          <a:custGeom>
            <a:avLst/>
            <a:gdLst/>
            <a:ahLst/>
            <a:cxnLst/>
            <a:rect l="l" t="t" r="r" b="b"/>
            <a:pathLst>
              <a:path w="1001395" h="525145">
                <a:moveTo>
                  <a:pt x="0" y="0"/>
                </a:moveTo>
                <a:lnTo>
                  <a:pt x="1000861" y="52454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934811" y="4162324"/>
            <a:ext cx="1034051" cy="1261867"/>
          </a:xfrm>
          <a:custGeom>
            <a:avLst/>
            <a:gdLst/>
            <a:ahLst/>
            <a:cxnLst/>
            <a:rect l="l" t="t" r="r" b="b"/>
            <a:pathLst>
              <a:path w="850264" h="1037589">
                <a:moveTo>
                  <a:pt x="0" y="1037033"/>
                </a:moveTo>
                <a:lnTo>
                  <a:pt x="850118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612169" y="3480396"/>
            <a:ext cx="1312836" cy="630934"/>
          </a:xfrm>
          <a:custGeom>
            <a:avLst/>
            <a:gdLst/>
            <a:ahLst/>
            <a:cxnLst/>
            <a:rect l="l" t="t" r="r" b="b"/>
            <a:pathLst>
              <a:path w="1079500" h="518794">
                <a:moveTo>
                  <a:pt x="0" y="0"/>
                </a:moveTo>
                <a:lnTo>
                  <a:pt x="1079228" y="51852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216215" y="2717809"/>
            <a:ext cx="1525207" cy="88037"/>
          </a:xfrm>
          <a:custGeom>
            <a:avLst/>
            <a:gdLst/>
            <a:ahLst/>
            <a:cxnLst/>
            <a:rect l="l" t="t" r="r" b="b"/>
            <a:pathLst>
              <a:path w="1254125" h="72389">
                <a:moveTo>
                  <a:pt x="0" y="0"/>
                </a:moveTo>
                <a:lnTo>
                  <a:pt x="1254080" y="72359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619493" y="3524406"/>
            <a:ext cx="264112" cy="1855732"/>
          </a:xfrm>
          <a:custGeom>
            <a:avLst/>
            <a:gdLst/>
            <a:ahLst/>
            <a:cxnLst/>
            <a:rect l="l" t="t" r="r" b="b"/>
            <a:pathLst>
              <a:path w="217169" h="1525904">
                <a:moveTo>
                  <a:pt x="217062" y="1525397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534286" y="5240199"/>
            <a:ext cx="1349904" cy="139778"/>
          </a:xfrm>
          <a:custGeom>
            <a:avLst/>
            <a:gdLst/>
            <a:ahLst/>
            <a:cxnLst/>
            <a:rect l="l" t="t" r="r" b="b"/>
            <a:pathLst>
              <a:path w="1109980" h="114935">
                <a:moveTo>
                  <a:pt x="0" y="0"/>
                </a:moveTo>
                <a:lnTo>
                  <a:pt x="1109392" y="114559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512288" y="4601287"/>
            <a:ext cx="0" cy="547530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49990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194220" y="2717809"/>
            <a:ext cx="374544" cy="674952"/>
          </a:xfrm>
          <a:custGeom>
            <a:avLst/>
            <a:gdLst/>
            <a:ahLst/>
            <a:cxnLst/>
            <a:rect l="l" t="t" r="r" b="b"/>
            <a:pathLst>
              <a:path w="307975" h="554989">
                <a:moveTo>
                  <a:pt x="307492" y="554704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361091" y="2131206"/>
            <a:ext cx="1803991" cy="542896"/>
          </a:xfrm>
          <a:custGeom>
            <a:avLst/>
            <a:gdLst/>
            <a:ahLst/>
            <a:cxnLst/>
            <a:rect l="l" t="t" r="r" b="b"/>
            <a:pathLst>
              <a:path w="1483360" h="446405">
                <a:moveTo>
                  <a:pt x="0" y="0"/>
                </a:moveTo>
                <a:lnTo>
                  <a:pt x="1483194" y="44617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991678" y="914025"/>
            <a:ext cx="1173830" cy="1759973"/>
          </a:xfrm>
          <a:custGeom>
            <a:avLst/>
            <a:gdLst/>
            <a:ahLst/>
            <a:cxnLst/>
            <a:rect l="l" t="t" r="r" b="b"/>
            <a:pathLst>
              <a:path w="965200" h="1447164">
                <a:moveTo>
                  <a:pt x="964684" y="1447018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512296" y="4026682"/>
            <a:ext cx="0" cy="547530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49982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405090" y="3480397"/>
            <a:ext cx="1085793" cy="454859"/>
          </a:xfrm>
          <a:custGeom>
            <a:avLst/>
            <a:gdLst/>
            <a:ahLst/>
            <a:cxnLst/>
            <a:rect l="l" t="t" r="r" b="b"/>
            <a:pathLst>
              <a:path w="892810" h="374014">
                <a:moveTo>
                  <a:pt x="0" y="0"/>
                </a:moveTo>
                <a:lnTo>
                  <a:pt x="892329" y="373813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339093" y="2222870"/>
            <a:ext cx="0" cy="1222482"/>
          </a:xfrm>
          <a:custGeom>
            <a:avLst/>
            <a:gdLst/>
            <a:ahLst/>
            <a:cxnLst/>
            <a:rect l="l" t="t" r="r" b="b"/>
            <a:pathLst>
              <a:path h="1005205">
                <a:moveTo>
                  <a:pt x="0" y="0"/>
                </a:moveTo>
                <a:lnTo>
                  <a:pt x="0" y="1004687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317095" y="1500610"/>
            <a:ext cx="271834" cy="630934"/>
          </a:xfrm>
          <a:custGeom>
            <a:avLst/>
            <a:gdLst/>
            <a:ahLst/>
            <a:cxnLst/>
            <a:rect l="l" t="t" r="r" b="b"/>
            <a:pathLst>
              <a:path w="223519" h="518794">
                <a:moveTo>
                  <a:pt x="223087" y="0"/>
                </a:moveTo>
                <a:lnTo>
                  <a:pt x="0" y="51851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588404" y="870016"/>
            <a:ext cx="359872" cy="630934"/>
          </a:xfrm>
          <a:custGeom>
            <a:avLst/>
            <a:gdLst/>
            <a:ahLst/>
            <a:cxnLst/>
            <a:rect l="l" t="t" r="r" b="b"/>
            <a:pathLst>
              <a:path w="295909" h="518794">
                <a:moveTo>
                  <a:pt x="295428" y="0"/>
                </a:moveTo>
                <a:lnTo>
                  <a:pt x="0" y="51851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835802" y="533553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835803" y="533553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524187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524187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775260" y="560317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775260" y="560317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087784" y="43419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087785" y="434197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921030" y="40706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921030" y="40706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273863" y="13686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273864" y="13686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697376" y="276182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697378" y="276182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490283" y="451429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490283" y="451429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442620" y="514854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442621" y="514854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442620" y="389103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442621" y="389103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269433" y="208721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269433" y="208721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313425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313425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544396" y="14529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544396" y="14529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900027" y="82236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900027" y="82236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3120889" y="262985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120889" y="262985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8759577" y="5243877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759579" y="524387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8304983" y="43419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8304985" y="434197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917602" y="283758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7917603" y="2837588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7351746" y="18562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7351747" y="1856277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6185862" y="47012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6185865" y="47012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555422" y="87870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217342" y="156054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006080" y="2607330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118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699709" y="3629676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111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269997" y="4057558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264866" y="468415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058990" y="495368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120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637328" y="1477109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151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109747" y="2026893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979859" y="2419941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99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460459" y="283080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106006" y="3757625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97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312385" y="434769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101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631790" y="3583816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211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466304" y="4694434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138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826392" y="4287843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146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563220" y="4266001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095498" y="4756696"/>
            <a:ext cx="1010884" cy="634404"/>
          </a:xfrm>
          <a:prstGeom prst="rect">
            <a:avLst/>
          </a:prstGeom>
        </p:spPr>
        <p:txBody>
          <a:bodyPr vert="horz" wrap="square" lIns="0" tIns="100393" rIns="0" bIns="0" rtlCol="0">
            <a:spAutoFit/>
          </a:bodyPr>
          <a:lstStyle/>
          <a:p>
            <a:pPr marL="185349" marR="0" lvl="0" indent="0" algn="l" defTabSz="1112093" rtl="0" eaLnBrk="1" fontAlgn="auto" latinLnBrk="0" hangingPunct="1">
              <a:lnSpc>
                <a:spcPct val="100000"/>
              </a:lnSpc>
              <a:spcBef>
                <a:spcPts val="7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718146" y="4080985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669209" y="347401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142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789593" y="215725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92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892643" y="134582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87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8677847" y="4613357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86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11181337" y="2279705"/>
            <a:ext cx="384584" cy="221638"/>
          </a:xfrm>
          <a:custGeom>
            <a:avLst/>
            <a:gdLst/>
            <a:ahLst/>
            <a:cxnLst/>
            <a:rect l="l" t="t" r="r" b="b"/>
            <a:pathLst>
              <a:path w="316229" h="182244">
                <a:moveTo>
                  <a:pt x="0" y="0"/>
                </a:moveTo>
                <a:lnTo>
                  <a:pt x="315935" y="0"/>
                </a:lnTo>
                <a:lnTo>
                  <a:pt x="315935" y="181662"/>
                </a:lnTo>
                <a:lnTo>
                  <a:pt x="0" y="1816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11171732" y="4191226"/>
            <a:ext cx="384584" cy="221638"/>
          </a:xfrm>
          <a:custGeom>
            <a:avLst/>
            <a:gdLst/>
            <a:ahLst/>
            <a:cxnLst/>
            <a:rect l="l" t="t" r="r" b="b"/>
            <a:pathLst>
              <a:path w="316229" h="182245">
                <a:moveTo>
                  <a:pt x="0" y="0"/>
                </a:moveTo>
                <a:lnTo>
                  <a:pt x="315935" y="0"/>
                </a:lnTo>
                <a:lnTo>
                  <a:pt x="315935" y="181662"/>
                </a:lnTo>
                <a:lnTo>
                  <a:pt x="0" y="1816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graphicFrame>
        <p:nvGraphicFramePr>
          <p:cNvPr id="112" name="object 112"/>
          <p:cNvGraphicFramePr>
            <a:graphicFrameLocks noGrp="1"/>
          </p:cNvGraphicFramePr>
          <p:nvPr/>
        </p:nvGraphicFramePr>
        <p:xfrm>
          <a:off x="9479524" y="1083587"/>
          <a:ext cx="2084321" cy="4746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7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631">
                <a:tc>
                  <a:txBody>
                    <a:bodyPr/>
                    <a:lstStyle/>
                    <a:p>
                      <a:pPr marL="31750">
                        <a:lnSpc>
                          <a:spcPts val="132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Arad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4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366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Bucharest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43">
                <a:tc>
                  <a:txBody>
                    <a:bodyPr/>
                    <a:lstStyle/>
                    <a:p>
                      <a:pPr marL="31750">
                        <a:lnSpc>
                          <a:spcPts val="133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Craiova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160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930">
                <a:tc>
                  <a:txBody>
                    <a:bodyPr/>
                    <a:lstStyle/>
                    <a:p>
                      <a:pPr marL="31750">
                        <a:lnSpc>
                          <a:spcPts val="129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Dobreta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918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Eforie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161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922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Fagaras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39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176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263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Giurgiu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90"/>
                        </a:lnSpc>
                        <a:spcBef>
                          <a:spcPts val="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77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54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Hirsova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151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Iasi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226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928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Lugoj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260">
                <a:tc>
                  <a:txBody>
                    <a:bodyPr/>
                    <a:lstStyle/>
                    <a:p>
                      <a:pPr marL="31750">
                        <a:lnSpc>
                          <a:spcPts val="133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Mehadia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Neamt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234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Oradea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380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476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Pitesti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ts val="1400"/>
                        </a:lnSpc>
                        <a:spcBef>
                          <a:spcPts val="4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178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697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Rimnicu</a:t>
                      </a:r>
                      <a:r>
                        <a:rPr sz="1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Vilcea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193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929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Sibiu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253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4933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Timisoara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329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4918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Urziceni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80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4930">
                <a:tc>
                  <a:txBody>
                    <a:bodyPr/>
                    <a:lstStyle/>
                    <a:p>
                      <a:pPr marL="31750">
                        <a:lnSpc>
                          <a:spcPts val="133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Vaslui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199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6722">
                <a:tc>
                  <a:txBody>
                    <a:bodyPr/>
                    <a:lstStyle/>
                    <a:p>
                      <a:pPr marL="31750">
                        <a:lnSpc>
                          <a:spcPts val="134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Zerind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9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374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13" name="object 113"/>
          <p:cNvSpPr txBox="1"/>
          <p:nvPr/>
        </p:nvSpPr>
        <p:spPr>
          <a:xfrm>
            <a:off x="1176394" y="5933130"/>
            <a:ext cx="1546830" cy="401566"/>
          </a:xfrm>
          <a:prstGeom prst="rect">
            <a:avLst/>
          </a:prstGeom>
        </p:spPr>
        <p:txBody>
          <a:bodyPr vert="horz" wrap="square" lIns="0" tIns="1776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Search</a:t>
            </a:r>
            <a:r>
              <a:rPr kumimoji="0" sz="2493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tree: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4861955" y="5852444"/>
            <a:ext cx="3988705" cy="506599"/>
          </a:xfrm>
          <a:custGeom>
            <a:avLst/>
            <a:gdLst/>
            <a:ahLst/>
            <a:cxnLst/>
            <a:rect l="l" t="t" r="r" b="b"/>
            <a:pathLst>
              <a:path w="3279775" h="416560">
                <a:moveTo>
                  <a:pt x="0" y="415969"/>
                </a:moveTo>
                <a:lnTo>
                  <a:pt x="2558162" y="0"/>
                </a:lnTo>
                <a:lnTo>
                  <a:pt x="3279162" y="4159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7973069" y="5852444"/>
            <a:ext cx="3575548" cy="506599"/>
          </a:xfrm>
          <a:custGeom>
            <a:avLst/>
            <a:gdLst/>
            <a:ahLst/>
            <a:cxnLst/>
            <a:rect l="l" t="t" r="r" b="b"/>
            <a:pathLst>
              <a:path w="2940050" h="416560">
                <a:moveTo>
                  <a:pt x="0" y="0"/>
                </a:moveTo>
                <a:lnTo>
                  <a:pt x="2939446" y="4159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11045578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859641" y="124776"/>
                </a:moveTo>
                <a:lnTo>
                  <a:pt x="837728" y="85338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6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8"/>
                </a:lnTo>
                <a:lnTo>
                  <a:pt x="47976" y="182126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6"/>
                </a:lnTo>
                <a:lnTo>
                  <a:pt x="854015" y="145018"/>
                </a:lnTo>
                <a:lnTo>
                  <a:pt x="859641" y="124776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7428052" y="5545231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429820" y="0"/>
                </a:move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8"/>
                </a:lnTo>
                <a:lnTo>
                  <a:pt x="0" y="124776"/>
                </a:lnTo>
                <a:lnTo>
                  <a:pt x="5625" y="145015"/>
                </a:lnTo>
                <a:lnTo>
                  <a:pt x="47976" y="182119"/>
                </a:lnTo>
                <a:lnTo>
                  <a:pt x="82930" y="198471"/>
                </a:lnTo>
                <a:lnTo>
                  <a:pt x="125892" y="213012"/>
                </a:lnTo>
                <a:lnTo>
                  <a:pt x="175974" y="225486"/>
                </a:lnTo>
                <a:lnTo>
                  <a:pt x="232293" y="235636"/>
                </a:lnTo>
                <a:lnTo>
                  <a:pt x="293964" y="243204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7" y="243204"/>
                </a:lnTo>
                <a:lnTo>
                  <a:pt x="627347" y="235636"/>
                </a:lnTo>
                <a:lnTo>
                  <a:pt x="683666" y="225486"/>
                </a:lnTo>
                <a:lnTo>
                  <a:pt x="733749" y="213012"/>
                </a:lnTo>
                <a:lnTo>
                  <a:pt x="776710" y="198471"/>
                </a:lnTo>
                <a:lnTo>
                  <a:pt x="811665" y="182119"/>
                </a:lnTo>
                <a:lnTo>
                  <a:pt x="854015" y="145015"/>
                </a:lnTo>
                <a:lnTo>
                  <a:pt x="859641" y="124776"/>
                </a:lnTo>
                <a:lnTo>
                  <a:pt x="854015" y="104538"/>
                </a:lnTo>
                <a:lnTo>
                  <a:pt x="811665" y="67436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7" y="6361"/>
                </a:lnTo>
                <a:lnTo>
                  <a:pt x="499539" y="1633"/>
                </a:lnTo>
                <a:lnTo>
                  <a:pt x="42982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7428052" y="5545231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859641" y="124776"/>
                </a:moveTo>
                <a:lnTo>
                  <a:pt x="837728" y="85338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6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5"/>
                </a:lnTo>
                <a:lnTo>
                  <a:pt x="47976" y="182119"/>
                </a:lnTo>
                <a:lnTo>
                  <a:pt x="82930" y="198471"/>
                </a:lnTo>
                <a:lnTo>
                  <a:pt x="125892" y="213012"/>
                </a:lnTo>
                <a:lnTo>
                  <a:pt x="175974" y="225486"/>
                </a:lnTo>
                <a:lnTo>
                  <a:pt x="232293" y="235636"/>
                </a:lnTo>
                <a:lnTo>
                  <a:pt x="293964" y="243204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4"/>
                </a:lnTo>
                <a:lnTo>
                  <a:pt x="627347" y="235636"/>
                </a:lnTo>
                <a:lnTo>
                  <a:pt x="683666" y="225486"/>
                </a:lnTo>
                <a:lnTo>
                  <a:pt x="733749" y="213012"/>
                </a:lnTo>
                <a:lnTo>
                  <a:pt x="776710" y="198471"/>
                </a:lnTo>
                <a:lnTo>
                  <a:pt x="811665" y="182119"/>
                </a:lnTo>
                <a:lnTo>
                  <a:pt x="854015" y="145015"/>
                </a:lnTo>
                <a:lnTo>
                  <a:pt x="859641" y="12477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7736647" y="5552824"/>
            <a:ext cx="418563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4341448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429820" y="0"/>
                </a:move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8"/>
                </a:lnTo>
                <a:lnTo>
                  <a:pt x="0" y="124776"/>
                </a:lnTo>
                <a:lnTo>
                  <a:pt x="5625" y="145018"/>
                </a:lnTo>
                <a:lnTo>
                  <a:pt x="47976" y="182126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7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6"/>
                </a:lnTo>
                <a:lnTo>
                  <a:pt x="854015" y="145018"/>
                </a:lnTo>
                <a:lnTo>
                  <a:pt x="859641" y="124776"/>
                </a:lnTo>
                <a:lnTo>
                  <a:pt x="854015" y="104538"/>
                </a:lnTo>
                <a:lnTo>
                  <a:pt x="811665" y="67436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7" y="6361"/>
                </a:lnTo>
                <a:lnTo>
                  <a:pt x="499539" y="1633"/>
                </a:lnTo>
                <a:lnTo>
                  <a:pt x="42982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4341448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41" y="124776"/>
                </a:moveTo>
                <a:lnTo>
                  <a:pt x="837728" y="85338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6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8"/>
                </a:lnTo>
                <a:lnTo>
                  <a:pt x="47976" y="182126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6"/>
                </a:lnTo>
                <a:lnTo>
                  <a:pt x="854015" y="145018"/>
                </a:lnTo>
                <a:lnTo>
                  <a:pt x="859641" y="12477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4642378" y="6366429"/>
            <a:ext cx="439414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2411501" y="7165782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43" y="124790"/>
                </a:moveTo>
                <a:lnTo>
                  <a:pt x="837730" y="85351"/>
                </a:lnTo>
                <a:lnTo>
                  <a:pt x="776711" y="51096"/>
                </a:lnTo>
                <a:lnTo>
                  <a:pt x="733750" y="36554"/>
                </a:lnTo>
                <a:lnTo>
                  <a:pt x="683667" y="24080"/>
                </a:lnTo>
                <a:lnTo>
                  <a:pt x="627348" y="13931"/>
                </a:lnTo>
                <a:lnTo>
                  <a:pt x="565677" y="6363"/>
                </a:lnTo>
                <a:lnTo>
                  <a:pt x="499539" y="1633"/>
                </a:lnTo>
                <a:lnTo>
                  <a:pt x="429820" y="0"/>
                </a:lnTo>
                <a:lnTo>
                  <a:pt x="360102" y="1633"/>
                </a:lnTo>
                <a:lnTo>
                  <a:pt x="293965" y="6363"/>
                </a:lnTo>
                <a:lnTo>
                  <a:pt x="232294" y="13931"/>
                </a:lnTo>
                <a:lnTo>
                  <a:pt x="175975" y="24080"/>
                </a:lnTo>
                <a:lnTo>
                  <a:pt x="125892" y="36554"/>
                </a:lnTo>
                <a:lnTo>
                  <a:pt x="82931" y="51096"/>
                </a:lnTo>
                <a:lnTo>
                  <a:pt x="47976" y="67447"/>
                </a:lnTo>
                <a:lnTo>
                  <a:pt x="5625" y="104552"/>
                </a:lnTo>
                <a:lnTo>
                  <a:pt x="0" y="124790"/>
                </a:lnTo>
                <a:lnTo>
                  <a:pt x="5625" y="145029"/>
                </a:lnTo>
                <a:lnTo>
                  <a:pt x="47976" y="182131"/>
                </a:lnTo>
                <a:lnTo>
                  <a:pt x="82931" y="198480"/>
                </a:lnTo>
                <a:lnTo>
                  <a:pt x="125892" y="213019"/>
                </a:lnTo>
                <a:lnTo>
                  <a:pt x="175975" y="225491"/>
                </a:lnTo>
                <a:lnTo>
                  <a:pt x="232294" y="235639"/>
                </a:lnTo>
                <a:lnTo>
                  <a:pt x="293965" y="243205"/>
                </a:lnTo>
                <a:lnTo>
                  <a:pt x="360102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7" y="243205"/>
                </a:lnTo>
                <a:lnTo>
                  <a:pt x="627348" y="235639"/>
                </a:lnTo>
                <a:lnTo>
                  <a:pt x="683667" y="225491"/>
                </a:lnTo>
                <a:lnTo>
                  <a:pt x="733750" y="213019"/>
                </a:lnTo>
                <a:lnTo>
                  <a:pt x="776711" y="198480"/>
                </a:lnTo>
                <a:lnTo>
                  <a:pt x="811666" y="182131"/>
                </a:lnTo>
                <a:lnTo>
                  <a:pt x="854017" y="145029"/>
                </a:lnTo>
                <a:lnTo>
                  <a:pt x="859643" y="124790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8318130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859641" y="124776"/>
                </a:moveTo>
                <a:lnTo>
                  <a:pt x="837728" y="85338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6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8"/>
                </a:lnTo>
                <a:lnTo>
                  <a:pt x="47976" y="182126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6"/>
                </a:lnTo>
                <a:lnTo>
                  <a:pt x="854015" y="145018"/>
                </a:lnTo>
                <a:lnTo>
                  <a:pt x="859641" y="124776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6068152" y="7215957"/>
            <a:ext cx="160009" cy="2031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2935404" y="6660217"/>
            <a:ext cx="1939908" cy="505828"/>
          </a:xfrm>
          <a:custGeom>
            <a:avLst/>
            <a:gdLst/>
            <a:ahLst/>
            <a:cxnLst/>
            <a:rect l="l" t="t" r="r" b="b"/>
            <a:pathLst>
              <a:path w="1595120" h="415925">
                <a:moveTo>
                  <a:pt x="1594770" y="0"/>
                </a:moveTo>
                <a:lnTo>
                  <a:pt x="0" y="41543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4875259" y="6659407"/>
            <a:ext cx="615488" cy="506599"/>
          </a:xfrm>
          <a:custGeom>
            <a:avLst/>
            <a:gdLst/>
            <a:ahLst/>
            <a:cxnLst/>
            <a:rect l="l" t="t" r="r" b="b"/>
            <a:pathLst>
              <a:path w="506095" h="416560">
                <a:moveTo>
                  <a:pt x="0" y="0"/>
                </a:moveTo>
                <a:lnTo>
                  <a:pt x="506089" y="4159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6252770" y="7165782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41" y="124790"/>
                </a:moveTo>
                <a:lnTo>
                  <a:pt x="837728" y="85351"/>
                </a:lnTo>
                <a:lnTo>
                  <a:pt x="776710" y="51096"/>
                </a:lnTo>
                <a:lnTo>
                  <a:pt x="733749" y="36554"/>
                </a:lnTo>
                <a:lnTo>
                  <a:pt x="683666" y="24080"/>
                </a:lnTo>
                <a:lnTo>
                  <a:pt x="627347" y="13931"/>
                </a:lnTo>
                <a:lnTo>
                  <a:pt x="565676" y="6363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3"/>
                </a:lnTo>
                <a:lnTo>
                  <a:pt x="232293" y="13931"/>
                </a:lnTo>
                <a:lnTo>
                  <a:pt x="175974" y="24080"/>
                </a:lnTo>
                <a:lnTo>
                  <a:pt x="125892" y="36554"/>
                </a:lnTo>
                <a:lnTo>
                  <a:pt x="82930" y="51096"/>
                </a:lnTo>
                <a:lnTo>
                  <a:pt x="47976" y="67447"/>
                </a:lnTo>
                <a:lnTo>
                  <a:pt x="5625" y="104552"/>
                </a:lnTo>
                <a:lnTo>
                  <a:pt x="0" y="124790"/>
                </a:lnTo>
                <a:lnTo>
                  <a:pt x="5625" y="145029"/>
                </a:lnTo>
                <a:lnTo>
                  <a:pt x="47976" y="182131"/>
                </a:lnTo>
                <a:lnTo>
                  <a:pt x="82930" y="198480"/>
                </a:lnTo>
                <a:lnTo>
                  <a:pt x="125892" y="213019"/>
                </a:lnTo>
                <a:lnTo>
                  <a:pt x="175974" y="225491"/>
                </a:lnTo>
                <a:lnTo>
                  <a:pt x="232293" y="235639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9"/>
                </a:lnTo>
                <a:lnTo>
                  <a:pt x="683666" y="225491"/>
                </a:lnTo>
                <a:lnTo>
                  <a:pt x="733749" y="213019"/>
                </a:lnTo>
                <a:lnTo>
                  <a:pt x="776710" y="198480"/>
                </a:lnTo>
                <a:lnTo>
                  <a:pt x="811665" y="182131"/>
                </a:lnTo>
                <a:lnTo>
                  <a:pt x="854015" y="145029"/>
                </a:lnTo>
                <a:lnTo>
                  <a:pt x="859641" y="124790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6303333" y="7186271"/>
            <a:ext cx="904312" cy="214463"/>
          </a:xfrm>
          <a:prstGeom prst="rect">
            <a:avLst/>
          </a:prstGeom>
        </p:spPr>
        <p:txBody>
          <a:bodyPr vert="horz" wrap="square" lIns="0" tIns="1776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-12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0" i="0" u="none" strike="noStrike" kern="1200" cap="none" spc="-1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0" i="0" u="none" strike="noStrike" kern="1200" cap="none" spc="-1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3703347" y="7165782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37" y="124790"/>
                </a:moveTo>
                <a:lnTo>
                  <a:pt x="837724" y="85351"/>
                </a:lnTo>
                <a:lnTo>
                  <a:pt x="776706" y="51096"/>
                </a:lnTo>
                <a:lnTo>
                  <a:pt x="733745" y="36554"/>
                </a:lnTo>
                <a:lnTo>
                  <a:pt x="683662" y="24080"/>
                </a:lnTo>
                <a:lnTo>
                  <a:pt x="627343" y="13931"/>
                </a:lnTo>
                <a:lnTo>
                  <a:pt x="565672" y="6363"/>
                </a:lnTo>
                <a:lnTo>
                  <a:pt x="499535" y="1633"/>
                </a:lnTo>
                <a:lnTo>
                  <a:pt x="429816" y="0"/>
                </a:lnTo>
                <a:lnTo>
                  <a:pt x="360098" y="1633"/>
                </a:lnTo>
                <a:lnTo>
                  <a:pt x="293962" y="6363"/>
                </a:lnTo>
                <a:lnTo>
                  <a:pt x="232292" y="13931"/>
                </a:lnTo>
                <a:lnTo>
                  <a:pt x="175973" y="24080"/>
                </a:lnTo>
                <a:lnTo>
                  <a:pt x="125891" y="36554"/>
                </a:lnTo>
                <a:lnTo>
                  <a:pt x="82930" y="51096"/>
                </a:lnTo>
                <a:lnTo>
                  <a:pt x="47975" y="67447"/>
                </a:lnTo>
                <a:lnTo>
                  <a:pt x="5625" y="104552"/>
                </a:lnTo>
                <a:lnTo>
                  <a:pt x="0" y="124790"/>
                </a:lnTo>
                <a:lnTo>
                  <a:pt x="5625" y="145029"/>
                </a:lnTo>
                <a:lnTo>
                  <a:pt x="47975" y="182131"/>
                </a:lnTo>
                <a:lnTo>
                  <a:pt x="82930" y="198480"/>
                </a:lnTo>
                <a:lnTo>
                  <a:pt x="125891" y="213019"/>
                </a:lnTo>
                <a:lnTo>
                  <a:pt x="175973" y="225491"/>
                </a:lnTo>
                <a:lnTo>
                  <a:pt x="232292" y="235639"/>
                </a:lnTo>
                <a:lnTo>
                  <a:pt x="293962" y="243205"/>
                </a:lnTo>
                <a:lnTo>
                  <a:pt x="360098" y="247934"/>
                </a:lnTo>
                <a:lnTo>
                  <a:pt x="429816" y="249567"/>
                </a:lnTo>
                <a:lnTo>
                  <a:pt x="499535" y="247934"/>
                </a:lnTo>
                <a:lnTo>
                  <a:pt x="565672" y="243205"/>
                </a:lnTo>
                <a:lnTo>
                  <a:pt x="627343" y="235639"/>
                </a:lnTo>
                <a:lnTo>
                  <a:pt x="683662" y="225491"/>
                </a:lnTo>
                <a:lnTo>
                  <a:pt x="733745" y="213019"/>
                </a:lnTo>
                <a:lnTo>
                  <a:pt x="776706" y="198480"/>
                </a:lnTo>
                <a:lnTo>
                  <a:pt x="811661" y="182131"/>
                </a:lnTo>
                <a:lnTo>
                  <a:pt x="854011" y="145029"/>
                </a:lnTo>
                <a:lnTo>
                  <a:pt x="859637" y="124790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4962743" y="7165782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56" y="124790"/>
                </a:moveTo>
                <a:lnTo>
                  <a:pt x="837742" y="85351"/>
                </a:lnTo>
                <a:lnTo>
                  <a:pt x="776721" y="51096"/>
                </a:lnTo>
                <a:lnTo>
                  <a:pt x="733758" y="36554"/>
                </a:lnTo>
                <a:lnTo>
                  <a:pt x="683675" y="24080"/>
                </a:lnTo>
                <a:lnTo>
                  <a:pt x="627355" y="13931"/>
                </a:lnTo>
                <a:lnTo>
                  <a:pt x="565685" y="6363"/>
                </a:lnTo>
                <a:lnTo>
                  <a:pt x="499550" y="1633"/>
                </a:lnTo>
                <a:lnTo>
                  <a:pt x="429835" y="0"/>
                </a:lnTo>
                <a:lnTo>
                  <a:pt x="360116" y="1633"/>
                </a:lnTo>
                <a:lnTo>
                  <a:pt x="293977" y="6363"/>
                </a:lnTo>
                <a:lnTo>
                  <a:pt x="232305" y="13931"/>
                </a:lnTo>
                <a:lnTo>
                  <a:pt x="175984" y="24080"/>
                </a:lnTo>
                <a:lnTo>
                  <a:pt x="125899" y="36554"/>
                </a:lnTo>
                <a:lnTo>
                  <a:pt x="82935" y="51096"/>
                </a:lnTo>
                <a:lnTo>
                  <a:pt x="47979" y="67447"/>
                </a:lnTo>
                <a:lnTo>
                  <a:pt x="5626" y="104552"/>
                </a:lnTo>
                <a:lnTo>
                  <a:pt x="0" y="124790"/>
                </a:lnTo>
                <a:lnTo>
                  <a:pt x="5626" y="145029"/>
                </a:lnTo>
                <a:lnTo>
                  <a:pt x="47979" y="182131"/>
                </a:lnTo>
                <a:lnTo>
                  <a:pt x="82935" y="198480"/>
                </a:lnTo>
                <a:lnTo>
                  <a:pt x="125899" y="213019"/>
                </a:lnTo>
                <a:lnTo>
                  <a:pt x="175984" y="225491"/>
                </a:lnTo>
                <a:lnTo>
                  <a:pt x="232305" y="235639"/>
                </a:lnTo>
                <a:lnTo>
                  <a:pt x="293977" y="243205"/>
                </a:lnTo>
                <a:lnTo>
                  <a:pt x="360116" y="247934"/>
                </a:lnTo>
                <a:lnTo>
                  <a:pt x="429835" y="249567"/>
                </a:lnTo>
                <a:lnTo>
                  <a:pt x="499550" y="247934"/>
                </a:lnTo>
                <a:lnTo>
                  <a:pt x="565685" y="243205"/>
                </a:lnTo>
                <a:lnTo>
                  <a:pt x="627355" y="235639"/>
                </a:lnTo>
                <a:lnTo>
                  <a:pt x="683675" y="225491"/>
                </a:lnTo>
                <a:lnTo>
                  <a:pt x="733758" y="213019"/>
                </a:lnTo>
                <a:lnTo>
                  <a:pt x="776721" y="198480"/>
                </a:lnTo>
                <a:lnTo>
                  <a:pt x="811677" y="182131"/>
                </a:lnTo>
                <a:lnTo>
                  <a:pt x="854030" y="145029"/>
                </a:lnTo>
                <a:lnTo>
                  <a:pt x="859656" y="124790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3866722" y="7173408"/>
            <a:ext cx="1932958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>
                <a:tab pos="1305165" algn="l"/>
              </a:tabLst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	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4874907" y="6660216"/>
            <a:ext cx="1905157" cy="517412"/>
          </a:xfrm>
          <a:custGeom>
            <a:avLst/>
            <a:gdLst/>
            <a:ahLst/>
            <a:cxnLst/>
            <a:rect l="l" t="t" r="r" b="b"/>
            <a:pathLst>
              <a:path w="1566545" h="425450">
                <a:moveTo>
                  <a:pt x="0" y="0"/>
                </a:moveTo>
                <a:lnTo>
                  <a:pt x="1566065" y="42499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4228395" y="6660217"/>
            <a:ext cx="647151" cy="507373"/>
          </a:xfrm>
          <a:custGeom>
            <a:avLst/>
            <a:gdLst/>
            <a:ahLst/>
            <a:cxnLst/>
            <a:rect l="l" t="t" r="r" b="b"/>
            <a:pathLst>
              <a:path w="532129" h="417195">
                <a:moveTo>
                  <a:pt x="531589" y="0"/>
                </a:moveTo>
                <a:lnTo>
                  <a:pt x="0" y="41679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8244573" y="6301172"/>
            <a:ext cx="1163789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183032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447=118+329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8" name="object 138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1025765" y="6301173"/>
            <a:ext cx="1061853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251766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449=75+374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2337943" y="7108185"/>
            <a:ext cx="5004995" cy="594913"/>
          </a:xfrm>
          <a:prstGeom prst="rect">
            <a:avLst/>
          </a:prstGeom>
        </p:spPr>
        <p:txBody>
          <a:bodyPr vert="horz" wrap="square" lIns="0" tIns="86493" rIns="0" bIns="0" rtlCol="0">
            <a:spAutoFit/>
          </a:bodyPr>
          <a:lstStyle/>
          <a:p>
            <a:pPr marL="396956" marR="0" lvl="0" indent="0" algn="l" defTabSz="1112093" rtl="0" eaLnBrk="1" fontAlgn="auto" latinLnBrk="0" hangingPunct="1">
              <a:lnSpc>
                <a:spcPct val="100000"/>
              </a:lnSpc>
              <a:spcBef>
                <a:spcPts val="68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Tx/>
              <a:buSzTx/>
              <a:buFontTx/>
              <a:buNone/>
              <a:tabLst>
                <a:tab pos="1306710" algn="l"/>
                <a:tab pos="3856801" algn="l"/>
              </a:tabLst>
              <a:defRPr/>
            </a:pP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646=280+366	415=239+176  </a:t>
            </a:r>
            <a:r>
              <a:rPr kumimoji="0" sz="1399" b="0" i="0" u="none" strike="noStrike" kern="1200" cap="none" spc="-16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671=291+380</a:t>
            </a:r>
            <a:r>
              <a:rPr kumimoji="0" sz="1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	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413=220+193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6387879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02692" y="591108"/>
            <a:ext cx="1779279" cy="466514"/>
          </a:xfrm>
          <a:prstGeom prst="rect">
            <a:avLst/>
          </a:prstGeom>
        </p:spPr>
        <p:txBody>
          <a:bodyPr vert="horz" wrap="square" lIns="0" tIns="55602" rIns="0" bIns="0" rtlCol="0">
            <a:spAutoFit/>
          </a:bodyPr>
          <a:lstStyle/>
          <a:p>
            <a:pPr marL="15446" marR="6178" lvl="0" indent="0" algn="l" defTabSz="1112093" rtl="0" eaLnBrk="1" fontAlgn="auto" latinLnBrk="0" hangingPunct="1">
              <a:lnSpc>
                <a:spcPts val="1569"/>
              </a:lnSpc>
              <a:spcBef>
                <a:spcPts val="43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Straight−line </a:t>
            </a: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distance  to</a:t>
            </a:r>
            <a:r>
              <a:rPr kumimoji="0" sz="158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Bucharest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26564" y="2303312"/>
            <a:ext cx="29963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ts val="1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178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6371" y="4199685"/>
            <a:ext cx="200014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ts val="1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98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61369" y="2839598"/>
            <a:ext cx="1498178" cy="1896662"/>
          </a:xfrm>
          <a:custGeom>
            <a:avLst/>
            <a:gdLst/>
            <a:ahLst/>
            <a:cxnLst/>
            <a:rect l="l" t="t" r="r" b="b"/>
            <a:pathLst>
              <a:path w="1231900" h="1559560">
                <a:moveTo>
                  <a:pt x="0" y="0"/>
                </a:moveTo>
                <a:lnTo>
                  <a:pt x="1231847" y="1559385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87113" y="5523307"/>
            <a:ext cx="62012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Giurgiu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5003" y="4446735"/>
            <a:ext cx="67495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Urziceni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6834" y="4262133"/>
            <a:ext cx="6386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Hirsova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56153" y="5391328"/>
            <a:ext cx="50042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Eforie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89784" y="1050684"/>
            <a:ext cx="537489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Neamt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5543" y="742531"/>
            <a:ext cx="602360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8922" y="1461105"/>
            <a:ext cx="537489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4936" y="2003721"/>
            <a:ext cx="408524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84962" y="3220909"/>
            <a:ext cx="81395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58150" y="3807510"/>
            <a:ext cx="48188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02136" y="4438104"/>
            <a:ext cx="69348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6141" y="5068700"/>
            <a:ext cx="65641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07343" y="5347354"/>
            <a:ext cx="6386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88748" y="2370322"/>
            <a:ext cx="436325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42603" y="2406992"/>
            <a:ext cx="666457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72066" y="3728886"/>
            <a:ext cx="528223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13545" y="2766300"/>
            <a:ext cx="5189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Vaslui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70929" y="1783744"/>
            <a:ext cx="307357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Iasi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84708" y="3132906"/>
            <a:ext cx="1209354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1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69191" y="1456619"/>
            <a:ext cx="1034051" cy="447909"/>
          </a:xfrm>
          <a:custGeom>
            <a:avLst/>
            <a:gdLst/>
            <a:ahLst/>
            <a:cxnLst/>
            <a:rect l="l" t="t" r="r" b="b"/>
            <a:pathLst>
              <a:path w="850264" h="368300">
                <a:moveTo>
                  <a:pt x="850134" y="367789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175767" y="2945127"/>
            <a:ext cx="813958" cy="1444892"/>
          </a:xfrm>
          <a:custGeom>
            <a:avLst/>
            <a:gdLst/>
            <a:ahLst/>
            <a:cxnLst/>
            <a:rect l="l" t="t" r="r" b="b"/>
            <a:pathLst>
              <a:path w="669290" h="1188085">
                <a:moveTo>
                  <a:pt x="0" y="1187766"/>
                </a:moveTo>
                <a:lnTo>
                  <a:pt x="669259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3082" y="1947898"/>
            <a:ext cx="586915" cy="901996"/>
          </a:xfrm>
          <a:custGeom>
            <a:avLst/>
            <a:gdLst/>
            <a:ahLst/>
            <a:cxnLst/>
            <a:rect l="l" t="t" r="r" b="b"/>
            <a:pathLst>
              <a:path w="482600" h="741680">
                <a:moveTo>
                  <a:pt x="482344" y="741602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223435" y="4433624"/>
            <a:ext cx="1081931" cy="0"/>
          </a:xfrm>
          <a:custGeom>
            <a:avLst/>
            <a:gdLst/>
            <a:ahLst/>
            <a:cxnLst/>
            <a:rect l="l" t="t" r="r" b="b"/>
            <a:pathLst>
              <a:path w="889634">
                <a:moveTo>
                  <a:pt x="0" y="0"/>
                </a:moveTo>
                <a:lnTo>
                  <a:pt x="88932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48975" y="4382297"/>
            <a:ext cx="462582" cy="901996"/>
          </a:xfrm>
          <a:custGeom>
            <a:avLst/>
            <a:gdLst/>
            <a:ahLst/>
            <a:cxnLst/>
            <a:rect l="l" t="t" r="r" b="b"/>
            <a:pathLst>
              <a:path w="380365" h="741679">
                <a:moveTo>
                  <a:pt x="0" y="0"/>
                </a:moveTo>
                <a:lnTo>
                  <a:pt x="379836" y="74160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73865" y="4433625"/>
            <a:ext cx="857977" cy="315853"/>
          </a:xfrm>
          <a:custGeom>
            <a:avLst/>
            <a:gdLst/>
            <a:ahLst/>
            <a:cxnLst/>
            <a:rect l="l" t="t" r="r" b="b"/>
            <a:pathLst>
              <a:path w="705485" h="259714">
                <a:moveTo>
                  <a:pt x="0" y="259261"/>
                </a:moveTo>
                <a:lnTo>
                  <a:pt x="70543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826595" y="4792918"/>
            <a:ext cx="447909" cy="901996"/>
          </a:xfrm>
          <a:custGeom>
            <a:avLst/>
            <a:gdLst/>
            <a:ahLst/>
            <a:cxnLst/>
            <a:rect l="l" t="t" r="r" b="b"/>
            <a:pathLst>
              <a:path w="368300" h="741679">
                <a:moveTo>
                  <a:pt x="367773" y="0"/>
                </a:moveTo>
                <a:lnTo>
                  <a:pt x="0" y="741603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012675" y="4110998"/>
            <a:ext cx="1217847" cy="638656"/>
          </a:xfrm>
          <a:custGeom>
            <a:avLst/>
            <a:gdLst/>
            <a:ahLst/>
            <a:cxnLst/>
            <a:rect l="l" t="t" r="r" b="b"/>
            <a:pathLst>
              <a:path w="1001395" h="525145">
                <a:moveTo>
                  <a:pt x="0" y="0"/>
                </a:moveTo>
                <a:lnTo>
                  <a:pt x="1000861" y="52454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934811" y="4162324"/>
            <a:ext cx="1034051" cy="1261867"/>
          </a:xfrm>
          <a:custGeom>
            <a:avLst/>
            <a:gdLst/>
            <a:ahLst/>
            <a:cxnLst/>
            <a:rect l="l" t="t" r="r" b="b"/>
            <a:pathLst>
              <a:path w="850264" h="1037589">
                <a:moveTo>
                  <a:pt x="0" y="1037033"/>
                </a:moveTo>
                <a:lnTo>
                  <a:pt x="850118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612169" y="3480396"/>
            <a:ext cx="1312836" cy="630934"/>
          </a:xfrm>
          <a:custGeom>
            <a:avLst/>
            <a:gdLst/>
            <a:ahLst/>
            <a:cxnLst/>
            <a:rect l="l" t="t" r="r" b="b"/>
            <a:pathLst>
              <a:path w="1079500" h="518794">
                <a:moveTo>
                  <a:pt x="0" y="0"/>
                </a:moveTo>
                <a:lnTo>
                  <a:pt x="1079228" y="51852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216215" y="2717809"/>
            <a:ext cx="1525207" cy="88037"/>
          </a:xfrm>
          <a:custGeom>
            <a:avLst/>
            <a:gdLst/>
            <a:ahLst/>
            <a:cxnLst/>
            <a:rect l="l" t="t" r="r" b="b"/>
            <a:pathLst>
              <a:path w="1254125" h="72389">
                <a:moveTo>
                  <a:pt x="0" y="0"/>
                </a:moveTo>
                <a:lnTo>
                  <a:pt x="1254080" y="72359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619493" y="3524406"/>
            <a:ext cx="264112" cy="1855732"/>
          </a:xfrm>
          <a:custGeom>
            <a:avLst/>
            <a:gdLst/>
            <a:ahLst/>
            <a:cxnLst/>
            <a:rect l="l" t="t" r="r" b="b"/>
            <a:pathLst>
              <a:path w="217169" h="1525904">
                <a:moveTo>
                  <a:pt x="217062" y="1525397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534286" y="5240199"/>
            <a:ext cx="1349904" cy="139778"/>
          </a:xfrm>
          <a:custGeom>
            <a:avLst/>
            <a:gdLst/>
            <a:ahLst/>
            <a:cxnLst/>
            <a:rect l="l" t="t" r="r" b="b"/>
            <a:pathLst>
              <a:path w="1109980" h="114935">
                <a:moveTo>
                  <a:pt x="0" y="0"/>
                </a:moveTo>
                <a:lnTo>
                  <a:pt x="1109392" y="114559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512288" y="4601287"/>
            <a:ext cx="0" cy="547530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49990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194220" y="2717809"/>
            <a:ext cx="374544" cy="674952"/>
          </a:xfrm>
          <a:custGeom>
            <a:avLst/>
            <a:gdLst/>
            <a:ahLst/>
            <a:cxnLst/>
            <a:rect l="l" t="t" r="r" b="b"/>
            <a:pathLst>
              <a:path w="307975" h="554989">
                <a:moveTo>
                  <a:pt x="307492" y="554704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361091" y="2131206"/>
            <a:ext cx="1803991" cy="542896"/>
          </a:xfrm>
          <a:custGeom>
            <a:avLst/>
            <a:gdLst/>
            <a:ahLst/>
            <a:cxnLst/>
            <a:rect l="l" t="t" r="r" b="b"/>
            <a:pathLst>
              <a:path w="1483360" h="446405">
                <a:moveTo>
                  <a:pt x="0" y="0"/>
                </a:moveTo>
                <a:lnTo>
                  <a:pt x="1483194" y="44617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991678" y="914025"/>
            <a:ext cx="1173830" cy="1759973"/>
          </a:xfrm>
          <a:custGeom>
            <a:avLst/>
            <a:gdLst/>
            <a:ahLst/>
            <a:cxnLst/>
            <a:rect l="l" t="t" r="r" b="b"/>
            <a:pathLst>
              <a:path w="965200" h="1447164">
                <a:moveTo>
                  <a:pt x="964684" y="1447018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512296" y="4026682"/>
            <a:ext cx="0" cy="547530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49982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405090" y="3480397"/>
            <a:ext cx="1085793" cy="454859"/>
          </a:xfrm>
          <a:custGeom>
            <a:avLst/>
            <a:gdLst/>
            <a:ahLst/>
            <a:cxnLst/>
            <a:rect l="l" t="t" r="r" b="b"/>
            <a:pathLst>
              <a:path w="892810" h="374014">
                <a:moveTo>
                  <a:pt x="0" y="0"/>
                </a:moveTo>
                <a:lnTo>
                  <a:pt x="892329" y="373813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339093" y="2222870"/>
            <a:ext cx="0" cy="1222482"/>
          </a:xfrm>
          <a:custGeom>
            <a:avLst/>
            <a:gdLst/>
            <a:ahLst/>
            <a:cxnLst/>
            <a:rect l="l" t="t" r="r" b="b"/>
            <a:pathLst>
              <a:path h="1005205">
                <a:moveTo>
                  <a:pt x="0" y="0"/>
                </a:moveTo>
                <a:lnTo>
                  <a:pt x="0" y="1004687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317095" y="1500610"/>
            <a:ext cx="271834" cy="630934"/>
          </a:xfrm>
          <a:custGeom>
            <a:avLst/>
            <a:gdLst/>
            <a:ahLst/>
            <a:cxnLst/>
            <a:rect l="l" t="t" r="r" b="b"/>
            <a:pathLst>
              <a:path w="223519" h="518794">
                <a:moveTo>
                  <a:pt x="223087" y="0"/>
                </a:moveTo>
                <a:lnTo>
                  <a:pt x="0" y="51851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588404" y="870016"/>
            <a:ext cx="359872" cy="630934"/>
          </a:xfrm>
          <a:custGeom>
            <a:avLst/>
            <a:gdLst/>
            <a:ahLst/>
            <a:cxnLst/>
            <a:rect l="l" t="t" r="r" b="b"/>
            <a:pathLst>
              <a:path w="295909" h="518794">
                <a:moveTo>
                  <a:pt x="295428" y="0"/>
                </a:moveTo>
                <a:lnTo>
                  <a:pt x="0" y="51851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835802" y="533553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835803" y="533553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524187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524187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775260" y="560317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775260" y="560317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087784" y="43419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087785" y="434197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921030" y="40706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921030" y="40706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273863" y="13686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273864" y="13686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697376" y="276182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697378" y="276182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490283" y="451429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490283" y="451429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442620" y="514854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442621" y="514854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442620" y="389103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442621" y="389103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269433" y="208721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269433" y="208721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313425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313425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544396" y="14529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544396" y="14529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900027" y="82236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900027" y="82236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3120889" y="262985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120889" y="262985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8759577" y="5243877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759579" y="524387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8304983" y="43419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8304985" y="434197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917602" y="283758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7917603" y="2837588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7351746" y="18562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7351747" y="1856277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6185862" y="47012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6185865" y="47012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555422" y="87870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217342" y="156054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006080" y="2607330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118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699709" y="3629676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111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269997" y="4057558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264866" y="468415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058990" y="495368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120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637328" y="1477109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151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109747" y="2026893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979859" y="2419941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99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460459" y="283080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106006" y="3757625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97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312385" y="434769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101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631790" y="3583816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211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466304" y="4694434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138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826392" y="4287843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146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563220" y="4266001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095498" y="4756696"/>
            <a:ext cx="1010884" cy="634404"/>
          </a:xfrm>
          <a:prstGeom prst="rect">
            <a:avLst/>
          </a:prstGeom>
        </p:spPr>
        <p:txBody>
          <a:bodyPr vert="horz" wrap="square" lIns="0" tIns="100393" rIns="0" bIns="0" rtlCol="0">
            <a:spAutoFit/>
          </a:bodyPr>
          <a:lstStyle/>
          <a:p>
            <a:pPr marL="185349" marR="0" lvl="0" indent="0" algn="l" defTabSz="1112093" rtl="0" eaLnBrk="1" fontAlgn="auto" latinLnBrk="0" hangingPunct="1">
              <a:lnSpc>
                <a:spcPct val="100000"/>
              </a:lnSpc>
              <a:spcBef>
                <a:spcPts val="7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718146" y="4080985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669209" y="347401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142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789593" y="215725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92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892643" y="134582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87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8677847" y="4613357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86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11181337" y="2279705"/>
            <a:ext cx="384584" cy="221638"/>
          </a:xfrm>
          <a:custGeom>
            <a:avLst/>
            <a:gdLst/>
            <a:ahLst/>
            <a:cxnLst/>
            <a:rect l="l" t="t" r="r" b="b"/>
            <a:pathLst>
              <a:path w="316229" h="182244">
                <a:moveTo>
                  <a:pt x="0" y="0"/>
                </a:moveTo>
                <a:lnTo>
                  <a:pt x="315935" y="0"/>
                </a:lnTo>
                <a:lnTo>
                  <a:pt x="315935" y="181662"/>
                </a:lnTo>
                <a:lnTo>
                  <a:pt x="0" y="1816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11171732" y="4191226"/>
            <a:ext cx="384584" cy="221638"/>
          </a:xfrm>
          <a:custGeom>
            <a:avLst/>
            <a:gdLst/>
            <a:ahLst/>
            <a:cxnLst/>
            <a:rect l="l" t="t" r="r" b="b"/>
            <a:pathLst>
              <a:path w="316229" h="182245">
                <a:moveTo>
                  <a:pt x="0" y="0"/>
                </a:moveTo>
                <a:lnTo>
                  <a:pt x="315935" y="0"/>
                </a:lnTo>
                <a:lnTo>
                  <a:pt x="315935" y="181662"/>
                </a:lnTo>
                <a:lnTo>
                  <a:pt x="0" y="1816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graphicFrame>
        <p:nvGraphicFramePr>
          <p:cNvPr id="112" name="object 112"/>
          <p:cNvGraphicFramePr>
            <a:graphicFrameLocks noGrp="1"/>
          </p:cNvGraphicFramePr>
          <p:nvPr/>
        </p:nvGraphicFramePr>
        <p:xfrm>
          <a:off x="9479524" y="1083587"/>
          <a:ext cx="2084321" cy="4746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7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631">
                <a:tc>
                  <a:txBody>
                    <a:bodyPr/>
                    <a:lstStyle/>
                    <a:p>
                      <a:pPr marL="31750">
                        <a:lnSpc>
                          <a:spcPts val="132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Arad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4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366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Bucharest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43">
                <a:tc>
                  <a:txBody>
                    <a:bodyPr/>
                    <a:lstStyle/>
                    <a:p>
                      <a:pPr marL="31750">
                        <a:lnSpc>
                          <a:spcPts val="133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Craiova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160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930">
                <a:tc>
                  <a:txBody>
                    <a:bodyPr/>
                    <a:lstStyle/>
                    <a:p>
                      <a:pPr marL="31750">
                        <a:lnSpc>
                          <a:spcPts val="129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Dobreta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918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Eforie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161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922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Fagaras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39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176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263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Giurgiu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90"/>
                        </a:lnSpc>
                        <a:spcBef>
                          <a:spcPts val="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77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54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Hirsova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151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Iasi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226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928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Lugoj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260">
                <a:tc>
                  <a:txBody>
                    <a:bodyPr/>
                    <a:lstStyle/>
                    <a:p>
                      <a:pPr marL="31750">
                        <a:lnSpc>
                          <a:spcPts val="133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Mehadia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Neamt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234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Oradea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380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476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Pitesti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ts val="1400"/>
                        </a:lnSpc>
                        <a:spcBef>
                          <a:spcPts val="4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178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697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Rimnicu</a:t>
                      </a:r>
                      <a:r>
                        <a:rPr sz="1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Vilcea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193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929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Sibiu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253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4933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Timisoara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329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4918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Urziceni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80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4930">
                <a:tc>
                  <a:txBody>
                    <a:bodyPr/>
                    <a:lstStyle/>
                    <a:p>
                      <a:pPr marL="31750">
                        <a:lnSpc>
                          <a:spcPts val="133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Vaslui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199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6722">
                <a:tc>
                  <a:txBody>
                    <a:bodyPr/>
                    <a:lstStyle/>
                    <a:p>
                      <a:pPr marL="31750">
                        <a:lnSpc>
                          <a:spcPts val="134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Zerind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9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374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13" name="object 113"/>
          <p:cNvSpPr txBox="1"/>
          <p:nvPr/>
        </p:nvSpPr>
        <p:spPr>
          <a:xfrm>
            <a:off x="1176394" y="5933130"/>
            <a:ext cx="1546830" cy="401566"/>
          </a:xfrm>
          <a:prstGeom prst="rect">
            <a:avLst/>
          </a:prstGeom>
        </p:spPr>
        <p:txBody>
          <a:bodyPr vert="horz" wrap="square" lIns="0" tIns="1776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Search</a:t>
            </a:r>
            <a:r>
              <a:rPr kumimoji="0" sz="2493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tree: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4861955" y="5852444"/>
            <a:ext cx="3988705" cy="506599"/>
          </a:xfrm>
          <a:custGeom>
            <a:avLst/>
            <a:gdLst/>
            <a:ahLst/>
            <a:cxnLst/>
            <a:rect l="l" t="t" r="r" b="b"/>
            <a:pathLst>
              <a:path w="3279775" h="416560">
                <a:moveTo>
                  <a:pt x="0" y="415969"/>
                </a:moveTo>
                <a:lnTo>
                  <a:pt x="2558162" y="0"/>
                </a:lnTo>
                <a:lnTo>
                  <a:pt x="3279162" y="4159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7973069" y="5852444"/>
            <a:ext cx="3575548" cy="506599"/>
          </a:xfrm>
          <a:custGeom>
            <a:avLst/>
            <a:gdLst/>
            <a:ahLst/>
            <a:cxnLst/>
            <a:rect l="l" t="t" r="r" b="b"/>
            <a:pathLst>
              <a:path w="2940050" h="416560">
                <a:moveTo>
                  <a:pt x="0" y="0"/>
                </a:moveTo>
                <a:lnTo>
                  <a:pt x="2939446" y="4159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11045578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859641" y="124776"/>
                </a:moveTo>
                <a:lnTo>
                  <a:pt x="837728" y="85338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6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8"/>
                </a:lnTo>
                <a:lnTo>
                  <a:pt x="47976" y="182126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6"/>
                </a:lnTo>
                <a:lnTo>
                  <a:pt x="854015" y="145018"/>
                </a:lnTo>
                <a:lnTo>
                  <a:pt x="859641" y="124776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7428052" y="5545231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429820" y="0"/>
                </a:move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8"/>
                </a:lnTo>
                <a:lnTo>
                  <a:pt x="0" y="124776"/>
                </a:lnTo>
                <a:lnTo>
                  <a:pt x="5625" y="145015"/>
                </a:lnTo>
                <a:lnTo>
                  <a:pt x="47976" y="182119"/>
                </a:lnTo>
                <a:lnTo>
                  <a:pt x="82930" y="198471"/>
                </a:lnTo>
                <a:lnTo>
                  <a:pt x="125892" y="213012"/>
                </a:lnTo>
                <a:lnTo>
                  <a:pt x="175974" y="225486"/>
                </a:lnTo>
                <a:lnTo>
                  <a:pt x="232293" y="235636"/>
                </a:lnTo>
                <a:lnTo>
                  <a:pt x="293964" y="243204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7" y="243204"/>
                </a:lnTo>
                <a:lnTo>
                  <a:pt x="627347" y="235636"/>
                </a:lnTo>
                <a:lnTo>
                  <a:pt x="683666" y="225486"/>
                </a:lnTo>
                <a:lnTo>
                  <a:pt x="733749" y="213012"/>
                </a:lnTo>
                <a:lnTo>
                  <a:pt x="776710" y="198471"/>
                </a:lnTo>
                <a:lnTo>
                  <a:pt x="811665" y="182119"/>
                </a:lnTo>
                <a:lnTo>
                  <a:pt x="854015" y="145015"/>
                </a:lnTo>
                <a:lnTo>
                  <a:pt x="859641" y="124776"/>
                </a:lnTo>
                <a:lnTo>
                  <a:pt x="854015" y="104538"/>
                </a:lnTo>
                <a:lnTo>
                  <a:pt x="811665" y="67436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7" y="6361"/>
                </a:lnTo>
                <a:lnTo>
                  <a:pt x="499539" y="1633"/>
                </a:lnTo>
                <a:lnTo>
                  <a:pt x="42982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7428052" y="5545231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859641" y="124776"/>
                </a:moveTo>
                <a:lnTo>
                  <a:pt x="837728" y="85338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6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5"/>
                </a:lnTo>
                <a:lnTo>
                  <a:pt x="47976" y="182119"/>
                </a:lnTo>
                <a:lnTo>
                  <a:pt x="82930" y="198471"/>
                </a:lnTo>
                <a:lnTo>
                  <a:pt x="125892" y="213012"/>
                </a:lnTo>
                <a:lnTo>
                  <a:pt x="175974" y="225486"/>
                </a:lnTo>
                <a:lnTo>
                  <a:pt x="232293" y="235636"/>
                </a:lnTo>
                <a:lnTo>
                  <a:pt x="293964" y="243204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4"/>
                </a:lnTo>
                <a:lnTo>
                  <a:pt x="627347" y="235636"/>
                </a:lnTo>
                <a:lnTo>
                  <a:pt x="683666" y="225486"/>
                </a:lnTo>
                <a:lnTo>
                  <a:pt x="733749" y="213012"/>
                </a:lnTo>
                <a:lnTo>
                  <a:pt x="776710" y="198471"/>
                </a:lnTo>
                <a:lnTo>
                  <a:pt x="811665" y="182119"/>
                </a:lnTo>
                <a:lnTo>
                  <a:pt x="854015" y="145015"/>
                </a:lnTo>
                <a:lnTo>
                  <a:pt x="859641" y="12477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7736647" y="5552824"/>
            <a:ext cx="418563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4341448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429820" y="0"/>
                </a:move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8"/>
                </a:lnTo>
                <a:lnTo>
                  <a:pt x="0" y="124776"/>
                </a:lnTo>
                <a:lnTo>
                  <a:pt x="5625" y="145018"/>
                </a:lnTo>
                <a:lnTo>
                  <a:pt x="47976" y="182126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7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6"/>
                </a:lnTo>
                <a:lnTo>
                  <a:pt x="854015" y="145018"/>
                </a:lnTo>
                <a:lnTo>
                  <a:pt x="859641" y="124776"/>
                </a:lnTo>
                <a:lnTo>
                  <a:pt x="854015" y="104538"/>
                </a:lnTo>
                <a:lnTo>
                  <a:pt x="811665" y="67436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7" y="6361"/>
                </a:lnTo>
                <a:lnTo>
                  <a:pt x="499539" y="1633"/>
                </a:lnTo>
                <a:lnTo>
                  <a:pt x="42982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4341448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41" y="124776"/>
                </a:moveTo>
                <a:lnTo>
                  <a:pt x="837728" y="85338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6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8"/>
                </a:lnTo>
                <a:lnTo>
                  <a:pt x="47976" y="182126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6"/>
                </a:lnTo>
                <a:lnTo>
                  <a:pt x="854015" y="145018"/>
                </a:lnTo>
                <a:lnTo>
                  <a:pt x="859641" y="12477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4642378" y="6366429"/>
            <a:ext cx="439414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2411501" y="7165782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43" y="124790"/>
                </a:moveTo>
                <a:lnTo>
                  <a:pt x="837730" y="85351"/>
                </a:lnTo>
                <a:lnTo>
                  <a:pt x="776711" y="51096"/>
                </a:lnTo>
                <a:lnTo>
                  <a:pt x="733750" y="36554"/>
                </a:lnTo>
                <a:lnTo>
                  <a:pt x="683667" y="24080"/>
                </a:lnTo>
                <a:lnTo>
                  <a:pt x="627348" y="13931"/>
                </a:lnTo>
                <a:lnTo>
                  <a:pt x="565677" y="6363"/>
                </a:lnTo>
                <a:lnTo>
                  <a:pt x="499539" y="1633"/>
                </a:lnTo>
                <a:lnTo>
                  <a:pt x="429820" y="0"/>
                </a:lnTo>
                <a:lnTo>
                  <a:pt x="360102" y="1633"/>
                </a:lnTo>
                <a:lnTo>
                  <a:pt x="293965" y="6363"/>
                </a:lnTo>
                <a:lnTo>
                  <a:pt x="232294" y="13931"/>
                </a:lnTo>
                <a:lnTo>
                  <a:pt x="175975" y="24080"/>
                </a:lnTo>
                <a:lnTo>
                  <a:pt x="125892" y="36554"/>
                </a:lnTo>
                <a:lnTo>
                  <a:pt x="82931" y="51096"/>
                </a:lnTo>
                <a:lnTo>
                  <a:pt x="47976" y="67447"/>
                </a:lnTo>
                <a:lnTo>
                  <a:pt x="5625" y="104552"/>
                </a:lnTo>
                <a:lnTo>
                  <a:pt x="0" y="124790"/>
                </a:lnTo>
                <a:lnTo>
                  <a:pt x="5625" y="145029"/>
                </a:lnTo>
                <a:lnTo>
                  <a:pt x="47976" y="182131"/>
                </a:lnTo>
                <a:lnTo>
                  <a:pt x="82931" y="198480"/>
                </a:lnTo>
                <a:lnTo>
                  <a:pt x="125892" y="213019"/>
                </a:lnTo>
                <a:lnTo>
                  <a:pt x="175975" y="225491"/>
                </a:lnTo>
                <a:lnTo>
                  <a:pt x="232294" y="235639"/>
                </a:lnTo>
                <a:lnTo>
                  <a:pt x="293965" y="243205"/>
                </a:lnTo>
                <a:lnTo>
                  <a:pt x="360102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7" y="243205"/>
                </a:lnTo>
                <a:lnTo>
                  <a:pt x="627348" y="235639"/>
                </a:lnTo>
                <a:lnTo>
                  <a:pt x="683667" y="225491"/>
                </a:lnTo>
                <a:lnTo>
                  <a:pt x="733750" y="213019"/>
                </a:lnTo>
                <a:lnTo>
                  <a:pt x="776711" y="198480"/>
                </a:lnTo>
                <a:lnTo>
                  <a:pt x="811666" y="182131"/>
                </a:lnTo>
                <a:lnTo>
                  <a:pt x="854017" y="145029"/>
                </a:lnTo>
                <a:lnTo>
                  <a:pt x="859643" y="124790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8318130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859641" y="124776"/>
                </a:moveTo>
                <a:lnTo>
                  <a:pt x="837728" y="85338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6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8"/>
                </a:lnTo>
                <a:lnTo>
                  <a:pt x="47976" y="182126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6"/>
                </a:lnTo>
                <a:lnTo>
                  <a:pt x="854015" y="145018"/>
                </a:lnTo>
                <a:lnTo>
                  <a:pt x="859641" y="124776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3518733" y="7215957"/>
            <a:ext cx="160012" cy="2031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2935404" y="6660217"/>
            <a:ext cx="1939908" cy="505828"/>
          </a:xfrm>
          <a:custGeom>
            <a:avLst/>
            <a:gdLst/>
            <a:ahLst/>
            <a:cxnLst/>
            <a:rect l="l" t="t" r="r" b="b"/>
            <a:pathLst>
              <a:path w="1595120" h="415925">
                <a:moveTo>
                  <a:pt x="1594770" y="0"/>
                </a:moveTo>
                <a:lnTo>
                  <a:pt x="0" y="41543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4875259" y="6659407"/>
            <a:ext cx="615488" cy="506599"/>
          </a:xfrm>
          <a:custGeom>
            <a:avLst/>
            <a:gdLst/>
            <a:ahLst/>
            <a:cxnLst/>
            <a:rect l="l" t="t" r="r" b="b"/>
            <a:pathLst>
              <a:path w="506095" h="416560">
                <a:moveTo>
                  <a:pt x="0" y="0"/>
                </a:moveTo>
                <a:lnTo>
                  <a:pt x="506089" y="4159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3703347" y="7165782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37" y="124790"/>
                </a:moveTo>
                <a:lnTo>
                  <a:pt x="837724" y="85351"/>
                </a:lnTo>
                <a:lnTo>
                  <a:pt x="776706" y="51096"/>
                </a:lnTo>
                <a:lnTo>
                  <a:pt x="733745" y="36554"/>
                </a:lnTo>
                <a:lnTo>
                  <a:pt x="683662" y="24080"/>
                </a:lnTo>
                <a:lnTo>
                  <a:pt x="627343" y="13931"/>
                </a:lnTo>
                <a:lnTo>
                  <a:pt x="565672" y="6363"/>
                </a:lnTo>
                <a:lnTo>
                  <a:pt x="499535" y="1633"/>
                </a:lnTo>
                <a:lnTo>
                  <a:pt x="429816" y="0"/>
                </a:lnTo>
                <a:lnTo>
                  <a:pt x="360098" y="1633"/>
                </a:lnTo>
                <a:lnTo>
                  <a:pt x="293962" y="6363"/>
                </a:lnTo>
                <a:lnTo>
                  <a:pt x="232292" y="13931"/>
                </a:lnTo>
                <a:lnTo>
                  <a:pt x="175973" y="24080"/>
                </a:lnTo>
                <a:lnTo>
                  <a:pt x="125891" y="36554"/>
                </a:lnTo>
                <a:lnTo>
                  <a:pt x="82930" y="51096"/>
                </a:lnTo>
                <a:lnTo>
                  <a:pt x="47975" y="67447"/>
                </a:lnTo>
                <a:lnTo>
                  <a:pt x="5625" y="104552"/>
                </a:lnTo>
                <a:lnTo>
                  <a:pt x="0" y="124790"/>
                </a:lnTo>
                <a:lnTo>
                  <a:pt x="5625" y="145029"/>
                </a:lnTo>
                <a:lnTo>
                  <a:pt x="47975" y="182131"/>
                </a:lnTo>
                <a:lnTo>
                  <a:pt x="82930" y="198480"/>
                </a:lnTo>
                <a:lnTo>
                  <a:pt x="125891" y="213019"/>
                </a:lnTo>
                <a:lnTo>
                  <a:pt x="175973" y="225491"/>
                </a:lnTo>
                <a:lnTo>
                  <a:pt x="232292" y="235639"/>
                </a:lnTo>
                <a:lnTo>
                  <a:pt x="293962" y="243205"/>
                </a:lnTo>
                <a:lnTo>
                  <a:pt x="360098" y="247934"/>
                </a:lnTo>
                <a:lnTo>
                  <a:pt x="429816" y="249567"/>
                </a:lnTo>
                <a:lnTo>
                  <a:pt x="499535" y="247934"/>
                </a:lnTo>
                <a:lnTo>
                  <a:pt x="565672" y="243205"/>
                </a:lnTo>
                <a:lnTo>
                  <a:pt x="627343" y="235639"/>
                </a:lnTo>
                <a:lnTo>
                  <a:pt x="683662" y="225491"/>
                </a:lnTo>
                <a:lnTo>
                  <a:pt x="733745" y="213019"/>
                </a:lnTo>
                <a:lnTo>
                  <a:pt x="776706" y="198480"/>
                </a:lnTo>
                <a:lnTo>
                  <a:pt x="811661" y="182131"/>
                </a:lnTo>
                <a:lnTo>
                  <a:pt x="854011" y="145029"/>
                </a:lnTo>
                <a:lnTo>
                  <a:pt x="859637" y="124790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4962743" y="7165782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56" y="124790"/>
                </a:moveTo>
                <a:lnTo>
                  <a:pt x="837742" y="85351"/>
                </a:lnTo>
                <a:lnTo>
                  <a:pt x="776721" y="51096"/>
                </a:lnTo>
                <a:lnTo>
                  <a:pt x="733758" y="36554"/>
                </a:lnTo>
                <a:lnTo>
                  <a:pt x="683675" y="24080"/>
                </a:lnTo>
                <a:lnTo>
                  <a:pt x="627355" y="13931"/>
                </a:lnTo>
                <a:lnTo>
                  <a:pt x="565685" y="6363"/>
                </a:lnTo>
                <a:lnTo>
                  <a:pt x="499550" y="1633"/>
                </a:lnTo>
                <a:lnTo>
                  <a:pt x="429835" y="0"/>
                </a:lnTo>
                <a:lnTo>
                  <a:pt x="360116" y="1633"/>
                </a:lnTo>
                <a:lnTo>
                  <a:pt x="293977" y="6363"/>
                </a:lnTo>
                <a:lnTo>
                  <a:pt x="232305" y="13931"/>
                </a:lnTo>
                <a:lnTo>
                  <a:pt x="175984" y="24080"/>
                </a:lnTo>
                <a:lnTo>
                  <a:pt x="125899" y="36554"/>
                </a:lnTo>
                <a:lnTo>
                  <a:pt x="82935" y="51096"/>
                </a:lnTo>
                <a:lnTo>
                  <a:pt x="47979" y="67447"/>
                </a:lnTo>
                <a:lnTo>
                  <a:pt x="5626" y="104552"/>
                </a:lnTo>
                <a:lnTo>
                  <a:pt x="0" y="124790"/>
                </a:lnTo>
                <a:lnTo>
                  <a:pt x="5626" y="145029"/>
                </a:lnTo>
                <a:lnTo>
                  <a:pt x="47979" y="182131"/>
                </a:lnTo>
                <a:lnTo>
                  <a:pt x="82935" y="198480"/>
                </a:lnTo>
                <a:lnTo>
                  <a:pt x="125899" y="213019"/>
                </a:lnTo>
                <a:lnTo>
                  <a:pt x="175984" y="225491"/>
                </a:lnTo>
                <a:lnTo>
                  <a:pt x="232305" y="235639"/>
                </a:lnTo>
                <a:lnTo>
                  <a:pt x="293977" y="243205"/>
                </a:lnTo>
                <a:lnTo>
                  <a:pt x="360116" y="247934"/>
                </a:lnTo>
                <a:lnTo>
                  <a:pt x="429835" y="249567"/>
                </a:lnTo>
                <a:lnTo>
                  <a:pt x="499550" y="247934"/>
                </a:lnTo>
                <a:lnTo>
                  <a:pt x="565685" y="243205"/>
                </a:lnTo>
                <a:lnTo>
                  <a:pt x="627355" y="235639"/>
                </a:lnTo>
                <a:lnTo>
                  <a:pt x="683675" y="225491"/>
                </a:lnTo>
                <a:lnTo>
                  <a:pt x="733758" y="213019"/>
                </a:lnTo>
                <a:lnTo>
                  <a:pt x="776721" y="198480"/>
                </a:lnTo>
                <a:lnTo>
                  <a:pt x="811677" y="182131"/>
                </a:lnTo>
                <a:lnTo>
                  <a:pt x="854030" y="145029"/>
                </a:lnTo>
                <a:lnTo>
                  <a:pt x="859656" y="124790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4874907" y="6660216"/>
            <a:ext cx="1905157" cy="517412"/>
          </a:xfrm>
          <a:custGeom>
            <a:avLst/>
            <a:gdLst/>
            <a:ahLst/>
            <a:cxnLst/>
            <a:rect l="l" t="t" r="r" b="b"/>
            <a:pathLst>
              <a:path w="1566545" h="425450">
                <a:moveTo>
                  <a:pt x="0" y="0"/>
                </a:moveTo>
                <a:lnTo>
                  <a:pt x="1566065" y="42499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4228395" y="6660217"/>
            <a:ext cx="647151" cy="507373"/>
          </a:xfrm>
          <a:custGeom>
            <a:avLst/>
            <a:gdLst/>
            <a:ahLst/>
            <a:cxnLst/>
            <a:rect l="l" t="t" r="r" b="b"/>
            <a:pathLst>
              <a:path w="532129" h="417195">
                <a:moveTo>
                  <a:pt x="531589" y="0"/>
                </a:moveTo>
                <a:lnTo>
                  <a:pt x="0" y="41679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8244573" y="6301172"/>
            <a:ext cx="1163789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183032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447=118+329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11025765" y="6301173"/>
            <a:ext cx="1061853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251766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449=75+374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2337943" y="7108185"/>
            <a:ext cx="1163789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381510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646=280+366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6256083" y="7175755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429835" y="0"/>
                </a:moveTo>
                <a:lnTo>
                  <a:pt x="360116" y="1633"/>
                </a:lnTo>
                <a:lnTo>
                  <a:pt x="293977" y="6361"/>
                </a:lnTo>
                <a:lnTo>
                  <a:pt x="232305" y="13928"/>
                </a:lnTo>
                <a:lnTo>
                  <a:pt x="175984" y="24075"/>
                </a:lnTo>
                <a:lnTo>
                  <a:pt x="125899" y="36547"/>
                </a:lnTo>
                <a:lnTo>
                  <a:pt x="82935" y="51086"/>
                </a:lnTo>
                <a:lnTo>
                  <a:pt x="47979" y="67436"/>
                </a:lnTo>
                <a:lnTo>
                  <a:pt x="5626" y="104538"/>
                </a:lnTo>
                <a:lnTo>
                  <a:pt x="0" y="124776"/>
                </a:lnTo>
                <a:lnTo>
                  <a:pt x="5626" y="145018"/>
                </a:lnTo>
                <a:lnTo>
                  <a:pt x="47979" y="182126"/>
                </a:lnTo>
                <a:lnTo>
                  <a:pt x="82935" y="198477"/>
                </a:lnTo>
                <a:lnTo>
                  <a:pt x="125899" y="213017"/>
                </a:lnTo>
                <a:lnTo>
                  <a:pt x="175984" y="225490"/>
                </a:lnTo>
                <a:lnTo>
                  <a:pt x="232305" y="235638"/>
                </a:lnTo>
                <a:lnTo>
                  <a:pt x="293977" y="243205"/>
                </a:lnTo>
                <a:lnTo>
                  <a:pt x="360116" y="247934"/>
                </a:lnTo>
                <a:lnTo>
                  <a:pt x="429835" y="249567"/>
                </a:lnTo>
                <a:lnTo>
                  <a:pt x="499550" y="247934"/>
                </a:lnTo>
                <a:lnTo>
                  <a:pt x="565685" y="243205"/>
                </a:lnTo>
                <a:lnTo>
                  <a:pt x="627355" y="235638"/>
                </a:lnTo>
                <a:lnTo>
                  <a:pt x="683675" y="225490"/>
                </a:lnTo>
                <a:lnTo>
                  <a:pt x="733758" y="213017"/>
                </a:lnTo>
                <a:lnTo>
                  <a:pt x="776721" y="198477"/>
                </a:lnTo>
                <a:lnTo>
                  <a:pt x="811677" y="182126"/>
                </a:lnTo>
                <a:lnTo>
                  <a:pt x="854030" y="145018"/>
                </a:lnTo>
                <a:lnTo>
                  <a:pt x="859656" y="124776"/>
                </a:lnTo>
                <a:lnTo>
                  <a:pt x="854030" y="104538"/>
                </a:lnTo>
                <a:lnTo>
                  <a:pt x="811677" y="67436"/>
                </a:lnTo>
                <a:lnTo>
                  <a:pt x="776721" y="51086"/>
                </a:lnTo>
                <a:lnTo>
                  <a:pt x="733758" y="36547"/>
                </a:lnTo>
                <a:lnTo>
                  <a:pt x="683675" y="24075"/>
                </a:lnTo>
                <a:lnTo>
                  <a:pt x="627355" y="13928"/>
                </a:lnTo>
                <a:lnTo>
                  <a:pt x="565685" y="6361"/>
                </a:lnTo>
                <a:lnTo>
                  <a:pt x="499550" y="1633"/>
                </a:lnTo>
                <a:lnTo>
                  <a:pt x="429835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6256083" y="7175755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56" y="124776"/>
                </a:moveTo>
                <a:lnTo>
                  <a:pt x="837742" y="85338"/>
                </a:lnTo>
                <a:lnTo>
                  <a:pt x="776721" y="51086"/>
                </a:lnTo>
                <a:lnTo>
                  <a:pt x="733758" y="36547"/>
                </a:lnTo>
                <a:lnTo>
                  <a:pt x="683675" y="24075"/>
                </a:lnTo>
                <a:lnTo>
                  <a:pt x="627355" y="13928"/>
                </a:lnTo>
                <a:lnTo>
                  <a:pt x="565685" y="6361"/>
                </a:lnTo>
                <a:lnTo>
                  <a:pt x="499550" y="1633"/>
                </a:lnTo>
                <a:lnTo>
                  <a:pt x="429835" y="0"/>
                </a:lnTo>
                <a:lnTo>
                  <a:pt x="360116" y="1633"/>
                </a:lnTo>
                <a:lnTo>
                  <a:pt x="293977" y="6361"/>
                </a:lnTo>
                <a:lnTo>
                  <a:pt x="232305" y="13928"/>
                </a:lnTo>
                <a:lnTo>
                  <a:pt x="175984" y="24075"/>
                </a:lnTo>
                <a:lnTo>
                  <a:pt x="125899" y="36547"/>
                </a:lnTo>
                <a:lnTo>
                  <a:pt x="82935" y="51086"/>
                </a:lnTo>
                <a:lnTo>
                  <a:pt x="47979" y="67436"/>
                </a:lnTo>
                <a:lnTo>
                  <a:pt x="5626" y="104537"/>
                </a:lnTo>
                <a:lnTo>
                  <a:pt x="0" y="124776"/>
                </a:lnTo>
                <a:lnTo>
                  <a:pt x="5626" y="145018"/>
                </a:lnTo>
                <a:lnTo>
                  <a:pt x="47979" y="182126"/>
                </a:lnTo>
                <a:lnTo>
                  <a:pt x="82935" y="198477"/>
                </a:lnTo>
                <a:lnTo>
                  <a:pt x="125899" y="213017"/>
                </a:lnTo>
                <a:lnTo>
                  <a:pt x="175984" y="225490"/>
                </a:lnTo>
                <a:lnTo>
                  <a:pt x="232305" y="235638"/>
                </a:lnTo>
                <a:lnTo>
                  <a:pt x="293977" y="243205"/>
                </a:lnTo>
                <a:lnTo>
                  <a:pt x="360116" y="247934"/>
                </a:lnTo>
                <a:lnTo>
                  <a:pt x="429835" y="249567"/>
                </a:lnTo>
                <a:lnTo>
                  <a:pt x="499550" y="247934"/>
                </a:lnTo>
                <a:lnTo>
                  <a:pt x="565685" y="243205"/>
                </a:lnTo>
                <a:lnTo>
                  <a:pt x="627355" y="235638"/>
                </a:lnTo>
                <a:lnTo>
                  <a:pt x="683675" y="225490"/>
                </a:lnTo>
                <a:lnTo>
                  <a:pt x="733758" y="213017"/>
                </a:lnTo>
                <a:lnTo>
                  <a:pt x="776721" y="198477"/>
                </a:lnTo>
                <a:lnTo>
                  <a:pt x="811677" y="182126"/>
                </a:lnTo>
                <a:lnTo>
                  <a:pt x="854030" y="145018"/>
                </a:lnTo>
                <a:lnTo>
                  <a:pt x="859656" y="124776"/>
                </a:lnTo>
                <a:close/>
              </a:path>
            </a:pathLst>
          </a:custGeom>
          <a:ln w="125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6306662" y="7196227"/>
            <a:ext cx="904312" cy="214463"/>
          </a:xfrm>
          <a:prstGeom prst="rect">
            <a:avLst/>
          </a:prstGeom>
        </p:spPr>
        <p:txBody>
          <a:bodyPr vert="horz" wrap="square" lIns="0" tIns="1776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-12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0" i="0" u="none" strike="noStrike" kern="1200" cap="none" spc="-1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0" i="0" u="none" strike="noStrike" kern="1200" cap="none" spc="-1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8" name="object 138"/>
          <p:cNvSpPr/>
          <p:nvPr/>
        </p:nvSpPr>
        <p:spPr>
          <a:xfrm>
            <a:off x="6508602" y="7489522"/>
            <a:ext cx="269518" cy="498877"/>
          </a:xfrm>
          <a:custGeom>
            <a:avLst/>
            <a:gdLst/>
            <a:ahLst/>
            <a:cxnLst/>
            <a:rect l="l" t="t" r="r" b="b"/>
            <a:pathLst>
              <a:path w="221614" h="410210">
                <a:moveTo>
                  <a:pt x="221372" y="0"/>
                </a:moveTo>
                <a:lnTo>
                  <a:pt x="0" y="40997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6784484" y="7489521"/>
            <a:ext cx="980766" cy="501967"/>
          </a:xfrm>
          <a:custGeom>
            <a:avLst/>
            <a:gdLst/>
            <a:ahLst/>
            <a:cxnLst/>
            <a:rect l="l" t="t" r="r" b="b"/>
            <a:pathLst>
              <a:path w="806450" h="412750">
                <a:moveTo>
                  <a:pt x="0" y="0"/>
                </a:moveTo>
                <a:lnTo>
                  <a:pt x="806265" y="41270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0" name="object 140"/>
          <p:cNvSpPr/>
          <p:nvPr/>
        </p:nvSpPr>
        <p:spPr>
          <a:xfrm>
            <a:off x="6781154" y="7489522"/>
            <a:ext cx="2277383" cy="508917"/>
          </a:xfrm>
          <a:custGeom>
            <a:avLst/>
            <a:gdLst/>
            <a:ahLst/>
            <a:cxnLst/>
            <a:rect l="l" t="t" r="r" b="b"/>
            <a:pathLst>
              <a:path w="1872615" h="418464">
                <a:moveTo>
                  <a:pt x="0" y="0"/>
                </a:moveTo>
                <a:lnTo>
                  <a:pt x="1872182" y="41817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5980200" y="7993435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90">
                <a:moveTo>
                  <a:pt x="859641" y="124783"/>
                </a:moveTo>
                <a:lnTo>
                  <a:pt x="837728" y="85344"/>
                </a:lnTo>
                <a:lnTo>
                  <a:pt x="776710" y="51090"/>
                </a:lnTo>
                <a:lnTo>
                  <a:pt x="733749" y="36550"/>
                </a:lnTo>
                <a:lnTo>
                  <a:pt x="683666" y="24077"/>
                </a:lnTo>
                <a:lnTo>
                  <a:pt x="627347" y="13929"/>
                </a:lnTo>
                <a:lnTo>
                  <a:pt x="565676" y="6362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7"/>
                </a:lnTo>
                <a:lnTo>
                  <a:pt x="854015" y="145023"/>
                </a:lnTo>
                <a:lnTo>
                  <a:pt x="859641" y="124783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7239602" y="7993435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90">
                <a:moveTo>
                  <a:pt x="859641" y="124783"/>
                </a:moveTo>
                <a:lnTo>
                  <a:pt x="837728" y="85344"/>
                </a:lnTo>
                <a:lnTo>
                  <a:pt x="776710" y="51090"/>
                </a:lnTo>
                <a:lnTo>
                  <a:pt x="733749" y="36550"/>
                </a:lnTo>
                <a:lnTo>
                  <a:pt x="683666" y="24077"/>
                </a:lnTo>
                <a:lnTo>
                  <a:pt x="627347" y="13929"/>
                </a:lnTo>
                <a:lnTo>
                  <a:pt x="565676" y="6362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7"/>
                </a:lnTo>
                <a:lnTo>
                  <a:pt x="854015" y="145023"/>
                </a:lnTo>
                <a:lnTo>
                  <a:pt x="859641" y="124783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8529628" y="7993435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90">
                <a:moveTo>
                  <a:pt x="859641" y="124783"/>
                </a:moveTo>
                <a:lnTo>
                  <a:pt x="837728" y="85344"/>
                </a:lnTo>
                <a:lnTo>
                  <a:pt x="776710" y="51090"/>
                </a:lnTo>
                <a:lnTo>
                  <a:pt x="733749" y="36550"/>
                </a:lnTo>
                <a:lnTo>
                  <a:pt x="683666" y="24077"/>
                </a:lnTo>
                <a:lnTo>
                  <a:pt x="627347" y="13929"/>
                </a:lnTo>
                <a:lnTo>
                  <a:pt x="565676" y="6362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7"/>
                </a:lnTo>
                <a:lnTo>
                  <a:pt x="854015" y="145023"/>
                </a:lnTo>
                <a:lnTo>
                  <a:pt x="859641" y="124783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5906643" y="7930456"/>
            <a:ext cx="3713009" cy="576050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251766" algn="l" defTabSz="1112093" rtl="0" eaLnBrk="1" fontAlgn="auto" latinLnBrk="0" hangingPunct="1">
              <a:lnSpc>
                <a:spcPct val="1364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>
                <a:tab pos="1610991" algn="l"/>
                <a:tab pos="2564765" algn="l"/>
                <a:tab pos="2939324" algn="l"/>
              </a:tabLst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	</a:t>
            </a:r>
            <a:r>
              <a:rPr kumimoji="0" sz="1399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		</a:t>
            </a: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  </a:t>
            </a:r>
            <a:r>
              <a:rPr kumimoji="0" sz="2098" b="0" i="0" u="none" strike="noStrike" kern="1200" cap="none" spc="36" normalizeH="0" baseline="2415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526=366+160</a:t>
            </a:r>
            <a:r>
              <a:rPr kumimoji="0" sz="2098" b="0" i="0" u="none" strike="noStrike" kern="1200" cap="none" spc="0" normalizeH="0" baseline="2415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 </a:t>
            </a:r>
            <a:r>
              <a:rPr kumimoji="0" sz="2098" b="0" i="0" u="none" strike="noStrike" kern="1200" cap="none" spc="-254" normalizeH="0" baseline="2415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2098" b="0" i="0" u="none" strike="noStrike" kern="1200" cap="none" spc="36" normalizeH="0" baseline="2415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417=317+100</a:t>
            </a:r>
            <a:r>
              <a:rPr kumimoji="0" sz="2098" b="0" i="0" u="none" strike="noStrike" kern="1200" cap="none" spc="0" normalizeH="0" baseline="2415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	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553=300+253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6" name="object 146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3630029" y="7108185"/>
            <a:ext cx="2422569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236320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>
                <a:tab pos="1541485" algn="l"/>
              </a:tabLst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	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  415=239+176</a:t>
            </a:r>
            <a:r>
              <a:rPr kumimoji="0" sz="1399" b="0" i="0" u="none" strike="noStrike" kern="1200" cap="none" spc="9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671=291+380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31467062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02692" y="591108"/>
            <a:ext cx="1779279" cy="466514"/>
          </a:xfrm>
          <a:prstGeom prst="rect">
            <a:avLst/>
          </a:prstGeom>
        </p:spPr>
        <p:txBody>
          <a:bodyPr vert="horz" wrap="square" lIns="0" tIns="55602" rIns="0" bIns="0" rtlCol="0">
            <a:spAutoFit/>
          </a:bodyPr>
          <a:lstStyle/>
          <a:p>
            <a:pPr marL="15446" marR="6178" lvl="0" indent="0" algn="l" defTabSz="1112093" rtl="0" eaLnBrk="1" fontAlgn="auto" latinLnBrk="0" hangingPunct="1">
              <a:lnSpc>
                <a:spcPts val="1569"/>
              </a:lnSpc>
              <a:spcBef>
                <a:spcPts val="43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Straight−line </a:t>
            </a: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distance  to</a:t>
            </a:r>
            <a:r>
              <a:rPr kumimoji="0" sz="158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Bucharest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26564" y="2303312"/>
            <a:ext cx="29963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ts val="1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178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6371" y="4199685"/>
            <a:ext cx="200014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ts val="1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98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61369" y="2839598"/>
            <a:ext cx="1498178" cy="1896662"/>
          </a:xfrm>
          <a:custGeom>
            <a:avLst/>
            <a:gdLst/>
            <a:ahLst/>
            <a:cxnLst/>
            <a:rect l="l" t="t" r="r" b="b"/>
            <a:pathLst>
              <a:path w="1231900" h="1559560">
                <a:moveTo>
                  <a:pt x="0" y="0"/>
                </a:moveTo>
                <a:lnTo>
                  <a:pt x="1231847" y="1559385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87113" y="5523307"/>
            <a:ext cx="62012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Giurgiu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5003" y="4446735"/>
            <a:ext cx="67495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Urziceni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6834" y="4262133"/>
            <a:ext cx="6386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Hirsova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56153" y="5391328"/>
            <a:ext cx="50042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Eforie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89784" y="1050684"/>
            <a:ext cx="537489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Neamt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5543" y="742531"/>
            <a:ext cx="602360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8922" y="1461105"/>
            <a:ext cx="537489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4936" y="2003721"/>
            <a:ext cx="408524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84962" y="3220909"/>
            <a:ext cx="81395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58150" y="3807510"/>
            <a:ext cx="48188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02136" y="4438104"/>
            <a:ext cx="69348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6141" y="5068700"/>
            <a:ext cx="65641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07343" y="5347354"/>
            <a:ext cx="6386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88748" y="2370322"/>
            <a:ext cx="436325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42603" y="2406992"/>
            <a:ext cx="666457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72066" y="3728886"/>
            <a:ext cx="528223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13545" y="2766300"/>
            <a:ext cx="5189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Vaslui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70929" y="1783744"/>
            <a:ext cx="307357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Iasi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84708" y="3132906"/>
            <a:ext cx="1209354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1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69191" y="1456619"/>
            <a:ext cx="1034051" cy="447909"/>
          </a:xfrm>
          <a:custGeom>
            <a:avLst/>
            <a:gdLst/>
            <a:ahLst/>
            <a:cxnLst/>
            <a:rect l="l" t="t" r="r" b="b"/>
            <a:pathLst>
              <a:path w="850264" h="368300">
                <a:moveTo>
                  <a:pt x="850134" y="367789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175767" y="2945127"/>
            <a:ext cx="813958" cy="1444892"/>
          </a:xfrm>
          <a:custGeom>
            <a:avLst/>
            <a:gdLst/>
            <a:ahLst/>
            <a:cxnLst/>
            <a:rect l="l" t="t" r="r" b="b"/>
            <a:pathLst>
              <a:path w="669290" h="1188085">
                <a:moveTo>
                  <a:pt x="0" y="1187766"/>
                </a:moveTo>
                <a:lnTo>
                  <a:pt x="669259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3082" y="1947898"/>
            <a:ext cx="586915" cy="901996"/>
          </a:xfrm>
          <a:custGeom>
            <a:avLst/>
            <a:gdLst/>
            <a:ahLst/>
            <a:cxnLst/>
            <a:rect l="l" t="t" r="r" b="b"/>
            <a:pathLst>
              <a:path w="482600" h="741680">
                <a:moveTo>
                  <a:pt x="482344" y="741602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223435" y="4433624"/>
            <a:ext cx="1081931" cy="0"/>
          </a:xfrm>
          <a:custGeom>
            <a:avLst/>
            <a:gdLst/>
            <a:ahLst/>
            <a:cxnLst/>
            <a:rect l="l" t="t" r="r" b="b"/>
            <a:pathLst>
              <a:path w="889634">
                <a:moveTo>
                  <a:pt x="0" y="0"/>
                </a:moveTo>
                <a:lnTo>
                  <a:pt x="88932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48975" y="4382297"/>
            <a:ext cx="462582" cy="901996"/>
          </a:xfrm>
          <a:custGeom>
            <a:avLst/>
            <a:gdLst/>
            <a:ahLst/>
            <a:cxnLst/>
            <a:rect l="l" t="t" r="r" b="b"/>
            <a:pathLst>
              <a:path w="380365" h="741679">
                <a:moveTo>
                  <a:pt x="0" y="0"/>
                </a:moveTo>
                <a:lnTo>
                  <a:pt x="379836" y="74160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73865" y="4433625"/>
            <a:ext cx="857977" cy="315853"/>
          </a:xfrm>
          <a:custGeom>
            <a:avLst/>
            <a:gdLst/>
            <a:ahLst/>
            <a:cxnLst/>
            <a:rect l="l" t="t" r="r" b="b"/>
            <a:pathLst>
              <a:path w="705485" h="259714">
                <a:moveTo>
                  <a:pt x="0" y="259261"/>
                </a:moveTo>
                <a:lnTo>
                  <a:pt x="70543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826595" y="4792918"/>
            <a:ext cx="447909" cy="901996"/>
          </a:xfrm>
          <a:custGeom>
            <a:avLst/>
            <a:gdLst/>
            <a:ahLst/>
            <a:cxnLst/>
            <a:rect l="l" t="t" r="r" b="b"/>
            <a:pathLst>
              <a:path w="368300" h="741679">
                <a:moveTo>
                  <a:pt x="367773" y="0"/>
                </a:moveTo>
                <a:lnTo>
                  <a:pt x="0" y="741603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012675" y="4110998"/>
            <a:ext cx="1217847" cy="638656"/>
          </a:xfrm>
          <a:custGeom>
            <a:avLst/>
            <a:gdLst/>
            <a:ahLst/>
            <a:cxnLst/>
            <a:rect l="l" t="t" r="r" b="b"/>
            <a:pathLst>
              <a:path w="1001395" h="525145">
                <a:moveTo>
                  <a:pt x="0" y="0"/>
                </a:moveTo>
                <a:lnTo>
                  <a:pt x="1000861" y="52454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934811" y="4162324"/>
            <a:ext cx="1034051" cy="1261867"/>
          </a:xfrm>
          <a:custGeom>
            <a:avLst/>
            <a:gdLst/>
            <a:ahLst/>
            <a:cxnLst/>
            <a:rect l="l" t="t" r="r" b="b"/>
            <a:pathLst>
              <a:path w="850264" h="1037589">
                <a:moveTo>
                  <a:pt x="0" y="1037033"/>
                </a:moveTo>
                <a:lnTo>
                  <a:pt x="850118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612169" y="3480396"/>
            <a:ext cx="1312836" cy="630934"/>
          </a:xfrm>
          <a:custGeom>
            <a:avLst/>
            <a:gdLst/>
            <a:ahLst/>
            <a:cxnLst/>
            <a:rect l="l" t="t" r="r" b="b"/>
            <a:pathLst>
              <a:path w="1079500" h="518794">
                <a:moveTo>
                  <a:pt x="0" y="0"/>
                </a:moveTo>
                <a:lnTo>
                  <a:pt x="1079228" y="51852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216215" y="2717809"/>
            <a:ext cx="1525207" cy="88037"/>
          </a:xfrm>
          <a:custGeom>
            <a:avLst/>
            <a:gdLst/>
            <a:ahLst/>
            <a:cxnLst/>
            <a:rect l="l" t="t" r="r" b="b"/>
            <a:pathLst>
              <a:path w="1254125" h="72389">
                <a:moveTo>
                  <a:pt x="0" y="0"/>
                </a:moveTo>
                <a:lnTo>
                  <a:pt x="1254080" y="72359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619493" y="3524406"/>
            <a:ext cx="264112" cy="1855732"/>
          </a:xfrm>
          <a:custGeom>
            <a:avLst/>
            <a:gdLst/>
            <a:ahLst/>
            <a:cxnLst/>
            <a:rect l="l" t="t" r="r" b="b"/>
            <a:pathLst>
              <a:path w="217169" h="1525904">
                <a:moveTo>
                  <a:pt x="217062" y="1525397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534286" y="5240199"/>
            <a:ext cx="1349904" cy="139778"/>
          </a:xfrm>
          <a:custGeom>
            <a:avLst/>
            <a:gdLst/>
            <a:ahLst/>
            <a:cxnLst/>
            <a:rect l="l" t="t" r="r" b="b"/>
            <a:pathLst>
              <a:path w="1109980" h="114935">
                <a:moveTo>
                  <a:pt x="0" y="0"/>
                </a:moveTo>
                <a:lnTo>
                  <a:pt x="1109392" y="114559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512288" y="4601287"/>
            <a:ext cx="0" cy="547530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49990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194220" y="2717809"/>
            <a:ext cx="374544" cy="674952"/>
          </a:xfrm>
          <a:custGeom>
            <a:avLst/>
            <a:gdLst/>
            <a:ahLst/>
            <a:cxnLst/>
            <a:rect l="l" t="t" r="r" b="b"/>
            <a:pathLst>
              <a:path w="307975" h="554989">
                <a:moveTo>
                  <a:pt x="307492" y="554704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361091" y="2131206"/>
            <a:ext cx="1803991" cy="542896"/>
          </a:xfrm>
          <a:custGeom>
            <a:avLst/>
            <a:gdLst/>
            <a:ahLst/>
            <a:cxnLst/>
            <a:rect l="l" t="t" r="r" b="b"/>
            <a:pathLst>
              <a:path w="1483360" h="446405">
                <a:moveTo>
                  <a:pt x="0" y="0"/>
                </a:moveTo>
                <a:lnTo>
                  <a:pt x="1483194" y="44617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991678" y="914025"/>
            <a:ext cx="1173830" cy="1759973"/>
          </a:xfrm>
          <a:custGeom>
            <a:avLst/>
            <a:gdLst/>
            <a:ahLst/>
            <a:cxnLst/>
            <a:rect l="l" t="t" r="r" b="b"/>
            <a:pathLst>
              <a:path w="965200" h="1447164">
                <a:moveTo>
                  <a:pt x="964684" y="1447018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512296" y="4026682"/>
            <a:ext cx="0" cy="547530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49982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405090" y="3480397"/>
            <a:ext cx="1085793" cy="454859"/>
          </a:xfrm>
          <a:custGeom>
            <a:avLst/>
            <a:gdLst/>
            <a:ahLst/>
            <a:cxnLst/>
            <a:rect l="l" t="t" r="r" b="b"/>
            <a:pathLst>
              <a:path w="892810" h="374014">
                <a:moveTo>
                  <a:pt x="0" y="0"/>
                </a:moveTo>
                <a:lnTo>
                  <a:pt x="892329" y="373813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339093" y="2222870"/>
            <a:ext cx="0" cy="1222482"/>
          </a:xfrm>
          <a:custGeom>
            <a:avLst/>
            <a:gdLst/>
            <a:ahLst/>
            <a:cxnLst/>
            <a:rect l="l" t="t" r="r" b="b"/>
            <a:pathLst>
              <a:path h="1005205">
                <a:moveTo>
                  <a:pt x="0" y="0"/>
                </a:moveTo>
                <a:lnTo>
                  <a:pt x="0" y="1004687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317095" y="1500610"/>
            <a:ext cx="271834" cy="630934"/>
          </a:xfrm>
          <a:custGeom>
            <a:avLst/>
            <a:gdLst/>
            <a:ahLst/>
            <a:cxnLst/>
            <a:rect l="l" t="t" r="r" b="b"/>
            <a:pathLst>
              <a:path w="223519" h="518794">
                <a:moveTo>
                  <a:pt x="223087" y="0"/>
                </a:moveTo>
                <a:lnTo>
                  <a:pt x="0" y="51851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588404" y="870016"/>
            <a:ext cx="359872" cy="630934"/>
          </a:xfrm>
          <a:custGeom>
            <a:avLst/>
            <a:gdLst/>
            <a:ahLst/>
            <a:cxnLst/>
            <a:rect l="l" t="t" r="r" b="b"/>
            <a:pathLst>
              <a:path w="295909" h="518794">
                <a:moveTo>
                  <a:pt x="295428" y="0"/>
                </a:moveTo>
                <a:lnTo>
                  <a:pt x="0" y="51851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835802" y="533553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835803" y="533553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524187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524187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775260" y="560317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775260" y="560317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087784" y="43419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087785" y="434197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921030" y="40706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921030" y="40706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273863" y="13686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273864" y="13686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697376" y="276182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697378" y="276182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490283" y="451429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490283" y="451429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442620" y="514854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442621" y="514854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442620" y="389103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442621" y="389103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269433" y="208721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269433" y="208721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313425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313425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544396" y="14529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544396" y="14529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900027" y="82236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900027" y="82236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3120889" y="262985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120889" y="262985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8759577" y="5243877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759579" y="524387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8304983" y="43419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8304985" y="434197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917602" y="283758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7917603" y="2837588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7351746" y="18562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7351747" y="1856277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6185862" y="47012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6185865" y="47012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555422" y="87870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217342" y="156054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006080" y="2607330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118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699709" y="3629676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111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269997" y="4057558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264866" y="468415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058990" y="495368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120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637328" y="1477109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151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109747" y="2026893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979859" y="2419941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99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460459" y="283080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106006" y="3757625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97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312385" y="434769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101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631790" y="3583816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211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466304" y="4694434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138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826392" y="4287843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146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563220" y="4266001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095498" y="4756696"/>
            <a:ext cx="1010884" cy="634404"/>
          </a:xfrm>
          <a:prstGeom prst="rect">
            <a:avLst/>
          </a:prstGeom>
        </p:spPr>
        <p:txBody>
          <a:bodyPr vert="horz" wrap="square" lIns="0" tIns="100393" rIns="0" bIns="0" rtlCol="0">
            <a:spAutoFit/>
          </a:bodyPr>
          <a:lstStyle/>
          <a:p>
            <a:pPr marL="185349" marR="0" lvl="0" indent="0" algn="l" defTabSz="1112093" rtl="0" eaLnBrk="1" fontAlgn="auto" latinLnBrk="0" hangingPunct="1">
              <a:lnSpc>
                <a:spcPct val="100000"/>
              </a:lnSpc>
              <a:spcBef>
                <a:spcPts val="7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718146" y="4080985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669209" y="347401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142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789593" y="215725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92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892643" y="134582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87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8677847" y="4613357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86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11181337" y="2279705"/>
            <a:ext cx="384584" cy="221638"/>
          </a:xfrm>
          <a:custGeom>
            <a:avLst/>
            <a:gdLst/>
            <a:ahLst/>
            <a:cxnLst/>
            <a:rect l="l" t="t" r="r" b="b"/>
            <a:pathLst>
              <a:path w="316229" h="182244">
                <a:moveTo>
                  <a:pt x="0" y="0"/>
                </a:moveTo>
                <a:lnTo>
                  <a:pt x="315935" y="0"/>
                </a:lnTo>
                <a:lnTo>
                  <a:pt x="315935" y="181662"/>
                </a:lnTo>
                <a:lnTo>
                  <a:pt x="0" y="1816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11171732" y="4191226"/>
            <a:ext cx="384584" cy="221638"/>
          </a:xfrm>
          <a:custGeom>
            <a:avLst/>
            <a:gdLst/>
            <a:ahLst/>
            <a:cxnLst/>
            <a:rect l="l" t="t" r="r" b="b"/>
            <a:pathLst>
              <a:path w="316229" h="182245">
                <a:moveTo>
                  <a:pt x="0" y="0"/>
                </a:moveTo>
                <a:lnTo>
                  <a:pt x="315935" y="0"/>
                </a:lnTo>
                <a:lnTo>
                  <a:pt x="315935" y="181662"/>
                </a:lnTo>
                <a:lnTo>
                  <a:pt x="0" y="1816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graphicFrame>
        <p:nvGraphicFramePr>
          <p:cNvPr id="112" name="object 112"/>
          <p:cNvGraphicFramePr>
            <a:graphicFrameLocks noGrp="1"/>
          </p:cNvGraphicFramePr>
          <p:nvPr/>
        </p:nvGraphicFramePr>
        <p:xfrm>
          <a:off x="9479524" y="1083587"/>
          <a:ext cx="2084321" cy="4746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7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631">
                <a:tc>
                  <a:txBody>
                    <a:bodyPr/>
                    <a:lstStyle/>
                    <a:p>
                      <a:pPr marL="31750">
                        <a:lnSpc>
                          <a:spcPts val="132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Arad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4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366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Bucharest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43">
                <a:tc>
                  <a:txBody>
                    <a:bodyPr/>
                    <a:lstStyle/>
                    <a:p>
                      <a:pPr marL="31750">
                        <a:lnSpc>
                          <a:spcPts val="133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Craiova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160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930">
                <a:tc>
                  <a:txBody>
                    <a:bodyPr/>
                    <a:lstStyle/>
                    <a:p>
                      <a:pPr marL="31750">
                        <a:lnSpc>
                          <a:spcPts val="129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Dobreta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918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Eforie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161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922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Fagaras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39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176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263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Giurgiu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90"/>
                        </a:lnSpc>
                        <a:spcBef>
                          <a:spcPts val="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77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54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Hirsova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151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Iasi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226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928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Lugoj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260">
                <a:tc>
                  <a:txBody>
                    <a:bodyPr/>
                    <a:lstStyle/>
                    <a:p>
                      <a:pPr marL="31750">
                        <a:lnSpc>
                          <a:spcPts val="133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Mehadia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Neamt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234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Oradea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380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476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Pitesti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ts val="1400"/>
                        </a:lnSpc>
                        <a:spcBef>
                          <a:spcPts val="4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178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697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Rimnicu</a:t>
                      </a:r>
                      <a:r>
                        <a:rPr sz="1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Vilcea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193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929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Sibiu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253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4933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Timisoara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329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4918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Urziceni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80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4930">
                <a:tc>
                  <a:txBody>
                    <a:bodyPr/>
                    <a:lstStyle/>
                    <a:p>
                      <a:pPr marL="31750">
                        <a:lnSpc>
                          <a:spcPts val="133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Vaslui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199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6722">
                <a:tc>
                  <a:txBody>
                    <a:bodyPr/>
                    <a:lstStyle/>
                    <a:p>
                      <a:pPr marL="31750">
                        <a:lnSpc>
                          <a:spcPts val="134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Zerind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9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374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13" name="object 113"/>
          <p:cNvSpPr txBox="1"/>
          <p:nvPr/>
        </p:nvSpPr>
        <p:spPr>
          <a:xfrm>
            <a:off x="1176394" y="5933130"/>
            <a:ext cx="1546830" cy="401566"/>
          </a:xfrm>
          <a:prstGeom prst="rect">
            <a:avLst/>
          </a:prstGeom>
        </p:spPr>
        <p:txBody>
          <a:bodyPr vert="horz" wrap="square" lIns="0" tIns="1776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Search</a:t>
            </a:r>
            <a:r>
              <a:rPr kumimoji="0" sz="2493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tree: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3595057" y="7463779"/>
            <a:ext cx="623983" cy="506599"/>
          </a:xfrm>
          <a:custGeom>
            <a:avLst/>
            <a:gdLst/>
            <a:ahLst/>
            <a:cxnLst/>
            <a:rect l="l" t="t" r="r" b="b"/>
            <a:pathLst>
              <a:path w="513079" h="416560">
                <a:moveTo>
                  <a:pt x="513020" y="0"/>
                </a:moveTo>
                <a:lnTo>
                  <a:pt x="0" y="41595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4218970" y="7463779"/>
            <a:ext cx="615488" cy="506599"/>
          </a:xfrm>
          <a:custGeom>
            <a:avLst/>
            <a:gdLst/>
            <a:ahLst/>
            <a:cxnLst/>
            <a:rect l="l" t="t" r="r" b="b"/>
            <a:pathLst>
              <a:path w="506095" h="416560">
                <a:moveTo>
                  <a:pt x="0" y="0"/>
                </a:moveTo>
                <a:lnTo>
                  <a:pt x="506074" y="41595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4861955" y="5852444"/>
            <a:ext cx="3988705" cy="506599"/>
          </a:xfrm>
          <a:custGeom>
            <a:avLst/>
            <a:gdLst/>
            <a:ahLst/>
            <a:cxnLst/>
            <a:rect l="l" t="t" r="r" b="b"/>
            <a:pathLst>
              <a:path w="3279775" h="416560">
                <a:moveTo>
                  <a:pt x="0" y="415969"/>
                </a:moveTo>
                <a:lnTo>
                  <a:pt x="2558162" y="0"/>
                </a:lnTo>
                <a:lnTo>
                  <a:pt x="3279162" y="4159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7973069" y="5852444"/>
            <a:ext cx="3575548" cy="506599"/>
          </a:xfrm>
          <a:custGeom>
            <a:avLst/>
            <a:gdLst/>
            <a:ahLst/>
            <a:cxnLst/>
            <a:rect l="l" t="t" r="r" b="b"/>
            <a:pathLst>
              <a:path w="2940050" h="416560">
                <a:moveTo>
                  <a:pt x="0" y="0"/>
                </a:moveTo>
                <a:lnTo>
                  <a:pt x="2939446" y="4159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11045578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859641" y="124790"/>
                </a:moveTo>
                <a:lnTo>
                  <a:pt x="837728" y="85351"/>
                </a:lnTo>
                <a:lnTo>
                  <a:pt x="776710" y="51096"/>
                </a:lnTo>
                <a:lnTo>
                  <a:pt x="733749" y="36554"/>
                </a:lnTo>
                <a:lnTo>
                  <a:pt x="683666" y="24080"/>
                </a:lnTo>
                <a:lnTo>
                  <a:pt x="627347" y="13931"/>
                </a:lnTo>
                <a:lnTo>
                  <a:pt x="565676" y="6363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3"/>
                </a:lnTo>
                <a:lnTo>
                  <a:pt x="232293" y="13931"/>
                </a:lnTo>
                <a:lnTo>
                  <a:pt x="175974" y="24080"/>
                </a:lnTo>
                <a:lnTo>
                  <a:pt x="125892" y="36554"/>
                </a:lnTo>
                <a:lnTo>
                  <a:pt x="82930" y="51096"/>
                </a:lnTo>
                <a:lnTo>
                  <a:pt x="47976" y="67447"/>
                </a:lnTo>
                <a:lnTo>
                  <a:pt x="5625" y="104552"/>
                </a:lnTo>
                <a:lnTo>
                  <a:pt x="0" y="124790"/>
                </a:lnTo>
                <a:lnTo>
                  <a:pt x="5625" y="145029"/>
                </a:lnTo>
                <a:lnTo>
                  <a:pt x="47976" y="182131"/>
                </a:lnTo>
                <a:lnTo>
                  <a:pt x="82930" y="198480"/>
                </a:lnTo>
                <a:lnTo>
                  <a:pt x="125892" y="213019"/>
                </a:lnTo>
                <a:lnTo>
                  <a:pt x="175974" y="225491"/>
                </a:lnTo>
                <a:lnTo>
                  <a:pt x="232293" y="235639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9"/>
                </a:lnTo>
                <a:lnTo>
                  <a:pt x="683666" y="225491"/>
                </a:lnTo>
                <a:lnTo>
                  <a:pt x="733749" y="213019"/>
                </a:lnTo>
                <a:lnTo>
                  <a:pt x="776710" y="198480"/>
                </a:lnTo>
                <a:lnTo>
                  <a:pt x="811665" y="182131"/>
                </a:lnTo>
                <a:lnTo>
                  <a:pt x="854015" y="145029"/>
                </a:lnTo>
                <a:lnTo>
                  <a:pt x="859641" y="124790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7428052" y="5545231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429820" y="0"/>
                </a:move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8"/>
                </a:lnTo>
                <a:lnTo>
                  <a:pt x="0" y="124776"/>
                </a:lnTo>
                <a:lnTo>
                  <a:pt x="5625" y="145015"/>
                </a:lnTo>
                <a:lnTo>
                  <a:pt x="47976" y="182119"/>
                </a:lnTo>
                <a:lnTo>
                  <a:pt x="82930" y="198471"/>
                </a:lnTo>
                <a:lnTo>
                  <a:pt x="125892" y="213012"/>
                </a:lnTo>
                <a:lnTo>
                  <a:pt x="175974" y="225486"/>
                </a:lnTo>
                <a:lnTo>
                  <a:pt x="232293" y="235636"/>
                </a:lnTo>
                <a:lnTo>
                  <a:pt x="293964" y="243204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7" y="243204"/>
                </a:lnTo>
                <a:lnTo>
                  <a:pt x="627347" y="235636"/>
                </a:lnTo>
                <a:lnTo>
                  <a:pt x="683666" y="225486"/>
                </a:lnTo>
                <a:lnTo>
                  <a:pt x="733749" y="213012"/>
                </a:lnTo>
                <a:lnTo>
                  <a:pt x="776710" y="198471"/>
                </a:lnTo>
                <a:lnTo>
                  <a:pt x="811665" y="182119"/>
                </a:lnTo>
                <a:lnTo>
                  <a:pt x="854015" y="145015"/>
                </a:lnTo>
                <a:lnTo>
                  <a:pt x="859641" y="124776"/>
                </a:lnTo>
                <a:lnTo>
                  <a:pt x="854015" y="104538"/>
                </a:lnTo>
                <a:lnTo>
                  <a:pt x="811665" y="67436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7" y="6361"/>
                </a:lnTo>
                <a:lnTo>
                  <a:pt x="499539" y="1633"/>
                </a:lnTo>
                <a:lnTo>
                  <a:pt x="42982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7428052" y="5545231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859641" y="124776"/>
                </a:moveTo>
                <a:lnTo>
                  <a:pt x="837728" y="85338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6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5"/>
                </a:lnTo>
                <a:lnTo>
                  <a:pt x="47976" y="182119"/>
                </a:lnTo>
                <a:lnTo>
                  <a:pt x="82930" y="198471"/>
                </a:lnTo>
                <a:lnTo>
                  <a:pt x="125892" y="213012"/>
                </a:lnTo>
                <a:lnTo>
                  <a:pt x="175974" y="225486"/>
                </a:lnTo>
                <a:lnTo>
                  <a:pt x="232293" y="235636"/>
                </a:lnTo>
                <a:lnTo>
                  <a:pt x="293964" y="243204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4"/>
                </a:lnTo>
                <a:lnTo>
                  <a:pt x="627347" y="235636"/>
                </a:lnTo>
                <a:lnTo>
                  <a:pt x="683666" y="225486"/>
                </a:lnTo>
                <a:lnTo>
                  <a:pt x="733749" y="213012"/>
                </a:lnTo>
                <a:lnTo>
                  <a:pt x="776710" y="198471"/>
                </a:lnTo>
                <a:lnTo>
                  <a:pt x="811665" y="182119"/>
                </a:lnTo>
                <a:lnTo>
                  <a:pt x="854015" y="145015"/>
                </a:lnTo>
                <a:lnTo>
                  <a:pt x="859641" y="12477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7736647" y="5552824"/>
            <a:ext cx="418563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4341448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429820" y="0"/>
                </a:moveTo>
                <a:lnTo>
                  <a:pt x="360101" y="1633"/>
                </a:lnTo>
                <a:lnTo>
                  <a:pt x="293964" y="6363"/>
                </a:lnTo>
                <a:lnTo>
                  <a:pt x="232293" y="13931"/>
                </a:lnTo>
                <a:lnTo>
                  <a:pt x="175974" y="24080"/>
                </a:lnTo>
                <a:lnTo>
                  <a:pt x="125892" y="36554"/>
                </a:lnTo>
                <a:lnTo>
                  <a:pt x="82930" y="51096"/>
                </a:lnTo>
                <a:lnTo>
                  <a:pt x="47976" y="67447"/>
                </a:lnTo>
                <a:lnTo>
                  <a:pt x="5625" y="104552"/>
                </a:lnTo>
                <a:lnTo>
                  <a:pt x="0" y="124790"/>
                </a:lnTo>
                <a:lnTo>
                  <a:pt x="5625" y="145029"/>
                </a:lnTo>
                <a:lnTo>
                  <a:pt x="47976" y="182131"/>
                </a:lnTo>
                <a:lnTo>
                  <a:pt x="82930" y="198480"/>
                </a:lnTo>
                <a:lnTo>
                  <a:pt x="125892" y="213019"/>
                </a:lnTo>
                <a:lnTo>
                  <a:pt x="175974" y="225491"/>
                </a:lnTo>
                <a:lnTo>
                  <a:pt x="232293" y="235639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7" y="243205"/>
                </a:lnTo>
                <a:lnTo>
                  <a:pt x="627347" y="235639"/>
                </a:lnTo>
                <a:lnTo>
                  <a:pt x="683666" y="225491"/>
                </a:lnTo>
                <a:lnTo>
                  <a:pt x="733749" y="213019"/>
                </a:lnTo>
                <a:lnTo>
                  <a:pt x="776710" y="198480"/>
                </a:lnTo>
                <a:lnTo>
                  <a:pt x="811665" y="182131"/>
                </a:lnTo>
                <a:lnTo>
                  <a:pt x="854015" y="145029"/>
                </a:lnTo>
                <a:lnTo>
                  <a:pt x="859641" y="124790"/>
                </a:lnTo>
                <a:lnTo>
                  <a:pt x="854015" y="104552"/>
                </a:lnTo>
                <a:lnTo>
                  <a:pt x="811665" y="67447"/>
                </a:lnTo>
                <a:lnTo>
                  <a:pt x="776710" y="51096"/>
                </a:lnTo>
                <a:lnTo>
                  <a:pt x="733749" y="36554"/>
                </a:lnTo>
                <a:lnTo>
                  <a:pt x="683666" y="24080"/>
                </a:lnTo>
                <a:lnTo>
                  <a:pt x="627347" y="13931"/>
                </a:lnTo>
                <a:lnTo>
                  <a:pt x="565677" y="6363"/>
                </a:lnTo>
                <a:lnTo>
                  <a:pt x="499539" y="1633"/>
                </a:lnTo>
                <a:lnTo>
                  <a:pt x="42982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4341448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41" y="124790"/>
                </a:moveTo>
                <a:lnTo>
                  <a:pt x="837728" y="85351"/>
                </a:lnTo>
                <a:lnTo>
                  <a:pt x="776710" y="51096"/>
                </a:lnTo>
                <a:lnTo>
                  <a:pt x="733749" y="36554"/>
                </a:lnTo>
                <a:lnTo>
                  <a:pt x="683666" y="24080"/>
                </a:lnTo>
                <a:lnTo>
                  <a:pt x="627347" y="13931"/>
                </a:lnTo>
                <a:lnTo>
                  <a:pt x="565676" y="6363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3"/>
                </a:lnTo>
                <a:lnTo>
                  <a:pt x="232293" y="13931"/>
                </a:lnTo>
                <a:lnTo>
                  <a:pt x="175974" y="24080"/>
                </a:lnTo>
                <a:lnTo>
                  <a:pt x="125892" y="36554"/>
                </a:lnTo>
                <a:lnTo>
                  <a:pt x="82930" y="51096"/>
                </a:lnTo>
                <a:lnTo>
                  <a:pt x="47976" y="67447"/>
                </a:lnTo>
                <a:lnTo>
                  <a:pt x="5625" y="104552"/>
                </a:lnTo>
                <a:lnTo>
                  <a:pt x="0" y="124790"/>
                </a:lnTo>
                <a:lnTo>
                  <a:pt x="5625" y="145029"/>
                </a:lnTo>
                <a:lnTo>
                  <a:pt x="47976" y="182131"/>
                </a:lnTo>
                <a:lnTo>
                  <a:pt x="82930" y="198480"/>
                </a:lnTo>
                <a:lnTo>
                  <a:pt x="125892" y="213019"/>
                </a:lnTo>
                <a:lnTo>
                  <a:pt x="175974" y="225491"/>
                </a:lnTo>
                <a:lnTo>
                  <a:pt x="232293" y="235639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9"/>
                </a:lnTo>
                <a:lnTo>
                  <a:pt x="683666" y="225491"/>
                </a:lnTo>
                <a:lnTo>
                  <a:pt x="733749" y="213019"/>
                </a:lnTo>
                <a:lnTo>
                  <a:pt x="776710" y="198480"/>
                </a:lnTo>
                <a:lnTo>
                  <a:pt x="811665" y="182131"/>
                </a:lnTo>
                <a:lnTo>
                  <a:pt x="854015" y="145029"/>
                </a:lnTo>
                <a:lnTo>
                  <a:pt x="859641" y="12479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4642378" y="6366447"/>
            <a:ext cx="439414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2411501" y="7165782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43" y="124776"/>
                </a:moveTo>
                <a:lnTo>
                  <a:pt x="837730" y="85338"/>
                </a:lnTo>
                <a:lnTo>
                  <a:pt x="776711" y="51086"/>
                </a:lnTo>
                <a:lnTo>
                  <a:pt x="733750" y="36547"/>
                </a:lnTo>
                <a:lnTo>
                  <a:pt x="683667" y="24075"/>
                </a:lnTo>
                <a:lnTo>
                  <a:pt x="627348" y="13928"/>
                </a:lnTo>
                <a:lnTo>
                  <a:pt x="565677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2" y="1633"/>
                </a:lnTo>
                <a:lnTo>
                  <a:pt x="293965" y="6361"/>
                </a:lnTo>
                <a:lnTo>
                  <a:pt x="232294" y="13928"/>
                </a:lnTo>
                <a:lnTo>
                  <a:pt x="175975" y="24075"/>
                </a:lnTo>
                <a:lnTo>
                  <a:pt x="125892" y="36547"/>
                </a:lnTo>
                <a:lnTo>
                  <a:pt x="82931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8"/>
                </a:lnTo>
                <a:lnTo>
                  <a:pt x="47976" y="182126"/>
                </a:lnTo>
                <a:lnTo>
                  <a:pt x="82931" y="198477"/>
                </a:lnTo>
                <a:lnTo>
                  <a:pt x="125892" y="213017"/>
                </a:lnTo>
                <a:lnTo>
                  <a:pt x="175975" y="225490"/>
                </a:lnTo>
                <a:lnTo>
                  <a:pt x="232294" y="235638"/>
                </a:lnTo>
                <a:lnTo>
                  <a:pt x="293965" y="243205"/>
                </a:lnTo>
                <a:lnTo>
                  <a:pt x="360102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7" y="243205"/>
                </a:lnTo>
                <a:lnTo>
                  <a:pt x="627348" y="235638"/>
                </a:lnTo>
                <a:lnTo>
                  <a:pt x="683667" y="225490"/>
                </a:lnTo>
                <a:lnTo>
                  <a:pt x="733750" y="213017"/>
                </a:lnTo>
                <a:lnTo>
                  <a:pt x="776711" y="198477"/>
                </a:lnTo>
                <a:lnTo>
                  <a:pt x="811666" y="182126"/>
                </a:lnTo>
                <a:lnTo>
                  <a:pt x="854017" y="145018"/>
                </a:lnTo>
                <a:lnTo>
                  <a:pt x="859643" y="124776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8318130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859641" y="124790"/>
                </a:moveTo>
                <a:lnTo>
                  <a:pt x="837728" y="85351"/>
                </a:lnTo>
                <a:lnTo>
                  <a:pt x="776710" y="51096"/>
                </a:lnTo>
                <a:lnTo>
                  <a:pt x="733749" y="36554"/>
                </a:lnTo>
                <a:lnTo>
                  <a:pt x="683666" y="24080"/>
                </a:lnTo>
                <a:lnTo>
                  <a:pt x="627347" y="13931"/>
                </a:lnTo>
                <a:lnTo>
                  <a:pt x="565676" y="6363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3"/>
                </a:lnTo>
                <a:lnTo>
                  <a:pt x="232293" y="13931"/>
                </a:lnTo>
                <a:lnTo>
                  <a:pt x="175974" y="24080"/>
                </a:lnTo>
                <a:lnTo>
                  <a:pt x="125892" y="36554"/>
                </a:lnTo>
                <a:lnTo>
                  <a:pt x="82930" y="51096"/>
                </a:lnTo>
                <a:lnTo>
                  <a:pt x="47976" y="67447"/>
                </a:lnTo>
                <a:lnTo>
                  <a:pt x="5625" y="104552"/>
                </a:lnTo>
                <a:lnTo>
                  <a:pt x="0" y="124790"/>
                </a:lnTo>
                <a:lnTo>
                  <a:pt x="5625" y="145029"/>
                </a:lnTo>
                <a:lnTo>
                  <a:pt x="47976" y="182131"/>
                </a:lnTo>
                <a:lnTo>
                  <a:pt x="82930" y="198480"/>
                </a:lnTo>
                <a:lnTo>
                  <a:pt x="125892" y="213019"/>
                </a:lnTo>
                <a:lnTo>
                  <a:pt x="175974" y="225491"/>
                </a:lnTo>
                <a:lnTo>
                  <a:pt x="232293" y="235639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9"/>
                </a:lnTo>
                <a:lnTo>
                  <a:pt x="683666" y="225491"/>
                </a:lnTo>
                <a:lnTo>
                  <a:pt x="733749" y="213019"/>
                </a:lnTo>
                <a:lnTo>
                  <a:pt x="776710" y="198480"/>
                </a:lnTo>
                <a:lnTo>
                  <a:pt x="811665" y="182131"/>
                </a:lnTo>
                <a:lnTo>
                  <a:pt x="854015" y="145029"/>
                </a:lnTo>
                <a:lnTo>
                  <a:pt x="859641" y="124790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3053703" y="7983463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90">
                <a:moveTo>
                  <a:pt x="859648" y="124783"/>
                </a:moveTo>
                <a:lnTo>
                  <a:pt x="837735" y="85344"/>
                </a:lnTo>
                <a:lnTo>
                  <a:pt x="776715" y="51090"/>
                </a:lnTo>
                <a:lnTo>
                  <a:pt x="733753" y="36550"/>
                </a:lnTo>
                <a:lnTo>
                  <a:pt x="683669" y="24077"/>
                </a:lnTo>
                <a:lnTo>
                  <a:pt x="627349" y="13929"/>
                </a:lnTo>
                <a:lnTo>
                  <a:pt x="565677" y="6362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7" y="243205"/>
                </a:lnTo>
                <a:lnTo>
                  <a:pt x="627349" y="235638"/>
                </a:lnTo>
                <a:lnTo>
                  <a:pt x="683669" y="225490"/>
                </a:lnTo>
                <a:lnTo>
                  <a:pt x="733753" y="213017"/>
                </a:lnTo>
                <a:lnTo>
                  <a:pt x="776715" y="198477"/>
                </a:lnTo>
                <a:lnTo>
                  <a:pt x="811671" y="182127"/>
                </a:lnTo>
                <a:lnTo>
                  <a:pt x="854023" y="145023"/>
                </a:lnTo>
                <a:lnTo>
                  <a:pt x="859648" y="124783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3354636" y="7991065"/>
            <a:ext cx="439414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4313114" y="7983463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90">
                <a:moveTo>
                  <a:pt x="859641" y="124783"/>
                </a:moveTo>
                <a:lnTo>
                  <a:pt x="837728" y="85344"/>
                </a:lnTo>
                <a:lnTo>
                  <a:pt x="776710" y="51090"/>
                </a:lnTo>
                <a:lnTo>
                  <a:pt x="733749" y="36550"/>
                </a:lnTo>
                <a:lnTo>
                  <a:pt x="683666" y="24077"/>
                </a:lnTo>
                <a:lnTo>
                  <a:pt x="627347" y="13929"/>
                </a:lnTo>
                <a:lnTo>
                  <a:pt x="565676" y="6362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7"/>
                </a:lnTo>
                <a:lnTo>
                  <a:pt x="854015" y="145023"/>
                </a:lnTo>
                <a:lnTo>
                  <a:pt x="859641" y="124783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4400044" y="7991065"/>
            <a:ext cx="857205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7051671" y="8033643"/>
            <a:ext cx="160009" cy="2031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2" name="object 132"/>
          <p:cNvSpPr/>
          <p:nvPr/>
        </p:nvSpPr>
        <p:spPr>
          <a:xfrm>
            <a:off x="2935404" y="6660217"/>
            <a:ext cx="1939908" cy="505828"/>
          </a:xfrm>
          <a:custGeom>
            <a:avLst/>
            <a:gdLst/>
            <a:ahLst/>
            <a:cxnLst/>
            <a:rect l="l" t="t" r="r" b="b"/>
            <a:pathLst>
              <a:path w="1595120" h="415925">
                <a:moveTo>
                  <a:pt x="1594770" y="0"/>
                </a:moveTo>
                <a:lnTo>
                  <a:pt x="0" y="41543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4875259" y="6659407"/>
            <a:ext cx="615488" cy="506599"/>
          </a:xfrm>
          <a:custGeom>
            <a:avLst/>
            <a:gdLst/>
            <a:ahLst/>
            <a:cxnLst/>
            <a:rect l="l" t="t" r="r" b="b"/>
            <a:pathLst>
              <a:path w="506095" h="416560">
                <a:moveTo>
                  <a:pt x="0" y="0"/>
                </a:moveTo>
                <a:lnTo>
                  <a:pt x="506089" y="4159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6252770" y="7165782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429820" y="0"/>
                </a:moveTo>
                <a:lnTo>
                  <a:pt x="360101" y="1633"/>
                </a:lnTo>
                <a:lnTo>
                  <a:pt x="293964" y="6363"/>
                </a:lnTo>
                <a:lnTo>
                  <a:pt x="232293" y="13931"/>
                </a:lnTo>
                <a:lnTo>
                  <a:pt x="175974" y="24080"/>
                </a:lnTo>
                <a:lnTo>
                  <a:pt x="125892" y="36554"/>
                </a:lnTo>
                <a:lnTo>
                  <a:pt x="82930" y="51096"/>
                </a:lnTo>
                <a:lnTo>
                  <a:pt x="47976" y="67447"/>
                </a:lnTo>
                <a:lnTo>
                  <a:pt x="5625" y="104552"/>
                </a:lnTo>
                <a:lnTo>
                  <a:pt x="0" y="124790"/>
                </a:lnTo>
                <a:lnTo>
                  <a:pt x="5625" y="145029"/>
                </a:lnTo>
                <a:lnTo>
                  <a:pt x="47976" y="182131"/>
                </a:lnTo>
                <a:lnTo>
                  <a:pt x="82930" y="198480"/>
                </a:lnTo>
                <a:lnTo>
                  <a:pt x="125892" y="213019"/>
                </a:lnTo>
                <a:lnTo>
                  <a:pt x="175974" y="225491"/>
                </a:lnTo>
                <a:lnTo>
                  <a:pt x="232293" y="235639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7" y="243205"/>
                </a:lnTo>
                <a:lnTo>
                  <a:pt x="627347" y="235639"/>
                </a:lnTo>
                <a:lnTo>
                  <a:pt x="683666" y="225491"/>
                </a:lnTo>
                <a:lnTo>
                  <a:pt x="733749" y="213019"/>
                </a:lnTo>
                <a:lnTo>
                  <a:pt x="776710" y="198480"/>
                </a:lnTo>
                <a:lnTo>
                  <a:pt x="811665" y="182131"/>
                </a:lnTo>
                <a:lnTo>
                  <a:pt x="854015" y="145029"/>
                </a:lnTo>
                <a:lnTo>
                  <a:pt x="859641" y="124790"/>
                </a:lnTo>
                <a:lnTo>
                  <a:pt x="854015" y="104552"/>
                </a:lnTo>
                <a:lnTo>
                  <a:pt x="811665" y="67447"/>
                </a:lnTo>
                <a:lnTo>
                  <a:pt x="776710" y="51096"/>
                </a:lnTo>
                <a:lnTo>
                  <a:pt x="733749" y="36554"/>
                </a:lnTo>
                <a:lnTo>
                  <a:pt x="683666" y="24080"/>
                </a:lnTo>
                <a:lnTo>
                  <a:pt x="627347" y="13931"/>
                </a:lnTo>
                <a:lnTo>
                  <a:pt x="565677" y="6363"/>
                </a:lnTo>
                <a:lnTo>
                  <a:pt x="499539" y="1633"/>
                </a:lnTo>
                <a:lnTo>
                  <a:pt x="42982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6252770" y="7165782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41" y="124790"/>
                </a:moveTo>
                <a:lnTo>
                  <a:pt x="837728" y="85351"/>
                </a:lnTo>
                <a:lnTo>
                  <a:pt x="776710" y="51096"/>
                </a:lnTo>
                <a:lnTo>
                  <a:pt x="733749" y="36554"/>
                </a:lnTo>
                <a:lnTo>
                  <a:pt x="683666" y="24080"/>
                </a:lnTo>
                <a:lnTo>
                  <a:pt x="627347" y="13931"/>
                </a:lnTo>
                <a:lnTo>
                  <a:pt x="565676" y="6363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3"/>
                </a:lnTo>
                <a:lnTo>
                  <a:pt x="232293" y="13931"/>
                </a:lnTo>
                <a:lnTo>
                  <a:pt x="175974" y="24080"/>
                </a:lnTo>
                <a:lnTo>
                  <a:pt x="125892" y="36554"/>
                </a:lnTo>
                <a:lnTo>
                  <a:pt x="82930" y="51096"/>
                </a:lnTo>
                <a:lnTo>
                  <a:pt x="47976" y="67447"/>
                </a:lnTo>
                <a:lnTo>
                  <a:pt x="5625" y="104552"/>
                </a:lnTo>
                <a:lnTo>
                  <a:pt x="0" y="124790"/>
                </a:lnTo>
                <a:lnTo>
                  <a:pt x="5625" y="145029"/>
                </a:lnTo>
                <a:lnTo>
                  <a:pt x="47976" y="182131"/>
                </a:lnTo>
                <a:lnTo>
                  <a:pt x="82930" y="198480"/>
                </a:lnTo>
                <a:lnTo>
                  <a:pt x="125892" y="213019"/>
                </a:lnTo>
                <a:lnTo>
                  <a:pt x="175974" y="225491"/>
                </a:lnTo>
                <a:lnTo>
                  <a:pt x="232293" y="235639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9"/>
                </a:lnTo>
                <a:lnTo>
                  <a:pt x="683666" y="225491"/>
                </a:lnTo>
                <a:lnTo>
                  <a:pt x="733749" y="213019"/>
                </a:lnTo>
                <a:lnTo>
                  <a:pt x="776710" y="198480"/>
                </a:lnTo>
                <a:lnTo>
                  <a:pt x="811665" y="182131"/>
                </a:lnTo>
                <a:lnTo>
                  <a:pt x="854015" y="145029"/>
                </a:lnTo>
                <a:lnTo>
                  <a:pt x="859641" y="124790"/>
                </a:lnTo>
                <a:close/>
              </a:path>
            </a:pathLst>
          </a:custGeom>
          <a:ln w="125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6303333" y="7186254"/>
            <a:ext cx="904312" cy="214463"/>
          </a:xfrm>
          <a:prstGeom prst="rect">
            <a:avLst/>
          </a:prstGeom>
        </p:spPr>
        <p:txBody>
          <a:bodyPr vert="horz" wrap="square" lIns="0" tIns="1776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-12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0" i="0" u="none" strike="noStrike" kern="1200" cap="none" spc="-1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0" i="0" u="none" strike="noStrike" kern="1200" cap="none" spc="-1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7" name="object 137"/>
          <p:cNvSpPr/>
          <p:nvPr/>
        </p:nvSpPr>
        <p:spPr>
          <a:xfrm>
            <a:off x="3703347" y="7165782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429816" y="0"/>
                </a:moveTo>
                <a:lnTo>
                  <a:pt x="360098" y="1633"/>
                </a:lnTo>
                <a:lnTo>
                  <a:pt x="293962" y="6361"/>
                </a:lnTo>
                <a:lnTo>
                  <a:pt x="232292" y="13928"/>
                </a:lnTo>
                <a:lnTo>
                  <a:pt x="175973" y="24075"/>
                </a:lnTo>
                <a:lnTo>
                  <a:pt x="125891" y="36547"/>
                </a:lnTo>
                <a:lnTo>
                  <a:pt x="82930" y="51086"/>
                </a:lnTo>
                <a:lnTo>
                  <a:pt x="47975" y="67436"/>
                </a:lnTo>
                <a:lnTo>
                  <a:pt x="5625" y="104538"/>
                </a:lnTo>
                <a:lnTo>
                  <a:pt x="0" y="124776"/>
                </a:lnTo>
                <a:lnTo>
                  <a:pt x="5625" y="145018"/>
                </a:lnTo>
                <a:lnTo>
                  <a:pt x="47975" y="182126"/>
                </a:lnTo>
                <a:lnTo>
                  <a:pt x="82930" y="198477"/>
                </a:lnTo>
                <a:lnTo>
                  <a:pt x="125891" y="213017"/>
                </a:lnTo>
                <a:lnTo>
                  <a:pt x="175973" y="225490"/>
                </a:lnTo>
                <a:lnTo>
                  <a:pt x="232292" y="235638"/>
                </a:lnTo>
                <a:lnTo>
                  <a:pt x="293962" y="243205"/>
                </a:lnTo>
                <a:lnTo>
                  <a:pt x="360098" y="247934"/>
                </a:lnTo>
                <a:lnTo>
                  <a:pt x="429816" y="249567"/>
                </a:lnTo>
                <a:lnTo>
                  <a:pt x="499535" y="247934"/>
                </a:lnTo>
                <a:lnTo>
                  <a:pt x="565672" y="243205"/>
                </a:lnTo>
                <a:lnTo>
                  <a:pt x="627343" y="235638"/>
                </a:lnTo>
                <a:lnTo>
                  <a:pt x="683662" y="225490"/>
                </a:lnTo>
                <a:lnTo>
                  <a:pt x="733745" y="213017"/>
                </a:lnTo>
                <a:lnTo>
                  <a:pt x="776706" y="198477"/>
                </a:lnTo>
                <a:lnTo>
                  <a:pt x="811661" y="182126"/>
                </a:lnTo>
                <a:lnTo>
                  <a:pt x="854011" y="145018"/>
                </a:lnTo>
                <a:lnTo>
                  <a:pt x="859637" y="124776"/>
                </a:lnTo>
                <a:lnTo>
                  <a:pt x="854011" y="104538"/>
                </a:lnTo>
                <a:lnTo>
                  <a:pt x="811661" y="67436"/>
                </a:lnTo>
                <a:lnTo>
                  <a:pt x="776706" y="51086"/>
                </a:lnTo>
                <a:lnTo>
                  <a:pt x="733745" y="36547"/>
                </a:lnTo>
                <a:lnTo>
                  <a:pt x="683662" y="24075"/>
                </a:lnTo>
                <a:lnTo>
                  <a:pt x="627343" y="13928"/>
                </a:lnTo>
                <a:lnTo>
                  <a:pt x="565672" y="6361"/>
                </a:lnTo>
                <a:lnTo>
                  <a:pt x="499535" y="1633"/>
                </a:lnTo>
                <a:lnTo>
                  <a:pt x="429816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8" name="object 138"/>
          <p:cNvSpPr/>
          <p:nvPr/>
        </p:nvSpPr>
        <p:spPr>
          <a:xfrm>
            <a:off x="3703347" y="7165782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37" y="124776"/>
                </a:moveTo>
                <a:lnTo>
                  <a:pt x="837724" y="85338"/>
                </a:lnTo>
                <a:lnTo>
                  <a:pt x="776706" y="51086"/>
                </a:lnTo>
                <a:lnTo>
                  <a:pt x="733745" y="36547"/>
                </a:lnTo>
                <a:lnTo>
                  <a:pt x="683662" y="24075"/>
                </a:lnTo>
                <a:lnTo>
                  <a:pt x="627343" y="13928"/>
                </a:lnTo>
                <a:lnTo>
                  <a:pt x="565672" y="6361"/>
                </a:lnTo>
                <a:lnTo>
                  <a:pt x="499535" y="1633"/>
                </a:lnTo>
                <a:lnTo>
                  <a:pt x="429816" y="0"/>
                </a:lnTo>
                <a:lnTo>
                  <a:pt x="360098" y="1633"/>
                </a:lnTo>
                <a:lnTo>
                  <a:pt x="293962" y="6361"/>
                </a:lnTo>
                <a:lnTo>
                  <a:pt x="232292" y="13928"/>
                </a:lnTo>
                <a:lnTo>
                  <a:pt x="175973" y="24075"/>
                </a:lnTo>
                <a:lnTo>
                  <a:pt x="125891" y="36547"/>
                </a:lnTo>
                <a:lnTo>
                  <a:pt x="82930" y="51086"/>
                </a:lnTo>
                <a:lnTo>
                  <a:pt x="47975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8"/>
                </a:lnTo>
                <a:lnTo>
                  <a:pt x="47975" y="182126"/>
                </a:lnTo>
                <a:lnTo>
                  <a:pt x="82930" y="198477"/>
                </a:lnTo>
                <a:lnTo>
                  <a:pt x="125891" y="213017"/>
                </a:lnTo>
                <a:lnTo>
                  <a:pt x="175973" y="225490"/>
                </a:lnTo>
                <a:lnTo>
                  <a:pt x="232292" y="235638"/>
                </a:lnTo>
                <a:lnTo>
                  <a:pt x="293962" y="243205"/>
                </a:lnTo>
                <a:lnTo>
                  <a:pt x="360098" y="247934"/>
                </a:lnTo>
                <a:lnTo>
                  <a:pt x="429816" y="249567"/>
                </a:lnTo>
                <a:lnTo>
                  <a:pt x="499535" y="247934"/>
                </a:lnTo>
                <a:lnTo>
                  <a:pt x="565672" y="243205"/>
                </a:lnTo>
                <a:lnTo>
                  <a:pt x="627343" y="235638"/>
                </a:lnTo>
                <a:lnTo>
                  <a:pt x="683662" y="225490"/>
                </a:lnTo>
                <a:lnTo>
                  <a:pt x="733745" y="213017"/>
                </a:lnTo>
                <a:lnTo>
                  <a:pt x="776706" y="198477"/>
                </a:lnTo>
                <a:lnTo>
                  <a:pt x="811661" y="182126"/>
                </a:lnTo>
                <a:lnTo>
                  <a:pt x="854011" y="145018"/>
                </a:lnTo>
                <a:lnTo>
                  <a:pt x="859637" y="124776"/>
                </a:lnTo>
                <a:close/>
              </a:path>
            </a:pathLst>
          </a:custGeom>
          <a:ln w="125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3866721" y="7173392"/>
            <a:ext cx="704298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0" name="object 140"/>
          <p:cNvSpPr/>
          <p:nvPr/>
        </p:nvSpPr>
        <p:spPr>
          <a:xfrm>
            <a:off x="4962743" y="7165782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56" y="124776"/>
                </a:moveTo>
                <a:lnTo>
                  <a:pt x="837742" y="85338"/>
                </a:lnTo>
                <a:lnTo>
                  <a:pt x="776721" y="51086"/>
                </a:lnTo>
                <a:lnTo>
                  <a:pt x="733758" y="36547"/>
                </a:lnTo>
                <a:lnTo>
                  <a:pt x="683675" y="24075"/>
                </a:lnTo>
                <a:lnTo>
                  <a:pt x="627355" y="13928"/>
                </a:lnTo>
                <a:lnTo>
                  <a:pt x="565685" y="6361"/>
                </a:lnTo>
                <a:lnTo>
                  <a:pt x="499550" y="1633"/>
                </a:lnTo>
                <a:lnTo>
                  <a:pt x="429835" y="0"/>
                </a:lnTo>
                <a:lnTo>
                  <a:pt x="360116" y="1633"/>
                </a:lnTo>
                <a:lnTo>
                  <a:pt x="293977" y="6361"/>
                </a:lnTo>
                <a:lnTo>
                  <a:pt x="232305" y="13928"/>
                </a:lnTo>
                <a:lnTo>
                  <a:pt x="175984" y="24075"/>
                </a:lnTo>
                <a:lnTo>
                  <a:pt x="125899" y="36547"/>
                </a:lnTo>
                <a:lnTo>
                  <a:pt x="82935" y="51086"/>
                </a:lnTo>
                <a:lnTo>
                  <a:pt x="47979" y="67436"/>
                </a:lnTo>
                <a:lnTo>
                  <a:pt x="5626" y="104537"/>
                </a:lnTo>
                <a:lnTo>
                  <a:pt x="0" y="124776"/>
                </a:lnTo>
                <a:lnTo>
                  <a:pt x="5626" y="145018"/>
                </a:lnTo>
                <a:lnTo>
                  <a:pt x="47979" y="182126"/>
                </a:lnTo>
                <a:lnTo>
                  <a:pt x="82935" y="198477"/>
                </a:lnTo>
                <a:lnTo>
                  <a:pt x="125899" y="213017"/>
                </a:lnTo>
                <a:lnTo>
                  <a:pt x="175984" y="225490"/>
                </a:lnTo>
                <a:lnTo>
                  <a:pt x="232305" y="235638"/>
                </a:lnTo>
                <a:lnTo>
                  <a:pt x="293977" y="243205"/>
                </a:lnTo>
                <a:lnTo>
                  <a:pt x="360116" y="247934"/>
                </a:lnTo>
                <a:lnTo>
                  <a:pt x="429835" y="249567"/>
                </a:lnTo>
                <a:lnTo>
                  <a:pt x="499550" y="247934"/>
                </a:lnTo>
                <a:lnTo>
                  <a:pt x="565685" y="243205"/>
                </a:lnTo>
                <a:lnTo>
                  <a:pt x="627355" y="235638"/>
                </a:lnTo>
                <a:lnTo>
                  <a:pt x="683675" y="225490"/>
                </a:lnTo>
                <a:lnTo>
                  <a:pt x="733758" y="213017"/>
                </a:lnTo>
                <a:lnTo>
                  <a:pt x="776721" y="198477"/>
                </a:lnTo>
                <a:lnTo>
                  <a:pt x="811677" y="182126"/>
                </a:lnTo>
                <a:lnTo>
                  <a:pt x="854030" y="145018"/>
                </a:lnTo>
                <a:lnTo>
                  <a:pt x="859656" y="124776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4874907" y="6660216"/>
            <a:ext cx="1905157" cy="517412"/>
          </a:xfrm>
          <a:custGeom>
            <a:avLst/>
            <a:gdLst/>
            <a:ahLst/>
            <a:cxnLst/>
            <a:rect l="l" t="t" r="r" b="b"/>
            <a:pathLst>
              <a:path w="1566545" h="425450">
                <a:moveTo>
                  <a:pt x="0" y="0"/>
                </a:moveTo>
                <a:lnTo>
                  <a:pt x="1566065" y="42499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4228395" y="6660217"/>
            <a:ext cx="647151" cy="507373"/>
          </a:xfrm>
          <a:custGeom>
            <a:avLst/>
            <a:gdLst/>
            <a:ahLst/>
            <a:cxnLst/>
            <a:rect l="l" t="t" r="r" b="b"/>
            <a:pathLst>
              <a:path w="532129" h="417195">
                <a:moveTo>
                  <a:pt x="531589" y="0"/>
                </a:moveTo>
                <a:lnTo>
                  <a:pt x="0" y="41679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6505272" y="7479549"/>
            <a:ext cx="269518" cy="498877"/>
          </a:xfrm>
          <a:custGeom>
            <a:avLst/>
            <a:gdLst/>
            <a:ahLst/>
            <a:cxnLst/>
            <a:rect l="l" t="t" r="r" b="b"/>
            <a:pathLst>
              <a:path w="221614" h="410210">
                <a:moveTo>
                  <a:pt x="221386" y="0"/>
                </a:moveTo>
                <a:lnTo>
                  <a:pt x="0" y="40997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4" name="object 144"/>
          <p:cNvSpPr/>
          <p:nvPr/>
        </p:nvSpPr>
        <p:spPr>
          <a:xfrm>
            <a:off x="6781154" y="7479549"/>
            <a:ext cx="980766" cy="501967"/>
          </a:xfrm>
          <a:custGeom>
            <a:avLst/>
            <a:gdLst/>
            <a:ahLst/>
            <a:cxnLst/>
            <a:rect l="l" t="t" r="r" b="b"/>
            <a:pathLst>
              <a:path w="806450" h="412750">
                <a:moveTo>
                  <a:pt x="0" y="0"/>
                </a:moveTo>
                <a:lnTo>
                  <a:pt x="806265" y="41270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5" name="object 145"/>
          <p:cNvSpPr/>
          <p:nvPr/>
        </p:nvSpPr>
        <p:spPr>
          <a:xfrm>
            <a:off x="6777823" y="7479550"/>
            <a:ext cx="2277383" cy="508917"/>
          </a:xfrm>
          <a:custGeom>
            <a:avLst/>
            <a:gdLst/>
            <a:ahLst/>
            <a:cxnLst/>
            <a:rect l="l" t="t" r="r" b="b"/>
            <a:pathLst>
              <a:path w="1872615" h="418464">
                <a:moveTo>
                  <a:pt x="0" y="0"/>
                </a:moveTo>
                <a:lnTo>
                  <a:pt x="1872182" y="41817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6" name="object 146"/>
          <p:cNvSpPr/>
          <p:nvPr/>
        </p:nvSpPr>
        <p:spPr>
          <a:xfrm>
            <a:off x="5976888" y="7983463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90">
                <a:moveTo>
                  <a:pt x="859641" y="124783"/>
                </a:moveTo>
                <a:lnTo>
                  <a:pt x="837728" y="85344"/>
                </a:lnTo>
                <a:lnTo>
                  <a:pt x="776710" y="51090"/>
                </a:lnTo>
                <a:lnTo>
                  <a:pt x="733749" y="36550"/>
                </a:lnTo>
                <a:lnTo>
                  <a:pt x="683666" y="24077"/>
                </a:lnTo>
                <a:lnTo>
                  <a:pt x="627347" y="13929"/>
                </a:lnTo>
                <a:lnTo>
                  <a:pt x="565676" y="6362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7"/>
                </a:lnTo>
                <a:lnTo>
                  <a:pt x="854015" y="145023"/>
                </a:lnTo>
                <a:lnTo>
                  <a:pt x="859641" y="124783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6155532" y="7991080"/>
            <a:ext cx="663368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7236290" y="7983463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90">
                <a:moveTo>
                  <a:pt x="859641" y="124783"/>
                </a:moveTo>
                <a:lnTo>
                  <a:pt x="837728" y="85344"/>
                </a:lnTo>
                <a:lnTo>
                  <a:pt x="776710" y="51090"/>
                </a:lnTo>
                <a:lnTo>
                  <a:pt x="733749" y="36550"/>
                </a:lnTo>
                <a:lnTo>
                  <a:pt x="683666" y="24077"/>
                </a:lnTo>
                <a:lnTo>
                  <a:pt x="627347" y="13929"/>
                </a:lnTo>
                <a:lnTo>
                  <a:pt x="565676" y="6362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7"/>
                </a:lnTo>
                <a:lnTo>
                  <a:pt x="854015" y="145023"/>
                </a:lnTo>
                <a:lnTo>
                  <a:pt x="859641" y="124783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7499018" y="7991080"/>
            <a:ext cx="530540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0" name="object 150"/>
          <p:cNvSpPr/>
          <p:nvPr/>
        </p:nvSpPr>
        <p:spPr>
          <a:xfrm>
            <a:off x="8526298" y="7983463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90">
                <a:moveTo>
                  <a:pt x="859641" y="124783"/>
                </a:moveTo>
                <a:lnTo>
                  <a:pt x="837728" y="85344"/>
                </a:lnTo>
                <a:lnTo>
                  <a:pt x="776710" y="51090"/>
                </a:lnTo>
                <a:lnTo>
                  <a:pt x="733749" y="36550"/>
                </a:lnTo>
                <a:lnTo>
                  <a:pt x="683666" y="24077"/>
                </a:lnTo>
                <a:lnTo>
                  <a:pt x="627347" y="13929"/>
                </a:lnTo>
                <a:lnTo>
                  <a:pt x="565676" y="6362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7"/>
                </a:lnTo>
                <a:lnTo>
                  <a:pt x="854015" y="145023"/>
                </a:lnTo>
                <a:lnTo>
                  <a:pt x="859641" y="124783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8827227" y="7991080"/>
            <a:ext cx="439414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5903328" y="8288455"/>
            <a:ext cx="2423341" cy="219214"/>
          </a:xfrm>
          <a:prstGeom prst="rect">
            <a:avLst/>
          </a:prstGeom>
        </p:spPr>
        <p:txBody>
          <a:bodyPr vert="horz" wrap="square" lIns="0" tIns="386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526=366+160</a:t>
            </a:r>
            <a:r>
              <a:rPr kumimoji="0" sz="1399" b="0" i="0" u="none" strike="noStrike" kern="1200" cap="none" spc="1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417=317+100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2980136" y="8293803"/>
            <a:ext cx="1163789" cy="219214"/>
          </a:xfrm>
          <a:prstGeom prst="rect">
            <a:avLst/>
          </a:prstGeom>
        </p:spPr>
        <p:txBody>
          <a:bodyPr vert="horz" wrap="square" lIns="0" tIns="386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591=338+253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4346778" y="8293803"/>
            <a:ext cx="959915" cy="219214"/>
          </a:xfrm>
          <a:prstGeom prst="rect">
            <a:avLst/>
          </a:prstGeom>
        </p:spPr>
        <p:txBody>
          <a:bodyPr vert="horz" wrap="square" lIns="0" tIns="386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450=450+0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8452740" y="8299151"/>
            <a:ext cx="1163789" cy="219214"/>
          </a:xfrm>
          <a:prstGeom prst="rect">
            <a:avLst/>
          </a:prstGeom>
        </p:spPr>
        <p:txBody>
          <a:bodyPr vert="horz" wrap="square" lIns="0" tIns="386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553=300+253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0" name="object 160"/>
          <p:cNvSpPr txBox="1">
            <a:spLocks noGrp="1"/>
          </p:cNvSpPr>
          <p:nvPr>
            <p:ph type="sldNum" sz="quarter" idx="12"/>
          </p:nvPr>
        </p:nvSpPr>
        <p:spPr>
          <a:xfrm>
            <a:off x="14670576" y="11520140"/>
            <a:ext cx="262971" cy="155180"/>
          </a:xfrm>
          <a:prstGeom prst="rect">
            <a:avLst/>
          </a:prstGeom>
        </p:spPr>
        <p:txBody>
          <a:bodyPr vert="horz" wrap="square" lIns="0" tIns="5406" rIns="0" bIns="0" rtlCol="0">
            <a:spAutoFit/>
          </a:bodyPr>
          <a:lstStyle/>
          <a:p>
            <a:pPr marL="46337" marR="0" lvl="0" indent="0" algn="l" defTabSz="1112093" rtl="0" eaLnBrk="1" fontAlgn="auto" latinLnBrk="0" hangingPunct="1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3600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Palatino"/>
              </a:rPr>
              <a:pPr marL="46337" marR="0" lvl="0" indent="0" algn="l" defTabSz="1112093" rtl="0" eaLnBrk="1" fontAlgn="auto" latinLnBrk="0" hangingPunct="1">
                <a:lnSpc>
                  <a:spcPct val="100000"/>
                </a:lnSpc>
                <a:spcBef>
                  <a:spcPts val="43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sz="3600" b="0" i="0" u="none" strike="noStrike" kern="1200" cap="none" spc="-6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8244570" y="6301167"/>
            <a:ext cx="1163789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183032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447=118+329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11025761" y="6301168"/>
            <a:ext cx="1061853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251766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449=75+374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2337939" y="7108145"/>
            <a:ext cx="1163789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381510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646=280+366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4889187" y="7108145"/>
            <a:ext cx="1163789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267211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  671=291+380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137814207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02692" y="591108"/>
            <a:ext cx="1779279" cy="466514"/>
          </a:xfrm>
          <a:prstGeom prst="rect">
            <a:avLst/>
          </a:prstGeom>
        </p:spPr>
        <p:txBody>
          <a:bodyPr vert="horz" wrap="square" lIns="0" tIns="55602" rIns="0" bIns="0" rtlCol="0">
            <a:spAutoFit/>
          </a:bodyPr>
          <a:lstStyle/>
          <a:p>
            <a:pPr marL="15446" marR="6178" lvl="0" indent="0" algn="l" defTabSz="1112093" rtl="0" eaLnBrk="1" fontAlgn="auto" latinLnBrk="0" hangingPunct="1">
              <a:lnSpc>
                <a:spcPts val="1569"/>
              </a:lnSpc>
              <a:spcBef>
                <a:spcPts val="43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Straight−line </a:t>
            </a: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distance  to</a:t>
            </a:r>
            <a:r>
              <a:rPr kumimoji="0" sz="158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Bucharest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26564" y="2303312"/>
            <a:ext cx="29963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ts val="1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178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6371" y="4199685"/>
            <a:ext cx="200014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1112093" rtl="0" eaLnBrk="1" fontAlgn="auto" latinLnBrk="0" hangingPunct="1">
              <a:lnSpc>
                <a:spcPts val="1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81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98</a:t>
            </a:r>
            <a:endParaRPr kumimoji="0" sz="158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61369" y="2839598"/>
            <a:ext cx="1498178" cy="1896662"/>
          </a:xfrm>
          <a:custGeom>
            <a:avLst/>
            <a:gdLst/>
            <a:ahLst/>
            <a:cxnLst/>
            <a:rect l="l" t="t" r="r" b="b"/>
            <a:pathLst>
              <a:path w="1231900" h="1559560">
                <a:moveTo>
                  <a:pt x="0" y="0"/>
                </a:moveTo>
                <a:lnTo>
                  <a:pt x="1231847" y="1559385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87113" y="5523307"/>
            <a:ext cx="62012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Giurgiu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5003" y="4446735"/>
            <a:ext cx="67495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Urziceni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6834" y="4262133"/>
            <a:ext cx="6386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Hirsova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56153" y="5391328"/>
            <a:ext cx="500422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Eforie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89784" y="1050684"/>
            <a:ext cx="537489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Neamt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5543" y="742531"/>
            <a:ext cx="602360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8922" y="1461105"/>
            <a:ext cx="537489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4936" y="2003721"/>
            <a:ext cx="408524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84962" y="3220909"/>
            <a:ext cx="81395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58150" y="3807510"/>
            <a:ext cx="48188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Lugoj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02136" y="4438104"/>
            <a:ext cx="69348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Mehadia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6141" y="5068700"/>
            <a:ext cx="656418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Dobreta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07343" y="5347354"/>
            <a:ext cx="6386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88748" y="2370322"/>
            <a:ext cx="436325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42603" y="2406992"/>
            <a:ext cx="666457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72066" y="3728886"/>
            <a:ext cx="528223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13545" y="2766300"/>
            <a:ext cx="518956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Vaslui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70929" y="1783744"/>
            <a:ext cx="307357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Iasi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84708" y="3132906"/>
            <a:ext cx="1209354" cy="215244"/>
          </a:xfrm>
          <a:prstGeom prst="rect">
            <a:avLst/>
          </a:prstGeom>
        </p:spPr>
        <p:txBody>
          <a:bodyPr vert="horz" wrap="square" lIns="0" tIns="18534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1" i="0" u="none" strike="noStrike" kern="1200" cap="none" spc="-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1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69191" y="1456619"/>
            <a:ext cx="1034051" cy="447909"/>
          </a:xfrm>
          <a:custGeom>
            <a:avLst/>
            <a:gdLst/>
            <a:ahLst/>
            <a:cxnLst/>
            <a:rect l="l" t="t" r="r" b="b"/>
            <a:pathLst>
              <a:path w="850264" h="368300">
                <a:moveTo>
                  <a:pt x="850134" y="367789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175767" y="2945127"/>
            <a:ext cx="813958" cy="1444892"/>
          </a:xfrm>
          <a:custGeom>
            <a:avLst/>
            <a:gdLst/>
            <a:ahLst/>
            <a:cxnLst/>
            <a:rect l="l" t="t" r="r" b="b"/>
            <a:pathLst>
              <a:path w="669290" h="1188085">
                <a:moveTo>
                  <a:pt x="0" y="1187766"/>
                </a:moveTo>
                <a:lnTo>
                  <a:pt x="669259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3082" y="1947898"/>
            <a:ext cx="586915" cy="901996"/>
          </a:xfrm>
          <a:custGeom>
            <a:avLst/>
            <a:gdLst/>
            <a:ahLst/>
            <a:cxnLst/>
            <a:rect l="l" t="t" r="r" b="b"/>
            <a:pathLst>
              <a:path w="482600" h="741680">
                <a:moveTo>
                  <a:pt x="482344" y="741602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223435" y="4433624"/>
            <a:ext cx="1081931" cy="0"/>
          </a:xfrm>
          <a:custGeom>
            <a:avLst/>
            <a:gdLst/>
            <a:ahLst/>
            <a:cxnLst/>
            <a:rect l="l" t="t" r="r" b="b"/>
            <a:pathLst>
              <a:path w="889634">
                <a:moveTo>
                  <a:pt x="0" y="0"/>
                </a:moveTo>
                <a:lnTo>
                  <a:pt x="88932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48975" y="4382297"/>
            <a:ext cx="462582" cy="901996"/>
          </a:xfrm>
          <a:custGeom>
            <a:avLst/>
            <a:gdLst/>
            <a:ahLst/>
            <a:cxnLst/>
            <a:rect l="l" t="t" r="r" b="b"/>
            <a:pathLst>
              <a:path w="380365" h="741679">
                <a:moveTo>
                  <a:pt x="0" y="0"/>
                </a:moveTo>
                <a:lnTo>
                  <a:pt x="379836" y="74160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73865" y="4433625"/>
            <a:ext cx="857977" cy="315853"/>
          </a:xfrm>
          <a:custGeom>
            <a:avLst/>
            <a:gdLst/>
            <a:ahLst/>
            <a:cxnLst/>
            <a:rect l="l" t="t" r="r" b="b"/>
            <a:pathLst>
              <a:path w="705485" h="259714">
                <a:moveTo>
                  <a:pt x="0" y="259261"/>
                </a:moveTo>
                <a:lnTo>
                  <a:pt x="70543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826595" y="4792918"/>
            <a:ext cx="447909" cy="901996"/>
          </a:xfrm>
          <a:custGeom>
            <a:avLst/>
            <a:gdLst/>
            <a:ahLst/>
            <a:cxnLst/>
            <a:rect l="l" t="t" r="r" b="b"/>
            <a:pathLst>
              <a:path w="368300" h="741679">
                <a:moveTo>
                  <a:pt x="367773" y="0"/>
                </a:moveTo>
                <a:lnTo>
                  <a:pt x="0" y="741603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012675" y="4110998"/>
            <a:ext cx="1217847" cy="638656"/>
          </a:xfrm>
          <a:custGeom>
            <a:avLst/>
            <a:gdLst/>
            <a:ahLst/>
            <a:cxnLst/>
            <a:rect l="l" t="t" r="r" b="b"/>
            <a:pathLst>
              <a:path w="1001395" h="525145">
                <a:moveTo>
                  <a:pt x="0" y="0"/>
                </a:moveTo>
                <a:lnTo>
                  <a:pt x="1000861" y="52454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934811" y="4162324"/>
            <a:ext cx="1034051" cy="1261867"/>
          </a:xfrm>
          <a:custGeom>
            <a:avLst/>
            <a:gdLst/>
            <a:ahLst/>
            <a:cxnLst/>
            <a:rect l="l" t="t" r="r" b="b"/>
            <a:pathLst>
              <a:path w="850264" h="1037589">
                <a:moveTo>
                  <a:pt x="0" y="1037033"/>
                </a:moveTo>
                <a:lnTo>
                  <a:pt x="850118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612169" y="3480396"/>
            <a:ext cx="1312836" cy="630934"/>
          </a:xfrm>
          <a:custGeom>
            <a:avLst/>
            <a:gdLst/>
            <a:ahLst/>
            <a:cxnLst/>
            <a:rect l="l" t="t" r="r" b="b"/>
            <a:pathLst>
              <a:path w="1079500" h="518794">
                <a:moveTo>
                  <a:pt x="0" y="0"/>
                </a:moveTo>
                <a:lnTo>
                  <a:pt x="1079228" y="51852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216215" y="2717809"/>
            <a:ext cx="1525207" cy="88037"/>
          </a:xfrm>
          <a:custGeom>
            <a:avLst/>
            <a:gdLst/>
            <a:ahLst/>
            <a:cxnLst/>
            <a:rect l="l" t="t" r="r" b="b"/>
            <a:pathLst>
              <a:path w="1254125" h="72389">
                <a:moveTo>
                  <a:pt x="0" y="0"/>
                </a:moveTo>
                <a:lnTo>
                  <a:pt x="1254080" y="72359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619493" y="3524406"/>
            <a:ext cx="264112" cy="1855732"/>
          </a:xfrm>
          <a:custGeom>
            <a:avLst/>
            <a:gdLst/>
            <a:ahLst/>
            <a:cxnLst/>
            <a:rect l="l" t="t" r="r" b="b"/>
            <a:pathLst>
              <a:path w="217169" h="1525904">
                <a:moveTo>
                  <a:pt x="217062" y="1525397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534286" y="5240199"/>
            <a:ext cx="1349904" cy="139778"/>
          </a:xfrm>
          <a:custGeom>
            <a:avLst/>
            <a:gdLst/>
            <a:ahLst/>
            <a:cxnLst/>
            <a:rect l="l" t="t" r="r" b="b"/>
            <a:pathLst>
              <a:path w="1109980" h="114935">
                <a:moveTo>
                  <a:pt x="0" y="0"/>
                </a:moveTo>
                <a:lnTo>
                  <a:pt x="1109392" y="114559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512288" y="4601287"/>
            <a:ext cx="0" cy="547530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49990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194220" y="2717809"/>
            <a:ext cx="374544" cy="674952"/>
          </a:xfrm>
          <a:custGeom>
            <a:avLst/>
            <a:gdLst/>
            <a:ahLst/>
            <a:cxnLst/>
            <a:rect l="l" t="t" r="r" b="b"/>
            <a:pathLst>
              <a:path w="307975" h="554989">
                <a:moveTo>
                  <a:pt x="307492" y="554704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361091" y="2131206"/>
            <a:ext cx="1803991" cy="542896"/>
          </a:xfrm>
          <a:custGeom>
            <a:avLst/>
            <a:gdLst/>
            <a:ahLst/>
            <a:cxnLst/>
            <a:rect l="l" t="t" r="r" b="b"/>
            <a:pathLst>
              <a:path w="1483360" h="446405">
                <a:moveTo>
                  <a:pt x="0" y="0"/>
                </a:moveTo>
                <a:lnTo>
                  <a:pt x="1483194" y="446172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991678" y="914025"/>
            <a:ext cx="1173830" cy="1759973"/>
          </a:xfrm>
          <a:custGeom>
            <a:avLst/>
            <a:gdLst/>
            <a:ahLst/>
            <a:cxnLst/>
            <a:rect l="l" t="t" r="r" b="b"/>
            <a:pathLst>
              <a:path w="965200" h="1447164">
                <a:moveTo>
                  <a:pt x="964684" y="1447018"/>
                </a:moveTo>
                <a:lnTo>
                  <a:pt x="0" y="0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512296" y="4026682"/>
            <a:ext cx="0" cy="547530"/>
          </a:xfrm>
          <a:custGeom>
            <a:avLst/>
            <a:gdLst/>
            <a:ahLst/>
            <a:cxnLst/>
            <a:rect l="l" t="t" r="r" b="b"/>
            <a:pathLst>
              <a:path h="450214">
                <a:moveTo>
                  <a:pt x="0" y="0"/>
                </a:moveTo>
                <a:lnTo>
                  <a:pt x="0" y="449982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405090" y="3480397"/>
            <a:ext cx="1085793" cy="454859"/>
          </a:xfrm>
          <a:custGeom>
            <a:avLst/>
            <a:gdLst/>
            <a:ahLst/>
            <a:cxnLst/>
            <a:rect l="l" t="t" r="r" b="b"/>
            <a:pathLst>
              <a:path w="892810" h="374014">
                <a:moveTo>
                  <a:pt x="0" y="0"/>
                </a:moveTo>
                <a:lnTo>
                  <a:pt x="892329" y="373813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339093" y="2222870"/>
            <a:ext cx="0" cy="1222482"/>
          </a:xfrm>
          <a:custGeom>
            <a:avLst/>
            <a:gdLst/>
            <a:ahLst/>
            <a:cxnLst/>
            <a:rect l="l" t="t" r="r" b="b"/>
            <a:pathLst>
              <a:path h="1005205">
                <a:moveTo>
                  <a:pt x="0" y="0"/>
                </a:moveTo>
                <a:lnTo>
                  <a:pt x="0" y="1004687"/>
                </a:lnTo>
              </a:path>
            </a:pathLst>
          </a:custGeom>
          <a:ln w="49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317095" y="1500610"/>
            <a:ext cx="271834" cy="630934"/>
          </a:xfrm>
          <a:custGeom>
            <a:avLst/>
            <a:gdLst/>
            <a:ahLst/>
            <a:cxnLst/>
            <a:rect l="l" t="t" r="r" b="b"/>
            <a:pathLst>
              <a:path w="223519" h="518794">
                <a:moveTo>
                  <a:pt x="223087" y="0"/>
                </a:moveTo>
                <a:lnTo>
                  <a:pt x="0" y="51851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588404" y="870016"/>
            <a:ext cx="359872" cy="630934"/>
          </a:xfrm>
          <a:custGeom>
            <a:avLst/>
            <a:gdLst/>
            <a:ahLst/>
            <a:cxnLst/>
            <a:rect l="l" t="t" r="r" b="b"/>
            <a:pathLst>
              <a:path w="295909" h="518794">
                <a:moveTo>
                  <a:pt x="295428" y="0"/>
                </a:moveTo>
                <a:lnTo>
                  <a:pt x="0" y="518516"/>
                </a:lnTo>
              </a:path>
            </a:pathLst>
          </a:custGeom>
          <a:ln w="13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835802" y="533553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835803" y="533553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524187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524187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775260" y="560317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775260" y="560317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087784" y="43419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087785" y="434197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921030" y="40706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921030" y="40706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273863" y="13686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273864" y="13686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697376" y="276182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697378" y="276182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490283" y="451429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490283" y="451429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442620" y="514854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442621" y="5148543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442620" y="389103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442621" y="389103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269433" y="208721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269433" y="208721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313425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313425" y="338875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544396" y="14529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544396" y="14529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900027" y="82236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900027" y="82236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3120889" y="2629852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120889" y="262985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8759577" y="5243877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759579" y="5243876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8304983" y="4341975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8304985" y="4341974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917602" y="283758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7917603" y="2837588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59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7351746" y="1856279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7351747" y="1856277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59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6185862" y="47012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6185865" y="4701261"/>
            <a:ext cx="135917" cy="135917"/>
          </a:xfrm>
          <a:custGeom>
            <a:avLst/>
            <a:gdLst/>
            <a:ahLst/>
            <a:cxnLst/>
            <a:rect l="l" t="t" r="r" b="b"/>
            <a:pathLst>
              <a:path w="111760" h="111760">
                <a:moveTo>
                  <a:pt x="0" y="111540"/>
                </a:moveTo>
                <a:lnTo>
                  <a:pt x="111540" y="111540"/>
                </a:lnTo>
                <a:lnTo>
                  <a:pt x="111540" y="0"/>
                </a:lnTo>
                <a:lnTo>
                  <a:pt x="0" y="0"/>
                </a:lnTo>
                <a:lnTo>
                  <a:pt x="0" y="111540"/>
                </a:lnTo>
                <a:close/>
              </a:path>
            </a:pathLst>
          </a:custGeom>
          <a:ln w="27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555422" y="87870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217342" y="156054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006080" y="2607330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118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699709" y="3629676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111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269997" y="4057558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264866" y="468415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75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058990" y="495368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120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637328" y="1477109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151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109747" y="2026893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979859" y="2419941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99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460459" y="283080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106006" y="3757625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97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312385" y="434769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101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631790" y="3583816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211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466304" y="4694434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138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826392" y="4287843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146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563220" y="4266001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85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095498" y="4756696"/>
            <a:ext cx="1010884" cy="634404"/>
          </a:xfrm>
          <a:prstGeom prst="rect">
            <a:avLst/>
          </a:prstGeom>
        </p:spPr>
        <p:txBody>
          <a:bodyPr vert="horz" wrap="square" lIns="0" tIns="100393" rIns="0" bIns="0" rtlCol="0">
            <a:spAutoFit/>
          </a:bodyPr>
          <a:lstStyle/>
          <a:p>
            <a:pPr marL="185349" marR="0" lvl="0" indent="0" algn="l" defTabSz="1112093" rtl="0" eaLnBrk="1" fontAlgn="auto" latinLnBrk="0" hangingPunct="1">
              <a:lnSpc>
                <a:spcPct val="100000"/>
              </a:lnSpc>
              <a:spcBef>
                <a:spcPts val="79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1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90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718146" y="4080985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98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669209" y="3474015"/>
            <a:ext cx="353693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142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789593" y="2157259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92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892643" y="1345822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87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8677847" y="4613357"/>
            <a:ext cx="246350" cy="249506"/>
          </a:xfrm>
          <a:prstGeom prst="rect">
            <a:avLst/>
          </a:prstGeom>
        </p:spPr>
        <p:txBody>
          <a:bodyPr vert="horz" wrap="square" lIns="0" tIns="15445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2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20" b="1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86</a:t>
            </a:r>
            <a:endParaRPr kumimoji="0" sz="152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11181337" y="2279705"/>
            <a:ext cx="384584" cy="221638"/>
          </a:xfrm>
          <a:custGeom>
            <a:avLst/>
            <a:gdLst/>
            <a:ahLst/>
            <a:cxnLst/>
            <a:rect l="l" t="t" r="r" b="b"/>
            <a:pathLst>
              <a:path w="316229" h="182244">
                <a:moveTo>
                  <a:pt x="0" y="0"/>
                </a:moveTo>
                <a:lnTo>
                  <a:pt x="315935" y="0"/>
                </a:lnTo>
                <a:lnTo>
                  <a:pt x="315935" y="181662"/>
                </a:lnTo>
                <a:lnTo>
                  <a:pt x="0" y="1816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11171732" y="4191226"/>
            <a:ext cx="384584" cy="221638"/>
          </a:xfrm>
          <a:custGeom>
            <a:avLst/>
            <a:gdLst/>
            <a:ahLst/>
            <a:cxnLst/>
            <a:rect l="l" t="t" r="r" b="b"/>
            <a:pathLst>
              <a:path w="316229" h="182245">
                <a:moveTo>
                  <a:pt x="0" y="0"/>
                </a:moveTo>
                <a:lnTo>
                  <a:pt x="315935" y="0"/>
                </a:lnTo>
                <a:lnTo>
                  <a:pt x="315935" y="181662"/>
                </a:lnTo>
                <a:lnTo>
                  <a:pt x="0" y="1816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graphicFrame>
        <p:nvGraphicFramePr>
          <p:cNvPr id="112" name="object 112"/>
          <p:cNvGraphicFramePr>
            <a:graphicFrameLocks noGrp="1"/>
          </p:cNvGraphicFramePr>
          <p:nvPr/>
        </p:nvGraphicFramePr>
        <p:xfrm>
          <a:off x="9479524" y="1083587"/>
          <a:ext cx="2084321" cy="4746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7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631">
                <a:tc>
                  <a:txBody>
                    <a:bodyPr/>
                    <a:lstStyle/>
                    <a:p>
                      <a:pPr marL="31750">
                        <a:lnSpc>
                          <a:spcPts val="132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Arad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4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366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Bucharest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43">
                <a:tc>
                  <a:txBody>
                    <a:bodyPr/>
                    <a:lstStyle/>
                    <a:p>
                      <a:pPr marL="31750">
                        <a:lnSpc>
                          <a:spcPts val="133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Craiova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160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930">
                <a:tc>
                  <a:txBody>
                    <a:bodyPr/>
                    <a:lstStyle/>
                    <a:p>
                      <a:pPr marL="31750">
                        <a:lnSpc>
                          <a:spcPts val="129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Dobreta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918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Eforie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161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922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Fagaras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39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176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263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Giurgiu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90"/>
                        </a:lnSpc>
                        <a:spcBef>
                          <a:spcPts val="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77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54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Hirsova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151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Iasi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226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928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Lugoj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260">
                <a:tc>
                  <a:txBody>
                    <a:bodyPr/>
                    <a:lstStyle/>
                    <a:p>
                      <a:pPr marL="31750">
                        <a:lnSpc>
                          <a:spcPts val="133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Mehadia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241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Neamt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234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922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Oradea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380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476">
                <a:tc>
                  <a:txBody>
                    <a:bodyPr/>
                    <a:lstStyle/>
                    <a:p>
                      <a:pPr marL="31750">
                        <a:lnSpc>
                          <a:spcPts val="132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Pitesti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ts val="1400"/>
                        </a:lnSpc>
                        <a:spcBef>
                          <a:spcPts val="4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178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697">
                <a:tc>
                  <a:txBody>
                    <a:bodyPr/>
                    <a:lstStyle/>
                    <a:p>
                      <a:pPr marL="31750">
                        <a:lnSpc>
                          <a:spcPts val="131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Rimnicu</a:t>
                      </a:r>
                      <a:r>
                        <a:rPr sz="1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Vilcea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193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929">
                <a:tc>
                  <a:txBody>
                    <a:bodyPr/>
                    <a:lstStyle/>
                    <a:p>
                      <a:pPr marL="31750">
                        <a:lnSpc>
                          <a:spcPts val="129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Sibiu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253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4933">
                <a:tc>
                  <a:txBody>
                    <a:bodyPr/>
                    <a:lstStyle/>
                    <a:p>
                      <a:pPr marL="31750">
                        <a:lnSpc>
                          <a:spcPts val="130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Timisoara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329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4918">
                <a:tc>
                  <a:txBody>
                    <a:bodyPr/>
                    <a:lstStyle/>
                    <a:p>
                      <a:pPr marL="31750">
                        <a:lnSpc>
                          <a:spcPts val="1315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Urziceni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80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4930">
                <a:tc>
                  <a:txBody>
                    <a:bodyPr/>
                    <a:lstStyle/>
                    <a:p>
                      <a:pPr marL="31750">
                        <a:lnSpc>
                          <a:spcPts val="1330"/>
                        </a:lnSpc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Vaslui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199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6722">
                <a:tc>
                  <a:txBody>
                    <a:bodyPr/>
                    <a:lstStyle/>
                    <a:p>
                      <a:pPr marL="31750">
                        <a:lnSpc>
                          <a:spcPts val="1345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Zerind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9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374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13" name="object 113"/>
          <p:cNvSpPr txBox="1"/>
          <p:nvPr/>
        </p:nvSpPr>
        <p:spPr>
          <a:xfrm>
            <a:off x="1176394" y="5933130"/>
            <a:ext cx="1546830" cy="401566"/>
          </a:xfrm>
          <a:prstGeom prst="rect">
            <a:avLst/>
          </a:prstGeom>
        </p:spPr>
        <p:txBody>
          <a:bodyPr vert="horz" wrap="square" lIns="0" tIns="1776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Search</a:t>
            </a:r>
            <a:r>
              <a:rPr kumimoji="0" sz="2493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 </a:t>
            </a:r>
            <a:r>
              <a:rPr kumimoji="0" sz="2493" b="0" i="0" u="none" strike="noStrike" kern="1200" cap="none" spc="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tree:</a:t>
            </a:r>
            <a:endParaRPr kumimoji="0" sz="249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3595057" y="7463779"/>
            <a:ext cx="623983" cy="506599"/>
          </a:xfrm>
          <a:custGeom>
            <a:avLst/>
            <a:gdLst/>
            <a:ahLst/>
            <a:cxnLst/>
            <a:rect l="l" t="t" r="r" b="b"/>
            <a:pathLst>
              <a:path w="513079" h="416560">
                <a:moveTo>
                  <a:pt x="513020" y="0"/>
                </a:moveTo>
                <a:lnTo>
                  <a:pt x="0" y="41595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4218970" y="7463779"/>
            <a:ext cx="615488" cy="506599"/>
          </a:xfrm>
          <a:custGeom>
            <a:avLst/>
            <a:gdLst/>
            <a:ahLst/>
            <a:cxnLst/>
            <a:rect l="l" t="t" r="r" b="b"/>
            <a:pathLst>
              <a:path w="506095" h="416560">
                <a:moveTo>
                  <a:pt x="0" y="0"/>
                </a:moveTo>
                <a:lnTo>
                  <a:pt x="506074" y="41595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4861955" y="5852444"/>
            <a:ext cx="3988705" cy="506599"/>
          </a:xfrm>
          <a:custGeom>
            <a:avLst/>
            <a:gdLst/>
            <a:ahLst/>
            <a:cxnLst/>
            <a:rect l="l" t="t" r="r" b="b"/>
            <a:pathLst>
              <a:path w="3279775" h="416560">
                <a:moveTo>
                  <a:pt x="0" y="415955"/>
                </a:moveTo>
                <a:lnTo>
                  <a:pt x="2558162" y="0"/>
                </a:lnTo>
                <a:lnTo>
                  <a:pt x="3279162" y="41595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7973069" y="5852444"/>
            <a:ext cx="3575548" cy="506599"/>
          </a:xfrm>
          <a:custGeom>
            <a:avLst/>
            <a:gdLst/>
            <a:ahLst/>
            <a:cxnLst/>
            <a:rect l="l" t="t" r="r" b="b"/>
            <a:pathLst>
              <a:path w="2940050" h="416560">
                <a:moveTo>
                  <a:pt x="0" y="0"/>
                </a:moveTo>
                <a:lnTo>
                  <a:pt x="2939446" y="41595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11045578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859641" y="124776"/>
                </a:moveTo>
                <a:lnTo>
                  <a:pt x="837728" y="85338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6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8"/>
                </a:lnTo>
                <a:lnTo>
                  <a:pt x="47976" y="182126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6"/>
                </a:lnTo>
                <a:lnTo>
                  <a:pt x="854015" y="145018"/>
                </a:lnTo>
                <a:lnTo>
                  <a:pt x="859641" y="124776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7428052" y="5545231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429820" y="0"/>
                </a:move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8"/>
                </a:lnTo>
                <a:lnTo>
                  <a:pt x="0" y="124776"/>
                </a:lnTo>
                <a:lnTo>
                  <a:pt x="5625" y="145015"/>
                </a:lnTo>
                <a:lnTo>
                  <a:pt x="47976" y="182119"/>
                </a:lnTo>
                <a:lnTo>
                  <a:pt x="82930" y="198471"/>
                </a:lnTo>
                <a:lnTo>
                  <a:pt x="125892" y="213012"/>
                </a:lnTo>
                <a:lnTo>
                  <a:pt x="175974" y="225486"/>
                </a:lnTo>
                <a:lnTo>
                  <a:pt x="232293" y="235636"/>
                </a:lnTo>
                <a:lnTo>
                  <a:pt x="293964" y="243204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7" y="243204"/>
                </a:lnTo>
                <a:lnTo>
                  <a:pt x="627347" y="235636"/>
                </a:lnTo>
                <a:lnTo>
                  <a:pt x="683666" y="225486"/>
                </a:lnTo>
                <a:lnTo>
                  <a:pt x="733749" y="213012"/>
                </a:lnTo>
                <a:lnTo>
                  <a:pt x="776710" y="198471"/>
                </a:lnTo>
                <a:lnTo>
                  <a:pt x="811665" y="182119"/>
                </a:lnTo>
                <a:lnTo>
                  <a:pt x="854015" y="145015"/>
                </a:lnTo>
                <a:lnTo>
                  <a:pt x="859641" y="124776"/>
                </a:lnTo>
                <a:lnTo>
                  <a:pt x="854015" y="104538"/>
                </a:lnTo>
                <a:lnTo>
                  <a:pt x="811665" y="67436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7" y="6361"/>
                </a:lnTo>
                <a:lnTo>
                  <a:pt x="499539" y="1633"/>
                </a:lnTo>
                <a:lnTo>
                  <a:pt x="42982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7428052" y="5545231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859641" y="124776"/>
                </a:moveTo>
                <a:lnTo>
                  <a:pt x="837728" y="85338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6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5"/>
                </a:lnTo>
                <a:lnTo>
                  <a:pt x="47976" y="182119"/>
                </a:lnTo>
                <a:lnTo>
                  <a:pt x="82930" y="198471"/>
                </a:lnTo>
                <a:lnTo>
                  <a:pt x="125892" y="213012"/>
                </a:lnTo>
                <a:lnTo>
                  <a:pt x="175974" y="225486"/>
                </a:lnTo>
                <a:lnTo>
                  <a:pt x="232293" y="235636"/>
                </a:lnTo>
                <a:lnTo>
                  <a:pt x="293964" y="243204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4"/>
                </a:lnTo>
                <a:lnTo>
                  <a:pt x="627347" y="235636"/>
                </a:lnTo>
                <a:lnTo>
                  <a:pt x="683666" y="225486"/>
                </a:lnTo>
                <a:lnTo>
                  <a:pt x="733749" y="213012"/>
                </a:lnTo>
                <a:lnTo>
                  <a:pt x="776710" y="198471"/>
                </a:lnTo>
                <a:lnTo>
                  <a:pt x="811665" y="182119"/>
                </a:lnTo>
                <a:lnTo>
                  <a:pt x="854015" y="145015"/>
                </a:lnTo>
                <a:lnTo>
                  <a:pt x="859641" y="12477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7736647" y="5552824"/>
            <a:ext cx="418563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4341448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429820" y="0"/>
                </a:move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8"/>
                </a:lnTo>
                <a:lnTo>
                  <a:pt x="0" y="124776"/>
                </a:lnTo>
                <a:lnTo>
                  <a:pt x="5625" y="145018"/>
                </a:lnTo>
                <a:lnTo>
                  <a:pt x="47976" y="182126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7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6"/>
                </a:lnTo>
                <a:lnTo>
                  <a:pt x="854015" y="145018"/>
                </a:lnTo>
                <a:lnTo>
                  <a:pt x="859641" y="124776"/>
                </a:lnTo>
                <a:lnTo>
                  <a:pt x="854015" y="104538"/>
                </a:lnTo>
                <a:lnTo>
                  <a:pt x="811665" y="67436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7" y="6361"/>
                </a:lnTo>
                <a:lnTo>
                  <a:pt x="499539" y="1633"/>
                </a:lnTo>
                <a:lnTo>
                  <a:pt x="42982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4341448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41" y="124776"/>
                </a:moveTo>
                <a:lnTo>
                  <a:pt x="837728" y="85338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6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8"/>
                </a:lnTo>
                <a:lnTo>
                  <a:pt x="47976" y="182126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6"/>
                </a:lnTo>
                <a:lnTo>
                  <a:pt x="854015" y="145018"/>
                </a:lnTo>
                <a:lnTo>
                  <a:pt x="859641" y="12477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4642378" y="6366429"/>
            <a:ext cx="439414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2411501" y="7165782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43" y="124790"/>
                </a:moveTo>
                <a:lnTo>
                  <a:pt x="837730" y="85351"/>
                </a:lnTo>
                <a:lnTo>
                  <a:pt x="776711" y="51096"/>
                </a:lnTo>
                <a:lnTo>
                  <a:pt x="733750" y="36554"/>
                </a:lnTo>
                <a:lnTo>
                  <a:pt x="683667" y="24080"/>
                </a:lnTo>
                <a:lnTo>
                  <a:pt x="627348" y="13931"/>
                </a:lnTo>
                <a:lnTo>
                  <a:pt x="565677" y="6363"/>
                </a:lnTo>
                <a:lnTo>
                  <a:pt x="499539" y="1633"/>
                </a:lnTo>
                <a:lnTo>
                  <a:pt x="429820" y="0"/>
                </a:lnTo>
                <a:lnTo>
                  <a:pt x="360102" y="1633"/>
                </a:lnTo>
                <a:lnTo>
                  <a:pt x="293965" y="6363"/>
                </a:lnTo>
                <a:lnTo>
                  <a:pt x="232294" y="13931"/>
                </a:lnTo>
                <a:lnTo>
                  <a:pt x="175975" y="24080"/>
                </a:lnTo>
                <a:lnTo>
                  <a:pt x="125892" y="36554"/>
                </a:lnTo>
                <a:lnTo>
                  <a:pt x="82931" y="51096"/>
                </a:lnTo>
                <a:lnTo>
                  <a:pt x="47976" y="67447"/>
                </a:lnTo>
                <a:lnTo>
                  <a:pt x="5625" y="104552"/>
                </a:lnTo>
                <a:lnTo>
                  <a:pt x="0" y="124790"/>
                </a:lnTo>
                <a:lnTo>
                  <a:pt x="5625" y="145029"/>
                </a:lnTo>
                <a:lnTo>
                  <a:pt x="47976" y="182131"/>
                </a:lnTo>
                <a:lnTo>
                  <a:pt x="82931" y="198480"/>
                </a:lnTo>
                <a:lnTo>
                  <a:pt x="125892" y="213019"/>
                </a:lnTo>
                <a:lnTo>
                  <a:pt x="175975" y="225491"/>
                </a:lnTo>
                <a:lnTo>
                  <a:pt x="232294" y="235639"/>
                </a:lnTo>
                <a:lnTo>
                  <a:pt x="293965" y="243205"/>
                </a:lnTo>
                <a:lnTo>
                  <a:pt x="360102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7" y="243205"/>
                </a:lnTo>
                <a:lnTo>
                  <a:pt x="627348" y="235639"/>
                </a:lnTo>
                <a:lnTo>
                  <a:pt x="683667" y="225491"/>
                </a:lnTo>
                <a:lnTo>
                  <a:pt x="733750" y="213019"/>
                </a:lnTo>
                <a:lnTo>
                  <a:pt x="776711" y="198480"/>
                </a:lnTo>
                <a:lnTo>
                  <a:pt x="811666" y="182131"/>
                </a:lnTo>
                <a:lnTo>
                  <a:pt x="854017" y="145029"/>
                </a:lnTo>
                <a:lnTo>
                  <a:pt x="859643" y="124790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8318130" y="6358819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89">
                <a:moveTo>
                  <a:pt x="859641" y="124776"/>
                </a:moveTo>
                <a:lnTo>
                  <a:pt x="837728" y="85338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6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8"/>
                </a:lnTo>
                <a:lnTo>
                  <a:pt x="47976" y="182126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6"/>
                </a:lnTo>
                <a:lnTo>
                  <a:pt x="854015" y="145018"/>
                </a:lnTo>
                <a:lnTo>
                  <a:pt x="859641" y="124776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3053703" y="7983456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90">
                <a:moveTo>
                  <a:pt x="859648" y="124783"/>
                </a:moveTo>
                <a:lnTo>
                  <a:pt x="837735" y="85344"/>
                </a:lnTo>
                <a:lnTo>
                  <a:pt x="776715" y="51090"/>
                </a:lnTo>
                <a:lnTo>
                  <a:pt x="733753" y="36550"/>
                </a:lnTo>
                <a:lnTo>
                  <a:pt x="683669" y="24077"/>
                </a:lnTo>
                <a:lnTo>
                  <a:pt x="627349" y="13929"/>
                </a:lnTo>
                <a:lnTo>
                  <a:pt x="565677" y="6362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7" y="243205"/>
                </a:lnTo>
                <a:lnTo>
                  <a:pt x="627349" y="235638"/>
                </a:lnTo>
                <a:lnTo>
                  <a:pt x="683669" y="225490"/>
                </a:lnTo>
                <a:lnTo>
                  <a:pt x="733753" y="213017"/>
                </a:lnTo>
                <a:lnTo>
                  <a:pt x="776715" y="198477"/>
                </a:lnTo>
                <a:lnTo>
                  <a:pt x="811671" y="182127"/>
                </a:lnTo>
                <a:lnTo>
                  <a:pt x="854023" y="145023"/>
                </a:lnTo>
                <a:lnTo>
                  <a:pt x="859648" y="124783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4313114" y="7983456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90">
                <a:moveTo>
                  <a:pt x="859641" y="124783"/>
                </a:moveTo>
                <a:lnTo>
                  <a:pt x="837728" y="85344"/>
                </a:lnTo>
                <a:lnTo>
                  <a:pt x="776710" y="51090"/>
                </a:lnTo>
                <a:lnTo>
                  <a:pt x="733749" y="36550"/>
                </a:lnTo>
                <a:lnTo>
                  <a:pt x="683666" y="24077"/>
                </a:lnTo>
                <a:lnTo>
                  <a:pt x="627347" y="13929"/>
                </a:lnTo>
                <a:lnTo>
                  <a:pt x="565676" y="6362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7"/>
                </a:lnTo>
                <a:lnTo>
                  <a:pt x="854015" y="145023"/>
                </a:lnTo>
                <a:lnTo>
                  <a:pt x="859641" y="124783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5792269" y="8838015"/>
            <a:ext cx="160009" cy="2031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2935404" y="6660217"/>
            <a:ext cx="1939908" cy="505828"/>
          </a:xfrm>
          <a:custGeom>
            <a:avLst/>
            <a:gdLst/>
            <a:ahLst/>
            <a:cxnLst/>
            <a:rect l="l" t="t" r="r" b="b"/>
            <a:pathLst>
              <a:path w="1595120" h="415925">
                <a:moveTo>
                  <a:pt x="1594770" y="0"/>
                </a:moveTo>
                <a:lnTo>
                  <a:pt x="0" y="41543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4875259" y="6659407"/>
            <a:ext cx="615488" cy="506599"/>
          </a:xfrm>
          <a:custGeom>
            <a:avLst/>
            <a:gdLst/>
            <a:ahLst/>
            <a:cxnLst/>
            <a:rect l="l" t="t" r="r" b="b"/>
            <a:pathLst>
              <a:path w="506095" h="416560">
                <a:moveTo>
                  <a:pt x="0" y="0"/>
                </a:moveTo>
                <a:lnTo>
                  <a:pt x="506089" y="4159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2" name="object 132"/>
          <p:cNvSpPr/>
          <p:nvPr/>
        </p:nvSpPr>
        <p:spPr>
          <a:xfrm>
            <a:off x="6252770" y="7152495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429820" y="0"/>
                </a:move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8"/>
                </a:lnTo>
                <a:lnTo>
                  <a:pt x="0" y="124776"/>
                </a:lnTo>
                <a:lnTo>
                  <a:pt x="5625" y="145015"/>
                </a:lnTo>
                <a:lnTo>
                  <a:pt x="47976" y="182119"/>
                </a:lnTo>
                <a:lnTo>
                  <a:pt x="82930" y="198471"/>
                </a:lnTo>
                <a:lnTo>
                  <a:pt x="125892" y="213012"/>
                </a:lnTo>
                <a:lnTo>
                  <a:pt x="175974" y="225486"/>
                </a:lnTo>
                <a:lnTo>
                  <a:pt x="232293" y="235636"/>
                </a:lnTo>
                <a:lnTo>
                  <a:pt x="293964" y="243204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7" y="243204"/>
                </a:lnTo>
                <a:lnTo>
                  <a:pt x="627347" y="235636"/>
                </a:lnTo>
                <a:lnTo>
                  <a:pt x="683666" y="225486"/>
                </a:lnTo>
                <a:lnTo>
                  <a:pt x="733749" y="213012"/>
                </a:lnTo>
                <a:lnTo>
                  <a:pt x="776710" y="198471"/>
                </a:lnTo>
                <a:lnTo>
                  <a:pt x="811665" y="182119"/>
                </a:lnTo>
                <a:lnTo>
                  <a:pt x="854015" y="145015"/>
                </a:lnTo>
                <a:lnTo>
                  <a:pt x="859641" y="124776"/>
                </a:lnTo>
                <a:lnTo>
                  <a:pt x="854015" y="104538"/>
                </a:lnTo>
                <a:lnTo>
                  <a:pt x="811665" y="67436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7" y="6361"/>
                </a:lnTo>
                <a:lnTo>
                  <a:pt x="499539" y="1633"/>
                </a:lnTo>
                <a:lnTo>
                  <a:pt x="42982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6252770" y="7152495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41" y="124776"/>
                </a:moveTo>
                <a:lnTo>
                  <a:pt x="837728" y="85338"/>
                </a:lnTo>
                <a:lnTo>
                  <a:pt x="776710" y="51086"/>
                </a:lnTo>
                <a:lnTo>
                  <a:pt x="733749" y="36547"/>
                </a:lnTo>
                <a:lnTo>
                  <a:pt x="683666" y="24075"/>
                </a:lnTo>
                <a:lnTo>
                  <a:pt x="627347" y="13928"/>
                </a:lnTo>
                <a:lnTo>
                  <a:pt x="565676" y="6361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1"/>
                </a:lnTo>
                <a:lnTo>
                  <a:pt x="232293" y="13928"/>
                </a:lnTo>
                <a:lnTo>
                  <a:pt x="175974" y="24075"/>
                </a:lnTo>
                <a:lnTo>
                  <a:pt x="125892" y="36547"/>
                </a:lnTo>
                <a:lnTo>
                  <a:pt x="82930" y="51086"/>
                </a:lnTo>
                <a:lnTo>
                  <a:pt x="47976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5"/>
                </a:lnTo>
                <a:lnTo>
                  <a:pt x="47976" y="182119"/>
                </a:lnTo>
                <a:lnTo>
                  <a:pt x="82930" y="198471"/>
                </a:lnTo>
                <a:lnTo>
                  <a:pt x="125892" y="213012"/>
                </a:lnTo>
                <a:lnTo>
                  <a:pt x="175974" y="225486"/>
                </a:lnTo>
                <a:lnTo>
                  <a:pt x="232293" y="235636"/>
                </a:lnTo>
                <a:lnTo>
                  <a:pt x="293964" y="243204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4"/>
                </a:lnTo>
                <a:lnTo>
                  <a:pt x="627347" y="235636"/>
                </a:lnTo>
                <a:lnTo>
                  <a:pt x="683666" y="225486"/>
                </a:lnTo>
                <a:lnTo>
                  <a:pt x="733749" y="213012"/>
                </a:lnTo>
                <a:lnTo>
                  <a:pt x="776710" y="198471"/>
                </a:lnTo>
                <a:lnTo>
                  <a:pt x="811665" y="182119"/>
                </a:lnTo>
                <a:lnTo>
                  <a:pt x="854015" y="145015"/>
                </a:lnTo>
                <a:lnTo>
                  <a:pt x="859641" y="124776"/>
                </a:lnTo>
                <a:close/>
              </a:path>
            </a:pathLst>
          </a:custGeom>
          <a:ln w="125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6303333" y="7172968"/>
            <a:ext cx="904312" cy="214463"/>
          </a:xfrm>
          <a:prstGeom prst="rect">
            <a:avLst/>
          </a:prstGeom>
        </p:spPr>
        <p:txBody>
          <a:bodyPr vert="horz" wrap="square" lIns="0" tIns="1776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-12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0" i="0" u="none" strike="noStrike" kern="1200" cap="none" spc="-12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0" i="0" u="none" strike="noStrike" kern="1200" cap="none" spc="-1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3703347" y="7152495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429816" y="0"/>
                </a:moveTo>
                <a:lnTo>
                  <a:pt x="360098" y="1633"/>
                </a:lnTo>
                <a:lnTo>
                  <a:pt x="293962" y="6361"/>
                </a:lnTo>
                <a:lnTo>
                  <a:pt x="232292" y="13928"/>
                </a:lnTo>
                <a:lnTo>
                  <a:pt x="175973" y="24075"/>
                </a:lnTo>
                <a:lnTo>
                  <a:pt x="125891" y="36547"/>
                </a:lnTo>
                <a:lnTo>
                  <a:pt x="82930" y="51086"/>
                </a:lnTo>
                <a:lnTo>
                  <a:pt x="47975" y="67436"/>
                </a:lnTo>
                <a:lnTo>
                  <a:pt x="5625" y="104538"/>
                </a:lnTo>
                <a:lnTo>
                  <a:pt x="0" y="124776"/>
                </a:lnTo>
                <a:lnTo>
                  <a:pt x="5625" y="145015"/>
                </a:lnTo>
                <a:lnTo>
                  <a:pt x="47975" y="182119"/>
                </a:lnTo>
                <a:lnTo>
                  <a:pt x="82930" y="198471"/>
                </a:lnTo>
                <a:lnTo>
                  <a:pt x="125891" y="213012"/>
                </a:lnTo>
                <a:lnTo>
                  <a:pt x="175973" y="225486"/>
                </a:lnTo>
                <a:lnTo>
                  <a:pt x="232292" y="235636"/>
                </a:lnTo>
                <a:lnTo>
                  <a:pt x="293962" y="243204"/>
                </a:lnTo>
                <a:lnTo>
                  <a:pt x="360098" y="247933"/>
                </a:lnTo>
                <a:lnTo>
                  <a:pt x="429816" y="249567"/>
                </a:lnTo>
                <a:lnTo>
                  <a:pt x="499535" y="247933"/>
                </a:lnTo>
                <a:lnTo>
                  <a:pt x="565672" y="243204"/>
                </a:lnTo>
                <a:lnTo>
                  <a:pt x="627343" y="235636"/>
                </a:lnTo>
                <a:lnTo>
                  <a:pt x="683662" y="225486"/>
                </a:lnTo>
                <a:lnTo>
                  <a:pt x="733745" y="213012"/>
                </a:lnTo>
                <a:lnTo>
                  <a:pt x="776706" y="198471"/>
                </a:lnTo>
                <a:lnTo>
                  <a:pt x="811661" y="182119"/>
                </a:lnTo>
                <a:lnTo>
                  <a:pt x="854011" y="145015"/>
                </a:lnTo>
                <a:lnTo>
                  <a:pt x="859637" y="124776"/>
                </a:lnTo>
                <a:lnTo>
                  <a:pt x="854011" y="104538"/>
                </a:lnTo>
                <a:lnTo>
                  <a:pt x="811661" y="67436"/>
                </a:lnTo>
                <a:lnTo>
                  <a:pt x="776706" y="51086"/>
                </a:lnTo>
                <a:lnTo>
                  <a:pt x="733745" y="36547"/>
                </a:lnTo>
                <a:lnTo>
                  <a:pt x="683662" y="24075"/>
                </a:lnTo>
                <a:lnTo>
                  <a:pt x="627343" y="13928"/>
                </a:lnTo>
                <a:lnTo>
                  <a:pt x="565672" y="6361"/>
                </a:lnTo>
                <a:lnTo>
                  <a:pt x="499535" y="1633"/>
                </a:lnTo>
                <a:lnTo>
                  <a:pt x="429816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3703347" y="7152495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37" y="124776"/>
                </a:moveTo>
                <a:lnTo>
                  <a:pt x="837724" y="85338"/>
                </a:lnTo>
                <a:lnTo>
                  <a:pt x="776706" y="51086"/>
                </a:lnTo>
                <a:lnTo>
                  <a:pt x="733745" y="36547"/>
                </a:lnTo>
                <a:lnTo>
                  <a:pt x="683662" y="24075"/>
                </a:lnTo>
                <a:lnTo>
                  <a:pt x="627343" y="13928"/>
                </a:lnTo>
                <a:lnTo>
                  <a:pt x="565672" y="6361"/>
                </a:lnTo>
                <a:lnTo>
                  <a:pt x="499535" y="1633"/>
                </a:lnTo>
                <a:lnTo>
                  <a:pt x="429816" y="0"/>
                </a:lnTo>
                <a:lnTo>
                  <a:pt x="360098" y="1633"/>
                </a:lnTo>
                <a:lnTo>
                  <a:pt x="293962" y="6361"/>
                </a:lnTo>
                <a:lnTo>
                  <a:pt x="232292" y="13928"/>
                </a:lnTo>
                <a:lnTo>
                  <a:pt x="175973" y="24075"/>
                </a:lnTo>
                <a:lnTo>
                  <a:pt x="125891" y="36547"/>
                </a:lnTo>
                <a:lnTo>
                  <a:pt x="82930" y="51086"/>
                </a:lnTo>
                <a:lnTo>
                  <a:pt x="47975" y="67436"/>
                </a:lnTo>
                <a:lnTo>
                  <a:pt x="5625" y="104537"/>
                </a:lnTo>
                <a:lnTo>
                  <a:pt x="0" y="124776"/>
                </a:lnTo>
                <a:lnTo>
                  <a:pt x="5625" y="145015"/>
                </a:lnTo>
                <a:lnTo>
                  <a:pt x="47975" y="182119"/>
                </a:lnTo>
                <a:lnTo>
                  <a:pt x="82930" y="198471"/>
                </a:lnTo>
                <a:lnTo>
                  <a:pt x="125891" y="213012"/>
                </a:lnTo>
                <a:lnTo>
                  <a:pt x="175973" y="225486"/>
                </a:lnTo>
                <a:lnTo>
                  <a:pt x="232292" y="235636"/>
                </a:lnTo>
                <a:lnTo>
                  <a:pt x="293962" y="243204"/>
                </a:lnTo>
                <a:lnTo>
                  <a:pt x="360098" y="247933"/>
                </a:lnTo>
                <a:lnTo>
                  <a:pt x="429816" y="249567"/>
                </a:lnTo>
                <a:lnTo>
                  <a:pt x="499535" y="247933"/>
                </a:lnTo>
                <a:lnTo>
                  <a:pt x="565672" y="243204"/>
                </a:lnTo>
                <a:lnTo>
                  <a:pt x="627343" y="235636"/>
                </a:lnTo>
                <a:lnTo>
                  <a:pt x="683662" y="225486"/>
                </a:lnTo>
                <a:lnTo>
                  <a:pt x="733745" y="213012"/>
                </a:lnTo>
                <a:lnTo>
                  <a:pt x="776706" y="198471"/>
                </a:lnTo>
                <a:lnTo>
                  <a:pt x="811661" y="182119"/>
                </a:lnTo>
                <a:lnTo>
                  <a:pt x="854011" y="145015"/>
                </a:lnTo>
                <a:lnTo>
                  <a:pt x="859637" y="124776"/>
                </a:lnTo>
                <a:close/>
              </a:path>
            </a:pathLst>
          </a:custGeom>
          <a:ln w="125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3866721" y="7160105"/>
            <a:ext cx="704298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Fagaras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38" name="object 138"/>
          <p:cNvSpPr/>
          <p:nvPr/>
        </p:nvSpPr>
        <p:spPr>
          <a:xfrm>
            <a:off x="4962743" y="7165782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89">
                <a:moveTo>
                  <a:pt x="859656" y="124790"/>
                </a:moveTo>
                <a:lnTo>
                  <a:pt x="837742" y="85351"/>
                </a:lnTo>
                <a:lnTo>
                  <a:pt x="776721" y="51096"/>
                </a:lnTo>
                <a:lnTo>
                  <a:pt x="733758" y="36554"/>
                </a:lnTo>
                <a:lnTo>
                  <a:pt x="683675" y="24080"/>
                </a:lnTo>
                <a:lnTo>
                  <a:pt x="627355" y="13931"/>
                </a:lnTo>
                <a:lnTo>
                  <a:pt x="565685" y="6363"/>
                </a:lnTo>
                <a:lnTo>
                  <a:pt x="499550" y="1633"/>
                </a:lnTo>
                <a:lnTo>
                  <a:pt x="429835" y="0"/>
                </a:lnTo>
                <a:lnTo>
                  <a:pt x="360116" y="1633"/>
                </a:lnTo>
                <a:lnTo>
                  <a:pt x="293977" y="6363"/>
                </a:lnTo>
                <a:lnTo>
                  <a:pt x="232305" y="13931"/>
                </a:lnTo>
                <a:lnTo>
                  <a:pt x="175984" y="24080"/>
                </a:lnTo>
                <a:lnTo>
                  <a:pt x="125899" y="36554"/>
                </a:lnTo>
                <a:lnTo>
                  <a:pt x="82935" y="51096"/>
                </a:lnTo>
                <a:lnTo>
                  <a:pt x="47979" y="67447"/>
                </a:lnTo>
                <a:lnTo>
                  <a:pt x="5626" y="104552"/>
                </a:lnTo>
                <a:lnTo>
                  <a:pt x="0" y="124790"/>
                </a:lnTo>
                <a:lnTo>
                  <a:pt x="5626" y="145029"/>
                </a:lnTo>
                <a:lnTo>
                  <a:pt x="47979" y="182131"/>
                </a:lnTo>
                <a:lnTo>
                  <a:pt x="82935" y="198480"/>
                </a:lnTo>
                <a:lnTo>
                  <a:pt x="125899" y="213019"/>
                </a:lnTo>
                <a:lnTo>
                  <a:pt x="175984" y="225491"/>
                </a:lnTo>
                <a:lnTo>
                  <a:pt x="232305" y="235639"/>
                </a:lnTo>
                <a:lnTo>
                  <a:pt x="293977" y="243205"/>
                </a:lnTo>
                <a:lnTo>
                  <a:pt x="360116" y="247934"/>
                </a:lnTo>
                <a:lnTo>
                  <a:pt x="429835" y="249567"/>
                </a:lnTo>
                <a:lnTo>
                  <a:pt x="499550" y="247934"/>
                </a:lnTo>
                <a:lnTo>
                  <a:pt x="565685" y="243205"/>
                </a:lnTo>
                <a:lnTo>
                  <a:pt x="627355" y="235639"/>
                </a:lnTo>
                <a:lnTo>
                  <a:pt x="683675" y="225491"/>
                </a:lnTo>
                <a:lnTo>
                  <a:pt x="733758" y="213019"/>
                </a:lnTo>
                <a:lnTo>
                  <a:pt x="776721" y="198480"/>
                </a:lnTo>
                <a:lnTo>
                  <a:pt x="811677" y="182131"/>
                </a:lnTo>
                <a:lnTo>
                  <a:pt x="854030" y="145029"/>
                </a:lnTo>
                <a:lnTo>
                  <a:pt x="859656" y="124790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4874907" y="6660216"/>
            <a:ext cx="1905157" cy="517412"/>
          </a:xfrm>
          <a:custGeom>
            <a:avLst/>
            <a:gdLst/>
            <a:ahLst/>
            <a:cxnLst/>
            <a:rect l="l" t="t" r="r" b="b"/>
            <a:pathLst>
              <a:path w="1566545" h="425450">
                <a:moveTo>
                  <a:pt x="0" y="0"/>
                </a:moveTo>
                <a:lnTo>
                  <a:pt x="1566065" y="42499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0" name="object 140"/>
          <p:cNvSpPr/>
          <p:nvPr/>
        </p:nvSpPr>
        <p:spPr>
          <a:xfrm>
            <a:off x="4228395" y="6660217"/>
            <a:ext cx="647151" cy="507373"/>
          </a:xfrm>
          <a:custGeom>
            <a:avLst/>
            <a:gdLst/>
            <a:ahLst/>
            <a:cxnLst/>
            <a:rect l="l" t="t" r="r" b="b"/>
            <a:pathLst>
              <a:path w="532129" h="417195">
                <a:moveTo>
                  <a:pt x="531589" y="0"/>
                </a:moveTo>
                <a:lnTo>
                  <a:pt x="0" y="41679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6505272" y="7479566"/>
            <a:ext cx="269518" cy="498877"/>
          </a:xfrm>
          <a:custGeom>
            <a:avLst/>
            <a:gdLst/>
            <a:ahLst/>
            <a:cxnLst/>
            <a:rect l="l" t="t" r="r" b="b"/>
            <a:pathLst>
              <a:path w="221614" h="410210">
                <a:moveTo>
                  <a:pt x="221386" y="0"/>
                </a:moveTo>
                <a:lnTo>
                  <a:pt x="0" y="40996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6781154" y="7479566"/>
            <a:ext cx="980766" cy="501967"/>
          </a:xfrm>
          <a:custGeom>
            <a:avLst/>
            <a:gdLst/>
            <a:ahLst/>
            <a:cxnLst/>
            <a:rect l="l" t="t" r="r" b="b"/>
            <a:pathLst>
              <a:path w="806450" h="412750">
                <a:moveTo>
                  <a:pt x="0" y="0"/>
                </a:moveTo>
                <a:lnTo>
                  <a:pt x="806265" y="41269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6777823" y="7479567"/>
            <a:ext cx="2277383" cy="508917"/>
          </a:xfrm>
          <a:custGeom>
            <a:avLst/>
            <a:gdLst/>
            <a:ahLst/>
            <a:cxnLst/>
            <a:rect l="l" t="t" r="r" b="b"/>
            <a:pathLst>
              <a:path w="1872615" h="418464">
                <a:moveTo>
                  <a:pt x="0" y="0"/>
                </a:moveTo>
                <a:lnTo>
                  <a:pt x="1872182" y="4181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4" name="object 144"/>
          <p:cNvSpPr/>
          <p:nvPr/>
        </p:nvSpPr>
        <p:spPr>
          <a:xfrm>
            <a:off x="5976869" y="7983448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90">
                <a:moveTo>
                  <a:pt x="859641" y="124783"/>
                </a:moveTo>
                <a:lnTo>
                  <a:pt x="837728" y="85344"/>
                </a:lnTo>
                <a:lnTo>
                  <a:pt x="776710" y="51090"/>
                </a:lnTo>
                <a:lnTo>
                  <a:pt x="733749" y="36550"/>
                </a:lnTo>
                <a:lnTo>
                  <a:pt x="683666" y="24077"/>
                </a:lnTo>
                <a:lnTo>
                  <a:pt x="627347" y="13929"/>
                </a:lnTo>
                <a:lnTo>
                  <a:pt x="565676" y="6362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7"/>
                </a:lnTo>
                <a:lnTo>
                  <a:pt x="854015" y="145023"/>
                </a:lnTo>
                <a:lnTo>
                  <a:pt x="859641" y="124783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5" name="object 145"/>
          <p:cNvSpPr/>
          <p:nvPr/>
        </p:nvSpPr>
        <p:spPr>
          <a:xfrm>
            <a:off x="7236290" y="7983448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90">
                <a:moveTo>
                  <a:pt x="429820" y="0"/>
                </a:move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4"/>
                </a:lnTo>
                <a:lnTo>
                  <a:pt x="429820" y="249567"/>
                </a:lnTo>
                <a:lnTo>
                  <a:pt x="499539" y="247934"/>
                </a:lnTo>
                <a:lnTo>
                  <a:pt x="565677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7"/>
                </a:lnTo>
                <a:lnTo>
                  <a:pt x="854015" y="145023"/>
                </a:lnTo>
                <a:lnTo>
                  <a:pt x="859641" y="124783"/>
                </a:lnTo>
                <a:lnTo>
                  <a:pt x="854015" y="104544"/>
                </a:lnTo>
                <a:lnTo>
                  <a:pt x="811665" y="67440"/>
                </a:lnTo>
                <a:lnTo>
                  <a:pt x="776710" y="51090"/>
                </a:lnTo>
                <a:lnTo>
                  <a:pt x="733749" y="36550"/>
                </a:lnTo>
                <a:lnTo>
                  <a:pt x="683666" y="24077"/>
                </a:lnTo>
                <a:lnTo>
                  <a:pt x="627347" y="13929"/>
                </a:lnTo>
                <a:lnTo>
                  <a:pt x="565677" y="6362"/>
                </a:lnTo>
                <a:lnTo>
                  <a:pt x="499539" y="1633"/>
                </a:lnTo>
                <a:lnTo>
                  <a:pt x="42982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6" name="object 146"/>
          <p:cNvSpPr/>
          <p:nvPr/>
        </p:nvSpPr>
        <p:spPr>
          <a:xfrm>
            <a:off x="7236290" y="7983448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90">
                <a:moveTo>
                  <a:pt x="859641" y="124783"/>
                </a:moveTo>
                <a:lnTo>
                  <a:pt x="837728" y="85344"/>
                </a:lnTo>
                <a:lnTo>
                  <a:pt x="776710" y="51090"/>
                </a:lnTo>
                <a:lnTo>
                  <a:pt x="733749" y="36550"/>
                </a:lnTo>
                <a:lnTo>
                  <a:pt x="683666" y="24077"/>
                </a:lnTo>
                <a:lnTo>
                  <a:pt x="627347" y="13929"/>
                </a:lnTo>
                <a:lnTo>
                  <a:pt x="565676" y="6362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7"/>
                </a:lnTo>
                <a:lnTo>
                  <a:pt x="854015" y="145023"/>
                </a:lnTo>
                <a:lnTo>
                  <a:pt x="859641" y="124783"/>
                </a:lnTo>
                <a:close/>
              </a:path>
            </a:pathLst>
          </a:custGeom>
          <a:ln w="125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7499018" y="7991065"/>
            <a:ext cx="530540" cy="236370"/>
          </a:xfrm>
          <a:prstGeom prst="rect">
            <a:avLst/>
          </a:prstGeom>
        </p:spPr>
        <p:txBody>
          <a:bodyPr vert="horz" wrap="square" lIns="0" tIns="20851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Pitesti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8526298" y="7983448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90">
                <a:moveTo>
                  <a:pt x="859641" y="124783"/>
                </a:moveTo>
                <a:lnTo>
                  <a:pt x="837728" y="85344"/>
                </a:lnTo>
                <a:lnTo>
                  <a:pt x="776710" y="51090"/>
                </a:lnTo>
                <a:lnTo>
                  <a:pt x="733749" y="36550"/>
                </a:lnTo>
                <a:lnTo>
                  <a:pt x="683666" y="24077"/>
                </a:lnTo>
                <a:lnTo>
                  <a:pt x="627347" y="13929"/>
                </a:lnTo>
                <a:lnTo>
                  <a:pt x="565676" y="6362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7"/>
                </a:lnTo>
                <a:lnTo>
                  <a:pt x="854015" y="145023"/>
                </a:lnTo>
                <a:lnTo>
                  <a:pt x="859641" y="124783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49" name="object 149"/>
          <p:cNvSpPr/>
          <p:nvPr/>
        </p:nvSpPr>
        <p:spPr>
          <a:xfrm>
            <a:off x="5976888" y="8787828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89" h="250190">
                <a:moveTo>
                  <a:pt x="859641" y="124783"/>
                </a:moveTo>
                <a:lnTo>
                  <a:pt x="837728" y="85344"/>
                </a:lnTo>
                <a:lnTo>
                  <a:pt x="776710" y="51090"/>
                </a:lnTo>
                <a:lnTo>
                  <a:pt x="733749" y="36550"/>
                </a:lnTo>
                <a:lnTo>
                  <a:pt x="683666" y="24077"/>
                </a:lnTo>
                <a:lnTo>
                  <a:pt x="627347" y="13929"/>
                </a:lnTo>
                <a:lnTo>
                  <a:pt x="565676" y="6362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7"/>
                </a:lnTo>
                <a:lnTo>
                  <a:pt x="854015" y="145023"/>
                </a:lnTo>
                <a:lnTo>
                  <a:pt x="859641" y="124783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0" name="object 150"/>
          <p:cNvSpPr/>
          <p:nvPr/>
        </p:nvSpPr>
        <p:spPr>
          <a:xfrm>
            <a:off x="7236290" y="8787834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90">
                <a:moveTo>
                  <a:pt x="859641" y="124783"/>
                </a:moveTo>
                <a:lnTo>
                  <a:pt x="837728" y="85344"/>
                </a:lnTo>
                <a:lnTo>
                  <a:pt x="776710" y="51090"/>
                </a:lnTo>
                <a:lnTo>
                  <a:pt x="733749" y="36550"/>
                </a:lnTo>
                <a:lnTo>
                  <a:pt x="683666" y="24077"/>
                </a:lnTo>
                <a:lnTo>
                  <a:pt x="627347" y="13929"/>
                </a:lnTo>
                <a:lnTo>
                  <a:pt x="565676" y="6362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7"/>
                </a:lnTo>
                <a:lnTo>
                  <a:pt x="854015" y="145023"/>
                </a:lnTo>
                <a:lnTo>
                  <a:pt x="859641" y="124783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1" name="object 151"/>
          <p:cNvSpPr/>
          <p:nvPr/>
        </p:nvSpPr>
        <p:spPr>
          <a:xfrm>
            <a:off x="8526315" y="8787834"/>
            <a:ext cx="1045635" cy="304269"/>
          </a:xfrm>
          <a:custGeom>
            <a:avLst/>
            <a:gdLst/>
            <a:ahLst/>
            <a:cxnLst/>
            <a:rect l="l" t="t" r="r" b="b"/>
            <a:pathLst>
              <a:path w="859790" h="250190">
                <a:moveTo>
                  <a:pt x="859641" y="124783"/>
                </a:moveTo>
                <a:lnTo>
                  <a:pt x="837728" y="85344"/>
                </a:lnTo>
                <a:lnTo>
                  <a:pt x="776710" y="51090"/>
                </a:lnTo>
                <a:lnTo>
                  <a:pt x="733749" y="36550"/>
                </a:lnTo>
                <a:lnTo>
                  <a:pt x="683666" y="24077"/>
                </a:lnTo>
                <a:lnTo>
                  <a:pt x="627347" y="13929"/>
                </a:lnTo>
                <a:lnTo>
                  <a:pt x="565676" y="6362"/>
                </a:lnTo>
                <a:lnTo>
                  <a:pt x="499539" y="1633"/>
                </a:lnTo>
                <a:lnTo>
                  <a:pt x="429820" y="0"/>
                </a:lnTo>
                <a:lnTo>
                  <a:pt x="360101" y="1633"/>
                </a:lnTo>
                <a:lnTo>
                  <a:pt x="293964" y="6362"/>
                </a:lnTo>
                <a:lnTo>
                  <a:pt x="232293" y="13929"/>
                </a:lnTo>
                <a:lnTo>
                  <a:pt x="175974" y="24077"/>
                </a:lnTo>
                <a:lnTo>
                  <a:pt x="125892" y="36550"/>
                </a:lnTo>
                <a:lnTo>
                  <a:pt x="82930" y="51090"/>
                </a:lnTo>
                <a:lnTo>
                  <a:pt x="47976" y="67440"/>
                </a:lnTo>
                <a:lnTo>
                  <a:pt x="5625" y="104544"/>
                </a:lnTo>
                <a:lnTo>
                  <a:pt x="0" y="124783"/>
                </a:lnTo>
                <a:lnTo>
                  <a:pt x="5625" y="145023"/>
                </a:lnTo>
                <a:lnTo>
                  <a:pt x="47976" y="182127"/>
                </a:lnTo>
                <a:lnTo>
                  <a:pt x="82930" y="198477"/>
                </a:lnTo>
                <a:lnTo>
                  <a:pt x="125892" y="213017"/>
                </a:lnTo>
                <a:lnTo>
                  <a:pt x="175974" y="225490"/>
                </a:lnTo>
                <a:lnTo>
                  <a:pt x="232293" y="235638"/>
                </a:lnTo>
                <a:lnTo>
                  <a:pt x="293964" y="243205"/>
                </a:lnTo>
                <a:lnTo>
                  <a:pt x="360101" y="247933"/>
                </a:lnTo>
                <a:lnTo>
                  <a:pt x="429820" y="249567"/>
                </a:lnTo>
                <a:lnTo>
                  <a:pt x="499539" y="247933"/>
                </a:lnTo>
                <a:lnTo>
                  <a:pt x="565676" y="243205"/>
                </a:lnTo>
                <a:lnTo>
                  <a:pt x="627347" y="235638"/>
                </a:lnTo>
                <a:lnTo>
                  <a:pt x="683666" y="225490"/>
                </a:lnTo>
                <a:lnTo>
                  <a:pt x="733749" y="213017"/>
                </a:lnTo>
                <a:lnTo>
                  <a:pt x="776710" y="198477"/>
                </a:lnTo>
                <a:lnTo>
                  <a:pt x="811665" y="182127"/>
                </a:lnTo>
                <a:lnTo>
                  <a:pt x="854015" y="145023"/>
                </a:lnTo>
                <a:lnTo>
                  <a:pt x="859641" y="124783"/>
                </a:lnTo>
                <a:close/>
              </a:path>
            </a:pathLst>
          </a:custGeom>
          <a:ln w="25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2" name="object 152"/>
          <p:cNvSpPr/>
          <p:nvPr/>
        </p:nvSpPr>
        <p:spPr>
          <a:xfrm>
            <a:off x="6495281" y="8277277"/>
            <a:ext cx="1256460" cy="508917"/>
          </a:xfrm>
          <a:custGeom>
            <a:avLst/>
            <a:gdLst/>
            <a:ahLst/>
            <a:cxnLst/>
            <a:rect l="l" t="t" r="r" b="b"/>
            <a:pathLst>
              <a:path w="1033145" h="418465">
                <a:moveTo>
                  <a:pt x="1033128" y="0"/>
                </a:moveTo>
                <a:lnTo>
                  <a:pt x="0" y="4181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3" name="object 153"/>
          <p:cNvSpPr/>
          <p:nvPr/>
        </p:nvSpPr>
        <p:spPr>
          <a:xfrm>
            <a:off x="7758364" y="8277277"/>
            <a:ext cx="0" cy="508917"/>
          </a:xfrm>
          <a:custGeom>
            <a:avLst/>
            <a:gdLst/>
            <a:ahLst/>
            <a:cxnLst/>
            <a:rect l="l" t="t" r="r" b="b"/>
            <a:pathLst>
              <a:path h="418465">
                <a:moveTo>
                  <a:pt x="0" y="0"/>
                </a:moveTo>
                <a:lnTo>
                  <a:pt x="0" y="4181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4" name="object 154"/>
          <p:cNvSpPr/>
          <p:nvPr/>
        </p:nvSpPr>
        <p:spPr>
          <a:xfrm>
            <a:off x="7755035" y="8277277"/>
            <a:ext cx="1296619" cy="508917"/>
          </a:xfrm>
          <a:custGeom>
            <a:avLst/>
            <a:gdLst/>
            <a:ahLst/>
            <a:cxnLst/>
            <a:rect l="l" t="t" r="r" b="b"/>
            <a:pathLst>
              <a:path w="1066165" h="418465">
                <a:moveTo>
                  <a:pt x="0" y="0"/>
                </a:moveTo>
                <a:lnTo>
                  <a:pt x="1065916" y="4181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1112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  <a:sym typeface="Palatino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6010321" y="8730175"/>
            <a:ext cx="959915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53288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418=418+0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8244573" y="6301183"/>
            <a:ext cx="1163789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183032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Timisoara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447=118+329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11025765" y="6301183"/>
            <a:ext cx="1061853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251766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Zerind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449=75+374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2337943" y="7108189"/>
            <a:ext cx="1163789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381510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Arad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646=280+366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2980139" y="7925803"/>
            <a:ext cx="1163789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373787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591=338+253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4346782" y="7925803"/>
            <a:ext cx="959915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52516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Bucharest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450=450+0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5903332" y="7931172"/>
            <a:ext cx="1163789" cy="557199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251766" algn="l" defTabSz="1112093" rtl="0" eaLnBrk="1" fontAlgn="auto" latinLnBrk="0" hangingPunct="1">
              <a:lnSpc>
                <a:spcPct val="1314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526=366+160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8452742" y="7920469"/>
            <a:ext cx="1163789" cy="576050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373787" algn="l" defTabSz="1112093" rtl="0" eaLnBrk="1" fontAlgn="auto" latinLnBrk="0" hangingPunct="1">
              <a:lnSpc>
                <a:spcPct val="1364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Sibiu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553=300+253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7162735" y="8730225"/>
            <a:ext cx="1163789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251766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1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Craiova  </a:t>
            </a: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615=455+160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8452984" y="8741375"/>
            <a:ext cx="1163789" cy="574566"/>
          </a:xfrm>
          <a:prstGeom prst="rect">
            <a:avLst/>
          </a:prstGeom>
        </p:spPr>
        <p:txBody>
          <a:bodyPr vert="horz" wrap="square" lIns="0" tIns="84948" rIns="0" bIns="0" rtlCol="0">
            <a:spAutoFit/>
          </a:bodyPr>
          <a:lstStyle/>
          <a:p>
            <a:pPr marL="0" marR="1545" lvl="0" indent="0" algn="ctr" defTabSz="1112093" rtl="0" eaLnBrk="1" fontAlgn="auto" latinLnBrk="0" hangingPunct="1">
              <a:lnSpc>
                <a:spcPct val="100000"/>
              </a:lnSpc>
              <a:spcBef>
                <a:spcPts val="6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77" b="0" i="0" u="none" strike="noStrike" kern="1200" cap="none" spc="-12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Rimnicu</a:t>
            </a:r>
            <a:r>
              <a:rPr kumimoji="0" sz="1277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 </a:t>
            </a:r>
            <a:r>
              <a:rPr kumimoji="0" sz="1277" b="0" i="0" u="none" strike="noStrike" kern="1200" cap="none" spc="-1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Vilcea</a:t>
            </a:r>
            <a:endParaRPr kumimoji="0" sz="127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  <a:p>
            <a:pPr marL="0" marR="0" lvl="0" indent="0" algn="ctr" defTabSz="1112093" rtl="0" eaLnBrk="1" fontAlgn="auto" latinLnBrk="0" hangingPunct="1">
              <a:lnSpc>
                <a:spcPct val="100000"/>
              </a:lnSpc>
              <a:spcBef>
                <a:spcPts val="6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607=414+193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4889190" y="7108189"/>
            <a:ext cx="1163789" cy="568484"/>
          </a:xfrm>
          <a:prstGeom prst="rect">
            <a:avLst/>
          </a:prstGeom>
        </p:spPr>
        <p:txBody>
          <a:bodyPr vert="horz" wrap="square" lIns="0" tIns="13901" rIns="0" bIns="0" rtlCol="0">
            <a:spAutoFit/>
          </a:bodyPr>
          <a:lstStyle/>
          <a:p>
            <a:pPr marL="15446" marR="6178" lvl="0" indent="267211" algn="l" defTabSz="1112093" rtl="0" eaLnBrk="1" fontAlgn="auto" latinLnBrk="0" hangingPunct="1">
              <a:lnSpc>
                <a:spcPct val="1339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99" b="0" i="0" u="none" strike="noStrike" kern="1200" cap="none" spc="2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Helvetica"/>
                <a:sym typeface="Palatino"/>
              </a:rPr>
              <a:t>Oradea  671=291+380</a:t>
            </a:r>
            <a:endParaRPr kumimoji="0" sz="13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Helvetica"/>
              <a:sym typeface="Palatino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12094001" y="8770130"/>
            <a:ext cx="154451" cy="164537"/>
          </a:xfrm>
          <a:prstGeom prst="rect">
            <a:avLst/>
          </a:prstGeom>
        </p:spPr>
        <p:txBody>
          <a:bodyPr vert="horz" wrap="square" lIns="0" tIns="14673" rIns="0" bIns="0" rtlCol="0">
            <a:spAutoFit/>
          </a:bodyPr>
          <a:lstStyle/>
          <a:p>
            <a:pPr marL="15446" marR="0" lvl="0" indent="0" algn="l" defTabSz="1112093" rtl="0" eaLnBrk="1" fontAlgn="auto" latinLnBrk="0" hangingPunct="1">
              <a:lnSpc>
                <a:spcPct val="100000"/>
              </a:lnSpc>
              <a:spcBef>
                <a:spcPts val="11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3" b="0" i="0" u="none" strike="noStrike" kern="1200" cap="none" spc="-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sym typeface="Palatino"/>
              </a:rPr>
              <a:t>18</a:t>
            </a:r>
            <a:endParaRPr kumimoji="0" sz="97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14396139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 good heuristic?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heuristic gives an overestimate of actual</a:t>
            </a:r>
            <a:r>
              <a:rPr lang="en-US" i="1" dirty="0"/>
              <a:t> cost</a:t>
            </a:r>
          </a:p>
          <a:p>
            <a:pPr marL="0" indent="0">
              <a:buNone/>
            </a:pPr>
            <a:r>
              <a:rPr lang="en-US" i="1" dirty="0"/>
              <a:t>	h(x) &gt; </a:t>
            </a:r>
            <a:r>
              <a:rPr lang="en-US" dirty="0"/>
              <a:t>minimum cost to reach </a:t>
            </a:r>
            <a:r>
              <a:rPr lang="en-US" i="1" dirty="0"/>
              <a:t>G</a:t>
            </a:r>
            <a:r>
              <a:rPr lang="en-US" dirty="0"/>
              <a:t> from </a:t>
            </a:r>
            <a:r>
              <a:rPr lang="en-US" i="1" dirty="0"/>
              <a:t>x</a:t>
            </a:r>
            <a:endParaRPr lang="en-US" dirty="0"/>
          </a:p>
          <a:p>
            <a:endParaRPr lang="en-US" dirty="0"/>
          </a:p>
          <a:p>
            <a:r>
              <a:rPr lang="en-US" dirty="0"/>
              <a:t>heuristic gives an underestimate of actual </a:t>
            </a:r>
            <a:r>
              <a:rPr lang="en-US" i="1" dirty="0"/>
              <a:t>cost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	h(x) &lt;= </a:t>
            </a:r>
            <a:r>
              <a:rPr lang="en-US" dirty="0"/>
              <a:t>minimum cost to reach </a:t>
            </a:r>
            <a:r>
              <a:rPr lang="en-US" i="1" dirty="0"/>
              <a:t>G</a:t>
            </a:r>
            <a:r>
              <a:rPr lang="en-US" dirty="0"/>
              <a:t> from </a:t>
            </a:r>
            <a:r>
              <a:rPr lang="en-US" i="1" dirty="0"/>
              <a:t>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0156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 good heuristic?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heuristic gives an overestimate of actual</a:t>
            </a:r>
            <a:r>
              <a:rPr lang="en-US" i="1" dirty="0"/>
              <a:t> cost</a:t>
            </a:r>
          </a:p>
          <a:p>
            <a:pPr marL="0" indent="0">
              <a:buNone/>
            </a:pPr>
            <a:r>
              <a:rPr lang="en-US" i="1" dirty="0"/>
              <a:t>	h(x) &gt; </a:t>
            </a:r>
            <a:r>
              <a:rPr lang="en-US" dirty="0"/>
              <a:t>minimum cost to reach </a:t>
            </a:r>
            <a:r>
              <a:rPr lang="en-US" i="1" dirty="0"/>
              <a:t>G</a:t>
            </a:r>
            <a:r>
              <a:rPr lang="en-US" dirty="0"/>
              <a:t> from </a:t>
            </a:r>
            <a:r>
              <a:rPr lang="en-US" i="1" dirty="0"/>
              <a:t>x</a:t>
            </a:r>
            <a:endParaRPr lang="en-US" dirty="0"/>
          </a:p>
          <a:p>
            <a:endParaRPr lang="en-US" dirty="0"/>
          </a:p>
          <a:p>
            <a:r>
              <a:rPr lang="en-US" dirty="0"/>
              <a:t>heuristic gives an underestimate of actual </a:t>
            </a:r>
            <a:r>
              <a:rPr lang="en-US" i="1" dirty="0"/>
              <a:t>cost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	h(x) &lt;= </a:t>
            </a:r>
            <a:r>
              <a:rPr lang="en-US" dirty="0"/>
              <a:t>minimum cost to reach </a:t>
            </a:r>
            <a:r>
              <a:rPr lang="en-US" i="1" dirty="0"/>
              <a:t>G</a:t>
            </a:r>
            <a:r>
              <a:rPr lang="en-US" dirty="0"/>
              <a:t> from </a:t>
            </a:r>
            <a:r>
              <a:rPr lang="en-US" i="1" dirty="0"/>
              <a:t>x</a:t>
            </a:r>
          </a:p>
          <a:p>
            <a:pPr marL="0" indent="0">
              <a:buNone/>
            </a:pPr>
            <a:endParaRPr lang="en-US" i="1" dirty="0"/>
          </a:p>
          <a:p>
            <a:pPr marL="417683" marR="0" lvl="0" indent="-417683" algn="l" defTabSz="1300460" rtl="0" eaLnBrk="1" fontAlgn="auto" latinLnBrk="0" hangingPunct="1">
              <a:lnSpc>
                <a:spcPct val="90000"/>
              </a:lnSpc>
              <a:spcBef>
                <a:spcPts val="1422"/>
              </a:spcBef>
              <a:spcAft>
                <a:spcPts val="0"/>
              </a:spcAft>
              <a:buClr>
                <a:srgbClr val="FF6600"/>
              </a:buClr>
              <a:buSzPct val="100000"/>
              <a:buFont typeface="LucidaGrande" charset="0"/>
              <a:buChar char="▸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 panose="02040502050505030304"/>
                <a:ea typeface="+mn-ea"/>
                <a:cs typeface="+mn-cs"/>
              </a:rPr>
              <a:t>A* tree search will return optimal solution if an admissible heuristic is used. (admissible = underestimate).</a:t>
            </a:r>
          </a:p>
          <a:p>
            <a:pPr marL="905378" lvl="1" indent="-417683" defTabSz="1300460">
              <a:spcBef>
                <a:spcPts val="1422"/>
              </a:spcBef>
              <a:buClr>
                <a:srgbClr val="FF6600"/>
              </a:buClr>
              <a:buSzPct val="100000"/>
              <a:buFont typeface="LucidaGrande" charset="0"/>
              <a:buChar char="▸"/>
              <a:defRPr/>
            </a:pPr>
            <a:r>
              <a:rPr lang="en-US" sz="2800" dirty="0">
                <a:solidFill>
                  <a:prstClr val="black"/>
                </a:solidFill>
                <a:latin typeface="Palatino Linotype" panose="02040502050505030304"/>
                <a:hlinkClick r:id="rId2"/>
              </a:rPr>
              <a:t>YouTube animation showing admissible vs. non-admissible</a:t>
            </a:r>
            <a:r>
              <a:rPr lang="en-US" sz="2800" dirty="0">
                <a:solidFill>
                  <a:prstClr val="black"/>
                </a:solidFill>
                <a:latin typeface="Palatino Linotype" panose="02040502050505030304"/>
              </a:rPr>
              <a:t>.</a:t>
            </a:r>
          </a:p>
          <a:p>
            <a:pPr marL="905378" lvl="1" indent="-417683" defTabSz="1300460">
              <a:spcBef>
                <a:spcPts val="1422"/>
              </a:spcBef>
              <a:buClr>
                <a:srgbClr val="FF6600"/>
              </a:buClr>
              <a:buSzPct val="100000"/>
              <a:buFont typeface="LucidaGrande" charset="0"/>
              <a:buChar char="▸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 panose="02040502050505030304"/>
                <a:ea typeface="+mn-ea"/>
                <a:cs typeface="+mn-cs"/>
                <a:hlinkClick r:id="rId3"/>
              </a:rPr>
              <a:t>YouTube video explaining A* and admissibility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 panose="020405020505050303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38977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10B0D-1159-12EA-03B4-CCD6798D1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9B5524-BCCB-FB1F-FE57-85733F2796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93763" y="2597150"/>
          <a:ext cx="11216640" cy="5065776"/>
        </p:xfrm>
        <a:graphic>
          <a:graphicData uri="http://schemas.openxmlformats.org/drawingml/2006/table">
            <a:tbl>
              <a:tblPr firstRow="1" bandRow="1">
                <a:tableStyleId>{33BA23B1-9221-436E-865A-0063620EA4FD}</a:tableStyleId>
              </a:tblPr>
              <a:tblGrid>
                <a:gridCol w="2243328">
                  <a:extLst>
                    <a:ext uri="{9D8B030D-6E8A-4147-A177-3AD203B41FA5}">
                      <a16:colId xmlns:a16="http://schemas.microsoft.com/office/drawing/2014/main" val="3544019128"/>
                    </a:ext>
                  </a:extLst>
                </a:gridCol>
                <a:gridCol w="2243328">
                  <a:extLst>
                    <a:ext uri="{9D8B030D-6E8A-4147-A177-3AD203B41FA5}">
                      <a16:colId xmlns:a16="http://schemas.microsoft.com/office/drawing/2014/main" val="1415641076"/>
                    </a:ext>
                  </a:extLst>
                </a:gridCol>
                <a:gridCol w="2243328">
                  <a:extLst>
                    <a:ext uri="{9D8B030D-6E8A-4147-A177-3AD203B41FA5}">
                      <a16:colId xmlns:a16="http://schemas.microsoft.com/office/drawing/2014/main" val="1635522472"/>
                    </a:ext>
                  </a:extLst>
                </a:gridCol>
                <a:gridCol w="2243328">
                  <a:extLst>
                    <a:ext uri="{9D8B030D-6E8A-4147-A177-3AD203B41FA5}">
                      <a16:colId xmlns:a16="http://schemas.microsoft.com/office/drawing/2014/main" val="724054620"/>
                    </a:ext>
                  </a:extLst>
                </a:gridCol>
                <a:gridCol w="2243328">
                  <a:extLst>
                    <a:ext uri="{9D8B030D-6E8A-4147-A177-3AD203B41FA5}">
                      <a16:colId xmlns:a16="http://schemas.microsoft.com/office/drawing/2014/main" val="127024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Optimal?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Running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456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all costs are same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2468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601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With cycle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2774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Iterative Deepening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3004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all costs are same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35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848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UCS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all costs are 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all costs are 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6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46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all costs are 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heuristic is admissible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Better than or equal to UCS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3004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Better than or equal to UCS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343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936847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2DBD4-A254-FC37-033D-633C24E8F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CED53-4D35-EAA9-9E04-68E18F635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</a:t>
            </a:r>
            <a:r>
              <a:rPr lang="en-US" i="1" dirty="0"/>
              <a:t>graph</a:t>
            </a:r>
            <a:r>
              <a:rPr lang="en-US" dirty="0"/>
              <a:t> versions and </a:t>
            </a:r>
            <a:r>
              <a:rPr lang="en-US" i="1" dirty="0"/>
              <a:t>tree</a:t>
            </a:r>
            <a:r>
              <a:rPr lang="en-US" dirty="0"/>
              <a:t> versions of the algorithms we’ve seen</a:t>
            </a:r>
          </a:p>
          <a:p>
            <a:endParaRPr lang="en-US" dirty="0"/>
          </a:p>
          <a:p>
            <a:r>
              <a:rPr lang="en-US" dirty="0"/>
              <a:t>We covered the </a:t>
            </a:r>
            <a:r>
              <a:rPr lang="en-US" i="1" dirty="0"/>
              <a:t>tree</a:t>
            </a:r>
            <a:r>
              <a:rPr lang="en-US" dirty="0"/>
              <a:t> version</a:t>
            </a:r>
          </a:p>
          <a:p>
            <a:r>
              <a:rPr lang="en-US" dirty="0"/>
              <a:t>The </a:t>
            </a:r>
            <a:r>
              <a:rPr lang="en-US" i="1" dirty="0"/>
              <a:t>graph</a:t>
            </a:r>
            <a:r>
              <a:rPr lang="en-US" dirty="0"/>
              <a:t> version is similar but uses different data structures (</a:t>
            </a:r>
            <a:r>
              <a:rPr lang="en-US" i="1" dirty="0"/>
              <a:t>open lists/closed lists</a:t>
            </a:r>
            <a:r>
              <a:rPr lang="en-US" dirty="0"/>
              <a:t>) than the ones we used (</a:t>
            </a:r>
            <a:r>
              <a:rPr lang="en-US" i="1" dirty="0"/>
              <a:t>frontier as queue/stack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Be careful of the version you are using</a:t>
            </a:r>
          </a:p>
        </p:txBody>
      </p:sp>
    </p:spTree>
    <p:extLst>
      <p:ext uri="{BB962C8B-B14F-4D97-AF65-F5344CB8AC3E}">
        <p14:creationId xmlns:p14="http://schemas.microsoft.com/office/powerpoint/2010/main" val="433491842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G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A31F381B-920E-CA4A-9F10-19F5FC7D7D71}" vid="{B4596B14-63FF-2A4E-8D1E-BEAF59B15FEF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Palatino"/>
        <a:ea typeface="Palatino"/>
        <a:cs typeface="Palatino"/>
      </a:majorFont>
      <a:minorFont>
        <a:latin typeface="Palatino"/>
        <a:ea typeface="Palatino"/>
        <a:cs typeface="Palatino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RAASLab_Presentation_Template</Template>
  <TotalTime>30462</TotalTime>
  <Words>5369</Words>
  <Application>Microsoft Macintosh PowerPoint</Application>
  <PresentationFormat>Custom</PresentationFormat>
  <Paragraphs>1850</Paragraphs>
  <Slides>75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75</vt:i4>
      </vt:variant>
    </vt:vector>
  </HeadingPairs>
  <TitlesOfParts>
    <vt:vector size="90" baseType="lpstr">
      <vt:lpstr>Aptos</vt:lpstr>
      <vt:lpstr>Aptos Display</vt:lpstr>
      <vt:lpstr>Arial</vt:lpstr>
      <vt:lpstr>Calibri</vt:lpstr>
      <vt:lpstr>Helvetica</vt:lpstr>
      <vt:lpstr>Helvetica Neue</vt:lpstr>
      <vt:lpstr>LucidaGrande</vt:lpstr>
      <vt:lpstr>Menlo</vt:lpstr>
      <vt:lpstr>Palatino Linotype</vt:lpstr>
      <vt:lpstr>Roboto</vt:lpstr>
      <vt:lpstr>Roboto Black</vt:lpstr>
      <vt:lpstr>Times New Roman</vt:lpstr>
      <vt:lpstr>Wingdings</vt:lpstr>
      <vt:lpstr>1_Office Theme</vt:lpstr>
      <vt:lpstr>Lecture Template</vt:lpstr>
      <vt:lpstr>Path Planning on a Graph</vt:lpstr>
      <vt:lpstr>Previously, we talked about</vt:lpstr>
      <vt:lpstr>DFS Planning on Simple Graph</vt:lpstr>
      <vt:lpstr>DFS Planning on UMD Graph</vt:lpstr>
      <vt:lpstr>Previously, we talked about</vt:lpstr>
      <vt:lpstr>BFS Planning on Simple Graph</vt:lpstr>
      <vt:lpstr>BFS Planning on UMD Graph</vt:lpstr>
      <vt:lpstr>BFS vs DFS</vt:lpstr>
      <vt:lpstr>BFS vs DFS (Group Exercise)</vt:lpstr>
      <vt:lpstr>BFS vs DFS</vt:lpstr>
      <vt:lpstr>BFS vs DFS</vt:lpstr>
      <vt:lpstr>BFS vs DFS</vt:lpstr>
      <vt:lpstr>BFS vs DFS</vt:lpstr>
      <vt:lpstr>BFS vs DFS</vt:lpstr>
      <vt:lpstr>BFS vs DFS</vt:lpstr>
      <vt:lpstr>BFS vs DFS</vt:lpstr>
      <vt:lpstr>BFS vs DFS</vt:lpstr>
      <vt:lpstr>BFS vs DFS</vt:lpstr>
      <vt:lpstr>BFS vs DFS</vt:lpstr>
      <vt:lpstr>These algorithms can be used in real-world settings…</vt:lpstr>
      <vt:lpstr>PowerPoint Presentation</vt:lpstr>
      <vt:lpstr>PowerPoint Presentation</vt:lpstr>
      <vt:lpstr>Let’s see what these algorithms look like in general…</vt:lpstr>
      <vt:lpstr>PowerPoint Presentation</vt:lpstr>
      <vt:lpstr>PowerPoint Presentation</vt:lpstr>
      <vt:lpstr>Search Strategies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Question: Is this algorithm guaranteed to terminate?</vt:lpstr>
      <vt:lpstr>Depth-first search</vt:lpstr>
      <vt:lpstr>Depth-first search</vt:lpstr>
      <vt:lpstr>PowerPoint Presentation</vt:lpstr>
      <vt:lpstr>PowerPoint Presentation</vt:lpstr>
      <vt:lpstr>Limited-depth search</vt:lpstr>
      <vt:lpstr>Iterative deepening</vt:lpstr>
      <vt:lpstr>Optimality</vt:lpstr>
      <vt:lpstr>Uniform Cost Search / Dijkstra</vt:lpstr>
      <vt:lpstr>Uniform-cost search</vt:lpstr>
      <vt:lpstr>Uniform-cost search</vt:lpstr>
      <vt:lpstr>Uniform-cost search</vt:lpstr>
      <vt:lpstr>Uniform-cost search</vt:lpstr>
      <vt:lpstr>Uniform-cost search</vt:lpstr>
      <vt:lpstr>Uniform-cost search</vt:lpstr>
      <vt:lpstr>PowerPoint Presentation</vt:lpstr>
      <vt:lpstr>Comparison</vt:lpstr>
      <vt:lpstr>Heuristic Search</vt:lpstr>
      <vt:lpstr>Heuristic Search</vt:lpstr>
      <vt:lpstr>Heuristic Search</vt:lpstr>
      <vt:lpstr>How to come up with a heuristic?</vt:lpstr>
      <vt:lpstr>Straight line distance as h(x)</vt:lpstr>
      <vt:lpstr>A* tree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What’s a good heuristic?</vt:lpstr>
      <vt:lpstr>What’s a good heuristic?</vt:lpstr>
      <vt:lpstr>Comparison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Introduction</dc:title>
  <cp:lastModifiedBy>Troi Williams</cp:lastModifiedBy>
  <cp:revision>955</cp:revision>
  <cp:lastPrinted>2026-02-19T13:21:25Z</cp:lastPrinted>
  <dcterms:modified xsi:type="dcterms:W3CDTF">2026-02-19T22:33:57Z</dcterms:modified>
</cp:coreProperties>
</file>
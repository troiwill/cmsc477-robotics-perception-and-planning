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  <p:sldMasterId id="2147483689" r:id="rId2"/>
    <p:sldMasterId id="2147483695" r:id="rId3"/>
  </p:sldMasterIdLst>
  <p:notesMasterIdLst>
    <p:notesMasterId r:id="rId70"/>
  </p:notesMasterIdLst>
  <p:sldIdLst>
    <p:sldId id="317" r:id="rId4"/>
    <p:sldId id="930" r:id="rId5"/>
    <p:sldId id="926" r:id="rId6"/>
    <p:sldId id="939" r:id="rId7"/>
    <p:sldId id="443" r:id="rId8"/>
    <p:sldId id="982" r:id="rId9"/>
    <p:sldId id="983" r:id="rId10"/>
    <p:sldId id="938" r:id="rId11"/>
    <p:sldId id="988" r:id="rId12"/>
    <p:sldId id="524" r:id="rId13"/>
    <p:sldId id="965" r:id="rId14"/>
    <p:sldId id="990" r:id="rId15"/>
    <p:sldId id="940" r:id="rId16"/>
    <p:sldId id="991" r:id="rId17"/>
    <p:sldId id="992" r:id="rId18"/>
    <p:sldId id="943" r:id="rId19"/>
    <p:sldId id="944" r:id="rId20"/>
    <p:sldId id="945" r:id="rId21"/>
    <p:sldId id="948" r:id="rId22"/>
    <p:sldId id="286" r:id="rId23"/>
    <p:sldId id="287" r:id="rId24"/>
    <p:sldId id="967" r:id="rId25"/>
    <p:sldId id="971" r:id="rId26"/>
    <p:sldId id="969" r:id="rId27"/>
    <p:sldId id="972" r:id="rId28"/>
    <p:sldId id="973" r:id="rId29"/>
    <p:sldId id="974" r:id="rId30"/>
    <p:sldId id="975" r:id="rId31"/>
    <p:sldId id="976" r:id="rId32"/>
    <p:sldId id="978" r:id="rId33"/>
    <p:sldId id="445" r:id="rId34"/>
    <p:sldId id="525" r:id="rId35"/>
    <p:sldId id="989" r:id="rId36"/>
    <p:sldId id="492" r:id="rId37"/>
    <p:sldId id="993" r:id="rId38"/>
    <p:sldId id="1005" r:id="rId39"/>
    <p:sldId id="1006" r:id="rId40"/>
    <p:sldId id="1007" r:id="rId41"/>
    <p:sldId id="1013" r:id="rId42"/>
    <p:sldId id="1012" r:id="rId43"/>
    <p:sldId id="1023" r:id="rId44"/>
    <p:sldId id="1024" r:id="rId45"/>
    <p:sldId id="1008" r:id="rId46"/>
    <p:sldId id="1009" r:id="rId47"/>
    <p:sldId id="1010" r:id="rId48"/>
    <p:sldId id="1011" r:id="rId49"/>
    <p:sldId id="1015" r:id="rId50"/>
    <p:sldId id="1017" r:id="rId51"/>
    <p:sldId id="1018" r:id="rId52"/>
    <p:sldId id="1019" r:id="rId53"/>
    <p:sldId id="1021" r:id="rId54"/>
    <p:sldId id="1022" r:id="rId55"/>
    <p:sldId id="994" r:id="rId56"/>
    <p:sldId id="1026" r:id="rId57"/>
    <p:sldId id="1027" r:id="rId58"/>
    <p:sldId id="1025" r:id="rId59"/>
    <p:sldId id="995" r:id="rId60"/>
    <p:sldId id="998" r:id="rId61"/>
    <p:sldId id="996" r:id="rId62"/>
    <p:sldId id="997" r:id="rId63"/>
    <p:sldId id="999" r:id="rId64"/>
    <p:sldId id="1000" r:id="rId65"/>
    <p:sldId id="1002" r:id="rId66"/>
    <p:sldId id="1001" r:id="rId67"/>
    <p:sldId id="1003" r:id="rId68"/>
    <p:sldId id="1004" r:id="rId6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1pPr>
    <a:lvl2pPr marL="0" marR="0" indent="228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2pPr>
    <a:lvl3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3pPr>
    <a:lvl4pPr marL="0" marR="0" indent="685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4pPr>
    <a:lvl5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DEEBF7"/>
    <a:srgbClr val="0000FF"/>
    <a:srgbClr val="D2F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0"/>
    <p:restoredTop sz="76975"/>
  </p:normalViewPr>
  <p:slideViewPr>
    <p:cSldViewPr snapToGrid="0" snapToObjects="1">
      <p:cViewPr varScale="1">
        <p:scale>
          <a:sx n="61" d="100"/>
          <a:sy n="61" d="100"/>
        </p:scale>
        <p:origin x="212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5" d="100"/>
        <a:sy n="9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22.5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1292 1 24575,'-69'0'0,"-7"2"0,-13 4 0,-3 5 0,2 6 0,3 5 0,6 4 0,10 1 0,9 2 0,7-4 0,4-5 0,0 4 0,1 1 0,4 0 0,5 3 0,5-4 0,6-1 0,4-2 0,5-4 0,6 2 0,1 2 0,-2 5 0,1 4 0,-1 5 0,4 6 0,0 6 0,4 3 0,3-3 0,2-2 0,3-1 0,0 0 0,0 4 0,0 4 0,0 3 0,0 6 0,0-2 0,0-2 0,0-3 0,0-3 0,0-1 0,0 5 0,0 6 0,0 5 0,0 8 0,0 7 0,0 1 0,0 3 0,0-4 0,0-9 0,0-6 0,0-6 0,0-4 0,0 0 0,-4-2 0,-1-7 0,0-7 0,2-4 0,3-8 0,0-1 0,0-1 0,0 5 0,0 9 0,0 8 0,0 11 0,0 2 0,0 2 0,0-2 0,0-1 0,-4 5 0,-1 6 0,0 5 0,0-1 0,1-2 0,-1-8 0,1-5 0,1-6 0,3-5 0,0-5 0,0-2 0,0-1 0,0 0 0,0 3 0,0-2 0,0 3 0,0-4 0,0-5 0,0 0 0,0-5 0,0 1 0,0-1 0,0 0 0,0 8 0,0 9 0,0 7 0,0 5 0,0-9 0,0-9 0,0-6 0,0 0 0,4 7 0,6 8 0,4 8 0,6 1 0,1-3 0,1-8 0,0-4 0,-3-4 0,-2-8 0,-4-6 0,-3-11 0,0-8 0,-2 0 0,4-5 0,3 2 0,7-2 0,5-3 0,10 1 0,6-1 0,12 0 0,12 0 0,8 2 0,11 3 0,3 4 0,2 5 0,2-3 0,-6 2 0,-6-4 0,-7-4 0,-9 2 0,-6-2 0,-9-1 0,-10 3 0,-6-2 0,-17-1 0,-5-1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26.7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 0 24575,'28'0'0,"30"0"0,36 0 0,-34 0 0,3 0 0,-1 0 0,0 0 0,-4 0 0,-2 0 0,42 0 0,-15 0 0,-9 4 0,-15 8 0,-9 5 0,-10 5 0,-9 1 0,-10-2 0,-7 3 0,-9 3 0,-3 1 0,-1 7 0,-1 8 0,0 15 0,0 18 0,0 11 0,0 11 0,1-47 0,1-1 0,2 2 0,1 0 0,1 2 0,2 1 0,1-1 0,0 2 0,0 1 0,0 1 0,1-1 0,-1 1 0,-2 2 0,0 0 0,0-1 0,-1-1 0,-1 1 0,-1-2 0,-2-2 0,0-1 0,2 45 0,-4-47 0,0-1 0,0 47 0,0 1 0,0-2 0,0-4 0,0 1 0,0 5 0,0-47 0,0 1 0,0 1 0,0 1 0,0 2 0,0 1 0,0-2 0,0 0 0,-1 0 0,-1-1 0,-1-1 0,1-2 0,-3 42 0,-4-12 0,4-12 0,0-5 0,1 1 0,4 4 0,0 5 0,0 1 0,0-2 0,0-4 0,0-6 0,-2 6 0,-3 9 0,0 6 0,1 6 0,-1-5 0,0-5 0,-3-6 0,-4-9 0,1-10 0,-2-7 0,-1-8 0,0-5 0,-2-1 0,-4-3 0,-7-1 0,-9-1 0,-9-6 0,-5-6 0,-5-9 0,0-5 0,-1-3 0,2-1 0,2 0 0,4 0 0,8 0 0,7 0 0,6 3 0,0 3 0,-4 5 0,-8 5 0,-10 2 0,-10 4 0,-3-1 0,2-1 0,8-4 0,11-4 0,11-2 0,8-3 0,13-4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38.9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778 0 24575,'0'28'0,"-5"26"0,-14 40 0,2-37 0,-4 2 0,-2 1 0,-2-1 0,-2-5 0,0-2 0,-1-4 0,0-1 0,-3 3 0,-2 0 0,-4 6 0,-2 2 0,-3 3 0,1-1 0,2-1 0,0-2 0,5-3 0,1-3 0,-21 31 0,10-20 0,10-11 0,10-11 0,5-5 0,10-15 0,3-7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41.4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71 24575,'0'64'0,"0"28"0,0-35 0,0 3 0,0 6 0,0 2 0,0 0 0,0 0 0,0-4 0,0-1 0,0 1 0,0-1 0,0-1 0,0-1 0,0-3 0,0-1 0,0-4 0,0 0 0,0 44 0,0-14 0,0-17 0,0-15 0,0-15 0,-5-13 0,-2-15 0,-1-26 0,1-39 0,6-42 0,1 34 0,0-4 0,0-7 0,0-2 0,0-1 0,0 1 0,0 7 0,0 2 0,0 8 0,0 3 0,0-39 0,0 21 0,0 11 0,0 11 0,0 10 0,0 5 0,2 1 0,5 1 0,4-3 0,8-1 0,2 4 0,3 1 0,0 4 0,-1 5 0,5 7 0,1 9 0,8 8 0,6 3 0,6 0 0,2 0 0,-2 2 0,-6 5 0,-5 4 0,-5 3 0,-6-1 0,-3 3 0,-9 8 0,-7 32 0,-6 41 0,-9-34 0,-5 3 0,-4 8 0,-4-1 0,-4-5 0,-3-4 0,1-10 0,-1-5 0,-13 22 0,11-27 0,9-16 0,1-5 0,-1-3 0,-4 2 0,-4 1 0,0-3 0,5-7 0,14-14 0,29-14 0,31-10 0,27 3 0,18 7 0,-42 11 0,1 1 0,0 2 0,1 1 0,-1 2 0,-1 4 0,-1 4 0,-3 5 0,34 30 0,-16 18 0,-16 8 0,-17-6 0,-11-5 0,-8-6 0,-9-10 0,-4-5 0,0-5 0,1-3 0,4 1 0,2-1 0,-1 0 0,-2 0 0,-3-13 0,-4-4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43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0 187 24575,'42'0'0,"16"0"0,25 0 0,-2 0 0,-10 0 0,-14 0 0,-6-7 0,-4-14 0,-5-9 0,-5-4 0,-9 3 0,-9 10 0,-9 4 0,-10 5 0,-6 5 0,-13 3 0,-10 2 0,-5 2 0,-7-1 0,0 1 0,-2 2 0,-2 6 0,2 12 0,2 12 0,1 10 0,-1 0 0,5-4 0,3-4 0,5-5 0,10-3 0,3-7 0,7-3 0,4 3 0,0 3 0,4 11 0,-1 13 0,1 7 0,2 8 0,6 2 0,7-9 0,5-7 0,1-9 0,-1-13 0,-3-8 0,2-10 0,3-6 0,9-1 0,14 0 0,16 0 0,6 0 0,2 0 0,-10 0 0,-14 0 0,-12 0 0,-17 0 0,-8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46.9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375 351 24575,'0'-19'0,"0"0"0,0-8 0,0 1 0,0-5 0,0-3 0,0 0 0,0 2 0,0 7 0,-4 1 0,-5 6 0,-4 1 0,-4 4 0,-2 3 0,0 0 0,-1 5 0,0 0 0,3 5 0,2 0 0,-4-1 0,-1 1 0,-3 0 0,0 0 0,0 0 0,0 2 0,2 6 0,2 8 0,5 5 0,3 1 0,2 1 0,2-3 0,2 3 0,1 4 0,4 1 0,2 10 0,15 9 0,22 18 0,15 7 0,9-3 0,-9-11 0,-13-21 0,-6-10 0,-8-10 0,0-8 0,0-3 0,2-3 0,3-2 0,-1-1 0,0 0 0,0 0 0,1 0 0,-5 0 0,-4-4 0,-7-8 0,-9-9 0,-4-7 0,-3 0 0,0 1 0,0 3 0,0 2 0,0 2 0,-5 5 0,-5 3 0,-9 1 0,-8 3 0,-2-5 0,-3-3 0,4-2 0,2-4 0,7 4 0,11 4 0,9 4 0,9 7 0,15 16 0,7 11 0,5 9 0,3 6 0,-4-7 0,5 0 0,2 0 0,2 1 0,-5-1 0,-4 0 0,-3 0 0,-1-1 0,-1 0 0,0 1 0,5 0 0,9 0 0,7-3 0,5-8 0,-2-9 0,-5-9 0,-5-3 0,-8 0 0,-17 0 0,-8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48.3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24575,'0'42'0,"0"30"0,0-10 0,0 7 0,0 12 0,0 5 0,0 7 0,0 1 0,0-7 0,0-2 0,0-13 0,0-3 0,0-8 0,0-2 0,0 38 0,0-12 0,0-11 0,0-6 0,2-5 0,2-10 0,3-10 0,1-9 0,0-10 0,-3-9 0,-3-9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0.4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24575,'36'0'0,"16"0"0,20 0 0,9 0 0,-11 0 0,-10 0 0,-13 0 0,-10 0 0,-10 0 0,-10 0 0,-8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1.8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24575,'0'49'0,"0"26"0,0-20 0,0 4 0,0 7 0,0 1 0,0-2 0,0-1 0,0-3 0,0-1 0,0-5 0,0-2 0,0-1 0,0-2 0,0 48 0,0-8 0,0-10 0,0-12 0,0-16 0,3-12 0,4-14 0,12-10 0,17-7 0,26-6 0,21-3 0,10 0 0,-1 0 0,-18 0 0,-15 0 0,-16-1 0,-12-3 0,-7 0 0,-7-3 0,-9 5 0,-4-2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2.8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24575,'76'0'0,"21"0"0,-29 0 0,4 0 0,1 0 0,0 0 0,-7 0 0,-3 0 0,-5 0 0,-2 0 0,34 0 0,-23 0 0,-16 0 0,-28 0 0,-9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4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24575,'0'60'0,"0"27"0,0-34 0,0 2 0,0 1 0,0-1 0,0 34 0,0-26 0,0-18 0,0-13 0,0-8 0,0-3 0,0-6 0,0-5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4.7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7.4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1 246 24575,'0'44'0,"0"26"0,0-16 0,0 3 0,0 6 0,0 1 0,0-6 0,0-2 0,0 36 0,0-22 0,0-20 0,0-13 0,0-14 0,0-19 0,0-22 0,0-34 0,0-37 0,0 34 0,0-2 0,0-7 0,1 0 0,1 2 0,1 3 0,3 4 0,1 2 0,11-38 0,4 19 0,1 17 0,0 14 0,2 9 0,3 8 0,2 5 0,1 6 0,1 5 0,-1 4 0,1 3 0,-1 1 0,1 0 0,-1 0 0,0 0 0,3 12 0,3 17 0,6 28 0,3 28 0,-24-37 0,-1 1 0,0 2 0,-3 1 0,11 38 0,-7-17 0,-9-16 0,-5-17 0,-4-9 0,-4-11 0,0-4 0,0-3 0,0-6 0,0-41 0,0-14 0,4-38 0,4 6 0,5 10 0,4 11 0,0 16 0,-3 10 0,2 11 0,1 5 0,0 4 0,6 0 0,1-5 0,4-1 0,8-1 0,0 1 0,0 3 0,-1 4 0,-9 4 0,-5 5 0,-5 3 0,-2 6 0,0 11 0,2 19 0,-3 17 0,0 16 0,0 7 0,-3-1 0,-1-4 0,-6-11 0,-1-5 0,2-4 0,0-7 0,2-5 0,3-8 0,1-10 0,3-9 0,-1-4 0,1-2 0,2-2 0,4 0 0,-6-4 0,-4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6:59.6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0 452 24575,'21'0'0,"11"0"0,15 0 0,6 0 0,7 0 0,-4 0 0,1 0 0,-4 0 0,-6 0 0,-3-7 0,-5-5 0,2-5 0,-2-5 0,-6-1 0,-4-3 0,-10 0 0,-6 2 0,-6 4 0,-3-3 0,-4 3 0,0-4 0,0 2 0,-2-2 0,-13 0 0,-15-1 0,-15-4 0,-5 3 0,7 3 0,5 7 0,2 7 0,-1 3 0,0 3 0,5 3 0,5 0 0,0 4 0,3 9 0,-2 8 0,2 8 0,3 2 0,3 1 0,3 3 0,5 10 0,4 10 0,3 9 0,3 5 0,0 6 0,0 5 0,9 7 0,10-2 0,5-11 0,2-15 0,-6-15 0,-6-9 0,2-7 0,4-6 0,4-10 0,9-7 0,11-4 0,7-1 0,4 0 0,1 0 0,-5 0 0,-4 0 0,-2 0 0,-5 0 0,-4 0 0,-2 0 0,-6 0 0,-4 0 0,-12 0 0,-5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7:01.8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24575,'0'87'0,"3"-31"0,3 7 0,4 28 0,3 8 0,-2-26 0,1 2 0,0-1 0,1-3 0,1 0 0,0-2 0,5 31 0,-1-5 0,-3-19 0,-2-5 0,-3-17 0,-1-3 0,3 27 0,-8-33 0,-4-13 0,0-5 0,0 9 0,3 13 0,5 9 0,5 5 0,3-7 0,-1-7 0,-2-6 0,-2-7 0,-4-3 0,-3-6 0,3-7 0,-6-9 0,2-8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27:02.4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70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2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4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balance between speed and accuracy</a:t>
            </a:r>
          </a:p>
        </p:txBody>
      </p:sp>
    </p:spTree>
    <p:extLst>
      <p:ext uri="{BB962C8B-B14F-4D97-AF65-F5344CB8AC3E}">
        <p14:creationId xmlns:p14="http://schemas.microsoft.com/office/powerpoint/2010/main" val="245714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9185-850C-FAF2-BA5D-9E81A2E7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D61DF-12BE-E03B-DCF3-CADB3C7CA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7E66F-F016-5E67-678C-814E2445A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balance between speed and accuracy</a:t>
            </a:r>
          </a:p>
        </p:txBody>
      </p:sp>
    </p:spTree>
    <p:extLst>
      <p:ext uri="{BB962C8B-B14F-4D97-AF65-F5344CB8AC3E}">
        <p14:creationId xmlns:p14="http://schemas.microsoft.com/office/powerpoint/2010/main" val="3901032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color, texture, shape, etc. to find similar regions.</a:t>
            </a:r>
          </a:p>
          <a:p>
            <a:endParaRPr lang="en-US" dirty="0"/>
          </a:p>
          <a:p>
            <a:r>
              <a:rPr lang="en-US" dirty="0"/>
              <a:t>Selective search helps identify where objects MIGHT be.</a:t>
            </a:r>
          </a:p>
          <a:p>
            <a:endParaRPr lang="en-US" dirty="0"/>
          </a:p>
          <a:p>
            <a:r>
              <a:rPr lang="en-US" dirty="0"/>
              <a:t>Proposal regions allow the network to focus on subsets of the image rather than the entire image.</a:t>
            </a:r>
          </a:p>
        </p:txBody>
      </p:sp>
    </p:spTree>
    <p:extLst>
      <p:ext uri="{BB962C8B-B14F-4D97-AF65-F5344CB8AC3E}">
        <p14:creationId xmlns:p14="http://schemas.microsoft.com/office/powerpoint/2010/main" val="1795034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61909-E9CB-37EC-6629-8996188C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8C56C-1C5B-A610-7815-FA716E3C5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E2DA7-BD5C-0717-7AF4-38E51FD23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46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B0A6-AA08-E465-7A14-66F86D1A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E2C70-B399-B06C-792B-75088C291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EB2E6-0C0C-73E9-AC17-FD51BE7F1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the extracted features through an SVM to classify the object.</a:t>
            </a:r>
          </a:p>
          <a:p>
            <a:endParaRPr lang="en-US" dirty="0"/>
          </a:p>
          <a:p>
            <a:r>
              <a:rPr lang="en-US" dirty="0"/>
              <a:t>Bounding box regression refines dimensions of the bounding box to better match the object.</a:t>
            </a:r>
          </a:p>
        </p:txBody>
      </p:sp>
    </p:spTree>
    <p:extLst>
      <p:ext uri="{BB962C8B-B14F-4D97-AF65-F5344CB8AC3E}">
        <p14:creationId xmlns:p14="http://schemas.microsoft.com/office/powerpoint/2010/main" val="738077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7E840-6F72-9049-A7AE-57663831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11DFC-D20D-D1B8-EECA-5C845CF45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E3452-74D0-FAAF-B283-0984C8CE5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bounding box with the highest score and suppress the boxes that overlap with it a lot.</a:t>
            </a:r>
          </a:p>
        </p:txBody>
      </p:sp>
    </p:spTree>
    <p:extLst>
      <p:ext uri="{BB962C8B-B14F-4D97-AF65-F5344CB8AC3E}">
        <p14:creationId xmlns:p14="http://schemas.microsoft.com/office/powerpoint/2010/main" val="4112825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A5C05-2A80-E886-2A3C-E7B24002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0DA9B-7E99-63D2-D280-7455B1A21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B65FD-C378-F857-C1B6-3E643F86D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670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9972-D268-18BF-3B49-C6CEBC99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162E9-2AB1-3BF3-2F8D-EC58A8B8B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2C91C-C9DB-E3ED-660D-4236CC7C5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53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prob map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What object class is most likely within each cell given that an object exists in the cell at all.</a:t>
            </a:r>
          </a:p>
        </p:txBody>
      </p:sp>
    </p:spTree>
    <p:extLst>
      <p:ext uri="{BB962C8B-B14F-4D97-AF65-F5344CB8AC3E}">
        <p14:creationId xmlns:p14="http://schemas.microsoft.com/office/powerpoint/2010/main" val="2522700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 </a:t>
            </a:r>
            <a:r>
              <a:rPr lang="en-US" dirty="0">
                <a:sym typeface="Wingdings" pitchFamily="2" charset="2"/>
              </a:rPr>
              <a:t> the model’s confidence that an object actually exists in the box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Bbox</a:t>
            </a:r>
            <a:r>
              <a:rPr lang="en-US" dirty="0"/>
              <a:t> params </a:t>
            </a:r>
            <a:r>
              <a:rPr lang="en-US" dirty="0">
                <a:sym typeface="Wingdings" pitchFamily="2" charset="2"/>
              </a:rPr>
              <a:t> x, y center and height and width (each cell will have multiple bounding boxes)</a:t>
            </a:r>
            <a:endParaRPr lang="en-US" dirty="0"/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For each grid cell, we output a list of class probabilities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387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>
            <a:normAutofit/>
          </a:bodyPr>
          <a:lstStyle>
            <a:lvl1pPr algn="l">
              <a:defRPr sz="62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5122898"/>
            <a:ext cx="11054080" cy="2354862"/>
          </a:xfrm>
        </p:spPr>
        <p:txBody>
          <a:bodyPr/>
          <a:lstStyle>
            <a:lvl1pPr marL="0" indent="0" algn="l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3004800" cy="975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1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975365"/>
            <a:ext cx="11054080" cy="2142366"/>
          </a:xfrm>
        </p:spPr>
        <p:txBody>
          <a:bodyPr anchor="b">
            <a:normAutofit/>
          </a:bodyPr>
          <a:lstStyle>
            <a:lvl1pPr algn="ctr">
              <a:defRPr sz="62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3248682"/>
            <a:ext cx="1105408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>
            <a:normAutofit/>
          </a:bodyPr>
          <a:lstStyle>
            <a:lvl1pPr algn="l">
              <a:defRPr sz="62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5122898"/>
            <a:ext cx="11054080" cy="2354862"/>
          </a:xfrm>
        </p:spPr>
        <p:txBody>
          <a:bodyPr/>
          <a:lstStyle>
            <a:lvl1pPr marL="0" indent="0" algn="l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3496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2022"/>
              </a:spcBef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541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1785106"/>
            <a:ext cx="5527040" cy="699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624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3296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389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7"/>
            <a:ext cx="11054080" cy="459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8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7"/>
            <a:ext cx="9103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854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4846" y="1730875"/>
            <a:ext cx="1528966" cy="459678"/>
          </a:xfrm>
        </p:spPr>
        <p:txBody>
          <a:bodyPr lIns="0" tIns="0" rIns="0" bIns="0"/>
          <a:lstStyle>
            <a:lvl1pPr>
              <a:defRPr sz="298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7268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4846" y="1730875"/>
            <a:ext cx="1528966" cy="459678"/>
          </a:xfrm>
        </p:spPr>
        <p:txBody>
          <a:bodyPr lIns="0" tIns="0" rIns="0" bIns="0"/>
          <a:lstStyle>
            <a:lvl1pPr>
              <a:defRPr sz="298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013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4846" y="1730875"/>
            <a:ext cx="1528966" cy="459678"/>
          </a:xfrm>
        </p:spPr>
        <p:txBody>
          <a:bodyPr lIns="0" tIns="0" rIns="0" bIns="0"/>
          <a:lstStyle>
            <a:lvl1pPr>
              <a:defRPr sz="298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7179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716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2"/>
            <a:ext cx="11216640" cy="101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816848"/>
            <a:ext cx="11216640" cy="696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574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6" r:id="rId3"/>
    <p:sldLayoutId id="2147483672" r:id="rId4"/>
    <p:sldLayoutId id="2147483673" r:id="rId5"/>
    <p:sldLayoutId id="2147483674" r:id="rId6"/>
    <p:sldLayoutId id="2147483675" r:id="rId7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5120" b="1" kern="1200">
          <a:solidFill>
            <a:srgbClr val="660000"/>
          </a:solidFill>
          <a:latin typeface="+mj-lt"/>
          <a:ea typeface="+mj-ea"/>
          <a:cs typeface="+mj-cs"/>
        </a:defRPr>
      </a:lvl1pPr>
    </p:titleStyle>
    <p:bodyStyle>
      <a:lvl1pPr marL="417683" indent="-417683" algn="l" defTabSz="1300460" rtl="0" eaLnBrk="1" latinLnBrk="0" hangingPunct="1">
        <a:lnSpc>
          <a:spcPct val="90000"/>
        </a:lnSpc>
        <a:spcBef>
          <a:spcPts val="1422"/>
        </a:spcBef>
        <a:buClr>
          <a:srgbClr val="FF6600"/>
        </a:buClr>
        <a:buSzPct val="100000"/>
        <a:buFont typeface="LucidaGrande" charset="0"/>
        <a:buChar char="▸"/>
        <a:tabLst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Wingdings" charset="2"/>
        <a:buChar char="§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2"/>
            <a:ext cx="11216640" cy="101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1816848"/>
            <a:ext cx="11216640" cy="696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703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5120" b="1" kern="1200">
          <a:solidFill>
            <a:srgbClr val="660000"/>
          </a:solidFill>
          <a:latin typeface="+mj-lt"/>
          <a:ea typeface="+mj-ea"/>
          <a:cs typeface="+mj-cs"/>
        </a:defRPr>
      </a:lvl1pPr>
    </p:titleStyle>
    <p:bodyStyle>
      <a:lvl1pPr marL="417683" indent="-417683" algn="l" defTabSz="1300460" rtl="0" eaLnBrk="1" latinLnBrk="0" hangingPunct="1">
        <a:lnSpc>
          <a:spcPct val="90000"/>
        </a:lnSpc>
        <a:spcBef>
          <a:spcPts val="1422"/>
        </a:spcBef>
        <a:buClr>
          <a:srgbClr val="FF6600"/>
        </a:buClr>
        <a:buSzPct val="100000"/>
        <a:buFont typeface="LucidaGrande" charset="0"/>
        <a:buChar char="▸"/>
        <a:tabLst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Wingdings" charset="2"/>
        <a:buChar char="§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Clr>
          <a:srgbClr val="FF6600"/>
        </a:buClr>
        <a:buSzPct val="100000"/>
        <a:buFont typeface="Arial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4846" y="1730875"/>
            <a:ext cx="1528966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2243328"/>
            <a:ext cx="117043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9"/>
            <a:ext cx="4161536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9"/>
            <a:ext cx="29911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9"/>
            <a:ext cx="29911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592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50230">
        <a:defRPr>
          <a:latin typeface="+mn-lt"/>
          <a:ea typeface="+mn-ea"/>
          <a:cs typeface="+mn-cs"/>
        </a:defRPr>
      </a:lvl2pPr>
      <a:lvl3pPr marL="1300460">
        <a:defRPr>
          <a:latin typeface="+mn-lt"/>
          <a:ea typeface="+mn-ea"/>
          <a:cs typeface="+mn-cs"/>
        </a:defRPr>
      </a:lvl3pPr>
      <a:lvl4pPr marL="1950690">
        <a:defRPr>
          <a:latin typeface="+mn-lt"/>
          <a:ea typeface="+mn-ea"/>
          <a:cs typeface="+mn-cs"/>
        </a:defRPr>
      </a:lvl4pPr>
      <a:lvl5pPr marL="2600919">
        <a:defRPr>
          <a:latin typeface="+mn-lt"/>
          <a:ea typeface="+mn-ea"/>
          <a:cs typeface="+mn-cs"/>
        </a:defRPr>
      </a:lvl5pPr>
      <a:lvl6pPr marL="3251149">
        <a:defRPr>
          <a:latin typeface="+mn-lt"/>
          <a:ea typeface="+mn-ea"/>
          <a:cs typeface="+mn-cs"/>
        </a:defRPr>
      </a:lvl6pPr>
      <a:lvl7pPr marL="3901379">
        <a:defRPr>
          <a:latin typeface="+mn-lt"/>
          <a:ea typeface="+mn-ea"/>
          <a:cs typeface="+mn-cs"/>
        </a:defRPr>
      </a:lvl7pPr>
      <a:lvl8pPr marL="4551609">
        <a:defRPr>
          <a:latin typeface="+mn-lt"/>
          <a:ea typeface="+mn-ea"/>
          <a:cs typeface="+mn-cs"/>
        </a:defRPr>
      </a:lvl8pPr>
      <a:lvl9pPr marL="520183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50230">
        <a:defRPr>
          <a:latin typeface="+mn-lt"/>
          <a:ea typeface="+mn-ea"/>
          <a:cs typeface="+mn-cs"/>
        </a:defRPr>
      </a:lvl2pPr>
      <a:lvl3pPr marL="1300460">
        <a:defRPr>
          <a:latin typeface="+mn-lt"/>
          <a:ea typeface="+mn-ea"/>
          <a:cs typeface="+mn-cs"/>
        </a:defRPr>
      </a:lvl3pPr>
      <a:lvl4pPr marL="1950690">
        <a:defRPr>
          <a:latin typeface="+mn-lt"/>
          <a:ea typeface="+mn-ea"/>
          <a:cs typeface="+mn-cs"/>
        </a:defRPr>
      </a:lvl4pPr>
      <a:lvl5pPr marL="2600919">
        <a:defRPr>
          <a:latin typeface="+mn-lt"/>
          <a:ea typeface="+mn-ea"/>
          <a:cs typeface="+mn-cs"/>
        </a:defRPr>
      </a:lvl5pPr>
      <a:lvl6pPr marL="3251149">
        <a:defRPr>
          <a:latin typeface="+mn-lt"/>
          <a:ea typeface="+mn-ea"/>
          <a:cs typeface="+mn-cs"/>
        </a:defRPr>
      </a:lvl6pPr>
      <a:lvl7pPr marL="3901379">
        <a:defRPr>
          <a:latin typeface="+mn-lt"/>
          <a:ea typeface="+mn-ea"/>
          <a:cs typeface="+mn-cs"/>
        </a:defRPr>
      </a:lvl7pPr>
      <a:lvl8pPr marL="4551609">
        <a:defRPr>
          <a:latin typeface="+mn-lt"/>
          <a:ea typeface="+mn-ea"/>
          <a:cs typeface="+mn-cs"/>
        </a:defRPr>
      </a:lvl8pPr>
      <a:lvl9pPr marL="520183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com.ucsd.edu/~cdeotte/programs/neuralnetwork.html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9.png"/><Relationship Id="rId21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28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11" Type="http://schemas.openxmlformats.org/officeDocument/2006/relationships/image" Target="../media/image10.png"/><Relationship Id="rId24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14.png"/><Relationship Id="rId23" Type="http://schemas.openxmlformats.org/officeDocument/2006/relationships/image" Target="../media/image34.png"/><Relationship Id="rId10" Type="http://schemas.openxmlformats.org/officeDocument/2006/relationships/image" Target="../media/image25.png"/><Relationship Id="rId19" Type="http://schemas.openxmlformats.org/officeDocument/2006/relationships/image" Target="../media/image18.png"/><Relationship Id="rId4" Type="http://schemas.openxmlformats.org/officeDocument/2006/relationships/image" Target="../media/image30.png"/><Relationship Id="rId9" Type="http://schemas.openxmlformats.org/officeDocument/2006/relationships/image" Target="../media/image24.png"/><Relationship Id="rId14" Type="http://schemas.openxmlformats.org/officeDocument/2006/relationships/image" Target="../media/image13.png"/><Relationship Id="rId22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21.png"/><Relationship Id="rId21" Type="http://schemas.openxmlformats.org/officeDocument/2006/relationships/image" Target="../media/image34.png"/><Relationship Id="rId7" Type="http://schemas.openxmlformats.org/officeDocument/2006/relationships/image" Target="../media/image26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2.png"/><Relationship Id="rId16" Type="http://schemas.openxmlformats.org/officeDocument/2006/relationships/image" Target="../media/image17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11" Type="http://schemas.openxmlformats.org/officeDocument/2006/relationships/image" Target="../media/image12.png"/><Relationship Id="rId5" Type="http://schemas.openxmlformats.org/officeDocument/2006/relationships/image" Target="../media/image24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21.png"/><Relationship Id="rId21" Type="http://schemas.openxmlformats.org/officeDocument/2006/relationships/image" Target="../media/image34.png"/><Relationship Id="rId7" Type="http://schemas.openxmlformats.org/officeDocument/2006/relationships/image" Target="../media/image26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2.png"/><Relationship Id="rId16" Type="http://schemas.openxmlformats.org/officeDocument/2006/relationships/image" Target="../media/image17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png"/><Relationship Id="rId11" Type="http://schemas.openxmlformats.org/officeDocument/2006/relationships/image" Target="../media/image12.png"/><Relationship Id="rId5" Type="http://schemas.openxmlformats.org/officeDocument/2006/relationships/image" Target="../media/image24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21.png"/><Relationship Id="rId21" Type="http://schemas.openxmlformats.org/officeDocument/2006/relationships/image" Target="../media/image33.png"/><Relationship Id="rId7" Type="http://schemas.openxmlformats.org/officeDocument/2006/relationships/image" Target="../media/image25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3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11" Type="http://schemas.openxmlformats.org/officeDocument/2006/relationships/image" Target="../media/image11.png"/><Relationship Id="rId5" Type="http://schemas.openxmlformats.org/officeDocument/2006/relationships/image" Target="../media/image23.png"/><Relationship Id="rId15" Type="http://schemas.openxmlformats.org/officeDocument/2006/relationships/image" Target="../media/image15.png"/><Relationship Id="rId23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14.png"/><Relationship Id="rId22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38.png"/><Relationship Id="rId3" Type="http://schemas.openxmlformats.org/officeDocument/2006/relationships/image" Target="../media/image28.png"/><Relationship Id="rId21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37.png"/><Relationship Id="rId2" Type="http://schemas.openxmlformats.org/officeDocument/2006/relationships/image" Target="../media/image32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png"/><Relationship Id="rId11" Type="http://schemas.openxmlformats.org/officeDocument/2006/relationships/image" Target="../media/image10.png"/><Relationship Id="rId24" Type="http://schemas.openxmlformats.org/officeDocument/2006/relationships/image" Target="../media/image36.png"/><Relationship Id="rId5" Type="http://schemas.openxmlformats.org/officeDocument/2006/relationships/image" Target="../media/image22.png"/><Relationship Id="rId15" Type="http://schemas.openxmlformats.org/officeDocument/2006/relationships/image" Target="../media/image14.png"/><Relationship Id="rId23" Type="http://schemas.openxmlformats.org/officeDocument/2006/relationships/image" Target="../media/image34.png"/><Relationship Id="rId10" Type="http://schemas.openxmlformats.org/officeDocument/2006/relationships/image" Target="../media/image27.png"/><Relationship Id="rId19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13.png"/><Relationship Id="rId22" Type="http://schemas.openxmlformats.org/officeDocument/2006/relationships/image" Target="../media/image33.png"/><Relationship Id="rId27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iff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cs.stanford.edu/people/karpathy/convnetjs/demo/trainers.html" TargetMode="Externa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people/karpathy/convnetjs/demo/regression.html" TargetMode="External"/><Relationship Id="rId2" Type="http://schemas.openxmlformats.org/officeDocument/2006/relationships/hyperlink" Target="http://www.ccom.ucsd.edu/~cdeotte/programs/neuralnetwork.html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layground.tensorflow.org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www.youtube.com/watch?v=MPU2HistivI" TargetMode="Externa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63.png"/><Relationship Id="rId21" Type="http://schemas.openxmlformats.org/officeDocument/2006/relationships/image" Target="../media/image72.png"/><Relationship Id="rId34" Type="http://schemas.openxmlformats.org/officeDocument/2006/relationships/customXml" Target="../ink/ink16.xml"/><Relationship Id="rId7" Type="http://schemas.openxmlformats.org/officeDocument/2006/relationships/image" Target="../media/image65.png"/><Relationship Id="rId12" Type="http://schemas.openxmlformats.org/officeDocument/2006/relationships/customXml" Target="../ink/ink5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33" Type="http://schemas.openxmlformats.org/officeDocument/2006/relationships/image" Target="../media/image78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9.xml"/><Relationship Id="rId6" Type="http://schemas.openxmlformats.org/officeDocument/2006/relationships/customXml" Target="../ink/ink2.xml"/><Relationship Id="rId11" Type="http://schemas.openxmlformats.org/officeDocument/2006/relationships/image" Target="../media/image6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64.png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71.png"/><Relationship Id="rId31" Type="http://schemas.openxmlformats.org/officeDocument/2006/relationships/image" Target="../media/image77.png"/><Relationship Id="rId4" Type="http://schemas.openxmlformats.org/officeDocument/2006/relationships/customXml" Target="../ink/ink1.xml"/><Relationship Id="rId9" Type="http://schemas.openxmlformats.org/officeDocument/2006/relationships/image" Target="../media/image6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75.png"/><Relationship Id="rId30" Type="http://schemas.openxmlformats.org/officeDocument/2006/relationships/customXml" Target="../ink/ink14.xml"/><Relationship Id="rId8" Type="http://schemas.openxmlformats.org/officeDocument/2006/relationships/customXml" Target="../ink/ink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9.png"/><Relationship Id="rId4" Type="http://schemas.openxmlformats.org/officeDocument/2006/relationships/image" Target="../media/image8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2.png"/><Relationship Id="rId4" Type="http://schemas.openxmlformats.org/officeDocument/2006/relationships/image" Target="../media/image8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svn9-xV7wjk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Lecture 9: Voronoi Diagram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Neural Networks</a:t>
            </a:r>
            <a:endParaRPr dirty="0"/>
          </a:p>
        </p:txBody>
      </p:sp>
      <p:sp>
        <p:nvSpPr>
          <p:cNvPr id="126" name="ECE 6504: Advanced Topics in Robotics…"/>
          <p:cNvSpPr txBox="1">
            <a:spLocks noGrp="1"/>
          </p:cNvSpPr>
          <p:nvPr>
            <p:ph type="subTitle" idx="1"/>
          </p:nvPr>
        </p:nvSpPr>
        <p:spPr>
          <a:xfrm>
            <a:off x="1270000" y="5029199"/>
            <a:ext cx="10464800" cy="353906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i="1"/>
            </a:pPr>
            <a:endParaRPr lang="en-US" dirty="0"/>
          </a:p>
          <a:p>
            <a:pPr>
              <a:defRPr i="1"/>
            </a:pPr>
            <a:r>
              <a:rPr lang="en-US" dirty="0"/>
              <a:t>Troi Williams</a:t>
            </a:r>
          </a:p>
          <a:p>
            <a:pPr>
              <a:defRPr i="1"/>
            </a:pPr>
            <a:endParaRPr lang="en-US" dirty="0"/>
          </a:p>
          <a:p>
            <a:pPr>
              <a:defRPr i="1"/>
            </a:pPr>
            <a:r>
              <a:rPr lang="en-US" dirty="0"/>
              <a:t>(Slide credits: Prof. </a:t>
            </a:r>
            <a:r>
              <a:t>Pratap Tokekar</a:t>
            </a:r>
            <a:r>
              <a:rPr lang="en-US"/>
              <a:t>)</a:t>
            </a:r>
            <a:endParaRPr lang="en-US" dirty="0"/>
          </a:p>
          <a:p>
            <a:pPr>
              <a:defRPr i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50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idea as single neuron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E4C247-5FA5-5945-8CF9-9E8BCFF7C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some initial weights </a:t>
            </a:r>
            <a:r>
              <a:rPr lang="en-US" i="1" dirty="0"/>
              <a:t>w = [w</a:t>
            </a:r>
            <a:r>
              <a:rPr lang="en-US" i="1" baseline="-25000" dirty="0"/>
              <a:t>0</a:t>
            </a:r>
            <a:r>
              <a:rPr lang="en-US" i="1" dirty="0"/>
              <a:t>, w</a:t>
            </a:r>
            <a:r>
              <a:rPr lang="en-US" i="1" baseline="-25000" dirty="0"/>
              <a:t>1</a:t>
            </a:r>
            <a:r>
              <a:rPr lang="en-US" i="1" dirty="0"/>
              <a:t>, …]</a:t>
            </a:r>
          </a:p>
          <a:p>
            <a:r>
              <a:rPr lang="en-US" i="1" dirty="0"/>
              <a:t>Repeat until convergence</a:t>
            </a:r>
          </a:p>
          <a:p>
            <a:pPr lvl="1"/>
            <a:r>
              <a:rPr lang="en-US" dirty="0"/>
              <a:t>For each input 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dirty="0"/>
              <a:t>, use the current weights </a:t>
            </a:r>
            <a:r>
              <a:rPr lang="en-US" i="1" dirty="0"/>
              <a:t>w</a:t>
            </a:r>
            <a:r>
              <a:rPr lang="en-US" dirty="0"/>
              <a:t> to compute the output of the </a:t>
            </a:r>
            <a:r>
              <a:rPr lang="en-US" dirty="0">
                <a:solidFill>
                  <a:srgbClr val="FF0000"/>
                </a:solidFill>
              </a:rPr>
              <a:t>network</a:t>
            </a:r>
            <a:r>
              <a:rPr lang="en-US" dirty="0"/>
              <a:t> </a:t>
            </a:r>
            <a:r>
              <a:rPr lang="en-US" i="1" dirty="0" err="1"/>
              <a:t>f</a:t>
            </a:r>
            <a:r>
              <a:rPr lang="en-US" i="1" baseline="-25000" dirty="0" err="1"/>
              <a:t>w</a:t>
            </a:r>
            <a:r>
              <a:rPr lang="en-US" i="1" dirty="0"/>
              <a:t>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endParaRPr lang="en-US" dirty="0"/>
          </a:p>
          <a:p>
            <a:pPr lvl="1"/>
            <a:r>
              <a:rPr lang="en-US" dirty="0"/>
              <a:t>Compute the loss </a:t>
            </a:r>
            <a:r>
              <a:rPr lang="en-US" i="1" dirty="0"/>
              <a:t>E(w)</a:t>
            </a:r>
            <a:r>
              <a:rPr lang="en-US" dirty="0"/>
              <a:t> between </a:t>
            </a:r>
            <a:r>
              <a:rPr lang="en-US" i="1" dirty="0" err="1"/>
              <a:t>f</a:t>
            </a:r>
            <a:r>
              <a:rPr lang="en-US" i="1" baseline="-25000" dirty="0" err="1"/>
              <a:t>w</a:t>
            </a:r>
            <a:r>
              <a:rPr lang="en-US" i="1" dirty="0"/>
              <a:t>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r>
              <a:rPr lang="en-US" dirty="0"/>
              <a:t> and </a:t>
            </a:r>
            <a:r>
              <a:rPr lang="en-US" i="1" dirty="0" err="1"/>
              <a:t>y</a:t>
            </a:r>
            <a:r>
              <a:rPr lang="en-US" i="1" baseline="30000" dirty="0" err="1"/>
              <a:t>j</a:t>
            </a:r>
            <a:endParaRPr lang="en-US" i="1" dirty="0"/>
          </a:p>
          <a:p>
            <a:pPr lvl="1"/>
            <a:r>
              <a:rPr lang="en-US" dirty="0"/>
              <a:t>Compute the gradient of the loss </a:t>
            </a:r>
            <a:r>
              <a:rPr lang="en-US" dirty="0" err="1"/>
              <a:t>wrt</a:t>
            </a:r>
            <a:r>
              <a:rPr lang="en-US" dirty="0"/>
              <a:t> each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endParaRPr lang="en-US" i="1" baseline="-25000" dirty="0"/>
          </a:p>
          <a:p>
            <a:pPr lvl="1"/>
            <a:endParaRPr lang="en-US" i="1" baseline="-25000" dirty="0"/>
          </a:p>
          <a:p>
            <a:pPr lvl="2"/>
            <a:r>
              <a:rPr lang="en-US" dirty="0">
                <a:solidFill>
                  <a:srgbClr val="FF0000"/>
                </a:solidFill>
              </a:rPr>
              <a:t>slightly more complicated equation</a:t>
            </a:r>
            <a:endParaRPr lang="en-US" i="1" baseline="-25000" dirty="0">
              <a:solidFill>
                <a:srgbClr val="FF0000"/>
              </a:solidFill>
            </a:endParaRPr>
          </a:p>
          <a:p>
            <a:pPr lvl="1"/>
            <a:endParaRPr lang="en-US" i="1" baseline="-25000" dirty="0"/>
          </a:p>
          <a:p>
            <a:pPr lvl="1"/>
            <a:endParaRPr lang="en-US" i="1" baseline="-25000" dirty="0"/>
          </a:p>
          <a:p>
            <a:pPr lvl="1"/>
            <a:r>
              <a:rPr lang="en-US" dirty="0"/>
              <a:t>Update each weight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dirty="0"/>
              <a:t> based on the gradient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53ECE1-5F02-2948-8993-0E58665B7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899" y="8205608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Neural Network w/ Backpropagation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E4C247-5FA5-5945-8CF9-9E8BCFF7C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some initial weights </a:t>
            </a:r>
            <a:r>
              <a:rPr lang="en-US" i="1" dirty="0"/>
              <a:t>w = [w</a:t>
            </a:r>
            <a:r>
              <a:rPr lang="en-US" i="1" baseline="-25000" dirty="0"/>
              <a:t>0</a:t>
            </a:r>
            <a:r>
              <a:rPr lang="en-US" i="1" dirty="0"/>
              <a:t>, w</a:t>
            </a:r>
            <a:r>
              <a:rPr lang="en-US" i="1" baseline="-25000" dirty="0"/>
              <a:t>1</a:t>
            </a:r>
            <a:r>
              <a:rPr lang="en-US" i="1" dirty="0"/>
              <a:t>, …]</a:t>
            </a:r>
          </a:p>
          <a:p>
            <a:r>
              <a:rPr lang="en-US" i="1" dirty="0"/>
              <a:t>Repeat until convergence</a:t>
            </a:r>
          </a:p>
          <a:p>
            <a:pPr lvl="1"/>
            <a:r>
              <a:rPr lang="en-US" dirty="0"/>
              <a:t>For each input 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dirty="0"/>
              <a:t>, use the current weights </a:t>
            </a:r>
            <a:r>
              <a:rPr lang="en-US" i="1" dirty="0"/>
              <a:t>w</a:t>
            </a:r>
            <a:r>
              <a:rPr lang="en-US" dirty="0"/>
              <a:t> to compute the output of all the neurons and the final output </a:t>
            </a:r>
            <a:r>
              <a:rPr lang="en-US" i="1" dirty="0" err="1"/>
              <a:t>f</a:t>
            </a:r>
            <a:r>
              <a:rPr lang="en-US" i="1" baseline="-25000" dirty="0" err="1"/>
              <a:t>w</a:t>
            </a:r>
            <a:r>
              <a:rPr lang="en-US" i="1" dirty="0"/>
              <a:t>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Compute the loss </a:t>
            </a:r>
            <a:r>
              <a:rPr lang="en-US" i="1" dirty="0"/>
              <a:t>E(w)</a:t>
            </a:r>
            <a:r>
              <a:rPr lang="en-US" dirty="0"/>
              <a:t> between </a:t>
            </a:r>
            <a:r>
              <a:rPr lang="en-US" i="1" dirty="0" err="1"/>
              <a:t>f</a:t>
            </a:r>
            <a:r>
              <a:rPr lang="en-US" i="1" baseline="-25000" dirty="0" err="1"/>
              <a:t>w</a:t>
            </a:r>
            <a:r>
              <a:rPr lang="en-US" i="1" dirty="0"/>
              <a:t>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r>
              <a:rPr lang="en-US" dirty="0"/>
              <a:t> and </a:t>
            </a:r>
            <a:r>
              <a:rPr lang="en-US" i="1" dirty="0" err="1"/>
              <a:t>y</a:t>
            </a:r>
            <a:r>
              <a:rPr lang="en-US" i="1" baseline="30000" dirty="0" err="1"/>
              <a:t>j</a:t>
            </a:r>
            <a:endParaRPr lang="en-US" i="1" dirty="0"/>
          </a:p>
          <a:p>
            <a:pPr lvl="1"/>
            <a:r>
              <a:rPr lang="en-US" dirty="0"/>
              <a:t>Compute the gradient of the loss at the output layer</a:t>
            </a:r>
          </a:p>
          <a:p>
            <a:pPr lvl="1"/>
            <a:r>
              <a:rPr lang="en-US" dirty="0"/>
              <a:t>Use that to compute the gradient of the loss at the last-but-one layer</a:t>
            </a:r>
          </a:p>
          <a:p>
            <a:pPr lvl="1"/>
            <a:r>
              <a:rPr lang="en-US" i="1" baseline="-25000" dirty="0"/>
              <a:t>…</a:t>
            </a:r>
          </a:p>
          <a:p>
            <a:pPr lvl="1"/>
            <a:r>
              <a:rPr lang="en-US" dirty="0"/>
              <a:t>Update each weight </a:t>
            </a:r>
            <a:r>
              <a:rPr lang="en-US" i="1" dirty="0" err="1"/>
              <a:t>w</a:t>
            </a:r>
            <a:r>
              <a:rPr lang="en-US" i="1" baseline="-25000" dirty="0" err="1"/>
              <a:t>i</a:t>
            </a:r>
            <a:r>
              <a:rPr lang="en-US" dirty="0"/>
              <a:t> based on the gradient</a:t>
            </a:r>
          </a:p>
        </p:txBody>
      </p:sp>
    </p:spTree>
    <p:extLst>
      <p:ext uri="{BB962C8B-B14F-4D97-AF65-F5344CB8AC3E}">
        <p14:creationId xmlns:p14="http://schemas.microsoft.com/office/powerpoint/2010/main" val="27748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FDE2-90C2-7741-9CF2-1330D64F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B3E3-A8D3-4A44-B7E8-D526BAA1A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 the loss function</a:t>
            </a:r>
          </a:p>
          <a:p>
            <a:r>
              <a:rPr lang="en-US" dirty="0"/>
              <a:t>Convex loss function </a:t>
            </a:r>
            <a:r>
              <a:rPr lang="en-US" dirty="0">
                <a:sym typeface="Wingdings" pitchFamily="2" charset="2"/>
              </a:rPr>
              <a:t> eventually converges to the optimal weights</a:t>
            </a:r>
          </a:p>
          <a:p>
            <a:r>
              <a:rPr lang="en-US" dirty="0">
                <a:sym typeface="Wingdings" pitchFamily="2" charset="2"/>
              </a:rPr>
              <a:t>Loss function is rarely, if ever, convex</a:t>
            </a:r>
          </a:p>
          <a:p>
            <a:r>
              <a:rPr lang="en-US" dirty="0">
                <a:sym typeface="Wingdings" pitchFamily="2" charset="2"/>
              </a:rPr>
              <a:t>Converges to </a:t>
            </a:r>
            <a:r>
              <a:rPr lang="en-US" i="1" dirty="0">
                <a:sym typeface="Wingdings" pitchFamily="2" charset="2"/>
              </a:rPr>
              <a:t>local minima</a:t>
            </a:r>
            <a:r>
              <a:rPr lang="en-US" dirty="0">
                <a:sym typeface="Wingdings" pitchFamily="2" charset="2"/>
              </a:rPr>
              <a:t> instead of global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85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https://playground.tensorflow.org</a:t>
            </a:r>
          </a:p>
          <a:p>
            <a:r>
              <a:rPr lang="en-US" dirty="0">
                <a:hlinkClick r:id="rId2"/>
              </a:rPr>
              <a:t>http://www.ccom.ucsd.edu/~cdeotte/programs/neuralnetwork.html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9577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CFF9-5787-8148-BEC9-F89D3DDA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F896-2047-424D-8E21-840044E6F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requires training data</a:t>
            </a:r>
          </a:p>
          <a:p>
            <a:pPr lvl="1"/>
            <a:r>
              <a:rPr lang="en-US" b="1" dirty="0"/>
              <a:t>input</a:t>
            </a:r>
            <a:r>
              <a:rPr lang="en-US" dirty="0"/>
              <a:t>: </a:t>
            </a:r>
            <a:r>
              <a:rPr lang="en-US" i="1" dirty="0"/>
              <a:t>x		</a:t>
            </a:r>
            <a:r>
              <a:rPr lang="en-US" b="1" dirty="0"/>
              <a:t>output </a:t>
            </a:r>
            <a:r>
              <a:rPr lang="en-US" b="1" dirty="0">
                <a:sym typeface="Wingdings" pitchFamily="2" charset="2"/>
              </a:rPr>
              <a:t>(aka target values)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i="1" dirty="0">
                <a:sym typeface="Wingdings" pitchFamily="2" charset="2"/>
              </a:rPr>
              <a:t>y</a:t>
            </a:r>
          </a:p>
          <a:p>
            <a:pPr lvl="1"/>
            <a:endParaRPr lang="en-US" i="1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Often need </a:t>
            </a:r>
            <a:r>
              <a:rPr lang="en-US" i="1" dirty="0">
                <a:sym typeface="Wingdings" pitchFamily="2" charset="2"/>
              </a:rPr>
              <a:t>lots</a:t>
            </a:r>
            <a:r>
              <a:rPr lang="en-US" dirty="0">
                <a:sym typeface="Wingdings" pitchFamily="2" charset="2"/>
              </a:rPr>
              <a:t> of data (if you want to learn a complex function)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Available in many cases</a:t>
            </a:r>
          </a:p>
          <a:p>
            <a:pPr lvl="1"/>
            <a:r>
              <a:rPr lang="en-US" dirty="0">
                <a:sym typeface="Wingdings" pitchFamily="2" charset="2"/>
              </a:rPr>
              <a:t>image classification: get training data by human annotation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6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041A-16EC-2B4D-B092-AA72EA358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You</a:t>
            </a:r>
            <a:r>
              <a:rPr lang="en-US" dirty="0"/>
              <a:t> have helped train a NN before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9E9614-E9EE-EF4D-B3EA-F5A0891CF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664" y="1816100"/>
            <a:ext cx="4815471" cy="6969125"/>
          </a:xfrm>
        </p:spPr>
      </p:pic>
    </p:spTree>
    <p:extLst>
      <p:ext uri="{BB962C8B-B14F-4D97-AF65-F5344CB8AC3E}">
        <p14:creationId xmlns:p14="http://schemas.microsoft.com/office/powerpoint/2010/main" val="387640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0793-E1D1-8945-BE78-06595A1D2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D502-7911-B14C-A1FA-35C9C1F52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canonical architecture</a:t>
            </a:r>
          </a:p>
          <a:p>
            <a:r>
              <a:rPr lang="en-US" dirty="0"/>
              <a:t>The architecture depends on the specific problem</a:t>
            </a:r>
          </a:p>
          <a:p>
            <a:r>
              <a:rPr lang="en-US" dirty="0"/>
              <a:t>In practice, don’t start by designing a new architecture for a new problem</a:t>
            </a:r>
          </a:p>
          <a:p>
            <a:r>
              <a:rPr lang="en-US" dirty="0"/>
              <a:t>Instead, start with one that is known to work</a:t>
            </a:r>
          </a:p>
          <a:p>
            <a:r>
              <a:rPr lang="en-US" dirty="0"/>
              <a:t>Often, the quality of data impacts the final performance (loss) </a:t>
            </a:r>
          </a:p>
        </p:txBody>
      </p:sp>
    </p:spTree>
    <p:extLst>
      <p:ext uri="{BB962C8B-B14F-4D97-AF65-F5344CB8AC3E}">
        <p14:creationId xmlns:p14="http://schemas.microsoft.com/office/powerpoint/2010/main" val="37495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2392-A52E-C344-A1E3-A42BF1BE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7BCD-A65F-EB4A-87A4-593CEBC6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Remember, the only unknowns are the weights</a:t>
            </a:r>
          </a:p>
          <a:p>
            <a:r>
              <a:rPr lang="en-US" dirty="0"/>
              <a:t>Everything else should be decided by you</a:t>
            </a:r>
          </a:p>
          <a:p>
            <a:endParaRPr lang="en-US" dirty="0"/>
          </a:p>
          <a:p>
            <a:r>
              <a:rPr lang="en-US" dirty="0"/>
              <a:t>How many layers? </a:t>
            </a:r>
          </a:p>
          <a:p>
            <a:r>
              <a:rPr lang="en-US" dirty="0"/>
              <a:t>How many neurons in each layer?</a:t>
            </a:r>
          </a:p>
          <a:p>
            <a:r>
              <a:rPr lang="en-US" b="1" dirty="0"/>
              <a:t>How to connect the neurons?</a:t>
            </a:r>
          </a:p>
          <a:p>
            <a:r>
              <a:rPr lang="en-US" dirty="0"/>
              <a:t>What activation function to use?</a:t>
            </a:r>
          </a:p>
          <a:p>
            <a:r>
              <a:rPr lang="en-US" dirty="0"/>
              <a:t>What loss function to use?</a:t>
            </a:r>
          </a:p>
          <a:p>
            <a:r>
              <a:rPr lang="en-US" dirty="0"/>
              <a:t>What gradient descent method to use?</a:t>
            </a:r>
          </a:p>
          <a:p>
            <a:r>
              <a:rPr lang="en-US" dirty="0"/>
              <a:t>What update method to use?</a:t>
            </a:r>
          </a:p>
          <a:p>
            <a:r>
              <a:rPr lang="en-US" dirty="0"/>
              <a:t>What is your convergence criterion?</a:t>
            </a:r>
          </a:p>
        </p:txBody>
      </p:sp>
    </p:spTree>
    <p:extLst>
      <p:ext uri="{BB962C8B-B14F-4D97-AF65-F5344CB8AC3E}">
        <p14:creationId xmlns:p14="http://schemas.microsoft.com/office/powerpoint/2010/main" val="211324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1F0-E8A2-8B43-BD0B-7D42A3BD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the neurons?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D061-9B85-C347-9983-EDBEFF41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Fully connected </a:t>
            </a:r>
          </a:p>
          <a:p>
            <a:r>
              <a:rPr lang="en-US" dirty="0"/>
              <a:t>Convolutional</a:t>
            </a:r>
          </a:p>
          <a:p>
            <a:r>
              <a:rPr lang="en-US" dirty="0"/>
              <a:t>Pooling</a:t>
            </a:r>
          </a:p>
          <a:p>
            <a:r>
              <a:rPr lang="en-US" dirty="0"/>
              <a:t>Recurrent/LSTM</a:t>
            </a:r>
          </a:p>
          <a:p>
            <a:r>
              <a:rPr lang="en-US" dirty="0"/>
              <a:t>Attention </a:t>
            </a:r>
          </a:p>
          <a:p>
            <a:r>
              <a:rPr lang="en-US" dirty="0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A1B7E-90B7-EB4B-8AB7-37DED38A9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59" y="2268416"/>
            <a:ext cx="6253041" cy="520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1F0-E8A2-8B43-BD0B-7D42A3BD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the neurons?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D061-9B85-C347-9983-EDBEFF41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connected </a:t>
            </a:r>
          </a:p>
          <a:p>
            <a:r>
              <a:rPr lang="en-US" b="1" dirty="0"/>
              <a:t>Convolutional</a:t>
            </a:r>
          </a:p>
          <a:p>
            <a:r>
              <a:rPr lang="en-US" dirty="0"/>
              <a:t>Pooling</a:t>
            </a:r>
          </a:p>
          <a:p>
            <a:r>
              <a:rPr lang="en-US" dirty="0"/>
              <a:t>Recurrent/LSTM</a:t>
            </a:r>
          </a:p>
          <a:p>
            <a:r>
              <a:rPr lang="en-US" dirty="0"/>
              <a:t>Attention </a:t>
            </a:r>
          </a:p>
          <a:p>
            <a:r>
              <a:rPr lang="en-US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76330-C0C1-3341-8AA8-D55E1939DC0C}"/>
              </a:ext>
            </a:extLst>
          </p:cNvPr>
          <p:cNvSpPr txBox="1"/>
          <p:nvPr/>
        </p:nvSpPr>
        <p:spPr>
          <a:xfrm>
            <a:off x="7754815" y="789549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D0C07-32D3-4143-95D0-D868C0F7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270" y="2175043"/>
            <a:ext cx="5713428" cy="2936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E5BE5-2B73-314E-8540-E4DB82325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70" y="5309056"/>
            <a:ext cx="5815450" cy="2988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9ECA05-1A86-DA49-AE56-89B20912FAEC}"/>
              </a:ext>
            </a:extLst>
          </p:cNvPr>
          <p:cNvSpPr txBox="1"/>
          <p:nvPr/>
        </p:nvSpPr>
        <p:spPr>
          <a:xfrm>
            <a:off x="6682154" y="8820043"/>
            <a:ext cx="5638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useful in 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257902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1F0-E8A2-8B43-BD0B-7D42A3BD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 the neurons?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D061-9B85-C347-9983-EDBEFF41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Fully connected </a:t>
            </a:r>
          </a:p>
          <a:p>
            <a:r>
              <a:rPr lang="en-US" dirty="0"/>
              <a:t>Convolutional</a:t>
            </a:r>
          </a:p>
          <a:p>
            <a:r>
              <a:rPr lang="en-US" dirty="0"/>
              <a:t>Pooling</a:t>
            </a:r>
          </a:p>
          <a:p>
            <a:r>
              <a:rPr lang="en-US" dirty="0"/>
              <a:t>Recurrent/LSTM</a:t>
            </a:r>
          </a:p>
          <a:p>
            <a:r>
              <a:rPr lang="en-US" dirty="0"/>
              <a:t>Attention </a:t>
            </a:r>
          </a:p>
          <a:p>
            <a:r>
              <a:rPr lang="en-US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76330-C0C1-3341-8AA8-D55E1939DC0C}"/>
              </a:ext>
            </a:extLst>
          </p:cNvPr>
          <p:cNvSpPr txBox="1"/>
          <p:nvPr/>
        </p:nvSpPr>
        <p:spPr>
          <a:xfrm>
            <a:off x="7754815" y="7895492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ECA05-1A86-DA49-AE56-89B20912FAEC}"/>
              </a:ext>
            </a:extLst>
          </p:cNvPr>
          <p:cNvSpPr txBox="1"/>
          <p:nvPr/>
        </p:nvSpPr>
        <p:spPr>
          <a:xfrm>
            <a:off x="6682154" y="8820043"/>
            <a:ext cx="5745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Typically in the later layers</a:t>
            </a: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DBF49B5C-8477-87B7-4F8F-A32F4A488604}"/>
              </a:ext>
            </a:extLst>
          </p:cNvPr>
          <p:cNvSpPr/>
          <p:nvPr/>
        </p:nvSpPr>
        <p:spPr>
          <a:xfrm>
            <a:off x="8811127" y="3796027"/>
            <a:ext cx="152400" cy="1053465"/>
          </a:xfrm>
          <a:custGeom>
            <a:avLst/>
            <a:gdLst/>
            <a:ahLst/>
            <a:cxnLst/>
            <a:rect l="l" t="t" r="r" b="b"/>
            <a:pathLst>
              <a:path w="152400" h="1053464">
                <a:moveTo>
                  <a:pt x="152400" y="900557"/>
                </a:moveTo>
                <a:lnTo>
                  <a:pt x="0" y="900557"/>
                </a:lnTo>
                <a:lnTo>
                  <a:pt x="0" y="1052957"/>
                </a:lnTo>
                <a:lnTo>
                  <a:pt x="152400" y="1052957"/>
                </a:lnTo>
                <a:lnTo>
                  <a:pt x="152400" y="900557"/>
                </a:lnTo>
                <a:close/>
              </a:path>
              <a:path w="152400" h="1053464">
                <a:moveTo>
                  <a:pt x="152400" y="720471"/>
                </a:moveTo>
                <a:lnTo>
                  <a:pt x="0" y="720471"/>
                </a:lnTo>
                <a:lnTo>
                  <a:pt x="0" y="872871"/>
                </a:lnTo>
                <a:lnTo>
                  <a:pt x="152400" y="872871"/>
                </a:lnTo>
                <a:lnTo>
                  <a:pt x="152400" y="720471"/>
                </a:lnTo>
                <a:close/>
              </a:path>
              <a:path w="152400" h="1053464">
                <a:moveTo>
                  <a:pt x="152400" y="540385"/>
                </a:moveTo>
                <a:lnTo>
                  <a:pt x="0" y="540385"/>
                </a:lnTo>
                <a:lnTo>
                  <a:pt x="0" y="692785"/>
                </a:lnTo>
                <a:lnTo>
                  <a:pt x="152400" y="692785"/>
                </a:lnTo>
                <a:lnTo>
                  <a:pt x="152400" y="540385"/>
                </a:lnTo>
                <a:close/>
              </a:path>
              <a:path w="152400" h="1053464">
                <a:moveTo>
                  <a:pt x="152400" y="360172"/>
                </a:moveTo>
                <a:lnTo>
                  <a:pt x="0" y="360172"/>
                </a:lnTo>
                <a:lnTo>
                  <a:pt x="0" y="512572"/>
                </a:lnTo>
                <a:lnTo>
                  <a:pt x="152400" y="512572"/>
                </a:lnTo>
                <a:lnTo>
                  <a:pt x="152400" y="360172"/>
                </a:lnTo>
                <a:close/>
              </a:path>
              <a:path w="152400" h="1053464">
                <a:moveTo>
                  <a:pt x="152400" y="180086"/>
                </a:moveTo>
                <a:lnTo>
                  <a:pt x="0" y="180086"/>
                </a:lnTo>
                <a:lnTo>
                  <a:pt x="0" y="332486"/>
                </a:lnTo>
                <a:lnTo>
                  <a:pt x="152400" y="332486"/>
                </a:lnTo>
                <a:lnTo>
                  <a:pt x="152400" y="180086"/>
                </a:lnTo>
                <a:close/>
              </a:path>
              <a:path w="152400" h="1053464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C339EDCB-3D41-1951-7B63-80FC5F9F1E35}"/>
              </a:ext>
            </a:extLst>
          </p:cNvPr>
          <p:cNvSpPr/>
          <p:nvPr/>
        </p:nvSpPr>
        <p:spPr>
          <a:xfrm>
            <a:off x="8811127" y="48766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FA29431A-D47E-8418-0C8F-0AF2BE15DCC0}"/>
              </a:ext>
            </a:extLst>
          </p:cNvPr>
          <p:cNvSpPr/>
          <p:nvPr/>
        </p:nvSpPr>
        <p:spPr>
          <a:xfrm>
            <a:off x="8811127" y="5056756"/>
            <a:ext cx="152400" cy="873125"/>
          </a:xfrm>
          <a:custGeom>
            <a:avLst/>
            <a:gdLst/>
            <a:ahLst/>
            <a:cxnLst/>
            <a:rect l="l" t="t" r="r" b="b"/>
            <a:pathLst>
              <a:path w="152400" h="873125">
                <a:moveTo>
                  <a:pt x="152400" y="720471"/>
                </a:moveTo>
                <a:lnTo>
                  <a:pt x="0" y="720471"/>
                </a:lnTo>
                <a:lnTo>
                  <a:pt x="0" y="872871"/>
                </a:lnTo>
                <a:lnTo>
                  <a:pt x="152400" y="872871"/>
                </a:lnTo>
                <a:lnTo>
                  <a:pt x="152400" y="720471"/>
                </a:lnTo>
                <a:close/>
              </a:path>
              <a:path w="152400" h="873125">
                <a:moveTo>
                  <a:pt x="152400" y="540385"/>
                </a:moveTo>
                <a:lnTo>
                  <a:pt x="0" y="540385"/>
                </a:lnTo>
                <a:lnTo>
                  <a:pt x="0" y="692785"/>
                </a:lnTo>
                <a:lnTo>
                  <a:pt x="152400" y="692785"/>
                </a:lnTo>
                <a:lnTo>
                  <a:pt x="152400" y="540385"/>
                </a:lnTo>
                <a:close/>
              </a:path>
              <a:path w="152400" h="873125">
                <a:moveTo>
                  <a:pt x="152400" y="360299"/>
                </a:moveTo>
                <a:lnTo>
                  <a:pt x="0" y="360299"/>
                </a:lnTo>
                <a:lnTo>
                  <a:pt x="0" y="512699"/>
                </a:lnTo>
                <a:lnTo>
                  <a:pt x="152400" y="512699"/>
                </a:lnTo>
                <a:lnTo>
                  <a:pt x="152400" y="360299"/>
                </a:lnTo>
                <a:close/>
              </a:path>
              <a:path w="152400" h="873125">
                <a:moveTo>
                  <a:pt x="152400" y="180086"/>
                </a:moveTo>
                <a:lnTo>
                  <a:pt x="0" y="180086"/>
                </a:lnTo>
                <a:lnTo>
                  <a:pt x="0" y="332486"/>
                </a:lnTo>
                <a:lnTo>
                  <a:pt x="152400" y="332486"/>
                </a:lnTo>
                <a:lnTo>
                  <a:pt x="152400" y="180086"/>
                </a:lnTo>
                <a:close/>
              </a:path>
              <a:path w="152400" h="873125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9FDB1ADE-B684-0777-6FEB-11B1DBFCAD84}"/>
              </a:ext>
            </a:extLst>
          </p:cNvPr>
          <p:cNvSpPr/>
          <p:nvPr/>
        </p:nvSpPr>
        <p:spPr>
          <a:xfrm>
            <a:off x="11020927" y="34150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238E23ED-83D2-6B02-3523-95F81DFEBF11}"/>
              </a:ext>
            </a:extLst>
          </p:cNvPr>
          <p:cNvSpPr/>
          <p:nvPr/>
        </p:nvSpPr>
        <p:spPr>
          <a:xfrm>
            <a:off x="11020927" y="3595113"/>
            <a:ext cx="152400" cy="873125"/>
          </a:xfrm>
          <a:custGeom>
            <a:avLst/>
            <a:gdLst/>
            <a:ahLst/>
            <a:cxnLst/>
            <a:rect l="l" t="t" r="r" b="b"/>
            <a:pathLst>
              <a:path w="152400" h="873125">
                <a:moveTo>
                  <a:pt x="152400" y="720471"/>
                </a:moveTo>
                <a:lnTo>
                  <a:pt x="0" y="720471"/>
                </a:lnTo>
                <a:lnTo>
                  <a:pt x="0" y="872871"/>
                </a:lnTo>
                <a:lnTo>
                  <a:pt x="152400" y="872871"/>
                </a:lnTo>
                <a:lnTo>
                  <a:pt x="152400" y="720471"/>
                </a:lnTo>
                <a:close/>
              </a:path>
              <a:path w="152400" h="873125">
                <a:moveTo>
                  <a:pt x="152400" y="540385"/>
                </a:moveTo>
                <a:lnTo>
                  <a:pt x="0" y="540385"/>
                </a:lnTo>
                <a:lnTo>
                  <a:pt x="0" y="692785"/>
                </a:lnTo>
                <a:lnTo>
                  <a:pt x="152400" y="692785"/>
                </a:lnTo>
                <a:lnTo>
                  <a:pt x="152400" y="540385"/>
                </a:lnTo>
                <a:close/>
              </a:path>
              <a:path w="152400" h="873125">
                <a:moveTo>
                  <a:pt x="152400" y="360299"/>
                </a:moveTo>
                <a:lnTo>
                  <a:pt x="0" y="360299"/>
                </a:lnTo>
                <a:lnTo>
                  <a:pt x="0" y="512699"/>
                </a:lnTo>
                <a:lnTo>
                  <a:pt x="152400" y="512699"/>
                </a:lnTo>
                <a:lnTo>
                  <a:pt x="152400" y="360299"/>
                </a:lnTo>
                <a:close/>
              </a:path>
              <a:path w="152400" h="873125">
                <a:moveTo>
                  <a:pt x="152400" y="180086"/>
                </a:moveTo>
                <a:lnTo>
                  <a:pt x="0" y="180086"/>
                </a:lnTo>
                <a:lnTo>
                  <a:pt x="0" y="332486"/>
                </a:lnTo>
                <a:lnTo>
                  <a:pt x="152400" y="332486"/>
                </a:lnTo>
                <a:lnTo>
                  <a:pt x="152400" y="180086"/>
                </a:lnTo>
                <a:close/>
              </a:path>
              <a:path w="152400" h="873125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E4B950D4-35A6-52BE-DFE8-70F57D38D263}"/>
              </a:ext>
            </a:extLst>
          </p:cNvPr>
          <p:cNvSpPr/>
          <p:nvPr/>
        </p:nvSpPr>
        <p:spPr>
          <a:xfrm>
            <a:off x="11020927" y="625520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399"/>
                </a:lnTo>
                <a:lnTo>
                  <a:pt x="152400" y="152399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6">
            <a:extLst>
              <a:ext uri="{FF2B5EF4-FFF2-40B4-BE49-F238E27FC236}">
                <a16:creationId xmlns:a16="http://schemas.microsoft.com/office/drawing/2014/main" id="{4960E139-2834-369B-BDA6-E24E5E832E7F}"/>
              </a:ext>
            </a:extLst>
          </p:cNvPr>
          <p:cNvSpPr/>
          <p:nvPr/>
        </p:nvSpPr>
        <p:spPr>
          <a:xfrm>
            <a:off x="8962384" y="3475479"/>
            <a:ext cx="2058670" cy="929005"/>
          </a:xfrm>
          <a:custGeom>
            <a:avLst/>
            <a:gdLst/>
            <a:ahLst/>
            <a:cxnLst/>
            <a:rect l="l" t="t" r="r" b="b"/>
            <a:pathLst>
              <a:path w="2058670" h="929005">
                <a:moveTo>
                  <a:pt x="2058543" y="15748"/>
                </a:moveTo>
                <a:lnTo>
                  <a:pt x="2003933" y="0"/>
                </a:lnTo>
                <a:lnTo>
                  <a:pt x="2028113" y="16611"/>
                </a:lnTo>
                <a:lnTo>
                  <a:pt x="254" y="392049"/>
                </a:lnTo>
                <a:lnTo>
                  <a:pt x="1143" y="396748"/>
                </a:lnTo>
                <a:lnTo>
                  <a:pt x="0" y="401320"/>
                </a:lnTo>
                <a:lnTo>
                  <a:pt x="381" y="401421"/>
                </a:lnTo>
                <a:lnTo>
                  <a:pt x="736" y="401510"/>
                </a:lnTo>
                <a:lnTo>
                  <a:pt x="2028177" y="913498"/>
                </a:lnTo>
                <a:lnTo>
                  <a:pt x="2003044" y="928497"/>
                </a:lnTo>
                <a:lnTo>
                  <a:pt x="2058543" y="916305"/>
                </a:lnTo>
                <a:lnTo>
                  <a:pt x="2056625" y="914654"/>
                </a:lnTo>
                <a:lnTo>
                  <a:pt x="2015490" y="879221"/>
                </a:lnTo>
                <a:lnTo>
                  <a:pt x="2030488" y="904367"/>
                </a:lnTo>
                <a:lnTo>
                  <a:pt x="111760" y="419823"/>
                </a:lnTo>
                <a:lnTo>
                  <a:pt x="2028050" y="735952"/>
                </a:lnTo>
                <a:lnTo>
                  <a:pt x="2033511" y="732040"/>
                </a:lnTo>
                <a:lnTo>
                  <a:pt x="2028050" y="735952"/>
                </a:lnTo>
                <a:lnTo>
                  <a:pt x="2004314" y="752983"/>
                </a:lnTo>
                <a:lnTo>
                  <a:pt x="2056892" y="736727"/>
                </a:lnTo>
                <a:lnTo>
                  <a:pt x="2058543" y="736219"/>
                </a:lnTo>
                <a:lnTo>
                  <a:pt x="2012569" y="702818"/>
                </a:lnTo>
                <a:lnTo>
                  <a:pt x="2029587" y="726567"/>
                </a:lnTo>
                <a:lnTo>
                  <a:pt x="110477" y="409968"/>
                </a:lnTo>
                <a:lnTo>
                  <a:pt x="2028063" y="558558"/>
                </a:lnTo>
                <a:lnTo>
                  <a:pt x="2005965" y="577469"/>
                </a:lnTo>
                <a:lnTo>
                  <a:pt x="2051646" y="558927"/>
                </a:lnTo>
                <a:lnTo>
                  <a:pt x="2058543" y="556133"/>
                </a:lnTo>
                <a:lnTo>
                  <a:pt x="2009902" y="526796"/>
                </a:lnTo>
                <a:lnTo>
                  <a:pt x="2028926" y="549046"/>
                </a:lnTo>
                <a:lnTo>
                  <a:pt x="110248" y="400481"/>
                </a:lnTo>
                <a:lnTo>
                  <a:pt x="2028355" y="381050"/>
                </a:lnTo>
                <a:lnTo>
                  <a:pt x="2007997" y="401840"/>
                </a:lnTo>
                <a:lnTo>
                  <a:pt x="2058543" y="375920"/>
                </a:lnTo>
                <a:lnTo>
                  <a:pt x="2049424" y="371475"/>
                </a:lnTo>
                <a:lnTo>
                  <a:pt x="2007489" y="351028"/>
                </a:lnTo>
                <a:lnTo>
                  <a:pt x="2028393" y="371525"/>
                </a:lnTo>
                <a:lnTo>
                  <a:pt x="109143" y="390956"/>
                </a:lnTo>
                <a:lnTo>
                  <a:pt x="2029002" y="203542"/>
                </a:lnTo>
                <a:lnTo>
                  <a:pt x="2010410" y="226060"/>
                </a:lnTo>
                <a:lnTo>
                  <a:pt x="2058543" y="195834"/>
                </a:lnTo>
                <a:lnTo>
                  <a:pt x="2052561" y="193548"/>
                </a:lnTo>
                <a:lnTo>
                  <a:pt x="2005457" y="175514"/>
                </a:lnTo>
                <a:lnTo>
                  <a:pt x="2027961" y="194017"/>
                </a:lnTo>
                <a:lnTo>
                  <a:pt x="110947" y="381279"/>
                </a:lnTo>
                <a:lnTo>
                  <a:pt x="2029688" y="25895"/>
                </a:lnTo>
                <a:lnTo>
                  <a:pt x="2013204" y="49911"/>
                </a:lnTo>
                <a:lnTo>
                  <a:pt x="2058543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7">
            <a:extLst>
              <a:ext uri="{FF2B5EF4-FFF2-40B4-BE49-F238E27FC236}">
                <a16:creationId xmlns:a16="http://schemas.microsoft.com/office/drawing/2014/main" id="{9D68F137-624F-B345-6AC6-68E6C4001AEC}"/>
              </a:ext>
            </a:extLst>
          </p:cNvPr>
          <p:cNvGrpSpPr/>
          <p:nvPr/>
        </p:nvGrpSpPr>
        <p:grpSpPr>
          <a:xfrm>
            <a:off x="8811127" y="3869180"/>
            <a:ext cx="2209800" cy="2517775"/>
            <a:chOff x="2667000" y="1815592"/>
            <a:chExt cx="2209800" cy="2517775"/>
          </a:xfrm>
        </p:grpSpPr>
        <p:sp>
          <p:nvSpPr>
            <p:cNvPr id="16" name="object 18">
              <a:extLst>
                <a:ext uri="{FF2B5EF4-FFF2-40B4-BE49-F238E27FC236}">
                  <a16:creationId xmlns:a16="http://schemas.microsoft.com/office/drawing/2014/main" id="{DF4C40C5-1265-A3F5-8CEF-FC6E589DC1F7}"/>
                </a:ext>
              </a:extLst>
            </p:cNvPr>
            <p:cNvSpPr/>
            <p:nvPr/>
          </p:nvSpPr>
          <p:spPr>
            <a:xfrm>
              <a:off x="2667000" y="418084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9">
              <a:extLst>
                <a:ext uri="{FF2B5EF4-FFF2-40B4-BE49-F238E27FC236}">
                  <a16:creationId xmlns:a16="http://schemas.microsoft.com/office/drawing/2014/main" id="{2CD00C9E-BDC1-BC50-2806-3C333F5B069C}"/>
                </a:ext>
              </a:extLst>
            </p:cNvPr>
            <p:cNvSpPr/>
            <p:nvPr/>
          </p:nvSpPr>
          <p:spPr>
            <a:xfrm>
              <a:off x="2815717" y="1815592"/>
              <a:ext cx="2061210" cy="2462530"/>
            </a:xfrm>
            <a:custGeom>
              <a:avLst/>
              <a:gdLst/>
              <a:ahLst/>
              <a:cxnLst/>
              <a:rect l="l" t="t" r="r" b="b"/>
              <a:pathLst>
                <a:path w="2061210" h="2462529">
                  <a:moveTo>
                    <a:pt x="2009012" y="2439568"/>
                  </a:moveTo>
                  <a:lnTo>
                    <a:pt x="2061083" y="2462225"/>
                  </a:lnTo>
                  <a:lnTo>
                    <a:pt x="2057198" y="2445816"/>
                  </a:lnTo>
                  <a:lnTo>
                    <a:pt x="2041144" y="2445816"/>
                  </a:lnTo>
                  <a:lnTo>
                    <a:pt x="2038071" y="2442144"/>
                  </a:lnTo>
                  <a:lnTo>
                    <a:pt x="2009012" y="2439568"/>
                  </a:lnTo>
                  <a:close/>
                </a:path>
                <a:path w="2061210" h="2462529">
                  <a:moveTo>
                    <a:pt x="2038071" y="2442144"/>
                  </a:moveTo>
                  <a:lnTo>
                    <a:pt x="2041144" y="2445816"/>
                  </a:lnTo>
                  <a:lnTo>
                    <a:pt x="2044783" y="2442739"/>
                  </a:lnTo>
                  <a:lnTo>
                    <a:pt x="2038071" y="2442144"/>
                  </a:lnTo>
                  <a:close/>
                </a:path>
                <a:path w="2061210" h="2462529">
                  <a:moveTo>
                    <a:pt x="2048002" y="2406967"/>
                  </a:moveTo>
                  <a:lnTo>
                    <a:pt x="2045412" y="2436144"/>
                  </a:lnTo>
                  <a:lnTo>
                    <a:pt x="2048383" y="2439695"/>
                  </a:lnTo>
                  <a:lnTo>
                    <a:pt x="2044830" y="2442699"/>
                  </a:lnTo>
                  <a:lnTo>
                    <a:pt x="2041144" y="2445816"/>
                  </a:lnTo>
                  <a:lnTo>
                    <a:pt x="2057198" y="2445816"/>
                  </a:lnTo>
                  <a:lnTo>
                    <a:pt x="2048002" y="2406967"/>
                  </a:lnTo>
                  <a:close/>
                </a:path>
                <a:path w="2061210" h="2462529">
                  <a:moveTo>
                    <a:pt x="2044783" y="2442739"/>
                  </a:moveTo>
                  <a:close/>
                </a:path>
                <a:path w="2061210" h="2462529">
                  <a:moveTo>
                    <a:pt x="7365" y="0"/>
                  </a:moveTo>
                  <a:lnTo>
                    <a:pt x="0" y="6096"/>
                  </a:lnTo>
                  <a:lnTo>
                    <a:pt x="2038071" y="2442144"/>
                  </a:lnTo>
                  <a:lnTo>
                    <a:pt x="2044783" y="2442739"/>
                  </a:lnTo>
                  <a:lnTo>
                    <a:pt x="2044880" y="2442144"/>
                  </a:lnTo>
                  <a:lnTo>
                    <a:pt x="2045412" y="2436144"/>
                  </a:lnTo>
                  <a:lnTo>
                    <a:pt x="7365" y="0"/>
                  </a:lnTo>
                  <a:close/>
                </a:path>
                <a:path w="2061210" h="2462529">
                  <a:moveTo>
                    <a:pt x="2045412" y="2436144"/>
                  </a:moveTo>
                  <a:lnTo>
                    <a:pt x="2044830" y="2442699"/>
                  </a:lnTo>
                  <a:lnTo>
                    <a:pt x="2048383" y="2439695"/>
                  </a:lnTo>
                  <a:lnTo>
                    <a:pt x="2045412" y="2436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8" name="object 20">
            <a:extLst>
              <a:ext uri="{FF2B5EF4-FFF2-40B4-BE49-F238E27FC236}">
                <a16:creationId xmlns:a16="http://schemas.microsoft.com/office/drawing/2014/main" id="{EC30FB77-810A-45A8-C3B5-2AAAC7E0C0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4178" y="4782436"/>
            <a:ext cx="482803" cy="259080"/>
          </a:xfrm>
          <a:prstGeom prst="rect">
            <a:avLst/>
          </a:prstGeom>
        </p:spPr>
      </p:pic>
      <p:grpSp>
        <p:nvGrpSpPr>
          <p:cNvPr id="19" name="object 21">
            <a:extLst>
              <a:ext uri="{FF2B5EF4-FFF2-40B4-BE49-F238E27FC236}">
                <a16:creationId xmlns:a16="http://schemas.microsoft.com/office/drawing/2014/main" id="{D412BA86-0AFA-EFF4-10A3-E647247FC7F3}"/>
              </a:ext>
            </a:extLst>
          </p:cNvPr>
          <p:cNvGrpSpPr/>
          <p:nvPr/>
        </p:nvGrpSpPr>
        <p:grpSpPr>
          <a:xfrm>
            <a:off x="8852909" y="3491227"/>
            <a:ext cx="2168525" cy="2924810"/>
            <a:chOff x="2708782" y="1437639"/>
            <a:chExt cx="2168525" cy="2924810"/>
          </a:xfrm>
        </p:grpSpPr>
        <p:pic>
          <p:nvPicPr>
            <p:cNvPr id="20" name="object 22">
              <a:extLst>
                <a:ext uri="{FF2B5EF4-FFF2-40B4-BE49-F238E27FC236}">
                  <a16:creationId xmlns:a16="http://schemas.microsoft.com/office/drawing/2014/main" id="{BD833F54-FD60-AAF6-6C73-E94753E022E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782" y="4160824"/>
              <a:ext cx="170687" cy="201168"/>
            </a:xfrm>
            <a:prstGeom prst="rect">
              <a:avLst/>
            </a:prstGeom>
          </p:spPr>
        </p:pic>
        <p:sp>
          <p:nvSpPr>
            <p:cNvPr id="21" name="object 23">
              <a:extLst>
                <a:ext uri="{FF2B5EF4-FFF2-40B4-BE49-F238E27FC236}">
                  <a16:creationId xmlns:a16="http://schemas.microsoft.com/office/drawing/2014/main" id="{12899CC7-0C40-471A-3329-5F3B94D75A43}"/>
                </a:ext>
              </a:extLst>
            </p:cNvPr>
            <p:cNvSpPr/>
            <p:nvPr/>
          </p:nvSpPr>
          <p:spPr>
            <a:xfrm>
              <a:off x="2815589" y="1437639"/>
              <a:ext cx="2061210" cy="2820670"/>
            </a:xfrm>
            <a:custGeom>
              <a:avLst/>
              <a:gdLst/>
              <a:ahLst/>
              <a:cxnLst/>
              <a:rect l="l" t="t" r="r" b="b"/>
              <a:pathLst>
                <a:path w="2061210" h="2820670">
                  <a:moveTo>
                    <a:pt x="2046224" y="20574"/>
                  </a:moveTo>
                  <a:lnTo>
                    <a:pt x="2039527" y="21606"/>
                  </a:lnTo>
                  <a:lnTo>
                    <a:pt x="0" y="2814510"/>
                  </a:lnTo>
                  <a:lnTo>
                    <a:pt x="7620" y="2820123"/>
                  </a:lnTo>
                  <a:lnTo>
                    <a:pt x="2047269" y="27200"/>
                  </a:lnTo>
                  <a:lnTo>
                    <a:pt x="2046224" y="20574"/>
                  </a:lnTo>
                  <a:close/>
                </a:path>
                <a:path w="2061210" h="2820670">
                  <a:moveTo>
                    <a:pt x="2058247" y="17652"/>
                  </a:moveTo>
                  <a:lnTo>
                    <a:pt x="2042414" y="17652"/>
                  </a:lnTo>
                  <a:lnTo>
                    <a:pt x="2050161" y="23240"/>
                  </a:lnTo>
                  <a:lnTo>
                    <a:pt x="2047269" y="27200"/>
                  </a:lnTo>
                  <a:lnTo>
                    <a:pt x="2051812" y="56007"/>
                  </a:lnTo>
                  <a:lnTo>
                    <a:pt x="2058247" y="17652"/>
                  </a:lnTo>
                  <a:close/>
                </a:path>
                <a:path w="2061210" h="2820670">
                  <a:moveTo>
                    <a:pt x="2046463" y="20574"/>
                  </a:moveTo>
                  <a:lnTo>
                    <a:pt x="2046224" y="20574"/>
                  </a:lnTo>
                  <a:lnTo>
                    <a:pt x="2047269" y="27200"/>
                  </a:lnTo>
                  <a:lnTo>
                    <a:pt x="2050161" y="23240"/>
                  </a:lnTo>
                  <a:lnTo>
                    <a:pt x="2046463" y="20574"/>
                  </a:lnTo>
                  <a:close/>
                </a:path>
                <a:path w="2061210" h="2820670">
                  <a:moveTo>
                    <a:pt x="2061210" y="0"/>
                  </a:moveTo>
                  <a:lnTo>
                    <a:pt x="2010790" y="26035"/>
                  </a:lnTo>
                  <a:lnTo>
                    <a:pt x="2039527" y="21606"/>
                  </a:lnTo>
                  <a:lnTo>
                    <a:pt x="2042414" y="17652"/>
                  </a:lnTo>
                  <a:lnTo>
                    <a:pt x="2058247" y="17652"/>
                  </a:lnTo>
                  <a:lnTo>
                    <a:pt x="2061210" y="0"/>
                  </a:lnTo>
                  <a:close/>
                </a:path>
                <a:path w="2061210" h="2820670">
                  <a:moveTo>
                    <a:pt x="2042414" y="17652"/>
                  </a:moveTo>
                  <a:lnTo>
                    <a:pt x="2039527" y="21606"/>
                  </a:lnTo>
                  <a:lnTo>
                    <a:pt x="2046224" y="20574"/>
                  </a:lnTo>
                  <a:lnTo>
                    <a:pt x="2046463" y="20574"/>
                  </a:lnTo>
                  <a:lnTo>
                    <a:pt x="2042414" y="17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4">
            <a:extLst>
              <a:ext uri="{FF2B5EF4-FFF2-40B4-BE49-F238E27FC236}">
                <a16:creationId xmlns:a16="http://schemas.microsoft.com/office/drawing/2014/main" id="{E041849B-04B2-E1AF-1836-96DA388AC1E8}"/>
              </a:ext>
            </a:extLst>
          </p:cNvPr>
          <p:cNvSpPr txBox="1"/>
          <p:nvPr/>
        </p:nvSpPr>
        <p:spPr>
          <a:xfrm>
            <a:off x="9855160" y="3282970"/>
            <a:ext cx="226695" cy="349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AB2F2969-87DF-F47E-EA25-0258C05C94B7}"/>
              </a:ext>
            </a:extLst>
          </p:cNvPr>
          <p:cNvSpPr/>
          <p:nvPr/>
        </p:nvSpPr>
        <p:spPr>
          <a:xfrm>
            <a:off x="8959717" y="3671313"/>
            <a:ext cx="2061210" cy="2685415"/>
          </a:xfrm>
          <a:custGeom>
            <a:avLst/>
            <a:gdLst/>
            <a:ahLst/>
            <a:cxnLst/>
            <a:rect l="l" t="t" r="r" b="b"/>
            <a:pathLst>
              <a:path w="2061210" h="2685415">
                <a:moveTo>
                  <a:pt x="2051951" y="2664599"/>
                </a:moveTo>
                <a:lnTo>
                  <a:pt x="2035810" y="2664599"/>
                </a:lnTo>
                <a:lnTo>
                  <a:pt x="2030945" y="2664599"/>
                </a:lnTo>
                <a:lnTo>
                  <a:pt x="2010156" y="2684983"/>
                </a:lnTo>
                <a:lnTo>
                  <a:pt x="2051951" y="2664599"/>
                </a:lnTo>
                <a:close/>
              </a:path>
              <a:path w="2061210" h="2685415">
                <a:moveTo>
                  <a:pt x="2061210" y="0"/>
                </a:moveTo>
                <a:lnTo>
                  <a:pt x="2009902" y="24511"/>
                </a:lnTo>
                <a:lnTo>
                  <a:pt x="2038985" y="20891"/>
                </a:lnTo>
                <a:lnTo>
                  <a:pt x="0" y="2636380"/>
                </a:lnTo>
                <a:lnTo>
                  <a:pt x="3810" y="2639314"/>
                </a:lnTo>
                <a:lnTo>
                  <a:pt x="3810" y="2644076"/>
                </a:lnTo>
                <a:lnTo>
                  <a:pt x="2030996" y="2664561"/>
                </a:lnTo>
                <a:lnTo>
                  <a:pt x="2035810" y="2664561"/>
                </a:lnTo>
                <a:lnTo>
                  <a:pt x="2052053" y="2664561"/>
                </a:lnTo>
                <a:lnTo>
                  <a:pt x="2061210" y="2660091"/>
                </a:lnTo>
                <a:lnTo>
                  <a:pt x="2010664" y="2634183"/>
                </a:lnTo>
                <a:lnTo>
                  <a:pt x="2031085" y="2655036"/>
                </a:lnTo>
                <a:lnTo>
                  <a:pt x="15811" y="2634678"/>
                </a:lnTo>
                <a:lnTo>
                  <a:pt x="2042426" y="744486"/>
                </a:lnTo>
                <a:lnTo>
                  <a:pt x="2041398" y="773684"/>
                </a:lnTo>
                <a:lnTo>
                  <a:pt x="2056053" y="734314"/>
                </a:lnTo>
                <a:lnTo>
                  <a:pt x="2061210" y="720471"/>
                </a:lnTo>
                <a:lnTo>
                  <a:pt x="2042655" y="725932"/>
                </a:lnTo>
                <a:lnTo>
                  <a:pt x="2042655" y="737882"/>
                </a:lnTo>
                <a:lnTo>
                  <a:pt x="2042541" y="741184"/>
                </a:lnTo>
                <a:lnTo>
                  <a:pt x="2042541" y="737743"/>
                </a:lnTo>
                <a:lnTo>
                  <a:pt x="2042655" y="737882"/>
                </a:lnTo>
                <a:lnTo>
                  <a:pt x="2042655" y="725932"/>
                </a:lnTo>
                <a:lnTo>
                  <a:pt x="2006727" y="736473"/>
                </a:lnTo>
                <a:lnTo>
                  <a:pt x="2035937" y="737514"/>
                </a:lnTo>
                <a:lnTo>
                  <a:pt x="156629" y="2490228"/>
                </a:lnTo>
                <a:lnTo>
                  <a:pt x="2043493" y="565277"/>
                </a:lnTo>
                <a:lnTo>
                  <a:pt x="2043811" y="594360"/>
                </a:lnTo>
                <a:lnTo>
                  <a:pt x="2056460" y="555117"/>
                </a:lnTo>
                <a:lnTo>
                  <a:pt x="2061210" y="540385"/>
                </a:lnTo>
                <a:lnTo>
                  <a:pt x="2007489" y="558800"/>
                </a:lnTo>
                <a:lnTo>
                  <a:pt x="2036584" y="558596"/>
                </a:lnTo>
                <a:lnTo>
                  <a:pt x="163423" y="2469629"/>
                </a:lnTo>
                <a:lnTo>
                  <a:pt x="2044522" y="385838"/>
                </a:lnTo>
                <a:lnTo>
                  <a:pt x="2045970" y="414909"/>
                </a:lnTo>
                <a:lnTo>
                  <a:pt x="2056841" y="375920"/>
                </a:lnTo>
                <a:lnTo>
                  <a:pt x="2061210" y="360299"/>
                </a:lnTo>
                <a:lnTo>
                  <a:pt x="2008251" y="380873"/>
                </a:lnTo>
                <a:lnTo>
                  <a:pt x="2037461" y="379437"/>
                </a:lnTo>
                <a:lnTo>
                  <a:pt x="2044179" y="379107"/>
                </a:lnTo>
                <a:lnTo>
                  <a:pt x="2037461" y="379437"/>
                </a:lnTo>
                <a:lnTo>
                  <a:pt x="170548" y="2447480"/>
                </a:lnTo>
                <a:lnTo>
                  <a:pt x="2045550" y="206387"/>
                </a:lnTo>
                <a:lnTo>
                  <a:pt x="2048129" y="235343"/>
                </a:lnTo>
                <a:lnTo>
                  <a:pt x="2057323" y="196469"/>
                </a:lnTo>
                <a:lnTo>
                  <a:pt x="2061210" y="180086"/>
                </a:lnTo>
                <a:lnTo>
                  <a:pt x="2009140" y="202831"/>
                </a:lnTo>
                <a:lnTo>
                  <a:pt x="2038096" y="200253"/>
                </a:lnTo>
                <a:lnTo>
                  <a:pt x="178447" y="2423109"/>
                </a:lnTo>
                <a:lnTo>
                  <a:pt x="2046427" y="26809"/>
                </a:lnTo>
                <a:lnTo>
                  <a:pt x="2050034" y="55753"/>
                </a:lnTo>
                <a:lnTo>
                  <a:pt x="2057768" y="17145"/>
                </a:lnTo>
                <a:lnTo>
                  <a:pt x="2061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7">
            <a:extLst>
              <a:ext uri="{FF2B5EF4-FFF2-40B4-BE49-F238E27FC236}">
                <a16:creationId xmlns:a16="http://schemas.microsoft.com/office/drawing/2014/main" id="{0335511F-E542-2772-7AEF-4CF4078C1F30}"/>
              </a:ext>
            </a:extLst>
          </p:cNvPr>
          <p:cNvSpPr txBox="1"/>
          <p:nvPr/>
        </p:nvSpPr>
        <p:spPr>
          <a:xfrm>
            <a:off x="8796242" y="3316705"/>
            <a:ext cx="165100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x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26" name="object 32">
            <a:extLst>
              <a:ext uri="{FF2B5EF4-FFF2-40B4-BE49-F238E27FC236}">
                <a16:creationId xmlns:a16="http://schemas.microsoft.com/office/drawing/2014/main" id="{DBB9B9AD-7BD7-BFB7-EE6C-3D3A1090641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85188" y="4353304"/>
            <a:ext cx="457200" cy="259080"/>
          </a:xfrm>
          <a:prstGeom prst="rect">
            <a:avLst/>
          </a:prstGeom>
        </p:spPr>
      </p:pic>
      <p:pic>
        <p:nvPicPr>
          <p:cNvPr id="27" name="object 33">
            <a:extLst>
              <a:ext uri="{FF2B5EF4-FFF2-40B4-BE49-F238E27FC236}">
                <a16:creationId xmlns:a16="http://schemas.microsoft.com/office/drawing/2014/main" id="{E58AAFE2-66D1-3EBD-2EA8-C57E91ACEC8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79706" y="5747764"/>
            <a:ext cx="457809" cy="2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62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70056" y="4276321"/>
          <a:ext cx="762226" cy="839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91698" y="3845699"/>
          <a:ext cx="1477487" cy="1732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80289" y="1764065"/>
            <a:ext cx="10917710" cy="707136"/>
            <a:chOff x="548640" y="383108"/>
            <a:chExt cx="7676515" cy="497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476" y="462356"/>
              <a:ext cx="976477" cy="3965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1893" y="383108"/>
              <a:ext cx="408431" cy="4971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6109" y="462356"/>
              <a:ext cx="1092047" cy="3965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2429" y="383108"/>
              <a:ext cx="475488" cy="4971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49803" y="462356"/>
              <a:ext cx="1304925" cy="396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1279" y="383108"/>
              <a:ext cx="704545" cy="4971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60670" y="462356"/>
              <a:ext cx="1725295" cy="3965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9705" y="383108"/>
              <a:ext cx="435864" cy="4971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47636" y="462356"/>
              <a:ext cx="1425067" cy="3965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14461" y="383108"/>
              <a:ext cx="210311" cy="49712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90588" y="3882656"/>
            <a:ext cx="312115" cy="36846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80732" y="3878248"/>
            <a:ext cx="312115" cy="36890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598356" y="4328611"/>
            <a:ext cx="680946" cy="378404"/>
            <a:chOff x="2530094" y="2186304"/>
            <a:chExt cx="478790" cy="266065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89174" y="2186304"/>
              <a:ext cx="219456" cy="2590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30094" y="2193035"/>
              <a:ext cx="219456" cy="259080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05852" y="3873985"/>
            <a:ext cx="312115" cy="3684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95996" y="3869578"/>
            <a:ext cx="312114" cy="36890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4314162" y="4319940"/>
            <a:ext cx="702620" cy="789319"/>
            <a:chOff x="3033395" y="2180208"/>
            <a:chExt cx="494030" cy="554990"/>
          </a:xfrm>
        </p:grpSpPr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92475" y="2180208"/>
              <a:ext cx="219455" cy="2590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33395" y="2186939"/>
              <a:ext cx="219456" cy="2590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33395" y="2475864"/>
              <a:ext cx="219456" cy="2590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07715" y="2472893"/>
              <a:ext cx="219456" cy="259384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4321927" y="5186566"/>
            <a:ext cx="680946" cy="378404"/>
            <a:chOff x="3038855" y="2789554"/>
            <a:chExt cx="478790" cy="266065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97935" y="2789554"/>
              <a:ext cx="219456" cy="2590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38855" y="2796285"/>
              <a:ext cx="219456" cy="259080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98356" y="4732591"/>
            <a:ext cx="312115" cy="36890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88500" y="4728327"/>
            <a:ext cx="312115" cy="368469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3606663" y="5178801"/>
            <a:ext cx="680946" cy="378404"/>
            <a:chOff x="2535935" y="2784094"/>
            <a:chExt cx="478790" cy="266065"/>
          </a:xfrm>
        </p:grpSpPr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5015" y="2784094"/>
              <a:ext cx="219456" cy="25908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35935" y="2790393"/>
              <a:ext cx="219456" cy="2593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70056" y="4276321"/>
            <a:ext cx="834475" cy="853440"/>
            <a:chOff x="4830508" y="2149538"/>
            <a:chExt cx="586740" cy="600075"/>
          </a:xfrm>
        </p:grpSpPr>
        <p:sp>
          <p:nvSpPr>
            <p:cNvPr id="3" name="object 3"/>
            <p:cNvSpPr/>
            <p:nvPr/>
          </p:nvSpPr>
          <p:spPr>
            <a:xfrm>
              <a:off x="4832096" y="2151126"/>
              <a:ext cx="267970" cy="305435"/>
            </a:xfrm>
            <a:custGeom>
              <a:avLst/>
              <a:gdLst/>
              <a:ahLst/>
              <a:cxnLst/>
              <a:rect l="l" t="t" r="r" b="b"/>
              <a:pathLst>
                <a:path w="267970" h="305435">
                  <a:moveTo>
                    <a:pt x="267715" y="0"/>
                  </a:moveTo>
                  <a:lnTo>
                    <a:pt x="0" y="0"/>
                  </a:lnTo>
                  <a:lnTo>
                    <a:pt x="0" y="304926"/>
                  </a:lnTo>
                  <a:lnTo>
                    <a:pt x="267715" y="304926"/>
                  </a:lnTo>
                  <a:lnTo>
                    <a:pt x="267715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99812" y="2154174"/>
              <a:ext cx="267970" cy="292735"/>
            </a:xfrm>
            <a:custGeom>
              <a:avLst/>
              <a:gdLst/>
              <a:ahLst/>
              <a:cxnLst/>
              <a:rect l="l" t="t" r="r" b="b"/>
              <a:pathLst>
                <a:path w="267970" h="292735">
                  <a:moveTo>
                    <a:pt x="0" y="292595"/>
                  </a:moveTo>
                  <a:lnTo>
                    <a:pt x="267715" y="292595"/>
                  </a:lnTo>
                  <a:lnTo>
                    <a:pt x="267715" y="0"/>
                  </a:lnTo>
                  <a:lnTo>
                    <a:pt x="0" y="0"/>
                  </a:lnTo>
                  <a:lnTo>
                    <a:pt x="0" y="292595"/>
                  </a:lnTo>
                  <a:close/>
                </a:path>
              </a:pathLst>
            </a:custGeom>
            <a:solidFill>
              <a:srgbClr val="DBEDF4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835144" y="2444496"/>
              <a:ext cx="267970" cy="305435"/>
            </a:xfrm>
            <a:custGeom>
              <a:avLst/>
              <a:gdLst/>
              <a:ahLst/>
              <a:cxnLst/>
              <a:rect l="l" t="t" r="r" b="b"/>
              <a:pathLst>
                <a:path w="267970" h="305435">
                  <a:moveTo>
                    <a:pt x="267715" y="0"/>
                  </a:moveTo>
                  <a:lnTo>
                    <a:pt x="0" y="0"/>
                  </a:lnTo>
                  <a:lnTo>
                    <a:pt x="0" y="304926"/>
                  </a:lnTo>
                  <a:lnTo>
                    <a:pt x="267715" y="304926"/>
                  </a:lnTo>
                  <a:lnTo>
                    <a:pt x="267715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099812" y="2446769"/>
              <a:ext cx="267970" cy="296545"/>
            </a:xfrm>
            <a:custGeom>
              <a:avLst/>
              <a:gdLst/>
              <a:ahLst/>
              <a:cxnLst/>
              <a:rect l="l" t="t" r="r" b="b"/>
              <a:pathLst>
                <a:path w="267970" h="296544">
                  <a:moveTo>
                    <a:pt x="267715" y="0"/>
                  </a:moveTo>
                  <a:lnTo>
                    <a:pt x="0" y="0"/>
                  </a:lnTo>
                  <a:lnTo>
                    <a:pt x="0" y="296303"/>
                  </a:lnTo>
                  <a:lnTo>
                    <a:pt x="267715" y="296303"/>
                  </a:lnTo>
                  <a:lnTo>
                    <a:pt x="267715" y="0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832096" y="2151126"/>
              <a:ext cx="535940" cy="591820"/>
            </a:xfrm>
            <a:custGeom>
              <a:avLst/>
              <a:gdLst/>
              <a:ahLst/>
              <a:cxnLst/>
              <a:rect l="l" t="t" r="r" b="b"/>
              <a:pathLst>
                <a:path w="535939" h="591819">
                  <a:moveTo>
                    <a:pt x="0" y="591312"/>
                  </a:moveTo>
                  <a:lnTo>
                    <a:pt x="535431" y="591312"/>
                  </a:lnTo>
                  <a:lnTo>
                    <a:pt x="535431" y="0"/>
                  </a:lnTo>
                  <a:lnTo>
                    <a:pt x="0" y="0"/>
                  </a:lnTo>
                  <a:lnTo>
                    <a:pt x="0" y="591312"/>
                  </a:lnTo>
                  <a:close/>
                </a:path>
                <a:path w="535939" h="591819">
                  <a:moveTo>
                    <a:pt x="0" y="295656"/>
                  </a:moveTo>
                  <a:lnTo>
                    <a:pt x="535431" y="295656"/>
                  </a:lnTo>
                </a:path>
                <a:path w="535939" h="591819">
                  <a:moveTo>
                    <a:pt x="267715" y="0"/>
                  </a:moveTo>
                  <a:lnTo>
                    <a:pt x="267715" y="591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0328" y="2173224"/>
              <a:ext cx="220065" cy="266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9441" y="2167128"/>
              <a:ext cx="219456" cy="2667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7729" y="2465832"/>
              <a:ext cx="219455" cy="266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6203" y="2462784"/>
              <a:ext cx="220065" cy="266700"/>
            </a:xfrm>
            <a:prstGeom prst="rect">
              <a:avLst/>
            </a:prstGeom>
          </p:spPr>
        </p:pic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491698" y="3845699"/>
          <a:ext cx="1477487" cy="1732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C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0588" y="3882656"/>
            <a:ext cx="312115" cy="368468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980732" y="3873984"/>
            <a:ext cx="637595" cy="373888"/>
            <a:chOff x="2798952" y="1866645"/>
            <a:chExt cx="448309" cy="26289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8952" y="1869643"/>
              <a:ext cx="219456" cy="25938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7552" y="1866645"/>
              <a:ext cx="219456" cy="259079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598356" y="4309105"/>
            <a:ext cx="1418788" cy="800156"/>
            <a:chOff x="2530094" y="2172589"/>
            <a:chExt cx="997585" cy="56261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9174" y="2178685"/>
              <a:ext cx="219456" cy="2667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0094" y="2193036"/>
              <a:ext cx="219456" cy="2590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2475" y="2172589"/>
              <a:ext cx="219455" cy="2667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3395" y="2186940"/>
              <a:ext cx="219456" cy="2590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33395" y="2475865"/>
              <a:ext cx="219456" cy="2590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7715" y="2472893"/>
              <a:ext cx="219456" cy="2593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0094" y="2470353"/>
              <a:ext cx="219456" cy="25938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4414" y="2467356"/>
              <a:ext cx="219456" cy="259080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5996" y="3869578"/>
            <a:ext cx="312114" cy="368902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606663" y="5175730"/>
            <a:ext cx="1396210" cy="389241"/>
            <a:chOff x="2535935" y="2781935"/>
            <a:chExt cx="981710" cy="27368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7935" y="2781935"/>
              <a:ext cx="219456" cy="2667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38855" y="2796286"/>
              <a:ext cx="219456" cy="2590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95015" y="2784094"/>
              <a:ext cx="219456" cy="25908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5935" y="2782773"/>
              <a:ext cx="219456" cy="267004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780289" y="1764065"/>
            <a:ext cx="10917710" cy="707136"/>
            <a:chOff x="548640" y="383108"/>
            <a:chExt cx="7676515" cy="49720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0476" y="462356"/>
              <a:ext cx="976477" cy="3965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91893" y="383108"/>
              <a:ext cx="408431" cy="4971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6109" y="462356"/>
              <a:ext cx="1092047" cy="3965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2429" y="383108"/>
              <a:ext cx="475488" cy="4971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49803" y="462356"/>
              <a:ext cx="1304925" cy="396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1279" y="383108"/>
              <a:ext cx="704545" cy="49712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60670" y="462356"/>
              <a:ext cx="1725295" cy="39654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29705" y="383108"/>
              <a:ext cx="435864" cy="49712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47636" y="462356"/>
              <a:ext cx="1425067" cy="39654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14461" y="383108"/>
              <a:ext cx="210311" cy="497128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3526468" y="6914002"/>
            <a:ext cx="4744946" cy="368468"/>
            <a:chOff x="2479548" y="4004157"/>
            <a:chExt cx="3336290" cy="259079"/>
          </a:xfrm>
        </p:grpSpPr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79548" y="4004157"/>
              <a:ext cx="451104" cy="25907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7876" y="4004157"/>
              <a:ext cx="152400" cy="25907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94076" y="4004157"/>
              <a:ext cx="2921507" cy="259079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01D8F09-3FBE-CA97-59A9-5703AAACFE49}"/>
              </a:ext>
            </a:extLst>
          </p:cNvPr>
          <p:cNvSpPr txBox="1"/>
          <p:nvPr/>
        </p:nvSpPr>
        <p:spPr>
          <a:xfrm>
            <a:off x="3693638" y="5805602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x 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6E0A09-E0BB-662E-E2C2-E0DBCA9FC481}"/>
              </a:ext>
            </a:extLst>
          </p:cNvPr>
          <p:cNvSpPr txBox="1"/>
          <p:nvPr/>
        </p:nvSpPr>
        <p:spPr>
          <a:xfrm>
            <a:off x="6765804" y="573504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x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8472" y="4067250"/>
            <a:ext cx="312114" cy="379307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91698" y="3845699"/>
          <a:ext cx="1477487" cy="1732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44949" y="4059574"/>
          <a:ext cx="1033156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0588" y="3882656"/>
            <a:ext cx="312115" cy="3684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0732" y="3878248"/>
            <a:ext cx="312115" cy="3689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6824" y="4317774"/>
            <a:ext cx="312115" cy="3793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8356" y="4338183"/>
            <a:ext cx="312115" cy="3684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5852" y="3873985"/>
            <a:ext cx="312115" cy="3684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5996" y="3869578"/>
            <a:ext cx="312114" cy="3689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2632" y="4319940"/>
            <a:ext cx="312114" cy="3684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4162" y="4329513"/>
            <a:ext cx="312115" cy="3684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4162" y="4740429"/>
            <a:ext cx="312115" cy="3684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04306" y="4736203"/>
            <a:ext cx="312115" cy="36890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90397" y="5186566"/>
            <a:ext cx="312115" cy="3684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1927" y="5196139"/>
            <a:ext cx="312115" cy="36846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8356" y="4732591"/>
            <a:ext cx="312115" cy="36890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8500" y="4728327"/>
            <a:ext cx="312115" cy="36846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606663" y="5178801"/>
            <a:ext cx="680946" cy="378404"/>
            <a:chOff x="2535935" y="2784094"/>
            <a:chExt cx="478790" cy="26606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5015" y="2784094"/>
              <a:ext cx="219456" cy="2590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5935" y="2790393"/>
              <a:ext cx="219456" cy="25938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80289" y="1764065"/>
            <a:ext cx="10917710" cy="707136"/>
            <a:chOff x="548640" y="383108"/>
            <a:chExt cx="7676515" cy="49720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0476" y="462356"/>
              <a:ext cx="976477" cy="396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1893" y="383108"/>
              <a:ext cx="408431" cy="49712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96109" y="462356"/>
              <a:ext cx="1092047" cy="396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32429" y="383108"/>
              <a:ext cx="475488" cy="4971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49803" y="462356"/>
              <a:ext cx="1304925" cy="3965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91279" y="383108"/>
              <a:ext cx="704545" cy="4971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60670" y="462356"/>
              <a:ext cx="1725295" cy="3965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29705" y="383108"/>
              <a:ext cx="435864" cy="4971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47636" y="462356"/>
              <a:ext cx="1425067" cy="3965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14461" y="383108"/>
              <a:ext cx="210311" cy="497128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526468" y="6914002"/>
            <a:ext cx="4744946" cy="368468"/>
            <a:chOff x="2479548" y="4004157"/>
            <a:chExt cx="3336290" cy="259079"/>
          </a:xfrm>
        </p:grpSpPr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79548" y="4004157"/>
              <a:ext cx="451104" cy="25907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17876" y="4004157"/>
              <a:ext cx="152400" cy="2590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94076" y="4004157"/>
              <a:ext cx="2921507" cy="259079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1408DDA-69C5-AAC0-E520-C567DDE32A2C}"/>
              </a:ext>
            </a:extLst>
          </p:cNvPr>
          <p:cNvSpPr txBox="1"/>
          <p:nvPr/>
        </p:nvSpPr>
        <p:spPr>
          <a:xfrm>
            <a:off x="3693638" y="5805602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x 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CAFA9E-9D5B-243C-A81C-48716E0035F6}"/>
              </a:ext>
            </a:extLst>
          </p:cNvPr>
          <p:cNvSpPr txBox="1"/>
          <p:nvPr/>
        </p:nvSpPr>
        <p:spPr>
          <a:xfrm>
            <a:off x="6765804" y="573504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x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8472" y="4067250"/>
            <a:ext cx="312114" cy="379307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91698" y="3829895"/>
          <a:ext cx="1477487" cy="1732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44949" y="4059574"/>
          <a:ext cx="1033156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0588" y="3882656"/>
            <a:ext cx="312115" cy="3684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0732" y="3878248"/>
            <a:ext cx="312115" cy="3689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6824" y="4317774"/>
            <a:ext cx="312115" cy="3793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8356" y="4338183"/>
            <a:ext cx="312115" cy="3684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5852" y="3873985"/>
            <a:ext cx="312115" cy="3684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5996" y="3869578"/>
            <a:ext cx="312114" cy="3689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2632" y="4319940"/>
            <a:ext cx="312114" cy="3684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4162" y="4329513"/>
            <a:ext cx="312115" cy="3684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4162" y="4740429"/>
            <a:ext cx="312115" cy="3684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04306" y="4736203"/>
            <a:ext cx="312115" cy="36890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90397" y="5186566"/>
            <a:ext cx="312115" cy="3684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1927" y="5196139"/>
            <a:ext cx="312115" cy="36846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8356" y="4732591"/>
            <a:ext cx="312115" cy="36890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8500" y="4728327"/>
            <a:ext cx="312115" cy="36846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606663" y="5178801"/>
            <a:ext cx="680946" cy="378404"/>
            <a:chOff x="2535935" y="2784094"/>
            <a:chExt cx="478790" cy="26606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5015" y="2784094"/>
              <a:ext cx="219456" cy="2590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5935" y="2790393"/>
              <a:ext cx="219456" cy="25938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80289" y="1764065"/>
            <a:ext cx="10917710" cy="707136"/>
            <a:chOff x="548640" y="383108"/>
            <a:chExt cx="7676515" cy="49720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0476" y="462356"/>
              <a:ext cx="976477" cy="396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1893" y="383108"/>
              <a:ext cx="408431" cy="49712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96109" y="462356"/>
              <a:ext cx="1092047" cy="396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32429" y="383108"/>
              <a:ext cx="475488" cy="4971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49803" y="462356"/>
              <a:ext cx="1304925" cy="3965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91279" y="383108"/>
              <a:ext cx="704545" cy="4971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60670" y="462356"/>
              <a:ext cx="1725295" cy="3965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29705" y="383108"/>
              <a:ext cx="435864" cy="4971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47636" y="462356"/>
              <a:ext cx="1425067" cy="3965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14461" y="383108"/>
              <a:ext cx="210311" cy="497128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526468" y="6914002"/>
            <a:ext cx="4744946" cy="368468"/>
            <a:chOff x="2479548" y="4004157"/>
            <a:chExt cx="3336290" cy="259079"/>
          </a:xfrm>
        </p:grpSpPr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79548" y="4004157"/>
              <a:ext cx="451104" cy="25907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17876" y="4004157"/>
              <a:ext cx="152400" cy="2590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94076" y="4004157"/>
              <a:ext cx="2921507" cy="259079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3507" y="4067250"/>
            <a:ext cx="312115" cy="3793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8374482-A41C-599F-51A8-D16FCD2E602B}"/>
              </a:ext>
            </a:extLst>
          </p:cNvPr>
          <p:cNvSpPr txBox="1"/>
          <p:nvPr/>
        </p:nvSpPr>
        <p:spPr>
          <a:xfrm>
            <a:off x="3693638" y="5805602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x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039225-CEE1-4146-6BBB-10F751FE46C0}"/>
              </a:ext>
            </a:extLst>
          </p:cNvPr>
          <p:cNvSpPr txBox="1"/>
          <p:nvPr/>
        </p:nvSpPr>
        <p:spPr>
          <a:xfrm>
            <a:off x="6765804" y="573504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x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8472" y="4067250"/>
            <a:ext cx="312114" cy="379307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491698" y="3845699"/>
          <a:ext cx="1477487" cy="1732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44949" y="4059574"/>
          <a:ext cx="1033156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0588" y="3882656"/>
            <a:ext cx="312115" cy="3684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0732" y="3878248"/>
            <a:ext cx="312115" cy="3689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6824" y="4328610"/>
            <a:ext cx="312115" cy="3684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98356" y="4338183"/>
            <a:ext cx="312115" cy="3684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5852" y="3873985"/>
            <a:ext cx="312115" cy="3684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95996" y="3869578"/>
            <a:ext cx="312114" cy="3689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82632" y="4309104"/>
            <a:ext cx="312114" cy="37930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4162" y="4329513"/>
            <a:ext cx="312115" cy="3684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4162" y="4740429"/>
            <a:ext cx="312115" cy="36846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04306" y="4736203"/>
            <a:ext cx="312115" cy="36890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90397" y="5186566"/>
            <a:ext cx="312115" cy="3684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21927" y="5196139"/>
            <a:ext cx="312115" cy="36846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8356" y="4732591"/>
            <a:ext cx="312115" cy="36890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8500" y="4728327"/>
            <a:ext cx="312115" cy="368469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606663" y="5178801"/>
            <a:ext cx="680946" cy="378404"/>
            <a:chOff x="2535935" y="2784094"/>
            <a:chExt cx="478790" cy="26606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5015" y="2784094"/>
              <a:ext cx="219456" cy="2590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5935" y="2790393"/>
              <a:ext cx="219456" cy="25938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80289" y="1764065"/>
            <a:ext cx="10917710" cy="707136"/>
            <a:chOff x="548640" y="383108"/>
            <a:chExt cx="7676515" cy="497205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0476" y="462356"/>
              <a:ext cx="976477" cy="396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91893" y="383108"/>
              <a:ext cx="408431" cy="49712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6109" y="462356"/>
              <a:ext cx="1092047" cy="396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32429" y="383108"/>
              <a:ext cx="475488" cy="4971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49803" y="462356"/>
              <a:ext cx="1304925" cy="3965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91279" y="383108"/>
              <a:ext cx="704545" cy="4971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60670" y="462356"/>
              <a:ext cx="1725295" cy="3965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29705" y="383108"/>
              <a:ext cx="435864" cy="4971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47636" y="462356"/>
              <a:ext cx="1425067" cy="3965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14461" y="383108"/>
              <a:ext cx="210311" cy="497128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526468" y="6914002"/>
            <a:ext cx="4744946" cy="368468"/>
            <a:chOff x="2479548" y="4004157"/>
            <a:chExt cx="3336290" cy="259079"/>
          </a:xfrm>
        </p:grpSpPr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79548" y="4004157"/>
              <a:ext cx="451104" cy="25907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7876" y="4004157"/>
              <a:ext cx="152400" cy="25907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94076" y="4004157"/>
              <a:ext cx="2921507" cy="259079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3507" y="4067250"/>
            <a:ext cx="312115" cy="37930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52964" y="4067250"/>
            <a:ext cx="312115" cy="37930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26C82DF-73B3-1826-04EC-B950D788CACD}"/>
              </a:ext>
            </a:extLst>
          </p:cNvPr>
          <p:cNvSpPr txBox="1"/>
          <p:nvPr/>
        </p:nvSpPr>
        <p:spPr>
          <a:xfrm>
            <a:off x="3693638" y="5805602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x 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1FE1E1-5F1A-89BC-143D-EA5CA38653EC}"/>
              </a:ext>
            </a:extLst>
          </p:cNvPr>
          <p:cNvSpPr txBox="1"/>
          <p:nvPr/>
        </p:nvSpPr>
        <p:spPr>
          <a:xfrm>
            <a:off x="6765804" y="573504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x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58471" y="4067250"/>
            <a:ext cx="678235" cy="769451"/>
            <a:chOff x="4892675" y="2002535"/>
            <a:chExt cx="476884" cy="541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2675" y="2002535"/>
              <a:ext cx="219455" cy="266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341" y="2276855"/>
              <a:ext cx="220065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6357" y="2273807"/>
              <a:ext cx="219456" cy="266700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91698" y="3845699"/>
          <a:ext cx="1477487" cy="1732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3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844949" y="4059574"/>
          <a:ext cx="1033156" cy="113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0588" y="3882656"/>
            <a:ext cx="312115" cy="3684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80732" y="3878248"/>
            <a:ext cx="312115" cy="36890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66824" y="4328610"/>
            <a:ext cx="312115" cy="3684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8356" y="4338183"/>
            <a:ext cx="312115" cy="3684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5852" y="3873985"/>
            <a:ext cx="312115" cy="36846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95996" y="3869578"/>
            <a:ext cx="312114" cy="36890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82632" y="4319940"/>
            <a:ext cx="312114" cy="36846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4162" y="4329513"/>
            <a:ext cx="312115" cy="36846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14162" y="4740429"/>
            <a:ext cx="312115" cy="36846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04306" y="4736203"/>
            <a:ext cx="312115" cy="36890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0397" y="5186566"/>
            <a:ext cx="312115" cy="36846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21927" y="5196139"/>
            <a:ext cx="312115" cy="36846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98356" y="4732591"/>
            <a:ext cx="312115" cy="36890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88500" y="4728327"/>
            <a:ext cx="312115" cy="36846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606663" y="5178801"/>
            <a:ext cx="680946" cy="378404"/>
            <a:chOff x="2535935" y="2784094"/>
            <a:chExt cx="478790" cy="26606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5" y="2784094"/>
              <a:ext cx="219456" cy="2590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5935" y="2790393"/>
              <a:ext cx="219456" cy="259384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780289" y="1764065"/>
            <a:ext cx="10917710" cy="707136"/>
            <a:chOff x="548640" y="383108"/>
            <a:chExt cx="7676515" cy="497205"/>
          </a:xfrm>
        </p:grpSpPr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0476" y="462356"/>
              <a:ext cx="976477" cy="3965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91893" y="383108"/>
              <a:ext cx="408431" cy="49712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6109" y="462356"/>
              <a:ext cx="1092047" cy="39654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2429" y="383108"/>
              <a:ext cx="475488" cy="49712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49803" y="462356"/>
              <a:ext cx="1304925" cy="39654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1279" y="383108"/>
              <a:ext cx="704545" cy="49712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60670" y="462356"/>
              <a:ext cx="1725295" cy="39654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29705" y="383108"/>
              <a:ext cx="435864" cy="49712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47636" y="462356"/>
              <a:ext cx="1425067" cy="3965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14461" y="383108"/>
              <a:ext cx="210311" cy="497128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3526468" y="6914002"/>
            <a:ext cx="4744946" cy="368468"/>
            <a:chOff x="2479548" y="4004157"/>
            <a:chExt cx="3336290" cy="259079"/>
          </a:xfrm>
        </p:grpSpPr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79548" y="4004157"/>
              <a:ext cx="451104" cy="25907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7876" y="4004157"/>
              <a:ext cx="152400" cy="25907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94076" y="4004157"/>
              <a:ext cx="2921507" cy="259079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3507" y="4067250"/>
            <a:ext cx="312115" cy="37930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652422" y="4067250"/>
            <a:ext cx="312657" cy="764213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6958472" y="4829405"/>
            <a:ext cx="672818" cy="384725"/>
            <a:chOff x="4892675" y="2538425"/>
            <a:chExt cx="473075" cy="270510"/>
          </a:xfrm>
        </p:grpSpPr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45913" y="2541473"/>
              <a:ext cx="219456" cy="26700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92675" y="2538425"/>
              <a:ext cx="219455" cy="267004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647184" y="4828935"/>
            <a:ext cx="312114" cy="37930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6BD5661-AF98-0C90-7A1D-CAF05592AFF2}"/>
              </a:ext>
            </a:extLst>
          </p:cNvPr>
          <p:cNvSpPr txBox="1"/>
          <p:nvPr/>
        </p:nvSpPr>
        <p:spPr>
          <a:xfrm>
            <a:off x="3693638" y="5805602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x 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A2DF96-3843-1972-99CA-EA816E9EC0BE}"/>
              </a:ext>
            </a:extLst>
          </p:cNvPr>
          <p:cNvSpPr txBox="1"/>
          <p:nvPr/>
        </p:nvSpPr>
        <p:spPr>
          <a:xfrm>
            <a:off x="6765804" y="5735047"/>
            <a:ext cx="1061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x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288" y="1764065"/>
            <a:ext cx="2082574" cy="707136"/>
            <a:chOff x="548640" y="383108"/>
            <a:chExt cx="1464310" cy="497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383108"/>
              <a:ext cx="423672" cy="4971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476" y="462356"/>
              <a:ext cx="616102" cy="396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0038" y="383108"/>
              <a:ext cx="466344" cy="4971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209" y="462356"/>
              <a:ext cx="459485" cy="3965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3982" y="2912534"/>
            <a:ext cx="11325013" cy="3698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0289" y="1764065"/>
            <a:ext cx="4075740" cy="707136"/>
            <a:chOff x="548640" y="383108"/>
            <a:chExt cx="2865755" cy="497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0" y="383108"/>
              <a:ext cx="377952" cy="4971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616" y="462356"/>
              <a:ext cx="1037297" cy="396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2562" y="383108"/>
              <a:ext cx="377951" cy="4971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1537" y="462356"/>
              <a:ext cx="1522602" cy="39654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39609" y="3682436"/>
            <a:ext cx="1088249" cy="1409756"/>
            <a:chOff x="379412" y="1731962"/>
            <a:chExt cx="765175" cy="991235"/>
          </a:xfrm>
        </p:grpSpPr>
        <p:sp>
          <p:nvSpPr>
            <p:cNvPr id="8" name="object 8"/>
            <p:cNvSpPr/>
            <p:nvPr/>
          </p:nvSpPr>
          <p:spPr>
            <a:xfrm>
              <a:off x="381000" y="2110193"/>
              <a:ext cx="385445" cy="611505"/>
            </a:xfrm>
            <a:custGeom>
              <a:avLst/>
              <a:gdLst/>
              <a:ahLst/>
              <a:cxnLst/>
              <a:rect l="l" t="t" r="r" b="b"/>
              <a:pathLst>
                <a:path w="385445" h="611505">
                  <a:moveTo>
                    <a:pt x="385356" y="0"/>
                  </a:moveTo>
                  <a:lnTo>
                    <a:pt x="0" y="0"/>
                  </a:lnTo>
                  <a:lnTo>
                    <a:pt x="0" y="611035"/>
                  </a:lnTo>
                  <a:lnTo>
                    <a:pt x="385356" y="611035"/>
                  </a:lnTo>
                  <a:lnTo>
                    <a:pt x="385356" y="0"/>
                  </a:lnTo>
                  <a:close/>
                </a:path>
              </a:pathLst>
            </a:custGeom>
            <a:solidFill>
              <a:srgbClr val="F1F1F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6356" y="1733550"/>
              <a:ext cx="377190" cy="988060"/>
            </a:xfrm>
            <a:custGeom>
              <a:avLst/>
              <a:gdLst/>
              <a:ahLst/>
              <a:cxnLst/>
              <a:rect l="l" t="t" r="r" b="b"/>
              <a:pathLst>
                <a:path w="377190" h="988060">
                  <a:moveTo>
                    <a:pt x="376643" y="0"/>
                  </a:moveTo>
                  <a:lnTo>
                    <a:pt x="0" y="376681"/>
                  </a:lnTo>
                  <a:lnTo>
                    <a:pt x="0" y="987679"/>
                  </a:lnTo>
                  <a:lnTo>
                    <a:pt x="376643" y="610997"/>
                  </a:lnTo>
                  <a:lnTo>
                    <a:pt x="376643" y="0"/>
                  </a:lnTo>
                  <a:close/>
                </a:path>
              </a:pathLst>
            </a:custGeom>
            <a:solidFill>
              <a:srgbClr val="C3C3C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81000" y="1733550"/>
              <a:ext cx="762000" cy="377190"/>
            </a:xfrm>
            <a:custGeom>
              <a:avLst/>
              <a:gdLst/>
              <a:ahLst/>
              <a:cxnLst/>
              <a:rect l="l" t="t" r="r" b="b"/>
              <a:pathLst>
                <a:path w="762000" h="377189">
                  <a:moveTo>
                    <a:pt x="762000" y="0"/>
                  </a:moveTo>
                  <a:lnTo>
                    <a:pt x="376643" y="0"/>
                  </a:lnTo>
                  <a:lnTo>
                    <a:pt x="0" y="376681"/>
                  </a:lnTo>
                  <a:lnTo>
                    <a:pt x="385356" y="376681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5F5F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81000" y="1733550"/>
              <a:ext cx="762000" cy="988060"/>
            </a:xfrm>
            <a:custGeom>
              <a:avLst/>
              <a:gdLst/>
              <a:ahLst/>
              <a:cxnLst/>
              <a:rect l="l" t="t" r="r" b="b"/>
              <a:pathLst>
                <a:path w="762000" h="988060">
                  <a:moveTo>
                    <a:pt x="0" y="376681"/>
                  </a:moveTo>
                  <a:lnTo>
                    <a:pt x="376643" y="0"/>
                  </a:lnTo>
                  <a:lnTo>
                    <a:pt x="762000" y="0"/>
                  </a:lnTo>
                  <a:lnTo>
                    <a:pt x="762000" y="610997"/>
                  </a:lnTo>
                  <a:lnTo>
                    <a:pt x="385356" y="987679"/>
                  </a:lnTo>
                  <a:lnTo>
                    <a:pt x="0" y="987679"/>
                  </a:lnTo>
                  <a:lnTo>
                    <a:pt x="0" y="376681"/>
                  </a:lnTo>
                  <a:close/>
                </a:path>
                <a:path w="762000" h="988060">
                  <a:moveTo>
                    <a:pt x="0" y="376681"/>
                  </a:moveTo>
                  <a:lnTo>
                    <a:pt x="385356" y="376681"/>
                  </a:lnTo>
                  <a:lnTo>
                    <a:pt x="762000" y="0"/>
                  </a:lnTo>
                </a:path>
                <a:path w="762000" h="988060">
                  <a:moveTo>
                    <a:pt x="385356" y="376681"/>
                  </a:moveTo>
                  <a:lnTo>
                    <a:pt x="385356" y="987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/>
          <p:nvPr/>
        </p:nvSpPr>
        <p:spPr>
          <a:xfrm>
            <a:off x="3939010" y="3512362"/>
            <a:ext cx="1480199" cy="1734876"/>
          </a:xfrm>
          <a:custGeom>
            <a:avLst/>
            <a:gdLst/>
            <a:ahLst/>
            <a:cxnLst/>
            <a:rect l="l" t="t" r="r" b="b"/>
            <a:pathLst>
              <a:path w="1040764" h="1219835">
                <a:moveTo>
                  <a:pt x="0" y="1219466"/>
                </a:moveTo>
                <a:lnTo>
                  <a:pt x="1040383" y="1219466"/>
                </a:lnTo>
                <a:lnTo>
                  <a:pt x="1040383" y="0"/>
                </a:lnTo>
                <a:lnTo>
                  <a:pt x="0" y="0"/>
                </a:lnTo>
                <a:lnTo>
                  <a:pt x="0" y="121946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1972" y="3682436"/>
            <a:ext cx="557220" cy="1409756"/>
            <a:chOff x="437324" y="1731962"/>
            <a:chExt cx="391795" cy="991235"/>
          </a:xfrm>
        </p:grpSpPr>
        <p:sp>
          <p:nvSpPr>
            <p:cNvPr id="14" name="object 14"/>
            <p:cNvSpPr/>
            <p:nvPr/>
          </p:nvSpPr>
          <p:spPr>
            <a:xfrm>
              <a:off x="438912" y="2110422"/>
              <a:ext cx="12065" cy="610870"/>
            </a:xfrm>
            <a:custGeom>
              <a:avLst/>
              <a:gdLst/>
              <a:ahLst/>
              <a:cxnLst/>
              <a:rect l="l" t="t" r="r" b="b"/>
              <a:pathLst>
                <a:path w="12065" h="610869">
                  <a:moveTo>
                    <a:pt x="11751" y="0"/>
                  </a:moveTo>
                  <a:lnTo>
                    <a:pt x="0" y="0"/>
                  </a:lnTo>
                  <a:lnTo>
                    <a:pt x="0" y="610806"/>
                  </a:lnTo>
                  <a:lnTo>
                    <a:pt x="11751" y="610806"/>
                  </a:lnTo>
                  <a:lnTo>
                    <a:pt x="11751" y="0"/>
                  </a:lnTo>
                  <a:close/>
                </a:path>
              </a:pathLst>
            </a:custGeom>
            <a:solidFill>
              <a:srgbClr val="F1F1F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50659" y="1733550"/>
              <a:ext cx="377190" cy="988060"/>
            </a:xfrm>
            <a:custGeom>
              <a:avLst/>
              <a:gdLst/>
              <a:ahLst/>
              <a:cxnLst/>
              <a:rect l="l" t="t" r="r" b="b"/>
              <a:pathLst>
                <a:path w="377190" h="988060">
                  <a:moveTo>
                    <a:pt x="376872" y="0"/>
                  </a:moveTo>
                  <a:lnTo>
                    <a:pt x="0" y="376808"/>
                  </a:lnTo>
                  <a:lnTo>
                    <a:pt x="0" y="987679"/>
                  </a:lnTo>
                  <a:lnTo>
                    <a:pt x="376872" y="610743"/>
                  </a:lnTo>
                  <a:lnTo>
                    <a:pt x="376872" y="0"/>
                  </a:lnTo>
                  <a:close/>
                </a:path>
              </a:pathLst>
            </a:custGeom>
            <a:solidFill>
              <a:srgbClr val="C3C3C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8912" y="1733550"/>
              <a:ext cx="388620" cy="377190"/>
            </a:xfrm>
            <a:custGeom>
              <a:avLst/>
              <a:gdLst/>
              <a:ahLst/>
              <a:cxnLst/>
              <a:rect l="l" t="t" r="r" b="b"/>
              <a:pathLst>
                <a:path w="388619" h="377189">
                  <a:moveTo>
                    <a:pt x="388619" y="0"/>
                  </a:moveTo>
                  <a:lnTo>
                    <a:pt x="376872" y="0"/>
                  </a:lnTo>
                  <a:lnTo>
                    <a:pt x="0" y="376808"/>
                  </a:lnTo>
                  <a:lnTo>
                    <a:pt x="11747" y="376808"/>
                  </a:lnTo>
                  <a:lnTo>
                    <a:pt x="388619" y="0"/>
                  </a:lnTo>
                  <a:close/>
                </a:path>
              </a:pathLst>
            </a:custGeom>
            <a:solidFill>
              <a:srgbClr val="F5F5F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38912" y="1733550"/>
              <a:ext cx="388620" cy="988060"/>
            </a:xfrm>
            <a:custGeom>
              <a:avLst/>
              <a:gdLst/>
              <a:ahLst/>
              <a:cxnLst/>
              <a:rect l="l" t="t" r="r" b="b"/>
              <a:pathLst>
                <a:path w="388619" h="988060">
                  <a:moveTo>
                    <a:pt x="0" y="376808"/>
                  </a:moveTo>
                  <a:lnTo>
                    <a:pt x="376872" y="0"/>
                  </a:lnTo>
                  <a:lnTo>
                    <a:pt x="388619" y="0"/>
                  </a:lnTo>
                  <a:lnTo>
                    <a:pt x="388619" y="610743"/>
                  </a:lnTo>
                  <a:lnTo>
                    <a:pt x="11747" y="987679"/>
                  </a:lnTo>
                  <a:lnTo>
                    <a:pt x="0" y="987679"/>
                  </a:lnTo>
                  <a:lnTo>
                    <a:pt x="0" y="376808"/>
                  </a:lnTo>
                  <a:close/>
                </a:path>
                <a:path w="388619" h="988060">
                  <a:moveTo>
                    <a:pt x="0" y="376808"/>
                  </a:moveTo>
                  <a:lnTo>
                    <a:pt x="11747" y="376808"/>
                  </a:lnTo>
                  <a:lnTo>
                    <a:pt x="388619" y="0"/>
                  </a:lnTo>
                </a:path>
                <a:path w="388619" h="988060">
                  <a:moveTo>
                    <a:pt x="11747" y="376808"/>
                  </a:moveTo>
                  <a:lnTo>
                    <a:pt x="11747" y="987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39010" y="3512361"/>
            <a:ext cx="179176" cy="1734352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939009" y="3512362"/>
            <a:ext cx="179718" cy="1734876"/>
          </a:xfrm>
          <a:custGeom>
            <a:avLst/>
            <a:gdLst/>
            <a:ahLst/>
            <a:cxnLst/>
            <a:rect l="l" t="t" r="r" b="b"/>
            <a:pathLst>
              <a:path w="126364" h="1219835">
                <a:moveTo>
                  <a:pt x="0" y="1219466"/>
                </a:moveTo>
                <a:lnTo>
                  <a:pt x="125983" y="1219466"/>
                </a:lnTo>
                <a:lnTo>
                  <a:pt x="125983" y="0"/>
                </a:lnTo>
                <a:lnTo>
                  <a:pt x="0" y="0"/>
                </a:lnTo>
                <a:lnTo>
                  <a:pt x="0" y="121946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55757" y="3512722"/>
            <a:ext cx="179176" cy="1734352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4155756" y="3512723"/>
            <a:ext cx="179718" cy="1734876"/>
          </a:xfrm>
          <a:custGeom>
            <a:avLst/>
            <a:gdLst/>
            <a:ahLst/>
            <a:cxnLst/>
            <a:rect l="l" t="t" r="r" b="b"/>
            <a:pathLst>
              <a:path w="126364" h="1219835">
                <a:moveTo>
                  <a:pt x="0" y="1219466"/>
                </a:moveTo>
                <a:lnTo>
                  <a:pt x="125983" y="1219466"/>
                </a:lnTo>
                <a:lnTo>
                  <a:pt x="125983" y="0"/>
                </a:lnTo>
                <a:lnTo>
                  <a:pt x="0" y="0"/>
                </a:lnTo>
                <a:lnTo>
                  <a:pt x="0" y="121946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15802" y="4057677"/>
            <a:ext cx="651106" cy="36846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044342" y="4325722"/>
            <a:ext cx="866987" cy="108373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58800" y="38100"/>
                </a:moveTo>
                <a:lnTo>
                  <a:pt x="533400" y="76200"/>
                </a:lnTo>
                <a:lnTo>
                  <a:pt x="600201" y="42799"/>
                </a:lnTo>
                <a:lnTo>
                  <a:pt x="558800" y="42799"/>
                </a:lnTo>
                <a:lnTo>
                  <a:pt x="558800" y="38100"/>
                </a:lnTo>
                <a:close/>
              </a:path>
              <a:path w="609600" h="76200">
                <a:moveTo>
                  <a:pt x="555582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555667" y="42799"/>
                </a:lnTo>
                <a:lnTo>
                  <a:pt x="558800" y="38100"/>
                </a:lnTo>
                <a:lnTo>
                  <a:pt x="555582" y="33274"/>
                </a:lnTo>
                <a:close/>
              </a:path>
              <a:path w="609600" h="76200">
                <a:moveTo>
                  <a:pt x="599948" y="33274"/>
                </a:moveTo>
                <a:lnTo>
                  <a:pt x="558800" y="33274"/>
                </a:lnTo>
                <a:lnTo>
                  <a:pt x="558800" y="42799"/>
                </a:lnTo>
                <a:lnTo>
                  <a:pt x="600201" y="42799"/>
                </a:lnTo>
                <a:lnTo>
                  <a:pt x="609600" y="38100"/>
                </a:lnTo>
                <a:lnTo>
                  <a:pt x="599948" y="33274"/>
                </a:lnTo>
                <a:close/>
              </a:path>
              <a:path w="609600" h="76200">
                <a:moveTo>
                  <a:pt x="533400" y="0"/>
                </a:moveTo>
                <a:lnTo>
                  <a:pt x="558800" y="38100"/>
                </a:lnTo>
                <a:lnTo>
                  <a:pt x="558800" y="33274"/>
                </a:lnTo>
                <a:lnTo>
                  <a:pt x="599948" y="33274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86134" y="2709333"/>
            <a:ext cx="108373" cy="3576320"/>
          </a:xfrm>
          <a:custGeom>
            <a:avLst/>
            <a:gdLst/>
            <a:ahLst/>
            <a:cxnLst/>
            <a:rect l="l" t="t" r="r" b="b"/>
            <a:pathLst>
              <a:path w="76200" h="2514600">
                <a:moveTo>
                  <a:pt x="76200" y="2514600"/>
                </a:moveTo>
                <a:lnTo>
                  <a:pt x="46559" y="2514107"/>
                </a:lnTo>
                <a:lnTo>
                  <a:pt x="22336" y="2512758"/>
                </a:lnTo>
                <a:lnTo>
                  <a:pt x="5994" y="2510742"/>
                </a:lnTo>
                <a:lnTo>
                  <a:pt x="0" y="2508250"/>
                </a:lnTo>
                <a:lnTo>
                  <a:pt x="0" y="6350"/>
                </a:lnTo>
                <a:lnTo>
                  <a:pt x="5994" y="3857"/>
                </a:lnTo>
                <a:lnTo>
                  <a:pt x="22336" y="1841"/>
                </a:lnTo>
                <a:lnTo>
                  <a:pt x="46559" y="492"/>
                </a:lnTo>
                <a:lnTo>
                  <a:pt x="76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75705" y="5224317"/>
            <a:ext cx="1151646" cy="368469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8236374" y="2710778"/>
            <a:ext cx="108373" cy="3576320"/>
          </a:xfrm>
          <a:custGeom>
            <a:avLst/>
            <a:gdLst/>
            <a:ahLst/>
            <a:cxnLst/>
            <a:rect l="l" t="t" r="r" b="b"/>
            <a:pathLst>
              <a:path w="76200" h="2514600">
                <a:moveTo>
                  <a:pt x="0" y="2514600"/>
                </a:moveTo>
                <a:lnTo>
                  <a:pt x="29640" y="2514090"/>
                </a:lnTo>
                <a:lnTo>
                  <a:pt x="53863" y="2512710"/>
                </a:lnTo>
                <a:lnTo>
                  <a:pt x="70205" y="2510688"/>
                </a:lnTo>
                <a:lnTo>
                  <a:pt x="76200" y="2508250"/>
                </a:lnTo>
                <a:lnTo>
                  <a:pt x="76200" y="6350"/>
                </a:lnTo>
                <a:lnTo>
                  <a:pt x="70205" y="3857"/>
                </a:lnTo>
                <a:lnTo>
                  <a:pt x="53863" y="1841"/>
                </a:lnTo>
                <a:lnTo>
                  <a:pt x="29640" y="492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849028" y="2723150"/>
            <a:ext cx="729714" cy="1721330"/>
            <a:chOff x="5518848" y="1057465"/>
            <a:chExt cx="513080" cy="121031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0689" y="1059052"/>
              <a:ext cx="125984" cy="55359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520689" y="1059052"/>
              <a:ext cx="126364" cy="553720"/>
            </a:xfrm>
            <a:custGeom>
              <a:avLst/>
              <a:gdLst/>
              <a:ahLst/>
              <a:cxnLst/>
              <a:rect l="l" t="t" r="r" b="b"/>
              <a:pathLst>
                <a:path w="126364" h="553719">
                  <a:moveTo>
                    <a:pt x="0" y="553593"/>
                  </a:moveTo>
                  <a:lnTo>
                    <a:pt x="125984" y="553593"/>
                  </a:lnTo>
                  <a:lnTo>
                    <a:pt x="125984" y="0"/>
                  </a:lnTo>
                  <a:lnTo>
                    <a:pt x="0" y="0"/>
                  </a:lnTo>
                  <a:lnTo>
                    <a:pt x="0" y="55359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20435" y="1612645"/>
              <a:ext cx="125984" cy="55359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520435" y="1612645"/>
              <a:ext cx="126364" cy="553720"/>
            </a:xfrm>
            <a:custGeom>
              <a:avLst/>
              <a:gdLst/>
              <a:ahLst/>
              <a:cxnLst/>
              <a:rect l="l" t="t" r="r" b="b"/>
              <a:pathLst>
                <a:path w="126364" h="553719">
                  <a:moveTo>
                    <a:pt x="0" y="553592"/>
                  </a:moveTo>
                  <a:lnTo>
                    <a:pt x="125984" y="553592"/>
                  </a:lnTo>
                  <a:lnTo>
                    <a:pt x="125984" y="0"/>
                  </a:lnTo>
                  <a:lnTo>
                    <a:pt x="0" y="0"/>
                  </a:lnTo>
                  <a:lnTo>
                    <a:pt x="0" y="5535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74156" y="2008377"/>
              <a:ext cx="457200" cy="2590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45124" y="3031454"/>
            <a:ext cx="1484715" cy="1739392"/>
            <a:chOff x="2844228" y="1274241"/>
            <a:chExt cx="1043940" cy="1223010"/>
          </a:xfrm>
        </p:grpSpPr>
        <p:sp>
          <p:nvSpPr>
            <p:cNvPr id="3" name="object 3"/>
            <p:cNvSpPr/>
            <p:nvPr/>
          </p:nvSpPr>
          <p:spPr>
            <a:xfrm>
              <a:off x="2845816" y="1275829"/>
              <a:ext cx="1040765" cy="1219835"/>
            </a:xfrm>
            <a:custGeom>
              <a:avLst/>
              <a:gdLst/>
              <a:ahLst/>
              <a:cxnLst/>
              <a:rect l="l" t="t" r="r" b="b"/>
              <a:pathLst>
                <a:path w="1040764" h="1219835">
                  <a:moveTo>
                    <a:pt x="0" y="1219466"/>
                  </a:moveTo>
                  <a:lnTo>
                    <a:pt x="1040383" y="1219466"/>
                  </a:lnTo>
                  <a:lnTo>
                    <a:pt x="1040383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845816" y="1275829"/>
              <a:ext cx="126364" cy="336550"/>
            </a:xfrm>
            <a:custGeom>
              <a:avLst/>
              <a:gdLst/>
              <a:ahLst/>
              <a:cxnLst/>
              <a:rect l="l" t="t" r="r" b="b"/>
              <a:pathLst>
                <a:path w="126364" h="336550">
                  <a:moveTo>
                    <a:pt x="0" y="336550"/>
                  </a:moveTo>
                  <a:lnTo>
                    <a:pt x="125983" y="336550"/>
                  </a:lnTo>
                  <a:lnTo>
                    <a:pt x="125983" y="0"/>
                  </a:lnTo>
                  <a:lnTo>
                    <a:pt x="0" y="0"/>
                  </a:lnTo>
                  <a:lnTo>
                    <a:pt x="0" y="336550"/>
                  </a:lnTo>
                  <a:close/>
                </a:path>
              </a:pathLst>
            </a:custGeom>
            <a:solidFill>
              <a:srgbClr val="FCEADA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845816" y="1275829"/>
              <a:ext cx="126364" cy="1219835"/>
            </a:xfrm>
            <a:custGeom>
              <a:avLst/>
              <a:gdLst/>
              <a:ahLst/>
              <a:cxnLst/>
              <a:rect l="l" t="t" r="r" b="b"/>
              <a:pathLst>
                <a:path w="126364" h="1219835">
                  <a:moveTo>
                    <a:pt x="0" y="1219466"/>
                  </a:moveTo>
                  <a:lnTo>
                    <a:pt x="125983" y="1219466"/>
                  </a:lnTo>
                  <a:lnTo>
                    <a:pt x="125983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998216" y="1276083"/>
              <a:ext cx="126364" cy="336550"/>
            </a:xfrm>
            <a:custGeom>
              <a:avLst/>
              <a:gdLst/>
              <a:ahLst/>
              <a:cxnLst/>
              <a:rect l="l" t="t" r="r" b="b"/>
              <a:pathLst>
                <a:path w="126364" h="336550">
                  <a:moveTo>
                    <a:pt x="0" y="336296"/>
                  </a:moveTo>
                  <a:lnTo>
                    <a:pt x="125983" y="336296"/>
                  </a:lnTo>
                  <a:lnTo>
                    <a:pt x="125983" y="0"/>
                  </a:lnTo>
                  <a:lnTo>
                    <a:pt x="0" y="0"/>
                  </a:lnTo>
                  <a:lnTo>
                    <a:pt x="0" y="336296"/>
                  </a:lnTo>
                  <a:close/>
                </a:path>
              </a:pathLst>
            </a:custGeom>
            <a:solidFill>
              <a:srgbClr val="FCEADA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998216" y="1276083"/>
              <a:ext cx="126364" cy="1219835"/>
            </a:xfrm>
            <a:custGeom>
              <a:avLst/>
              <a:gdLst/>
              <a:ahLst/>
              <a:cxnLst/>
              <a:rect l="l" t="t" r="r" b="b"/>
              <a:pathLst>
                <a:path w="126364" h="1219835">
                  <a:moveTo>
                    <a:pt x="0" y="1219466"/>
                  </a:moveTo>
                  <a:lnTo>
                    <a:pt x="125983" y="1219466"/>
                  </a:lnTo>
                  <a:lnTo>
                    <a:pt x="125983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1685" y="1659077"/>
              <a:ext cx="457809" cy="25938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780289" y="1764065"/>
            <a:ext cx="4075740" cy="707136"/>
            <a:chOff x="548640" y="383108"/>
            <a:chExt cx="2865755" cy="49720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383108"/>
              <a:ext cx="377952" cy="4971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616" y="462356"/>
              <a:ext cx="1037297" cy="396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2562" y="383108"/>
              <a:ext cx="377951" cy="49712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1537" y="462356"/>
              <a:ext cx="1522602" cy="39654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39609" y="3682436"/>
            <a:ext cx="1088249" cy="1409756"/>
            <a:chOff x="379412" y="1731962"/>
            <a:chExt cx="765175" cy="991235"/>
          </a:xfrm>
        </p:grpSpPr>
        <p:sp>
          <p:nvSpPr>
            <p:cNvPr id="15" name="object 15"/>
            <p:cNvSpPr/>
            <p:nvPr/>
          </p:nvSpPr>
          <p:spPr>
            <a:xfrm>
              <a:off x="381000" y="2110193"/>
              <a:ext cx="385445" cy="611505"/>
            </a:xfrm>
            <a:custGeom>
              <a:avLst/>
              <a:gdLst/>
              <a:ahLst/>
              <a:cxnLst/>
              <a:rect l="l" t="t" r="r" b="b"/>
              <a:pathLst>
                <a:path w="385445" h="611505">
                  <a:moveTo>
                    <a:pt x="385356" y="0"/>
                  </a:moveTo>
                  <a:lnTo>
                    <a:pt x="0" y="0"/>
                  </a:lnTo>
                  <a:lnTo>
                    <a:pt x="0" y="611035"/>
                  </a:lnTo>
                  <a:lnTo>
                    <a:pt x="385356" y="611035"/>
                  </a:lnTo>
                  <a:lnTo>
                    <a:pt x="385356" y="0"/>
                  </a:lnTo>
                  <a:close/>
                </a:path>
              </a:pathLst>
            </a:custGeom>
            <a:solidFill>
              <a:srgbClr val="F1F1F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66356" y="1733550"/>
              <a:ext cx="377190" cy="988060"/>
            </a:xfrm>
            <a:custGeom>
              <a:avLst/>
              <a:gdLst/>
              <a:ahLst/>
              <a:cxnLst/>
              <a:rect l="l" t="t" r="r" b="b"/>
              <a:pathLst>
                <a:path w="377190" h="988060">
                  <a:moveTo>
                    <a:pt x="376643" y="0"/>
                  </a:moveTo>
                  <a:lnTo>
                    <a:pt x="0" y="376681"/>
                  </a:lnTo>
                  <a:lnTo>
                    <a:pt x="0" y="987679"/>
                  </a:lnTo>
                  <a:lnTo>
                    <a:pt x="376643" y="610997"/>
                  </a:lnTo>
                  <a:lnTo>
                    <a:pt x="376643" y="0"/>
                  </a:lnTo>
                  <a:close/>
                </a:path>
              </a:pathLst>
            </a:custGeom>
            <a:solidFill>
              <a:srgbClr val="C3C3C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81000" y="1733550"/>
              <a:ext cx="762000" cy="377190"/>
            </a:xfrm>
            <a:custGeom>
              <a:avLst/>
              <a:gdLst/>
              <a:ahLst/>
              <a:cxnLst/>
              <a:rect l="l" t="t" r="r" b="b"/>
              <a:pathLst>
                <a:path w="762000" h="377189">
                  <a:moveTo>
                    <a:pt x="762000" y="0"/>
                  </a:moveTo>
                  <a:lnTo>
                    <a:pt x="376643" y="0"/>
                  </a:lnTo>
                  <a:lnTo>
                    <a:pt x="0" y="376681"/>
                  </a:lnTo>
                  <a:lnTo>
                    <a:pt x="385356" y="376681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5F5F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81000" y="1733550"/>
              <a:ext cx="762000" cy="988060"/>
            </a:xfrm>
            <a:custGeom>
              <a:avLst/>
              <a:gdLst/>
              <a:ahLst/>
              <a:cxnLst/>
              <a:rect l="l" t="t" r="r" b="b"/>
              <a:pathLst>
                <a:path w="762000" h="988060">
                  <a:moveTo>
                    <a:pt x="0" y="376681"/>
                  </a:moveTo>
                  <a:lnTo>
                    <a:pt x="376643" y="0"/>
                  </a:lnTo>
                  <a:lnTo>
                    <a:pt x="762000" y="0"/>
                  </a:lnTo>
                  <a:lnTo>
                    <a:pt x="762000" y="610997"/>
                  </a:lnTo>
                  <a:lnTo>
                    <a:pt x="385356" y="987679"/>
                  </a:lnTo>
                  <a:lnTo>
                    <a:pt x="0" y="987679"/>
                  </a:lnTo>
                  <a:lnTo>
                    <a:pt x="0" y="376681"/>
                  </a:lnTo>
                  <a:close/>
                </a:path>
                <a:path w="762000" h="988060">
                  <a:moveTo>
                    <a:pt x="0" y="376681"/>
                  </a:moveTo>
                  <a:lnTo>
                    <a:pt x="385356" y="376681"/>
                  </a:lnTo>
                  <a:lnTo>
                    <a:pt x="762000" y="0"/>
                  </a:lnTo>
                </a:path>
                <a:path w="762000" h="988060">
                  <a:moveTo>
                    <a:pt x="385356" y="376681"/>
                  </a:moveTo>
                  <a:lnTo>
                    <a:pt x="385356" y="987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/>
          <p:nvPr/>
        </p:nvSpPr>
        <p:spPr>
          <a:xfrm>
            <a:off x="4118187" y="3512362"/>
            <a:ext cx="37931" cy="1734876"/>
          </a:xfrm>
          <a:custGeom>
            <a:avLst/>
            <a:gdLst/>
            <a:ahLst/>
            <a:cxnLst/>
            <a:rect l="l" t="t" r="r" b="b"/>
            <a:pathLst>
              <a:path w="26669" h="1219835">
                <a:moveTo>
                  <a:pt x="0" y="1219466"/>
                </a:moveTo>
                <a:lnTo>
                  <a:pt x="26416" y="1219466"/>
                </a:lnTo>
                <a:lnTo>
                  <a:pt x="26416" y="0"/>
                </a:lnTo>
                <a:lnTo>
                  <a:pt x="0" y="0"/>
                </a:lnTo>
                <a:lnTo>
                  <a:pt x="0" y="121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36751" y="3510103"/>
            <a:ext cx="1484715" cy="1739392"/>
            <a:chOff x="2768028" y="1610791"/>
            <a:chExt cx="1043940" cy="1223010"/>
          </a:xfrm>
        </p:grpSpPr>
        <p:sp>
          <p:nvSpPr>
            <p:cNvPr id="21" name="object 21"/>
            <p:cNvSpPr/>
            <p:nvPr/>
          </p:nvSpPr>
          <p:spPr>
            <a:xfrm>
              <a:off x="3048000" y="1612379"/>
              <a:ext cx="762000" cy="1219835"/>
            </a:xfrm>
            <a:custGeom>
              <a:avLst/>
              <a:gdLst/>
              <a:ahLst/>
              <a:cxnLst/>
              <a:rect l="l" t="t" r="r" b="b"/>
              <a:pathLst>
                <a:path w="762000" h="1219835">
                  <a:moveTo>
                    <a:pt x="0" y="1219466"/>
                  </a:moveTo>
                  <a:lnTo>
                    <a:pt x="762000" y="1219466"/>
                  </a:lnTo>
                  <a:lnTo>
                    <a:pt x="762000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769616" y="1612379"/>
              <a:ext cx="1040765" cy="1219835"/>
            </a:xfrm>
            <a:custGeom>
              <a:avLst/>
              <a:gdLst/>
              <a:ahLst/>
              <a:cxnLst/>
              <a:rect l="l" t="t" r="r" b="b"/>
              <a:pathLst>
                <a:path w="1040764" h="1219835">
                  <a:moveTo>
                    <a:pt x="0" y="1219466"/>
                  </a:moveTo>
                  <a:lnTo>
                    <a:pt x="1040383" y="1219466"/>
                  </a:lnTo>
                  <a:lnTo>
                    <a:pt x="1040383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21972" y="3682436"/>
            <a:ext cx="557220" cy="1409756"/>
            <a:chOff x="437324" y="1731962"/>
            <a:chExt cx="391795" cy="991235"/>
          </a:xfrm>
        </p:grpSpPr>
        <p:sp>
          <p:nvSpPr>
            <p:cNvPr id="24" name="object 24"/>
            <p:cNvSpPr/>
            <p:nvPr/>
          </p:nvSpPr>
          <p:spPr>
            <a:xfrm>
              <a:off x="438912" y="2110422"/>
              <a:ext cx="12065" cy="610870"/>
            </a:xfrm>
            <a:custGeom>
              <a:avLst/>
              <a:gdLst/>
              <a:ahLst/>
              <a:cxnLst/>
              <a:rect l="l" t="t" r="r" b="b"/>
              <a:pathLst>
                <a:path w="12065" h="610869">
                  <a:moveTo>
                    <a:pt x="11751" y="0"/>
                  </a:moveTo>
                  <a:lnTo>
                    <a:pt x="0" y="0"/>
                  </a:lnTo>
                  <a:lnTo>
                    <a:pt x="0" y="610806"/>
                  </a:lnTo>
                  <a:lnTo>
                    <a:pt x="11751" y="610806"/>
                  </a:lnTo>
                  <a:lnTo>
                    <a:pt x="11751" y="0"/>
                  </a:lnTo>
                  <a:close/>
                </a:path>
              </a:pathLst>
            </a:custGeom>
            <a:solidFill>
              <a:srgbClr val="F1F1F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50659" y="1733550"/>
              <a:ext cx="377190" cy="988060"/>
            </a:xfrm>
            <a:custGeom>
              <a:avLst/>
              <a:gdLst/>
              <a:ahLst/>
              <a:cxnLst/>
              <a:rect l="l" t="t" r="r" b="b"/>
              <a:pathLst>
                <a:path w="377190" h="988060">
                  <a:moveTo>
                    <a:pt x="376872" y="0"/>
                  </a:moveTo>
                  <a:lnTo>
                    <a:pt x="0" y="376808"/>
                  </a:lnTo>
                  <a:lnTo>
                    <a:pt x="0" y="987679"/>
                  </a:lnTo>
                  <a:lnTo>
                    <a:pt x="376872" y="610743"/>
                  </a:lnTo>
                  <a:lnTo>
                    <a:pt x="376872" y="0"/>
                  </a:lnTo>
                  <a:close/>
                </a:path>
              </a:pathLst>
            </a:custGeom>
            <a:solidFill>
              <a:srgbClr val="C3C3C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38912" y="1733550"/>
              <a:ext cx="388620" cy="377190"/>
            </a:xfrm>
            <a:custGeom>
              <a:avLst/>
              <a:gdLst/>
              <a:ahLst/>
              <a:cxnLst/>
              <a:rect l="l" t="t" r="r" b="b"/>
              <a:pathLst>
                <a:path w="388619" h="377189">
                  <a:moveTo>
                    <a:pt x="388619" y="0"/>
                  </a:moveTo>
                  <a:lnTo>
                    <a:pt x="376872" y="0"/>
                  </a:lnTo>
                  <a:lnTo>
                    <a:pt x="0" y="376808"/>
                  </a:lnTo>
                  <a:lnTo>
                    <a:pt x="11747" y="376808"/>
                  </a:lnTo>
                  <a:lnTo>
                    <a:pt x="388619" y="0"/>
                  </a:lnTo>
                  <a:close/>
                </a:path>
              </a:pathLst>
            </a:custGeom>
            <a:solidFill>
              <a:srgbClr val="F5F5F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38912" y="1733550"/>
              <a:ext cx="388620" cy="988060"/>
            </a:xfrm>
            <a:custGeom>
              <a:avLst/>
              <a:gdLst/>
              <a:ahLst/>
              <a:cxnLst/>
              <a:rect l="l" t="t" r="r" b="b"/>
              <a:pathLst>
                <a:path w="388619" h="988060">
                  <a:moveTo>
                    <a:pt x="0" y="376808"/>
                  </a:moveTo>
                  <a:lnTo>
                    <a:pt x="376872" y="0"/>
                  </a:lnTo>
                  <a:lnTo>
                    <a:pt x="388619" y="0"/>
                  </a:lnTo>
                  <a:lnTo>
                    <a:pt x="388619" y="610743"/>
                  </a:lnTo>
                  <a:lnTo>
                    <a:pt x="11747" y="987679"/>
                  </a:lnTo>
                  <a:lnTo>
                    <a:pt x="0" y="987679"/>
                  </a:lnTo>
                  <a:lnTo>
                    <a:pt x="0" y="376808"/>
                  </a:lnTo>
                  <a:close/>
                </a:path>
                <a:path w="388619" h="988060">
                  <a:moveTo>
                    <a:pt x="0" y="376808"/>
                  </a:moveTo>
                  <a:lnTo>
                    <a:pt x="11747" y="376808"/>
                  </a:lnTo>
                  <a:lnTo>
                    <a:pt x="388619" y="0"/>
                  </a:lnTo>
                </a:path>
                <a:path w="388619" h="988060">
                  <a:moveTo>
                    <a:pt x="11747" y="376808"/>
                  </a:moveTo>
                  <a:lnTo>
                    <a:pt x="11747" y="987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936751" y="3510103"/>
            <a:ext cx="400981" cy="1739392"/>
            <a:chOff x="2768028" y="1610791"/>
            <a:chExt cx="281940" cy="122301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9616" y="1612379"/>
              <a:ext cx="125983" cy="121946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69616" y="1612379"/>
              <a:ext cx="126364" cy="1219835"/>
            </a:xfrm>
            <a:custGeom>
              <a:avLst/>
              <a:gdLst/>
              <a:ahLst/>
              <a:cxnLst/>
              <a:rect l="l" t="t" r="r" b="b"/>
              <a:pathLst>
                <a:path w="126364" h="1219835">
                  <a:moveTo>
                    <a:pt x="0" y="1219466"/>
                  </a:moveTo>
                  <a:lnTo>
                    <a:pt x="125983" y="1219466"/>
                  </a:lnTo>
                  <a:lnTo>
                    <a:pt x="125983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22016" y="1612633"/>
              <a:ext cx="125983" cy="121946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922016" y="1612633"/>
              <a:ext cx="126364" cy="1219835"/>
            </a:xfrm>
            <a:custGeom>
              <a:avLst/>
              <a:gdLst/>
              <a:ahLst/>
              <a:cxnLst/>
              <a:rect l="l" t="t" r="r" b="b"/>
              <a:pathLst>
                <a:path w="126364" h="1219835">
                  <a:moveTo>
                    <a:pt x="0" y="1219466"/>
                  </a:moveTo>
                  <a:lnTo>
                    <a:pt x="125983" y="1219466"/>
                  </a:lnTo>
                  <a:lnTo>
                    <a:pt x="125983" y="0"/>
                  </a:lnTo>
                  <a:lnTo>
                    <a:pt x="0" y="0"/>
                  </a:lnTo>
                  <a:lnTo>
                    <a:pt x="0" y="12194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5802" y="4057677"/>
            <a:ext cx="651106" cy="368469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6044342" y="4325722"/>
            <a:ext cx="866987" cy="108373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58800" y="38100"/>
                </a:moveTo>
                <a:lnTo>
                  <a:pt x="533400" y="76200"/>
                </a:lnTo>
                <a:lnTo>
                  <a:pt x="600201" y="42799"/>
                </a:lnTo>
                <a:lnTo>
                  <a:pt x="558800" y="42799"/>
                </a:lnTo>
                <a:lnTo>
                  <a:pt x="558800" y="38100"/>
                </a:lnTo>
                <a:close/>
              </a:path>
              <a:path w="609600" h="76200">
                <a:moveTo>
                  <a:pt x="555582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555667" y="42799"/>
                </a:lnTo>
                <a:lnTo>
                  <a:pt x="558800" y="38100"/>
                </a:lnTo>
                <a:lnTo>
                  <a:pt x="555582" y="33274"/>
                </a:lnTo>
                <a:close/>
              </a:path>
              <a:path w="609600" h="76200">
                <a:moveTo>
                  <a:pt x="599948" y="33274"/>
                </a:moveTo>
                <a:lnTo>
                  <a:pt x="558800" y="33274"/>
                </a:lnTo>
                <a:lnTo>
                  <a:pt x="558800" y="42799"/>
                </a:lnTo>
                <a:lnTo>
                  <a:pt x="600201" y="42799"/>
                </a:lnTo>
                <a:lnTo>
                  <a:pt x="609600" y="38100"/>
                </a:lnTo>
                <a:lnTo>
                  <a:pt x="599948" y="33274"/>
                </a:lnTo>
                <a:close/>
              </a:path>
              <a:path w="609600" h="76200">
                <a:moveTo>
                  <a:pt x="533400" y="0"/>
                </a:moveTo>
                <a:lnTo>
                  <a:pt x="558800" y="38100"/>
                </a:lnTo>
                <a:lnTo>
                  <a:pt x="558800" y="33274"/>
                </a:lnTo>
                <a:lnTo>
                  <a:pt x="599948" y="33274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586134" y="2709333"/>
            <a:ext cx="108373" cy="3576320"/>
          </a:xfrm>
          <a:custGeom>
            <a:avLst/>
            <a:gdLst/>
            <a:ahLst/>
            <a:cxnLst/>
            <a:rect l="l" t="t" r="r" b="b"/>
            <a:pathLst>
              <a:path w="76200" h="2514600">
                <a:moveTo>
                  <a:pt x="76200" y="2514600"/>
                </a:moveTo>
                <a:lnTo>
                  <a:pt x="46559" y="2514107"/>
                </a:lnTo>
                <a:lnTo>
                  <a:pt x="22336" y="2512758"/>
                </a:lnTo>
                <a:lnTo>
                  <a:pt x="5994" y="2510742"/>
                </a:lnTo>
                <a:lnTo>
                  <a:pt x="0" y="2508250"/>
                </a:lnTo>
                <a:lnTo>
                  <a:pt x="0" y="6350"/>
                </a:lnTo>
                <a:lnTo>
                  <a:pt x="5994" y="3857"/>
                </a:lnTo>
                <a:lnTo>
                  <a:pt x="22336" y="1841"/>
                </a:lnTo>
                <a:lnTo>
                  <a:pt x="46559" y="492"/>
                </a:lnTo>
                <a:lnTo>
                  <a:pt x="76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75705" y="5224317"/>
            <a:ext cx="1151646" cy="368469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8236374" y="2710778"/>
            <a:ext cx="108373" cy="3576320"/>
          </a:xfrm>
          <a:custGeom>
            <a:avLst/>
            <a:gdLst/>
            <a:ahLst/>
            <a:cxnLst/>
            <a:rect l="l" t="t" r="r" b="b"/>
            <a:pathLst>
              <a:path w="76200" h="2514600">
                <a:moveTo>
                  <a:pt x="0" y="2514600"/>
                </a:moveTo>
                <a:lnTo>
                  <a:pt x="29640" y="2514090"/>
                </a:lnTo>
                <a:lnTo>
                  <a:pt x="53863" y="2512710"/>
                </a:lnTo>
                <a:lnTo>
                  <a:pt x="70205" y="2510688"/>
                </a:lnTo>
                <a:lnTo>
                  <a:pt x="76200" y="2508250"/>
                </a:lnTo>
                <a:lnTo>
                  <a:pt x="76200" y="6350"/>
                </a:lnTo>
                <a:lnTo>
                  <a:pt x="70205" y="3857"/>
                </a:lnTo>
                <a:lnTo>
                  <a:pt x="53863" y="1841"/>
                </a:lnTo>
                <a:lnTo>
                  <a:pt x="29640" y="492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300460" hangingPunct="1">
              <a:spcBef>
                <a:spcPts val="0"/>
              </a:spcBef>
              <a:defRPr/>
            </a:pPr>
            <a:endParaRPr sz="2560">
              <a:solidFill>
                <a:sysClr val="windowText" lastClr="000000"/>
              </a:solidFill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849029" y="2723151"/>
            <a:ext cx="184233" cy="1579541"/>
            <a:chOff x="5518848" y="1057465"/>
            <a:chExt cx="129539" cy="1110615"/>
          </a:xfrm>
        </p:grpSpPr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0689" y="1059052"/>
              <a:ext cx="125984" cy="55359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520689" y="1059052"/>
              <a:ext cx="126364" cy="553720"/>
            </a:xfrm>
            <a:custGeom>
              <a:avLst/>
              <a:gdLst/>
              <a:ahLst/>
              <a:cxnLst/>
              <a:rect l="l" t="t" r="r" b="b"/>
              <a:pathLst>
                <a:path w="126364" h="553719">
                  <a:moveTo>
                    <a:pt x="0" y="553593"/>
                  </a:moveTo>
                  <a:lnTo>
                    <a:pt x="125984" y="553593"/>
                  </a:lnTo>
                  <a:lnTo>
                    <a:pt x="125984" y="0"/>
                  </a:lnTo>
                  <a:lnTo>
                    <a:pt x="0" y="0"/>
                  </a:lnTo>
                  <a:lnTo>
                    <a:pt x="0" y="55359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20435" y="1612645"/>
              <a:ext cx="125984" cy="55359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520435" y="1612645"/>
              <a:ext cx="126364" cy="553720"/>
            </a:xfrm>
            <a:custGeom>
              <a:avLst/>
              <a:gdLst/>
              <a:ahLst/>
              <a:cxnLst/>
              <a:rect l="l" t="t" r="r" b="b"/>
              <a:pathLst>
                <a:path w="126364" h="553719">
                  <a:moveTo>
                    <a:pt x="0" y="553592"/>
                  </a:moveTo>
                  <a:lnTo>
                    <a:pt x="125984" y="553592"/>
                  </a:lnTo>
                  <a:lnTo>
                    <a:pt x="125984" y="0"/>
                  </a:lnTo>
                  <a:lnTo>
                    <a:pt x="0" y="0"/>
                  </a:lnTo>
                  <a:lnTo>
                    <a:pt x="0" y="55359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854809" y="4759125"/>
            <a:ext cx="184233" cy="792028"/>
            <a:chOff x="5522912" y="2489009"/>
            <a:chExt cx="129539" cy="556895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24500" y="2490597"/>
              <a:ext cx="125984" cy="55359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524500" y="2490597"/>
              <a:ext cx="126364" cy="553720"/>
            </a:xfrm>
            <a:custGeom>
              <a:avLst/>
              <a:gdLst/>
              <a:ahLst/>
              <a:cxnLst/>
              <a:rect l="l" t="t" r="r" b="b"/>
              <a:pathLst>
                <a:path w="126364" h="553719">
                  <a:moveTo>
                    <a:pt x="0" y="553593"/>
                  </a:moveTo>
                  <a:lnTo>
                    <a:pt x="125984" y="553593"/>
                  </a:lnTo>
                  <a:lnTo>
                    <a:pt x="125984" y="0"/>
                  </a:lnTo>
                  <a:lnTo>
                    <a:pt x="0" y="0"/>
                  </a:lnTo>
                  <a:lnTo>
                    <a:pt x="0" y="55359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7690" y="4075559"/>
            <a:ext cx="650240" cy="368469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7854809" y="5550250"/>
            <a:ext cx="718875" cy="1032256"/>
            <a:chOff x="5522912" y="3045269"/>
            <a:chExt cx="505459" cy="725805"/>
          </a:xfrm>
        </p:grpSpPr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24500" y="3046857"/>
              <a:ext cx="125984" cy="55359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524500" y="3046857"/>
              <a:ext cx="126364" cy="553720"/>
            </a:xfrm>
            <a:custGeom>
              <a:avLst/>
              <a:gdLst/>
              <a:ahLst/>
              <a:cxnLst/>
              <a:rect l="l" t="t" r="r" b="b"/>
              <a:pathLst>
                <a:path w="126364" h="553720">
                  <a:moveTo>
                    <a:pt x="0" y="553593"/>
                  </a:moveTo>
                  <a:lnTo>
                    <a:pt x="125984" y="553593"/>
                  </a:lnTo>
                  <a:lnTo>
                    <a:pt x="125984" y="0"/>
                  </a:lnTo>
                  <a:lnTo>
                    <a:pt x="0" y="0"/>
                  </a:lnTo>
                  <a:lnTo>
                    <a:pt x="0" y="55359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300460" hangingPunct="1">
                <a:spcBef>
                  <a:spcPts val="0"/>
                </a:spcBef>
                <a:defRPr/>
              </a:pPr>
              <a:endParaRPr sz="256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9965" y="3511245"/>
              <a:ext cx="457809" cy="2593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2392-A52E-C344-A1E3-A42BF1BE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7BCD-A65F-EB4A-87A4-593CEBC6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Remember, the only unknowns are the weights</a:t>
            </a:r>
          </a:p>
          <a:p>
            <a:r>
              <a:rPr lang="en-US" dirty="0"/>
              <a:t>Everything else should be decided by you</a:t>
            </a:r>
          </a:p>
          <a:p>
            <a:endParaRPr lang="en-US" dirty="0"/>
          </a:p>
          <a:p>
            <a:r>
              <a:rPr lang="en-US" dirty="0"/>
              <a:t>How many layers? </a:t>
            </a:r>
          </a:p>
          <a:p>
            <a:r>
              <a:rPr lang="en-US" dirty="0"/>
              <a:t>How many neurons in each layer?</a:t>
            </a:r>
          </a:p>
          <a:p>
            <a:r>
              <a:rPr lang="en-US" dirty="0"/>
              <a:t>How to connect the neurons?</a:t>
            </a:r>
          </a:p>
          <a:p>
            <a:r>
              <a:rPr lang="en-US" b="1" dirty="0"/>
              <a:t>What activation function to use?</a:t>
            </a:r>
          </a:p>
          <a:p>
            <a:r>
              <a:rPr lang="en-US" dirty="0"/>
              <a:t>What loss function to use?</a:t>
            </a:r>
          </a:p>
          <a:p>
            <a:r>
              <a:rPr lang="en-US" dirty="0"/>
              <a:t>What gradient descent method to use?</a:t>
            </a:r>
          </a:p>
          <a:p>
            <a:r>
              <a:rPr lang="en-US" dirty="0"/>
              <a:t>What update method to use?</a:t>
            </a:r>
          </a:p>
          <a:p>
            <a:r>
              <a:rPr lang="en-US" dirty="0"/>
              <a:t>What is your convergence criterion?</a:t>
            </a:r>
          </a:p>
        </p:txBody>
      </p:sp>
    </p:spTree>
    <p:extLst>
      <p:ext uri="{BB962C8B-B14F-4D97-AF65-F5344CB8AC3E}">
        <p14:creationId xmlns:p14="http://schemas.microsoft.com/office/powerpoint/2010/main" val="808115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A980-F410-6042-AC14-97FBA00F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activation function to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89A56-B030-3445-A0FF-CC8603559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Sigmoid</a:t>
            </a:r>
          </a:p>
          <a:p>
            <a:r>
              <a:rPr lang="en-US" dirty="0"/>
              <a:t>tanh</a:t>
            </a:r>
          </a:p>
          <a:p>
            <a:r>
              <a:rPr lang="en-US" dirty="0" err="1"/>
              <a:t>ReLU</a:t>
            </a:r>
            <a:endParaRPr lang="en-US" dirty="0"/>
          </a:p>
          <a:p>
            <a:r>
              <a:rPr lang="en-US" dirty="0" err="1"/>
              <a:t>Softmax</a:t>
            </a:r>
            <a:endParaRPr lang="en-US" dirty="0"/>
          </a:p>
          <a:p>
            <a:r>
              <a:rPr lang="en-US" dirty="0"/>
              <a:t>Identity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47D0FA-2985-9C48-B2B8-FE835EECCDD6}"/>
              </a:ext>
            </a:extLst>
          </p:cNvPr>
          <p:cNvSpPr/>
          <p:nvPr/>
        </p:nvSpPr>
        <p:spPr>
          <a:xfrm>
            <a:off x="6808703" y="2781937"/>
            <a:ext cx="3221260" cy="1780037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10474E-51EC-6A4B-B883-EFBF3A4A76F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602203" y="2596600"/>
            <a:ext cx="1678243" cy="4460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B98420-1F99-D44A-A1B7-C2ED4E20F9F2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4582721" y="3628049"/>
            <a:ext cx="2225982" cy="4390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1E872E-ED1F-6D41-8ECD-56A9D5572D96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4698708" y="4301294"/>
            <a:ext cx="2581738" cy="5601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D40980-A5C5-5B42-8BFB-05BE81C34674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0029963" y="3671956"/>
            <a:ext cx="984616" cy="450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2F399D-3F2D-304E-B588-242A7CDEB5B6}"/>
              </a:ext>
            </a:extLst>
          </p:cNvPr>
          <p:cNvSpPr/>
          <p:nvPr/>
        </p:nvSpPr>
        <p:spPr>
          <a:xfrm>
            <a:off x="5030570" y="2135606"/>
            <a:ext cx="4154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D19971-D9EF-A740-BC95-D157B020D14C}"/>
              </a:ext>
            </a:extLst>
          </p:cNvPr>
          <p:cNvSpPr/>
          <p:nvPr/>
        </p:nvSpPr>
        <p:spPr>
          <a:xfrm>
            <a:off x="4013334" y="3167564"/>
            <a:ext cx="5693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x</a:t>
            </a:r>
            <a:r>
              <a:rPr lang="en-US" i="1" baseline="-25000" dirty="0"/>
              <a:t>1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C30BD1-11A0-E74A-AE87-1DAC4BECB5B6}"/>
              </a:ext>
            </a:extLst>
          </p:cNvPr>
          <p:cNvSpPr/>
          <p:nvPr/>
        </p:nvSpPr>
        <p:spPr>
          <a:xfrm>
            <a:off x="3779490" y="4384542"/>
            <a:ext cx="5693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x</a:t>
            </a:r>
            <a:r>
              <a:rPr lang="en-US" i="1" baseline="-25000" dirty="0"/>
              <a:t>2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237509-3974-7D45-847C-F9179C507468}"/>
              </a:ext>
            </a:extLst>
          </p:cNvPr>
          <p:cNvSpPr/>
          <p:nvPr/>
        </p:nvSpPr>
        <p:spPr>
          <a:xfrm>
            <a:off x="11134724" y="3421454"/>
            <a:ext cx="8515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f(x)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E9453E-5E30-154D-AB4F-079D658A8E9B}"/>
              </a:ext>
            </a:extLst>
          </p:cNvPr>
          <p:cNvSpPr/>
          <p:nvPr/>
        </p:nvSpPr>
        <p:spPr>
          <a:xfrm>
            <a:off x="6289211" y="2220656"/>
            <a:ext cx="671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</a:t>
            </a:r>
            <a:r>
              <a:rPr lang="en-US" i="1" baseline="-25000" dirty="0"/>
              <a:t>0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8986CD-FC6C-BF44-8528-CA0D64F56F12}"/>
              </a:ext>
            </a:extLst>
          </p:cNvPr>
          <p:cNvSpPr/>
          <p:nvPr/>
        </p:nvSpPr>
        <p:spPr>
          <a:xfrm>
            <a:off x="5152108" y="2979590"/>
            <a:ext cx="671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</a:t>
            </a:r>
            <a:r>
              <a:rPr lang="en-US" i="1" baseline="-25000" dirty="0"/>
              <a:t>1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949C8-F7B7-364A-9B17-E30A7E03E094}"/>
              </a:ext>
            </a:extLst>
          </p:cNvPr>
          <p:cNvSpPr/>
          <p:nvPr/>
        </p:nvSpPr>
        <p:spPr>
          <a:xfrm>
            <a:off x="5195009" y="4042727"/>
            <a:ext cx="671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</a:t>
            </a:r>
            <a:r>
              <a:rPr lang="en-US" i="1" baseline="-25000" dirty="0"/>
              <a:t>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40346B-F8CA-2744-AA39-75F42C8DAFC8}"/>
              </a:ext>
            </a:extLst>
          </p:cNvPr>
          <p:cNvCxnSpPr>
            <a:stCxn id="4" idx="0"/>
            <a:endCxn id="4" idx="4"/>
          </p:cNvCxnSpPr>
          <p:nvPr/>
        </p:nvCxnSpPr>
        <p:spPr>
          <a:xfrm>
            <a:off x="8419333" y="2781937"/>
            <a:ext cx="0" cy="1780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91492E13-5BA1-004A-B481-420BB34E5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169" y="3326152"/>
            <a:ext cx="622300" cy="6477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AEB91D-EDE1-5B4D-9E19-36B92AC13D7B}"/>
              </a:ext>
            </a:extLst>
          </p:cNvPr>
          <p:cNvSpPr txBox="1"/>
          <p:nvPr/>
        </p:nvSpPr>
        <p:spPr>
          <a:xfrm>
            <a:off x="8766384" y="3164123"/>
            <a:ext cx="5261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0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Sigmoid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Sigmoid function </a:t>
            </a:r>
            <a:r>
              <a:rPr lang="en-US" u="sng" dirty="0"/>
              <a:t>saturates</a:t>
            </a:r>
            <a:r>
              <a:rPr lang="en-US" dirty="0"/>
              <a:t> at 0 and 1</a:t>
            </a:r>
          </a:p>
          <a:p>
            <a:r>
              <a:rPr lang="en-US" dirty="0"/>
              <a:t>This </a:t>
            </a:r>
            <a:r>
              <a:rPr lang="en-US" i="1" dirty="0"/>
              <a:t>kills</a:t>
            </a:r>
            <a:r>
              <a:rPr lang="en-US" dirty="0"/>
              <a:t> the gradient (i.e., gradient goes to 0 near these points)</a:t>
            </a:r>
          </a:p>
          <a:p>
            <a:r>
              <a:rPr lang="en-US" dirty="0"/>
              <a:t>If the gradient is small, then the updates in the weights are also small, leading to slower convergence.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421363-E6EC-F34C-97F0-A175790EE6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8" t="4589" r="7410" b="5792"/>
          <a:stretch/>
        </p:blipFill>
        <p:spPr>
          <a:xfrm>
            <a:off x="1637435" y="6242538"/>
            <a:ext cx="3906129" cy="3141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536537-F0E4-8D4D-BBBB-1F149FB73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679" y="6242538"/>
            <a:ext cx="3925089" cy="301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07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A980-F410-6042-AC14-97FBA00F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activation function to use?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950E7C-CCE1-6E48-ABDB-76013A465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709" y="1816848"/>
            <a:ext cx="6263425" cy="4697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B30AD7-4E11-0446-9A72-AF8C85849286}"/>
              </a:ext>
            </a:extLst>
          </p:cNvPr>
          <p:cNvSpPr txBox="1"/>
          <p:nvPr/>
        </p:nvSpPr>
        <p:spPr>
          <a:xfrm>
            <a:off x="4888523" y="6801288"/>
            <a:ext cx="75437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ReLU</a:t>
            </a:r>
            <a:r>
              <a:rPr lang="en-US" sz="2400" dirty="0"/>
              <a:t> is discontinuous. The gradient at </a:t>
            </a:r>
            <a:r>
              <a:rPr lang="en-US" sz="2400" i="1" dirty="0"/>
              <a:t>z=0</a:t>
            </a:r>
            <a:r>
              <a:rPr lang="en-US" sz="2400" dirty="0"/>
              <a:t> is therefore not defined when </a:t>
            </a:r>
            <a:r>
              <a:rPr lang="en-US" sz="2400" i="1" dirty="0"/>
              <a:t>z=0</a:t>
            </a:r>
            <a:r>
              <a:rPr lang="en-US" sz="2400" dirty="0"/>
              <a:t> (but is defined everywhere else). This is not a problem, in practice, since </a:t>
            </a:r>
            <a:r>
              <a:rPr lang="en-US" sz="2400" i="1" dirty="0"/>
              <a:t>z=0</a:t>
            </a:r>
            <a:r>
              <a:rPr lang="en-US" sz="2400" dirty="0"/>
              <a:t> happens very rarely. We can set the gradient arbitrarily when it does happen (this is a hack). There are other continuous versions of </a:t>
            </a:r>
            <a:r>
              <a:rPr lang="en-US" sz="2400" dirty="0" err="1"/>
              <a:t>ReLU</a:t>
            </a:r>
            <a:r>
              <a:rPr lang="en-US" sz="2400" dirty="0"/>
              <a:t> that can be used instead.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89A56-B030-3445-A0FF-CC8603559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Sigmoid</a:t>
            </a:r>
          </a:p>
          <a:p>
            <a:r>
              <a:rPr lang="en-US" dirty="0"/>
              <a:t>tanh</a:t>
            </a:r>
          </a:p>
          <a:p>
            <a:r>
              <a:rPr lang="en-US" b="1" dirty="0"/>
              <a:t>Rectified Linear Unit</a:t>
            </a:r>
          </a:p>
          <a:p>
            <a:r>
              <a:rPr lang="en-US" dirty="0" err="1"/>
              <a:t>Softmax</a:t>
            </a:r>
            <a:endParaRPr lang="en-US" dirty="0"/>
          </a:p>
          <a:p>
            <a:r>
              <a:rPr lang="en-US" dirty="0"/>
              <a:t>Identity</a:t>
            </a:r>
          </a:p>
        </p:txBody>
      </p:sp>
    </p:spTree>
    <p:extLst>
      <p:ext uri="{BB962C8B-B14F-4D97-AF65-F5344CB8AC3E}">
        <p14:creationId xmlns:p14="http://schemas.microsoft.com/office/powerpoint/2010/main" val="1709919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A980-F410-6042-AC14-97FBA00F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activation function to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89A56-B030-3445-A0FF-CC8603559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943" y="4739540"/>
            <a:ext cx="11216640" cy="6968166"/>
          </a:xfrm>
        </p:spPr>
        <p:txBody>
          <a:bodyPr/>
          <a:lstStyle/>
          <a:p>
            <a:r>
              <a:rPr lang="en-US" dirty="0"/>
              <a:t>Sigmoid</a:t>
            </a:r>
          </a:p>
          <a:p>
            <a:r>
              <a:rPr lang="en-US" dirty="0"/>
              <a:t>tanh</a:t>
            </a:r>
          </a:p>
          <a:p>
            <a:r>
              <a:rPr lang="en-US" dirty="0" err="1"/>
              <a:t>ReLU</a:t>
            </a:r>
            <a:endParaRPr lang="en-US" dirty="0"/>
          </a:p>
          <a:p>
            <a:r>
              <a:rPr lang="en-US" b="1" dirty="0" err="1"/>
              <a:t>Softmax</a:t>
            </a:r>
            <a:r>
              <a:rPr lang="en-US" b="1" dirty="0"/>
              <a:t> – classification problems</a:t>
            </a:r>
          </a:p>
          <a:p>
            <a:r>
              <a:rPr lang="en-US" b="1" dirty="0"/>
              <a:t>Identity – regression problems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B8134-2D53-884B-A55F-26A47B537BEA}"/>
              </a:ext>
            </a:extLst>
          </p:cNvPr>
          <p:cNvSpPr txBox="1"/>
          <p:nvPr/>
        </p:nvSpPr>
        <p:spPr>
          <a:xfrm>
            <a:off x="894080" y="1742711"/>
            <a:ext cx="30976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These two are usually used at the last (output) layer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9E684-DFED-754F-9E41-B336523546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09" t="13687" r="2356" b="4059"/>
          <a:stretch/>
        </p:blipFill>
        <p:spPr>
          <a:xfrm>
            <a:off x="4612280" y="1529977"/>
            <a:ext cx="8392520" cy="547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25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2392-A52E-C344-A1E3-A42BF1BE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7BCD-A65F-EB4A-87A4-593CEBC6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Remember, the only unknowns are the weights</a:t>
            </a:r>
          </a:p>
          <a:p>
            <a:r>
              <a:rPr lang="en-US" dirty="0"/>
              <a:t>Everything else should be decided by you</a:t>
            </a:r>
          </a:p>
          <a:p>
            <a:endParaRPr lang="en-US" dirty="0"/>
          </a:p>
          <a:p>
            <a:r>
              <a:rPr lang="en-US" dirty="0"/>
              <a:t>How many layers? </a:t>
            </a:r>
          </a:p>
          <a:p>
            <a:r>
              <a:rPr lang="en-US" dirty="0"/>
              <a:t>How many neurons in each layer?</a:t>
            </a:r>
          </a:p>
          <a:p>
            <a:r>
              <a:rPr lang="en-US" dirty="0"/>
              <a:t>How to connect the neurons?</a:t>
            </a:r>
          </a:p>
          <a:p>
            <a:r>
              <a:rPr lang="en-US" dirty="0"/>
              <a:t>What activation function to use?</a:t>
            </a:r>
          </a:p>
          <a:p>
            <a:r>
              <a:rPr lang="en-US" b="1" dirty="0"/>
              <a:t>What loss function to use?</a:t>
            </a:r>
          </a:p>
          <a:p>
            <a:r>
              <a:rPr lang="en-US" dirty="0"/>
              <a:t>What gradient descent method to use?</a:t>
            </a:r>
          </a:p>
          <a:p>
            <a:r>
              <a:rPr lang="en-US" dirty="0"/>
              <a:t>What update method to use?</a:t>
            </a:r>
          </a:p>
          <a:p>
            <a:r>
              <a:rPr lang="en-US" dirty="0"/>
              <a:t>What is your convergence criterion?</a:t>
            </a:r>
          </a:p>
        </p:txBody>
      </p:sp>
    </p:spTree>
    <p:extLst>
      <p:ext uri="{BB962C8B-B14F-4D97-AF65-F5344CB8AC3E}">
        <p14:creationId xmlns:p14="http://schemas.microsoft.com/office/powerpoint/2010/main" val="2057701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loss function to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 what function you want to approximate with your NN.</a:t>
            </a:r>
          </a:p>
          <a:p>
            <a:endParaRPr lang="en-US" dirty="0"/>
          </a:p>
          <a:p>
            <a:r>
              <a:rPr lang="en-US" dirty="0"/>
              <a:t>Regression problems</a:t>
            </a:r>
          </a:p>
          <a:p>
            <a:pPr lvl="1"/>
            <a:r>
              <a:rPr lang="en-US" dirty="0"/>
              <a:t>Output is continuous*</a:t>
            </a:r>
          </a:p>
          <a:p>
            <a:pPr lvl="1"/>
            <a:r>
              <a:rPr lang="en-US" dirty="0"/>
              <a:t>We want </a:t>
            </a:r>
            <a:r>
              <a:rPr lang="en-US" i="1" dirty="0"/>
              <a:t>f(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r>
              <a:rPr lang="en-US" dirty="0"/>
              <a:t> to be close to true function output </a:t>
            </a:r>
            <a:r>
              <a:rPr lang="en-US" i="1" dirty="0" err="1"/>
              <a:t>y</a:t>
            </a:r>
            <a:r>
              <a:rPr lang="en-US" i="1" baseline="30000" dirty="0" err="1"/>
              <a:t>j</a:t>
            </a:r>
            <a:endParaRPr lang="en-US" i="1" baseline="30000" dirty="0"/>
          </a:p>
          <a:p>
            <a:pPr lvl="1"/>
            <a:r>
              <a:rPr lang="en-US" dirty="0"/>
              <a:t>Use mean-squared error (L2)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4163" y="8903385"/>
            <a:ext cx="4273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*piecewise continuous is okay</a:t>
            </a:r>
          </a:p>
        </p:txBody>
      </p:sp>
    </p:spTree>
    <p:extLst>
      <p:ext uri="{BB962C8B-B14F-4D97-AF65-F5344CB8AC3E}">
        <p14:creationId xmlns:p14="http://schemas.microsoft.com/office/powerpoint/2010/main" val="2555995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Output is a discrete class label instead of a continuous function</a:t>
            </a:r>
          </a:p>
          <a:p>
            <a:pPr lvl="1"/>
            <a:r>
              <a:rPr lang="en-US" dirty="0"/>
              <a:t>Digit classification example</a:t>
            </a:r>
          </a:p>
          <a:p>
            <a:r>
              <a:rPr lang="en-US" dirty="0"/>
              <a:t>We have only two possibilities*</a:t>
            </a:r>
          </a:p>
          <a:p>
            <a:pPr lvl="1"/>
            <a:r>
              <a:rPr lang="en-US" i="1" dirty="0"/>
              <a:t>f(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r>
              <a:rPr lang="en-US" dirty="0"/>
              <a:t> = </a:t>
            </a:r>
            <a:r>
              <a:rPr lang="en-US" i="1" dirty="0" err="1"/>
              <a:t>y</a:t>
            </a:r>
            <a:r>
              <a:rPr lang="en-US" i="1" baseline="30000" dirty="0" err="1"/>
              <a:t>j</a:t>
            </a:r>
            <a:endParaRPr lang="en-US" i="1" baseline="30000" dirty="0"/>
          </a:p>
          <a:p>
            <a:pPr lvl="1"/>
            <a:r>
              <a:rPr lang="en-US" i="1" dirty="0"/>
              <a:t>f(</a:t>
            </a:r>
            <a:r>
              <a:rPr lang="en-US" i="1" dirty="0" err="1"/>
              <a:t>x</a:t>
            </a:r>
            <a:r>
              <a:rPr lang="en-US" i="1" baseline="30000" dirty="0" err="1"/>
              <a:t>j</a:t>
            </a:r>
            <a:r>
              <a:rPr lang="en-US" i="1" dirty="0"/>
              <a:t>)</a:t>
            </a:r>
            <a:r>
              <a:rPr lang="en-US" i="1" baseline="30000" dirty="0"/>
              <a:t> </a:t>
            </a:r>
            <a:r>
              <a:rPr lang="en-US" dirty="0"/>
              <a:t>!= </a:t>
            </a:r>
            <a:r>
              <a:rPr lang="en-US" i="1" dirty="0" err="1"/>
              <a:t>y</a:t>
            </a:r>
            <a:r>
              <a:rPr lang="en-US" i="1" baseline="30000" dirty="0" err="1"/>
              <a:t>j</a:t>
            </a:r>
            <a:endParaRPr lang="en-US" i="1" baseline="30000" dirty="0"/>
          </a:p>
          <a:p>
            <a:pPr marL="65023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Hinge loss</a:t>
            </a:r>
          </a:p>
          <a:p>
            <a:r>
              <a:rPr lang="en-US" dirty="0"/>
              <a:t>Cross-entropy loss</a:t>
            </a:r>
          </a:p>
          <a:p>
            <a:r>
              <a:rPr lang="en-US" dirty="0"/>
              <a:t>KL divergence</a:t>
            </a:r>
          </a:p>
        </p:txBody>
      </p:sp>
    </p:spTree>
    <p:extLst>
      <p:ext uri="{BB962C8B-B14F-4D97-AF65-F5344CB8AC3E}">
        <p14:creationId xmlns:p14="http://schemas.microsoft.com/office/powerpoint/2010/main" val="3557723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2392-A52E-C344-A1E3-A42BF1BE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7BCD-A65F-EB4A-87A4-593CEBC6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Remember, the only unknowns are the weights</a:t>
            </a:r>
          </a:p>
          <a:p>
            <a:r>
              <a:rPr lang="en-US" dirty="0"/>
              <a:t>Everything else should be decided by you</a:t>
            </a:r>
          </a:p>
          <a:p>
            <a:endParaRPr lang="en-US" dirty="0"/>
          </a:p>
          <a:p>
            <a:r>
              <a:rPr lang="en-US" dirty="0"/>
              <a:t>How many layers? </a:t>
            </a:r>
          </a:p>
          <a:p>
            <a:r>
              <a:rPr lang="en-US" dirty="0"/>
              <a:t>How many neurons in each layer?</a:t>
            </a:r>
          </a:p>
          <a:p>
            <a:r>
              <a:rPr lang="en-US" dirty="0"/>
              <a:t>How to connect the neurons?</a:t>
            </a:r>
          </a:p>
          <a:p>
            <a:r>
              <a:rPr lang="en-US" dirty="0"/>
              <a:t>What activation function to use?</a:t>
            </a:r>
          </a:p>
          <a:p>
            <a:r>
              <a:rPr lang="en-US" dirty="0"/>
              <a:t>What loss function to use?</a:t>
            </a:r>
          </a:p>
          <a:p>
            <a:r>
              <a:rPr lang="en-US" b="1" dirty="0"/>
              <a:t>What gradient descent method to use?</a:t>
            </a:r>
          </a:p>
          <a:p>
            <a:r>
              <a:rPr lang="en-US" dirty="0"/>
              <a:t>What update method to use?</a:t>
            </a:r>
          </a:p>
          <a:p>
            <a:r>
              <a:rPr lang="en-US" dirty="0"/>
              <a:t>What is your convergence criterion?</a:t>
            </a:r>
          </a:p>
        </p:txBody>
      </p:sp>
    </p:spTree>
    <p:extLst>
      <p:ext uri="{BB962C8B-B14F-4D97-AF65-F5344CB8AC3E}">
        <p14:creationId xmlns:p14="http://schemas.microsoft.com/office/powerpoint/2010/main" val="2377264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(what we covered – sum over all training samples)</a:t>
            </a:r>
          </a:p>
          <a:p>
            <a:r>
              <a:rPr lang="en-US" dirty="0"/>
              <a:t>Stochastic gradient descent (SGD)</a:t>
            </a:r>
          </a:p>
          <a:p>
            <a:r>
              <a:rPr lang="en-US" dirty="0"/>
              <a:t>Mini-batch gradient descent</a:t>
            </a:r>
          </a:p>
          <a:p>
            <a:r>
              <a:rPr lang="en-US" dirty="0"/>
              <a:t>Momentum </a:t>
            </a:r>
          </a:p>
          <a:p>
            <a:r>
              <a:rPr lang="en-US" dirty="0" err="1"/>
              <a:t>RMSPropagation</a:t>
            </a:r>
            <a:r>
              <a:rPr lang="en-US" dirty="0"/>
              <a:t>, Adam (Adaptive moment estimation), </a:t>
            </a:r>
            <a:r>
              <a:rPr lang="en-US" dirty="0" err="1"/>
              <a:t>Adagrad</a:t>
            </a:r>
            <a:r>
              <a:rPr lang="en-US" dirty="0"/>
              <a:t> (Adaptive gradient)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F0CA1-997F-4F45-AFAD-EFA748B90623}"/>
              </a:ext>
            </a:extLst>
          </p:cNvPr>
          <p:cNvSpPr/>
          <p:nvPr/>
        </p:nvSpPr>
        <p:spPr>
          <a:xfrm>
            <a:off x="718234" y="7965570"/>
            <a:ext cx="12065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https://cs.stanford.edu/people/karpathy/convnetjs/demo/trainers.html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607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302B-90DD-124C-A5FD-5F5710F0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192C6-58BE-7144-B468-51306D547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and lots of </a:t>
            </a:r>
            <a:r>
              <a:rPr lang="en-US" dirty="0" err="1"/>
              <a:t>hyperparams</a:t>
            </a:r>
            <a:endParaRPr lang="en-US" dirty="0"/>
          </a:p>
          <a:p>
            <a:pPr lvl="1"/>
            <a:r>
              <a:rPr lang="en-US" dirty="0"/>
              <a:t>Learning rate (alpha)</a:t>
            </a:r>
          </a:p>
          <a:p>
            <a:pPr lvl="1"/>
            <a:r>
              <a:rPr lang="en-US" dirty="0"/>
              <a:t>random seeds</a:t>
            </a:r>
          </a:p>
          <a:p>
            <a:pPr lvl="1"/>
            <a:r>
              <a:rPr lang="en-US" dirty="0"/>
              <a:t>batch size</a:t>
            </a:r>
          </a:p>
          <a:p>
            <a:pPr lvl="1"/>
            <a:r>
              <a:rPr lang="en-US" dirty="0"/>
              <a:t>filter size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Performance is very sensitive to </a:t>
            </a:r>
            <a:r>
              <a:rPr lang="en-US" dirty="0" err="1"/>
              <a:t>hyperparams</a:t>
            </a:r>
            <a:endParaRPr lang="en-US" dirty="0"/>
          </a:p>
          <a:p>
            <a:r>
              <a:rPr lang="en-US" dirty="0"/>
              <a:t>How to find the right configuration of </a:t>
            </a:r>
            <a:r>
              <a:rPr lang="en-US" dirty="0" err="1"/>
              <a:t>hyperparams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422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http://www.ccom.ucsd.edu/~cdeotte/programs/neuralnetwork.html</a:t>
            </a:r>
            <a:r>
              <a:rPr lang="en-US" dirty="0"/>
              <a:t> </a:t>
            </a: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https://cs.stanford.edu/people/karpathy/convnetjs/demo/regression.html</a:t>
            </a:r>
            <a:endParaRPr lang="en-US" dirty="0"/>
          </a:p>
          <a:p>
            <a:r>
              <a:rPr lang="en-US" dirty="0">
                <a:hlinkClick r:id="rId4"/>
              </a:rPr>
              <a:t>https://playground.tensorflow.org/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792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2392-A52E-C344-A1E3-A42BF1BE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7BCD-A65F-EB4A-87A4-593CEBC6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Remember, the only unknowns are the weights</a:t>
            </a:r>
          </a:p>
          <a:p>
            <a:r>
              <a:rPr lang="en-US" dirty="0"/>
              <a:t>Everything else should be decided by you</a:t>
            </a:r>
          </a:p>
          <a:p>
            <a:endParaRPr lang="en-US" dirty="0"/>
          </a:p>
          <a:p>
            <a:r>
              <a:rPr lang="en-US" dirty="0"/>
              <a:t>How many layers? </a:t>
            </a:r>
          </a:p>
          <a:p>
            <a:r>
              <a:rPr lang="en-US" dirty="0"/>
              <a:t>How many neurons in each layer?</a:t>
            </a:r>
          </a:p>
          <a:p>
            <a:r>
              <a:rPr lang="en-US" dirty="0"/>
              <a:t>How to connect the neurons?</a:t>
            </a:r>
          </a:p>
          <a:p>
            <a:r>
              <a:rPr lang="en-US" dirty="0"/>
              <a:t>What activation function to use?</a:t>
            </a:r>
          </a:p>
          <a:p>
            <a:r>
              <a:rPr lang="en-US" dirty="0"/>
              <a:t>What loss function to use?</a:t>
            </a:r>
          </a:p>
          <a:p>
            <a:r>
              <a:rPr lang="en-US" dirty="0"/>
              <a:t>What gradient descent method to use?</a:t>
            </a:r>
          </a:p>
        </p:txBody>
      </p:sp>
    </p:spTree>
    <p:extLst>
      <p:ext uri="{BB962C8B-B14F-4D97-AF65-F5344CB8AC3E}">
        <p14:creationId xmlns:p14="http://schemas.microsoft.com/office/powerpoint/2010/main" val="270226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1D5F-1225-7E3F-8EE7-C0DD0DB7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about YOLO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EE3A3-88D8-1417-E695-30737E70F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YOLO Object Detector</a:t>
            </a:r>
          </a:p>
          <a:p>
            <a:r>
              <a:rPr lang="en-US" sz="3600" dirty="0">
                <a:hlinkClick r:id="rId2"/>
              </a:rPr>
              <a:t>https://www.youtube.com/watch?v=MPU2HistivI</a:t>
            </a:r>
            <a:r>
              <a:rPr lang="en-US" sz="36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F09950-2A13-67D8-278C-4FD478F45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362" y="3309880"/>
            <a:ext cx="7840996" cy="662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822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5312-1155-D1DB-A93A-D873CEDC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CAB1-B11C-6E35-E777-6A1E2408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YOLO’s not the first or last!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3A29-AC4D-3933-594E-80B521362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(from </a:t>
            </a:r>
            <a:r>
              <a:rPr lang="en-US" sz="2400" dirty="0" err="1"/>
              <a:t>geeksforgeeks.org</a:t>
            </a:r>
            <a:r>
              <a:rPr lang="en-US" sz="2400" dirty="0"/>
              <a:t>)</a:t>
            </a:r>
          </a:p>
        </p:txBody>
      </p:sp>
      <p:pic>
        <p:nvPicPr>
          <p:cNvPr id="1028" name="Picture 4" descr="Object-Detection-Models">
            <a:extLst>
              <a:ext uri="{FF2B5EF4-FFF2-40B4-BE49-F238E27FC236}">
                <a16:creationId xmlns:a16="http://schemas.microsoft.com/office/drawing/2014/main" id="{438314B2-2445-D798-C173-74368C85A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16848"/>
            <a:ext cx="12700000" cy="596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532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B1CA-8FB9-6EE9-6623-E5992076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1C3E-90CE-3F91-BD1F-63374731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BC4CB-3961-F7B8-56BC-F1B51A8B7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F69E8-806F-044C-A753-5FA30385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21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E16F-6DD8-A1BD-5173-775BF9925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6680-7B20-70F6-D162-5DA81FE5B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8BAF1-57B5-DA21-3871-D1C84BD0F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  <a:p>
            <a:r>
              <a:rPr lang="en-US" sz="2800" dirty="0"/>
              <a:t>Why? (Any clues?)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7230B-9B0A-B9FC-9133-020206E4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01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F96F-3BCB-C2DB-582A-191B4EC2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3EE0-8904-D281-22D2-280E6771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2A856-1E8E-2F9F-F184-584E202B2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  <a:p>
            <a:r>
              <a:rPr lang="en-US" sz="2800" dirty="0"/>
              <a:t>Why? (Hint: in CS, we always seek for a method to be better how?)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ED5CF-2AE8-E19C-F4DC-2EB7D54C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07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9C6A-246D-A2AA-C728-EEF23465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0469-F6A1-2615-616D-2DB38648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2BB67-A560-E61C-C8CE-E7AE34601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  <a:p>
            <a:r>
              <a:rPr lang="en-US" sz="2800" dirty="0"/>
              <a:t>Why? Earlier models were too complex and slow!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BF028B-1E77-B1DD-7515-E35754B4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01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DB68-A03E-FFC8-FD47-6A2F09A5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C243-BF31-79A8-D0E0-746017CA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25388-A5B3-3506-3E9F-465C52E73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1816847"/>
            <a:ext cx="11216640" cy="609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54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AAD5-BC43-070F-E03C-97F20AB3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414E-339A-93BD-FD67-0104EE32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E58E3-7BEE-3758-85A2-1E1C63D77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1816847"/>
            <a:ext cx="11216640" cy="60902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79F685-0277-F369-3354-C4FDB82DD9EE}"/>
                  </a:ext>
                </a:extLst>
              </p14:cNvPr>
              <p14:cNvContentPartPr/>
              <p14:nvPr/>
            </p14:nvContentPartPr>
            <p14:xfrm>
              <a:off x="1536472" y="5982112"/>
              <a:ext cx="511920" cy="1796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79F685-0277-F369-3354-C4FDB82DD9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8472" y="5964472"/>
                <a:ext cx="547560" cy="18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4FE9BE-3B6B-91DA-45A9-E2495EA70E3D}"/>
                  </a:ext>
                </a:extLst>
              </p14:cNvPr>
              <p14:cNvContentPartPr/>
              <p14:nvPr/>
            </p14:nvContentPartPr>
            <p14:xfrm>
              <a:off x="11894032" y="5995072"/>
              <a:ext cx="444960" cy="183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4FE9BE-3B6B-91DA-45A9-E2495EA70E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76032" y="5977072"/>
                <a:ext cx="480600" cy="18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86C88B-AC8D-9C16-343C-AB75B7F4B02F}"/>
                  </a:ext>
                </a:extLst>
              </p14:cNvPr>
              <p14:cNvContentPartPr/>
              <p14:nvPr/>
            </p14:nvContentPartPr>
            <p14:xfrm>
              <a:off x="1356832" y="7750792"/>
              <a:ext cx="280080" cy="529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86C88B-AC8D-9C16-343C-AB75B7F4B0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38832" y="7732792"/>
                <a:ext cx="315720" cy="56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E406FC-AE91-B9FF-B127-1D9CF0279F8F}"/>
                  </a:ext>
                </a:extLst>
              </p14:cNvPr>
              <p14:cNvContentPartPr/>
              <p14:nvPr/>
            </p14:nvContentPartPr>
            <p14:xfrm>
              <a:off x="1099072" y="8465752"/>
              <a:ext cx="439200" cy="585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E406FC-AE91-B9FF-B127-1D9CF0279F8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1432" y="8448112"/>
                <a:ext cx="47484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17FF80-4EA4-A36A-0207-1A361E29F1D2}"/>
                  </a:ext>
                </a:extLst>
              </p14:cNvPr>
              <p14:cNvContentPartPr/>
              <p14:nvPr/>
            </p14:nvContentPartPr>
            <p14:xfrm>
              <a:off x="1635112" y="8784712"/>
              <a:ext cx="228600" cy="286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17FF80-4EA4-A36A-0207-1A361E29F1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7112" y="8766712"/>
                <a:ext cx="26424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A53E425A-D4D2-1877-EFBB-5A6E8C9AEC45}"/>
              </a:ext>
            </a:extLst>
          </p:cNvPr>
          <p:cNvGrpSpPr/>
          <p:nvPr/>
        </p:nvGrpSpPr>
        <p:grpSpPr>
          <a:xfrm>
            <a:off x="1959832" y="8302312"/>
            <a:ext cx="2812680" cy="995040"/>
            <a:chOff x="1959832" y="8302312"/>
            <a:chExt cx="2812680" cy="9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81F53D-38B3-C08E-BD44-763257559D1C}"/>
                    </a:ext>
                  </a:extLst>
                </p14:cNvPr>
                <p14:cNvContentPartPr/>
                <p14:nvPr/>
              </p14:nvContentPartPr>
              <p14:xfrm>
                <a:off x="1959832" y="8821432"/>
                <a:ext cx="492480" cy="306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81F53D-38B3-C08E-BD44-763257559D1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2192" y="8803792"/>
                  <a:ext cx="5281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DE27F6-4628-2743-DD5A-0F54215726BF}"/>
                    </a:ext>
                  </a:extLst>
                </p14:cNvPr>
                <p14:cNvContentPartPr/>
                <p14:nvPr/>
              </p14:nvContentPartPr>
              <p14:xfrm>
                <a:off x="2334232" y="8539552"/>
                <a:ext cx="13320" cy="574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DE27F6-4628-2743-DD5A-0F54215726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6232" y="8521912"/>
                  <a:ext cx="489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EAE5B4A-A88B-C514-40AF-5375FF2B0E8F}"/>
                    </a:ext>
                  </a:extLst>
                </p14:cNvPr>
                <p14:cNvContentPartPr/>
                <p14:nvPr/>
              </p14:nvContentPartPr>
              <p14:xfrm>
                <a:off x="2584432" y="8914672"/>
                <a:ext cx="18324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EAE5B4A-A88B-C514-40AF-5375FF2B0E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66432" y="8896672"/>
                  <a:ext cx="218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B7DD5EF-55F5-43E3-EF89-1E09B6F23227}"/>
                    </a:ext>
                  </a:extLst>
                </p14:cNvPr>
                <p14:cNvContentPartPr/>
                <p14:nvPr/>
              </p14:nvContentPartPr>
              <p14:xfrm>
                <a:off x="3048832" y="8683192"/>
                <a:ext cx="236160" cy="473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B7DD5EF-55F5-43E3-EF89-1E09B6F232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0832" y="8665192"/>
                  <a:ext cx="2718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084796-D123-4BFE-77D9-CE9ACC29D7E2}"/>
                    </a:ext>
                  </a:extLst>
                </p14:cNvPr>
                <p14:cNvContentPartPr/>
                <p14:nvPr/>
              </p14:nvContentPartPr>
              <p14:xfrm>
                <a:off x="2948752" y="8882272"/>
                <a:ext cx="34092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084796-D123-4BFE-77D9-CE9ACC29D7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30752" y="8864632"/>
                  <a:ext cx="376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FAA7BC-FF2F-8D4C-ADD2-2243409C3663}"/>
                    </a:ext>
                  </a:extLst>
                </p14:cNvPr>
                <p14:cNvContentPartPr/>
                <p14:nvPr/>
              </p14:nvContentPartPr>
              <p14:xfrm>
                <a:off x="3451672" y="8885872"/>
                <a:ext cx="360" cy="241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FAA7BC-FF2F-8D4C-ADD2-2243409C36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34032" y="8868232"/>
                  <a:ext cx="36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331DCA-6F08-AB98-B786-3177B2227788}"/>
                    </a:ext>
                  </a:extLst>
                </p14:cNvPr>
                <p14:cNvContentPartPr/>
                <p14:nvPr/>
              </p14:nvContentPartPr>
              <p14:xfrm>
                <a:off x="3451672" y="8641792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331DCA-6F08-AB98-B786-3177B22277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4032" y="862415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BEE71C3-4659-503F-3DCC-0E969B6A271E}"/>
                    </a:ext>
                  </a:extLst>
                </p14:cNvPr>
                <p14:cNvContentPartPr/>
                <p14:nvPr/>
              </p14:nvContentPartPr>
              <p14:xfrm>
                <a:off x="3639952" y="8861752"/>
                <a:ext cx="502560" cy="356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BEE71C3-4659-503F-3DCC-0E969B6A27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22312" y="8843752"/>
                  <a:ext cx="5382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A66C91C-6080-7D4A-0F1F-CE9429CB3C3A}"/>
                    </a:ext>
                  </a:extLst>
                </p14:cNvPr>
                <p14:cNvContentPartPr/>
                <p14:nvPr/>
              </p14:nvContentPartPr>
              <p14:xfrm>
                <a:off x="4249432" y="8813872"/>
                <a:ext cx="311040" cy="362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A66C91C-6080-7D4A-0F1F-CE9429CB3C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31432" y="8796232"/>
                  <a:ext cx="3466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86174A9-D261-2764-68CC-5225ABF2712B}"/>
                    </a:ext>
                  </a:extLst>
                </p14:cNvPr>
                <p14:cNvContentPartPr/>
                <p14:nvPr/>
              </p14:nvContentPartPr>
              <p14:xfrm>
                <a:off x="4625272" y="8302312"/>
                <a:ext cx="111240" cy="699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86174A9-D261-2764-68CC-5225ABF271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07272" y="8284672"/>
                  <a:ext cx="14688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1E3E4E-A235-E15D-F609-36C7DF8E036D}"/>
                    </a:ext>
                  </a:extLst>
                </p14:cNvPr>
                <p14:cNvContentPartPr/>
                <p14:nvPr/>
              </p14:nvContentPartPr>
              <p14:xfrm>
                <a:off x="4772152" y="9296992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1E3E4E-A235-E15D-F609-36C7DF8E03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54152" y="927935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598403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9943-99DF-F681-C57F-2DAE49CF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717E-BDD7-A4CD-0E01-6E81E8057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8AD0F-BBAD-A7B1-9734-D8934DCB5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  <a:p>
            <a:r>
              <a:rPr lang="en-US" sz="2800" dirty="0"/>
              <a:t>Why? Earlier models were too complex and slow!</a:t>
            </a:r>
          </a:p>
          <a:p>
            <a:r>
              <a:rPr lang="en-US" sz="2800" dirty="0"/>
              <a:t>Who was dominate before YOLO? (any clue?)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43A68-0BB6-DA7F-D66A-E896949C1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23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6BEF-0A0B-92FA-7D69-60D57241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5561-A114-31D7-3F11-01D3F576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6C2F8-DE94-7520-8CFB-8490D1244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  <a:p>
            <a:r>
              <a:rPr lang="en-US" sz="2800" dirty="0"/>
              <a:t>Why? Earlier models were too complex and slow!</a:t>
            </a:r>
          </a:p>
          <a:p>
            <a:r>
              <a:rPr lang="en-US" sz="2800" dirty="0"/>
              <a:t>Who was dominate before YOLO? The R-CNN family (R-CNN, Fast R-CNN, Faster R-CNN, etc.)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3058F-EBE7-263A-F108-01092CDE4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7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2D7F-8752-F39C-44C5-F1B2E082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DA1B-8D83-BDC4-6C6B-E79A4DBE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YOLO created?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60982-971C-B5A4-B6C7-E2BF873F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080" y="1816848"/>
            <a:ext cx="11216640" cy="74174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Created in </a:t>
            </a:r>
            <a:r>
              <a:rPr lang="en-US" sz="2800" u="sng" dirty="0"/>
              <a:t>2015</a:t>
            </a:r>
            <a:r>
              <a:rPr lang="en-US" sz="2800" dirty="0"/>
              <a:t>!!!</a:t>
            </a:r>
          </a:p>
          <a:p>
            <a:r>
              <a:rPr lang="en-US" sz="2800" dirty="0"/>
              <a:t>Why? Earlier models were too complex and slow!</a:t>
            </a:r>
          </a:p>
          <a:p>
            <a:r>
              <a:rPr lang="en-US" sz="2800" dirty="0"/>
              <a:t>Who was dominate before YOLO? The R-CNN family (R-CNN, Fast R-CNN, Faster R-CNN, etc.)</a:t>
            </a:r>
          </a:p>
          <a:p>
            <a:r>
              <a:rPr lang="en-US" sz="2800" dirty="0"/>
              <a:t>What is the R-CNN family?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EC4D-FB2E-51CC-44BB-141A6F557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9" y="1816848"/>
            <a:ext cx="11897822" cy="3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406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154E-51EF-75B3-241C-07E37FC8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30B6-C3D4-93CC-5D5D-4E0611E1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R-CNN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9220-1D93-F54D-CBD7-AFBDFC6BD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Multiple step network:</a:t>
            </a:r>
          </a:p>
          <a:p>
            <a:pPr lvl="1"/>
            <a:r>
              <a:rPr lang="en-US" sz="2231" dirty="0"/>
              <a:t>Generate region proposals</a:t>
            </a:r>
          </a:p>
          <a:p>
            <a:pPr lvl="1"/>
            <a:r>
              <a:rPr lang="en-US" sz="2231" dirty="0"/>
              <a:t>Extract features</a:t>
            </a:r>
          </a:p>
          <a:p>
            <a:pPr lvl="1"/>
            <a:r>
              <a:rPr lang="en-US" sz="2231" dirty="0"/>
              <a:t>Classify objects and refine their bounding boxes</a:t>
            </a:r>
          </a:p>
        </p:txBody>
      </p:sp>
      <p:pic>
        <p:nvPicPr>
          <p:cNvPr id="7170" name="Picture 2" descr="R-CNN architecture">
            <a:extLst>
              <a:ext uri="{FF2B5EF4-FFF2-40B4-BE49-F238E27FC236}">
                <a16:creationId xmlns:a16="http://schemas.microsoft.com/office/drawing/2014/main" id="{889C5FB4-1E0B-1C2F-0E4F-023AF5CDC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75" y="1529977"/>
            <a:ext cx="12051650" cy="290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594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54B1-592E-6727-773A-A58DD1BA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6E87-CEB7-2240-0B62-B3F65369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 Proposals via Selective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3008-B5B9-048C-AFD9-C09D75143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A39538F-FD22-9C41-00C6-5EC645683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044" y="1999728"/>
            <a:ext cx="9812712" cy="452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315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47F6-A336-AC3A-614E-C4951FCD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A658-B8EE-30A2-4817-C971C2B9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Extraction via CNNs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967F9-4313-4A07-5DB4-DE8FE35C5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F7734B6-7376-71D4-445B-F1878B694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6848"/>
            <a:ext cx="13004800" cy="467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7501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5244-1962-E7BD-8033-FA7CD18C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0FDD-A479-A1AB-5815-B2AE9352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10C43-82A2-907E-8059-0919E3754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566EF47C-59AC-7F87-CD7A-3E731A73A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325" y="1816848"/>
            <a:ext cx="10760149" cy="641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0761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88E5-7340-CE62-963B-80D1C27A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560C-F452-0C74-34C6-D56A12AB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Non-Maximum Suppression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5D97F-C542-CF62-C98B-AFF09DB7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D4E19B32-A5D7-E4B1-EEA1-17F99A385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1188"/>
            <a:ext cx="13004800" cy="598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749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18AD-4EB3-CF6B-2DA6-33F536FD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FB03-63D0-ACC1-C08A-FD4AA635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R-CNN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4B14F-956D-0C57-C7EE-C336D4B4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652BAADD-763E-0AF2-B4A8-48E02747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9977"/>
            <a:ext cx="13004800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9839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4E40F-3464-C3C4-BB24-595D5A85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7DF8-5737-FFFE-9EFE-2B2B535E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R-CNN Family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B3EB7-E062-F3E5-A416-791EB735B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4B0FB8A7-CF16-6A8F-6EAB-32AD448DC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9977"/>
            <a:ext cx="13004800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33255C-500E-74C2-791C-81B945FFC33C}"/>
              </a:ext>
            </a:extLst>
          </p:cNvPr>
          <p:cNvSpPr txBox="1">
            <a:spLocks/>
          </p:cNvSpPr>
          <p:nvPr/>
        </p:nvSpPr>
        <p:spPr>
          <a:xfrm>
            <a:off x="1046480" y="1969248"/>
            <a:ext cx="11216640" cy="7784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17683" indent="-417683" algn="l" defTabSz="1300460" rtl="0" eaLnBrk="1" latinLnBrk="0" hangingPunct="1">
              <a:lnSpc>
                <a:spcPct val="100000"/>
              </a:lnSpc>
              <a:spcBef>
                <a:spcPts val="2022"/>
              </a:spcBef>
              <a:buClr>
                <a:srgbClr val="FF6600"/>
              </a:buClr>
              <a:buSzPct val="100000"/>
              <a:buFont typeface="LucidaGrande" charset="0"/>
              <a:buChar char="▸"/>
              <a:tabLst/>
              <a:defRPr sz="39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5345" indent="-32511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buClr>
                <a:srgbClr val="FF6600"/>
              </a:buClr>
              <a:buSzPct val="100000"/>
              <a:buFont typeface="Wingdings" charset="2"/>
              <a:buChar char="§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buClr>
                <a:srgbClr val="FF6600"/>
              </a:buClr>
              <a:buSzPct val="100000"/>
              <a:buFont typeface="Arial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buClr>
                <a:srgbClr val="FF6600"/>
              </a:buClr>
              <a:buSzPct val="100000"/>
              <a:buFont typeface="Arial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buClr>
                <a:srgbClr val="FF6600"/>
              </a:buClr>
              <a:buSzPct val="100000"/>
              <a:buFont typeface="Arial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pPr marL="0" indent="0">
              <a:buFont typeface="LucidaGrande" charset="0"/>
              <a:buNone/>
            </a:pPr>
            <a:endParaRPr lang="en-US" sz="2800" dirty="0"/>
          </a:p>
          <a:p>
            <a:r>
              <a:rPr lang="en-US" sz="2800" b="1" dirty="0"/>
              <a:t>Slow inference times: </a:t>
            </a:r>
            <a:r>
              <a:rPr lang="en-US" sz="2800" dirty="0"/>
              <a:t>2k proposals that are fed to a CNN</a:t>
            </a:r>
          </a:p>
          <a:p>
            <a:r>
              <a:rPr lang="en-US" sz="2800" b="1" dirty="0"/>
              <a:t>High compute costs:</a:t>
            </a:r>
            <a:r>
              <a:rPr lang="en-US" sz="2800" dirty="0"/>
              <a:t> The CNN must process many overlapping regions.</a:t>
            </a:r>
          </a:p>
        </p:txBody>
      </p:sp>
    </p:spTree>
    <p:extLst>
      <p:ext uri="{BB962C8B-B14F-4D97-AF65-F5344CB8AC3E}">
        <p14:creationId xmlns:p14="http://schemas.microsoft.com/office/powerpoint/2010/main" val="4064943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1B1C-15A5-27C1-9770-C100498E6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 about YOLO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F459C-DF8F-77F3-0A92-0643CDD1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of prior models:</a:t>
            </a:r>
            <a:r>
              <a:rPr lang="en-US" dirty="0"/>
              <a:t> Look at the image MANY times to do detection.</a:t>
            </a:r>
          </a:p>
        </p:txBody>
      </p:sp>
    </p:spTree>
    <p:extLst>
      <p:ext uri="{BB962C8B-B14F-4D97-AF65-F5344CB8AC3E}">
        <p14:creationId xmlns:p14="http://schemas.microsoft.com/office/powerpoint/2010/main" val="2237702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4BF9-83B2-ED75-BA16-2EBF8B27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4FDE-0D7E-48FC-0C6A-A3E44D3F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 about YOLO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A6F24-0913-17E0-F147-DF9D6D56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of prior models:</a:t>
            </a:r>
            <a:r>
              <a:rPr lang="en-US" dirty="0"/>
              <a:t> Look at the image MANY times to do detection.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Approach of YOLO:</a:t>
            </a:r>
            <a:r>
              <a:rPr lang="en-US" dirty="0"/>
              <a:t> ???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04590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3244D-F6FD-5077-FF7F-68ACAB664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490-0000-465A-50EB-FED51B86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 about YOLO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A749D-274B-B418-539C-8DE0078DD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of prior models:</a:t>
            </a:r>
            <a:r>
              <a:rPr lang="en-US" dirty="0"/>
              <a:t> Look at the image MANY times to do detection.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Approach of YOLO:</a:t>
            </a:r>
            <a:r>
              <a:rPr lang="en-US" dirty="0"/>
              <a:t> You Only Look Once!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734688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FFF9A-AE4F-90A1-96C1-9B959748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75D6-0995-77BB-29B0-838828F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YOLO Architecture</a:t>
            </a:r>
          </a:p>
        </p:txBody>
      </p:sp>
      <p:pic>
        <p:nvPicPr>
          <p:cNvPr id="5" name="Content Placeholder 4" descr="A diagram of a computer tower&#10;&#10;Description automatically generated">
            <a:extLst>
              <a:ext uri="{FF2B5EF4-FFF2-40B4-BE49-F238E27FC236}">
                <a16:creationId xmlns:a16="http://schemas.microsoft.com/office/drawing/2014/main" id="{35435C34-0CAA-5E44-106B-57FDF36CC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2336"/>
            <a:ext cx="12996673" cy="557134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3984CD-531D-0057-0E50-88B0789A7A67}"/>
              </a:ext>
            </a:extLst>
          </p:cNvPr>
          <p:cNvSpPr txBox="1"/>
          <p:nvPr/>
        </p:nvSpPr>
        <p:spPr>
          <a:xfrm>
            <a:off x="3312207" y="7495370"/>
            <a:ext cx="6372257" cy="17389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Input: 448x448x3 (RGB) image</a:t>
            </a:r>
          </a:p>
          <a:p>
            <a:r>
              <a:rPr lang="en-US" dirty="0"/>
              <a:t>Output: 7x7x30 tensor</a:t>
            </a:r>
          </a:p>
        </p:txBody>
      </p:sp>
    </p:spTree>
    <p:extLst>
      <p:ext uri="{BB962C8B-B14F-4D97-AF65-F5344CB8AC3E}">
        <p14:creationId xmlns:p14="http://schemas.microsoft.com/office/powerpoint/2010/main" val="30984484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555960" y="2463791"/>
            <a:ext cx="7892716" cy="482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314BACC-6197-5DA6-0D48-3FFFA6539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5771934"/>
            <a:ext cx="3856748" cy="389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6894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860756" y="1458898"/>
            <a:ext cx="6769771" cy="413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314BACC-6197-5DA6-0D48-3FFFA6539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5771934"/>
            <a:ext cx="3856748" cy="389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49CC18-0D55-D08B-E0B6-186D536BBCCA}"/>
              </a:ext>
            </a:extLst>
          </p:cNvPr>
          <p:cNvSpPr txBox="1"/>
          <p:nvPr/>
        </p:nvSpPr>
        <p:spPr>
          <a:xfrm>
            <a:off x="4700336" y="6657474"/>
            <a:ext cx="7780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output a 30 dimensional vector for each of the 7x7 grid cells</a:t>
            </a:r>
          </a:p>
        </p:txBody>
      </p:sp>
    </p:spTree>
    <p:extLst>
      <p:ext uri="{BB962C8B-B14F-4D97-AF65-F5344CB8AC3E}">
        <p14:creationId xmlns:p14="http://schemas.microsoft.com/office/powerpoint/2010/main" val="382896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811560" y="1308847"/>
            <a:ext cx="7299160" cy="446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F6659BB-9C5C-C919-08E1-72D0B708C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9" y="5771934"/>
            <a:ext cx="2157841" cy="36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106287-A5C8-3FB9-FB13-58C98BF461AD}"/>
              </a:ext>
            </a:extLst>
          </p:cNvPr>
          <p:cNvSpPr txBox="1"/>
          <p:nvPr/>
        </p:nvSpPr>
        <p:spPr>
          <a:xfrm>
            <a:off x="3117515" y="6047874"/>
            <a:ext cx="9459496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an object center falls in a grid cell, then that cell is responsible to detect it.</a:t>
            </a:r>
          </a:p>
          <a:p>
            <a:r>
              <a:rPr lang="en-US" dirty="0"/>
              <a:t>The corresponding 30 dimensional vector should detect the bounding box.</a:t>
            </a:r>
          </a:p>
        </p:txBody>
      </p:sp>
    </p:spTree>
    <p:extLst>
      <p:ext uri="{BB962C8B-B14F-4D97-AF65-F5344CB8AC3E}">
        <p14:creationId xmlns:p14="http://schemas.microsoft.com/office/powerpoint/2010/main" val="3986690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811560" y="1308847"/>
            <a:ext cx="7299160" cy="446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F6659BB-9C5C-C919-08E1-72D0B708C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9" y="5771934"/>
            <a:ext cx="2157841" cy="36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106287-A5C8-3FB9-FB13-58C98BF461AD}"/>
              </a:ext>
            </a:extLst>
          </p:cNvPr>
          <p:cNvSpPr txBox="1"/>
          <p:nvPr/>
        </p:nvSpPr>
        <p:spPr>
          <a:xfrm>
            <a:off x="4379494" y="6817895"/>
            <a:ext cx="6769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an object center falls in a grid cell, then that cell is responsible to detect it.</a:t>
            </a:r>
          </a:p>
        </p:txBody>
      </p:sp>
    </p:spTree>
    <p:extLst>
      <p:ext uri="{BB962C8B-B14F-4D97-AF65-F5344CB8AC3E}">
        <p14:creationId xmlns:p14="http://schemas.microsoft.com/office/powerpoint/2010/main" val="41874466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811560" y="1308847"/>
            <a:ext cx="7299160" cy="446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F6659BB-9C5C-C919-08E1-72D0B708C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9" y="5771934"/>
            <a:ext cx="2157841" cy="36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106287-A5C8-3FB9-FB13-58C98BF461AD}"/>
              </a:ext>
            </a:extLst>
          </p:cNvPr>
          <p:cNvSpPr txBox="1"/>
          <p:nvPr/>
        </p:nvSpPr>
        <p:spPr>
          <a:xfrm>
            <a:off x="2903621" y="6238323"/>
            <a:ext cx="9804180" cy="2971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c: </a:t>
            </a:r>
            <a:r>
              <a:rPr lang="en-US" sz="3200" dirty="0"/>
              <a:t>confidence score that object lies in that grid cell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x, y: </a:t>
            </a:r>
            <a:r>
              <a:rPr lang="en-US" sz="3200" dirty="0"/>
              <a:t>relative position of </a:t>
            </a:r>
            <a:r>
              <a:rPr lang="en-US" sz="3200" dirty="0" err="1"/>
              <a:t>bbox</a:t>
            </a:r>
            <a:r>
              <a:rPr lang="en-US" sz="3200" dirty="0"/>
              <a:t> center within the cell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w, h: </a:t>
            </a:r>
            <a:r>
              <a:rPr lang="en-US" sz="3200" dirty="0"/>
              <a:t>width and height of </a:t>
            </a:r>
            <a:r>
              <a:rPr lang="en-US" sz="3200" dirty="0" err="1"/>
              <a:t>bbox</a:t>
            </a:r>
            <a:endParaRPr lang="en-US" sz="3200" dirty="0"/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+ 20 </a:t>
            </a:r>
            <a:r>
              <a:rPr lang="en-US" sz="3200" dirty="0"/>
              <a:t>probabilities for which object type it is</a:t>
            </a:r>
          </a:p>
        </p:txBody>
      </p:sp>
    </p:spTree>
    <p:extLst>
      <p:ext uri="{BB962C8B-B14F-4D97-AF65-F5344CB8AC3E}">
        <p14:creationId xmlns:p14="http://schemas.microsoft.com/office/powerpoint/2010/main" val="7315987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811560" y="1308847"/>
            <a:ext cx="7299160" cy="446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F6659BB-9C5C-C919-08E1-72D0B708C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9" y="5771934"/>
            <a:ext cx="2157841" cy="36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30A211D0-A7A7-0B0F-8F16-F87128726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5823837"/>
            <a:ext cx="4101432" cy="341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9A6FC84C-F036-469E-A8E2-F829D1F37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0" y="5974560"/>
            <a:ext cx="2029295" cy="341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7014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54DE-4378-D03D-6BDF-A839220E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7x7x30 dimensional output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E28DA2-5451-1CBE-9B6A-2E1481384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32" y="1588168"/>
            <a:ext cx="3856748" cy="388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55A9BE-E558-5A0F-ABBD-3F3260336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6794"/>
          <a:stretch/>
        </p:blipFill>
        <p:spPr bwMode="auto">
          <a:xfrm>
            <a:off x="4811560" y="1308847"/>
            <a:ext cx="7299160" cy="446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F6659BB-9C5C-C919-08E1-72D0B708C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9" y="5771934"/>
            <a:ext cx="2157841" cy="36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A8C1BD7D-C270-535C-8226-5D985C515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380" y="5771934"/>
            <a:ext cx="5502108" cy="396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6236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24E0-1A81-0F76-FA84-8CB006A1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5FE459C-43EF-27FD-D776-F7D4BDDC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8" y="803378"/>
            <a:ext cx="5665031" cy="568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0A5055-9C4A-206C-A3BA-90E4FF7F5E26}"/>
              </a:ext>
            </a:extLst>
          </p:cNvPr>
          <p:cNvSpPr txBox="1"/>
          <p:nvPr/>
        </p:nvSpPr>
        <p:spPr>
          <a:xfrm>
            <a:off x="1283368" y="6941373"/>
            <a:ext cx="1110113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49 x 2 bounding boxes predicted per image</a:t>
            </a:r>
          </a:p>
          <a:p>
            <a:r>
              <a:rPr lang="en-US" dirty="0"/>
              <a:t>Only keep the ones with the highest confidence scores that don’t overlap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755CE98-2500-C56C-6183-62A19CF91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5" t="12037" r="13844" b="10510"/>
          <a:stretch/>
        </p:blipFill>
        <p:spPr bwMode="auto">
          <a:xfrm>
            <a:off x="6461759" y="803378"/>
            <a:ext cx="5660850" cy="553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D666E54-07ED-2689-A6C1-54CCABA3C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735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BEC7-EB9B-FCF3-025A-3F0BB0FC7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 Square Error Loss with weights (lambdas) for different terms in the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2657-BE1D-415B-B9A5-5389256E1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A350240D-8CF0-E4B2-8E99-ECA3E3203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209" y="2102760"/>
            <a:ext cx="8184381" cy="696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27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4880-CE6A-87B4-88C5-CEE17555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6E81-9A40-8923-0AF3-497CFC67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Want to Learn More?</a:t>
            </a:r>
          </a:p>
        </p:txBody>
      </p:sp>
      <p:pic>
        <p:nvPicPr>
          <p:cNvPr id="5" name="Online Media 4" descr="How YOLO Object Detection Works">
            <a:hlinkClick r:id="" action="ppaction://media"/>
            <a:extLst>
              <a:ext uri="{FF2B5EF4-FFF2-40B4-BE49-F238E27FC236}">
                <a16:creationId xmlns:a16="http://schemas.microsoft.com/office/drawing/2014/main" id="{EA6961F3-3E35-E406-F73A-235BB49CBFF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94080" y="1529977"/>
            <a:ext cx="10271857" cy="770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9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RAASLab_Presentation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ASLab_Presentation_Template" id="{78F314FB-878B-8F48-9E5B-CC598A63E49B}" vid="{40134F26-26DB-194B-B9D4-31235D0A09E1}"/>
    </a:ext>
  </a:extLst>
</a:theme>
</file>

<file path=ppt/theme/theme2.xml><?xml version="1.0" encoding="utf-8"?>
<a:theme xmlns:a="http://schemas.openxmlformats.org/drawingml/2006/main" name="1_RAASLab_Presentation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ASLab_Presentation_Template" id="{78F314FB-878B-8F48-9E5B-CC598A63E49B}" vid="{40134F26-26DB-194B-B9D4-31235D0A09E1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Palatino"/>
        <a:ea typeface="Palatino"/>
        <a:cs typeface="Palatino"/>
      </a:majorFont>
      <a:minorFont>
        <a:latin typeface="Palatino"/>
        <a:ea typeface="Palatino"/>
        <a:cs typeface="Palatin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RAASLab_Presentation_Template</Template>
  <TotalTime>26925</TotalTime>
  <Words>1875</Words>
  <Application>Microsoft Macintosh PowerPoint</Application>
  <PresentationFormat>Custom</PresentationFormat>
  <Paragraphs>399</Paragraphs>
  <Slides>66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Arial</vt:lpstr>
      <vt:lpstr>Calibri</vt:lpstr>
      <vt:lpstr>Cambria</vt:lpstr>
      <vt:lpstr>Century Gothic</vt:lpstr>
      <vt:lpstr>Helvetica Neue</vt:lpstr>
      <vt:lpstr>LucidaGrande</vt:lpstr>
      <vt:lpstr>Palatino Linotype</vt:lpstr>
      <vt:lpstr>Times New Roman</vt:lpstr>
      <vt:lpstr>Wingdings</vt:lpstr>
      <vt:lpstr>RAASLab_Presentation_Template</vt:lpstr>
      <vt:lpstr>1_RAASLab_Presentation_Template</vt:lpstr>
      <vt:lpstr>2_Office Theme</vt:lpstr>
      <vt:lpstr>Neural Networks</vt:lpstr>
      <vt:lpstr>Same idea as single neuron</vt:lpstr>
      <vt:lpstr>Neural Network w/ Backpropagation</vt:lpstr>
      <vt:lpstr>Convergence</vt:lpstr>
      <vt:lpstr>Demo</vt:lpstr>
      <vt:lpstr>Training a NN</vt:lpstr>
      <vt:lpstr>You have helped train a NN before</vt:lpstr>
      <vt:lpstr>Designing a NN</vt:lpstr>
      <vt:lpstr>Designing a NN</vt:lpstr>
      <vt:lpstr>How to connect the neurons?</vt:lpstr>
      <vt:lpstr>How to connect the neurons?</vt:lpstr>
      <vt:lpstr>How to connect the neurons?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a NN</vt:lpstr>
      <vt:lpstr>What activation function to use?</vt:lpstr>
      <vt:lpstr>Problems with Sigmoid Activation</vt:lpstr>
      <vt:lpstr>What activation function to use?</vt:lpstr>
      <vt:lpstr>What activation function to use?</vt:lpstr>
      <vt:lpstr>Designing a NN</vt:lpstr>
      <vt:lpstr>What loss function to use?</vt:lpstr>
      <vt:lpstr>Classification problems</vt:lpstr>
      <vt:lpstr>Designing a NN</vt:lpstr>
      <vt:lpstr>Many Alternatives</vt:lpstr>
      <vt:lpstr>Hyperparameter optimization</vt:lpstr>
      <vt:lpstr>Demo</vt:lpstr>
      <vt:lpstr>Designing a NN</vt:lpstr>
      <vt:lpstr>Let’s Talk about YOLO</vt:lpstr>
      <vt:lpstr>YOLO’s not the first or last!</vt:lpstr>
      <vt:lpstr>Why was YOLO created?</vt:lpstr>
      <vt:lpstr>Why was YOLO created?</vt:lpstr>
      <vt:lpstr>Why was YOLO created?</vt:lpstr>
      <vt:lpstr>Why was YOLO created?</vt:lpstr>
      <vt:lpstr>Why was YOLO created?</vt:lpstr>
      <vt:lpstr>Why was YOLO created?</vt:lpstr>
      <vt:lpstr>Why was YOLO created?</vt:lpstr>
      <vt:lpstr>Why was YOLO created?</vt:lpstr>
      <vt:lpstr>Why was YOLO created?</vt:lpstr>
      <vt:lpstr>About the R-CNN family</vt:lpstr>
      <vt:lpstr>Region Proposals via Selective Search</vt:lpstr>
      <vt:lpstr>Feature Extraction via CNNs</vt:lpstr>
      <vt:lpstr>Object Classification</vt:lpstr>
      <vt:lpstr>Non-Maximum Suppression</vt:lpstr>
      <vt:lpstr>The R-CNN Family</vt:lpstr>
      <vt:lpstr>The R-CNN Family Limitations</vt:lpstr>
      <vt:lpstr>Key Aspect about YOLO</vt:lpstr>
      <vt:lpstr>Key Aspect about YOLO</vt:lpstr>
      <vt:lpstr>Key Aspect about YOLO</vt:lpstr>
      <vt:lpstr>The YOLO Architecture</vt:lpstr>
      <vt:lpstr>7x7x30 dimensional output</vt:lpstr>
      <vt:lpstr>7x7x30 dimensional output</vt:lpstr>
      <vt:lpstr>7x7x30 dimensional output</vt:lpstr>
      <vt:lpstr>7x7x30 dimensional output</vt:lpstr>
      <vt:lpstr>7x7x30 dimensional output</vt:lpstr>
      <vt:lpstr>7x7x30 dimensional output</vt:lpstr>
      <vt:lpstr>7x7x30 dimensional output</vt:lpstr>
      <vt:lpstr>PowerPoint Presentation</vt:lpstr>
      <vt:lpstr>Mean Square Error Loss with weights (lambdas) for different terms in the loss</vt:lpstr>
      <vt:lpstr>Want to Learn More?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</dc:title>
  <cp:lastModifiedBy>Troi Williams</cp:lastModifiedBy>
  <cp:revision>1128</cp:revision>
  <cp:lastPrinted>2017-09-27T19:08:13Z</cp:lastPrinted>
  <dcterms:modified xsi:type="dcterms:W3CDTF">2026-04-16T20:34:20Z</dcterms:modified>
</cp:coreProperties>
</file>
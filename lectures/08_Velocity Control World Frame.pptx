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8"/>
  </p:notesMasterIdLst>
  <p:handoutMasterIdLst>
    <p:handoutMasterId r:id="rId59"/>
  </p:handoutMasterIdLst>
  <p:sldIdLst>
    <p:sldId id="665" r:id="rId2"/>
    <p:sldId id="606" r:id="rId3"/>
    <p:sldId id="565" r:id="rId4"/>
    <p:sldId id="607" r:id="rId5"/>
    <p:sldId id="609" r:id="rId6"/>
    <p:sldId id="610" r:id="rId7"/>
    <p:sldId id="659" r:id="rId8"/>
    <p:sldId id="660" r:id="rId9"/>
    <p:sldId id="611" r:id="rId10"/>
    <p:sldId id="661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20" r:id="rId20"/>
    <p:sldId id="621" r:id="rId21"/>
    <p:sldId id="622" r:id="rId22"/>
    <p:sldId id="623" r:id="rId23"/>
    <p:sldId id="625" r:id="rId24"/>
    <p:sldId id="624" r:id="rId25"/>
    <p:sldId id="626" r:id="rId26"/>
    <p:sldId id="627" r:id="rId27"/>
    <p:sldId id="629" r:id="rId28"/>
    <p:sldId id="630" r:id="rId29"/>
    <p:sldId id="608" r:id="rId30"/>
    <p:sldId id="631" r:id="rId31"/>
    <p:sldId id="632" r:id="rId32"/>
    <p:sldId id="633" r:id="rId33"/>
    <p:sldId id="634" r:id="rId34"/>
    <p:sldId id="635" r:id="rId35"/>
    <p:sldId id="637" r:id="rId36"/>
    <p:sldId id="638" r:id="rId37"/>
    <p:sldId id="639" r:id="rId38"/>
    <p:sldId id="640" r:id="rId39"/>
    <p:sldId id="641" r:id="rId40"/>
    <p:sldId id="642" r:id="rId41"/>
    <p:sldId id="643" r:id="rId42"/>
    <p:sldId id="648" r:id="rId43"/>
    <p:sldId id="645" r:id="rId44"/>
    <p:sldId id="647" r:id="rId45"/>
    <p:sldId id="654" r:id="rId46"/>
    <p:sldId id="649" r:id="rId47"/>
    <p:sldId id="653" r:id="rId48"/>
    <p:sldId id="657" r:id="rId49"/>
    <p:sldId id="658" r:id="rId50"/>
    <p:sldId id="662" r:id="rId51"/>
    <p:sldId id="628" r:id="rId52"/>
    <p:sldId id="663" r:id="rId53"/>
    <p:sldId id="664" r:id="rId54"/>
    <p:sldId id="650" r:id="rId55"/>
    <p:sldId id="651" r:id="rId56"/>
    <p:sldId id="65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2600"/>
    <a:srgbClr val="D9D0CA"/>
    <a:srgbClr val="0061FF"/>
    <a:srgbClr val="2E2E2E"/>
    <a:srgbClr val="2D2D2D"/>
    <a:srgbClr val="0070C0"/>
    <a:srgbClr val="B5C7C3"/>
    <a:srgbClr val="00B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4" autoAdjust="0"/>
    <p:restoredTop sz="88973" autoAdjust="0"/>
  </p:normalViewPr>
  <p:slideViewPr>
    <p:cSldViewPr snapToGrid="0">
      <p:cViewPr varScale="1">
        <p:scale>
          <a:sx n="112" d="100"/>
          <a:sy n="112" d="100"/>
        </p:scale>
        <p:origin x="640" y="192"/>
      </p:cViewPr>
      <p:guideLst/>
    </p:cSldViewPr>
  </p:slideViewPr>
  <p:outlineViewPr>
    <p:cViewPr>
      <p:scale>
        <a:sx n="33" d="100"/>
        <a:sy n="33" d="100"/>
      </p:scale>
      <p:origin x="0" y="-352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E884F6-E676-4CF8-C120-FD091F089F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2A4F4-E2EB-FA78-2715-3633B3627F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6C96B-8E47-4C53-A637-0AE6E28F0EBE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71576-9CB9-440B-1048-9ECE1E3D24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5571C-F031-3011-5976-301AE24503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FAA53-C1AF-4067-B4DE-8BE0A22DF3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22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D95DB-A88E-4F41-80DA-CB93664BBFDA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6C88A-902F-40B5-92FB-9FD0D0BD1F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1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40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87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1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https://github.com/zhm-real/PathPlanning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80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https://github.com/zhm-real/PathPlanning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12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https://github.com/zhm-real/PathPlanning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79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https://github.com/zhm-real/PathPlanning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6C88A-902F-40B5-92FB-9FD0D0BD1F0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2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8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EA591D-5C7D-4C95-BC7E-0224720F68F2}"/>
              </a:ext>
            </a:extLst>
          </p:cNvPr>
          <p:cNvGrpSpPr/>
          <p:nvPr userDrawn="1"/>
        </p:nvGrpSpPr>
        <p:grpSpPr>
          <a:xfrm>
            <a:off x="64271" y="6441226"/>
            <a:ext cx="12068850" cy="416774"/>
            <a:chOff x="66366" y="6437941"/>
            <a:chExt cx="12068850" cy="41677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5293E8-7423-4CF6-AF34-26EB9C8D0D59}"/>
                </a:ext>
              </a:extLst>
            </p:cNvPr>
            <p:cNvSpPr/>
            <p:nvPr userDrawn="1"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B83481A-60EE-48CA-91B0-95996D3C1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C0901E8F-E7C6-4083-A895-00B835FFD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1FADCF8-E93B-4674-A350-2DA606041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19974-6DCA-47DB-8117-508FF9E09B27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D92279-81A0-4E9E-ADF8-43E8DABD2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	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8BDBF5-052C-487D-AFD0-740C16820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52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E54CF5-0327-43CD-8F49-30C19ABC09EA}"/>
              </a:ext>
            </a:extLst>
          </p:cNvPr>
          <p:cNvGrpSpPr/>
          <p:nvPr userDrawn="1"/>
        </p:nvGrpSpPr>
        <p:grpSpPr>
          <a:xfrm>
            <a:off x="580835" y="6454615"/>
            <a:ext cx="11549590" cy="416774"/>
            <a:chOff x="585626" y="6437941"/>
            <a:chExt cx="11549590" cy="416774"/>
          </a:xfrm>
          <a:solidFill>
            <a:schemeClr val="tx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88D66F-F3DC-4A54-ADC5-EABBF5A9132C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3DD46118-A79F-4B4F-8972-D3D3EF9B0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grpFill/>
          </p:spPr>
        </p:pic>
      </p:grp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7AB2A89-0C5E-4E55-B518-895708DFD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326A805-6144-420E-A0DF-1F5561410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621FBD6-68D2-45EC-99DE-E1439DE7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E1C6A9A-3654-8073-5015-FCE6E8BD99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71" y="6446618"/>
            <a:ext cx="407426" cy="40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76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8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DD684B-9264-4018-B1AC-95521A32DFD0}"/>
              </a:ext>
            </a:extLst>
          </p:cNvPr>
          <p:cNvGrpSpPr/>
          <p:nvPr userDrawn="1"/>
        </p:nvGrpSpPr>
        <p:grpSpPr>
          <a:xfrm>
            <a:off x="61575" y="6463795"/>
            <a:ext cx="12068850" cy="416774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0B0E68-EE03-4C2E-834A-E4FF462545A5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E57E61A0-5B5E-49A2-9925-4CF0159E7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FD7305A5-150F-477B-8149-7ABFB3249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89E5BE0-1848-4F42-968A-EF2916B5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25DB69-E0A0-452A-AD05-FF9B58D560C9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C84982B-1613-408B-8390-173A48580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2A3FFBB-C8D3-42CF-A676-1DDA29006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6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5004BB-58EC-4297-8BAF-34D694548FDE}"/>
              </a:ext>
            </a:extLst>
          </p:cNvPr>
          <p:cNvGrpSpPr/>
          <p:nvPr userDrawn="1"/>
        </p:nvGrpSpPr>
        <p:grpSpPr>
          <a:xfrm>
            <a:off x="61575" y="6463795"/>
            <a:ext cx="12068850" cy="416774"/>
            <a:chOff x="66366" y="6437941"/>
            <a:chExt cx="12068850" cy="4167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C533E6-C6D5-4D92-827B-47A4A9C03008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0381724-F462-48AC-BAB9-282B34317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596E203A-5E83-4305-AF02-8308BA5D1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43A93BE-CF46-41DC-B7C2-87019FC7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93C6C8-D5F7-4063-9A57-B3BE742F8994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572BB76-39E5-44B8-83C8-3CD79B44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2F96A83-4559-4C11-A4BA-8F291EB2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9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4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0C034B-CB0A-4C77-B0B8-1CB167FEDD1A}"/>
              </a:ext>
            </a:extLst>
          </p:cNvPr>
          <p:cNvGrpSpPr/>
          <p:nvPr userDrawn="1"/>
        </p:nvGrpSpPr>
        <p:grpSpPr>
          <a:xfrm>
            <a:off x="61575" y="6437971"/>
            <a:ext cx="12068850" cy="416774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D3EA2-EB52-4E4B-AE8F-45FEA3F69B03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3DAA626-CF2A-4F39-97E5-D1EF457C5C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95ABB968-0FC1-4D92-9253-68D8740F1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A0BE69-3715-49B2-A905-ABBB604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594C5E-7F3F-42CE-B7CE-99C4AF14AFEA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A486BE9-5B66-45D1-8ADB-CB5EE4D5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5AB9E8D-04A3-4E7D-8F88-5BA6A525C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1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97E4A8-DFE3-46F6-ACEE-27CFD8E713E5}"/>
              </a:ext>
            </a:extLst>
          </p:cNvPr>
          <p:cNvGrpSpPr/>
          <p:nvPr userDrawn="1"/>
        </p:nvGrpSpPr>
        <p:grpSpPr>
          <a:xfrm>
            <a:off x="61575" y="6441226"/>
            <a:ext cx="12068850" cy="416774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F61D0F-FE04-4E8C-9D51-DA14EE94607C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068B947-EC1D-4201-B255-54EE2052A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E5050F10-8B17-44FA-913C-51C0D77BC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0173EC5-2104-49CE-9483-360846BF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FEC9C-2A81-49A3-A828-C4E6CBB7B260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0BF1844-C763-4FA3-8E27-3EA9137C8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3184989-F983-4E94-B796-10D9C4E7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62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0FD5E9-C876-4BF0-9B9E-B6A6313181F3}"/>
              </a:ext>
            </a:extLst>
          </p:cNvPr>
          <p:cNvGrpSpPr/>
          <p:nvPr userDrawn="1"/>
        </p:nvGrpSpPr>
        <p:grpSpPr>
          <a:xfrm>
            <a:off x="123150" y="6437971"/>
            <a:ext cx="12068850" cy="416774"/>
            <a:chOff x="66366" y="6437941"/>
            <a:chExt cx="12068850" cy="4167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4B2557-E475-45A9-B22F-0B282E494923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94B735A-FB70-4C02-9E9D-401BD44817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A09A07BF-E4A4-4C3A-9577-D3EC14C37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9534912-767F-4F66-AD7E-F0CC9AB0D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6E2D1B-7488-480A-877D-D88B058DA43E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899D1D-E714-497B-A8D4-E498FEE60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BFA9A2C-8FDA-431E-8658-A8DBB4E2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3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FBD0B8-2140-4484-8FAA-4872DF30CD6C}"/>
              </a:ext>
            </a:extLst>
          </p:cNvPr>
          <p:cNvGrpSpPr/>
          <p:nvPr userDrawn="1"/>
        </p:nvGrpSpPr>
        <p:grpSpPr>
          <a:xfrm>
            <a:off x="0" y="6437971"/>
            <a:ext cx="12068850" cy="416774"/>
            <a:chOff x="66366" y="6437941"/>
            <a:chExt cx="12068850" cy="4167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B3C2F9-1FC3-4A9C-9D7D-482214166726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F31FA80-0D8E-4C84-9860-0824B35A5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B09BD7AC-EF05-41E8-A249-D0A7987F35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7DCE948-D767-4F4F-AE80-BD68BF58E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3532" y="6492875"/>
            <a:ext cx="174588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A9B870-1DE4-490B-BED4-34629920D848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1B18C2-0390-46A4-B99E-D6DEF17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2889" y="6492874"/>
            <a:ext cx="79743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85DC20-B512-4A73-81ED-B5A0AE6FE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07628" y="6489620"/>
            <a:ext cx="1172287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1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27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0.png"/><Relationship Id="rId7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0.png"/><Relationship Id="rId7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0.png"/><Relationship Id="rId7" Type="http://schemas.openxmlformats.org/officeDocument/2006/relationships/image" Target="../media/image5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49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.png"/><Relationship Id="rId7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.png"/><Relationship Id="rId7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tutorial/interpolate/1D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E58C-3693-CAFD-5D32-B5952E7DA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Velocity Control for Mobile Robots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36259-7392-E24E-35C5-03EED7BDB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Troi Williams</a:t>
            </a:r>
          </a:p>
          <a:p>
            <a:r>
              <a:rPr lang="en-US" dirty="0"/>
              <a:t>Slide Credits: Dr. Levi Burner (PRG)</a:t>
            </a:r>
          </a:p>
        </p:txBody>
      </p:sp>
    </p:spTree>
    <p:extLst>
      <p:ext uri="{BB962C8B-B14F-4D97-AF65-F5344CB8AC3E}">
        <p14:creationId xmlns:p14="http://schemas.microsoft.com/office/powerpoint/2010/main" val="2095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006CF-DC90-F598-3130-3D9F58276AB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319974-6DCA-47DB-8117-508FF9E09B27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DA9AC-5A99-B206-F14B-AA35653F2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170" name="Picture 2" descr="do 2d, 3d floor plan, cad from point cloud, sketch, draft">
            <a:extLst>
              <a:ext uri="{FF2B5EF4-FFF2-40B4-BE49-F238E27FC236}">
                <a16:creationId xmlns:a16="http://schemas.microsoft.com/office/drawing/2014/main" id="{E0CCE33F-899C-22F2-5E3C-38EFC3AF1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" b="522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B8B5F7-C814-38A3-D03F-EE02AE6CA7B9}"/>
              </a:ext>
            </a:extLst>
          </p:cNvPr>
          <p:cNvSpPr txBox="1"/>
          <p:nvPr/>
        </p:nvSpPr>
        <p:spPr>
          <a:xfrm>
            <a:off x="6861642" y="4073902"/>
            <a:ext cx="51459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Roboto Black" panose="02000000000000000000" pitchFamily="2" charset="0"/>
              </a:rPr>
              <a:t>Given a path </a:t>
            </a:r>
            <a:r>
              <a:rPr lang="en-US" sz="4800" dirty="0">
                <a:ln w="19050">
                  <a:solidFill>
                    <a:schemeClr val="tx1"/>
                  </a:solidFill>
                </a:ln>
                <a:solidFill>
                  <a:srgbClr val="C00000"/>
                </a:solidFill>
                <a:latin typeface="+mj-lt"/>
                <a:ea typeface="Roboto Black" panose="02000000000000000000" pitchFamily="2" charset="0"/>
                <a:cs typeface="Roboto Black" panose="02000000000000000000" pitchFamily="2" charset="0"/>
              </a:rPr>
              <a:t>(red)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91A13-5ABD-4E03-1259-5D58577BEFA3}"/>
              </a:ext>
            </a:extLst>
          </p:cNvPr>
          <p:cNvSpPr txBox="1"/>
          <p:nvPr/>
        </p:nvSpPr>
        <p:spPr>
          <a:xfrm>
            <a:off x="4880194" y="5227617"/>
            <a:ext cx="74142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Roboto Black" panose="02000000000000000000" pitchFamily="2" charset="0"/>
              </a:rPr>
              <a:t>How do we track it? </a:t>
            </a:r>
            <a:r>
              <a:rPr lang="en-US" sz="4800" dirty="0">
                <a:ln w="19050">
                  <a:solidFill>
                    <a:schemeClr val="tx1"/>
                  </a:solidFill>
                </a:ln>
                <a:solidFill>
                  <a:schemeClr val="accent5">
                    <a:lumMod val="75000"/>
                  </a:schemeClr>
                </a:solidFill>
                <a:latin typeface="+mj-lt"/>
                <a:ea typeface="Roboto Black" panose="02000000000000000000" pitchFamily="2" charset="0"/>
                <a:cs typeface="Roboto Black" panose="02000000000000000000" pitchFamily="2" charset="0"/>
              </a:rPr>
              <a:t>(blue)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2B90F-BE1B-D64C-52BC-D5E8E739C428}"/>
              </a:ext>
            </a:extLst>
          </p:cNvPr>
          <p:cNvSpPr/>
          <p:nvPr/>
        </p:nvSpPr>
        <p:spPr>
          <a:xfrm>
            <a:off x="8683256" y="120502"/>
            <a:ext cx="3175591" cy="37651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9C3EDB-F65E-5F15-B48E-BFB49ACA3BC6}"/>
              </a:ext>
            </a:extLst>
          </p:cNvPr>
          <p:cNvSpPr/>
          <p:nvPr/>
        </p:nvSpPr>
        <p:spPr>
          <a:xfrm>
            <a:off x="3593805" y="378230"/>
            <a:ext cx="2890540" cy="4753751"/>
          </a:xfrm>
          <a:custGeom>
            <a:avLst/>
            <a:gdLst>
              <a:gd name="connsiteX0" fmla="*/ 701748 w 2890540"/>
              <a:gd name="connsiteY0" fmla="*/ 4753751 h 4753751"/>
              <a:gd name="connsiteX1" fmla="*/ 1339702 w 2890540"/>
              <a:gd name="connsiteY1" fmla="*/ 4385156 h 4753751"/>
              <a:gd name="connsiteX2" fmla="*/ 1807535 w 2890540"/>
              <a:gd name="connsiteY2" fmla="*/ 4307184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90540" h="4753751">
                <a:moveTo>
                  <a:pt x="701748" y="4753751"/>
                </a:moveTo>
                <a:cubicBezTo>
                  <a:pt x="928576" y="4606667"/>
                  <a:pt x="1155404" y="4459584"/>
                  <a:pt x="1339702" y="4385156"/>
                </a:cubicBezTo>
                <a:cubicBezTo>
                  <a:pt x="1524000" y="4310728"/>
                  <a:pt x="1639777" y="4294189"/>
                  <a:pt x="1807535" y="4307184"/>
                </a:cubicBezTo>
                <a:cubicBezTo>
                  <a:pt x="1975293" y="4320179"/>
                  <a:pt x="2262372" y="4530467"/>
                  <a:pt x="2346251" y="4463128"/>
                </a:cubicBezTo>
                <a:cubicBezTo>
                  <a:pt x="2430130" y="4395788"/>
                  <a:pt x="2222204" y="4127612"/>
                  <a:pt x="2310809" y="3903147"/>
                </a:cubicBezTo>
                <a:cubicBezTo>
                  <a:pt x="2399414" y="3678682"/>
                  <a:pt x="2812902" y="3431770"/>
                  <a:pt x="2877879" y="3116337"/>
                </a:cubicBezTo>
                <a:cubicBezTo>
                  <a:pt x="2942856" y="2800904"/>
                  <a:pt x="2738474" y="2437035"/>
                  <a:pt x="2700669" y="2010551"/>
                </a:cubicBezTo>
                <a:cubicBezTo>
                  <a:pt x="2662864" y="1584067"/>
                  <a:pt x="2732567" y="889407"/>
                  <a:pt x="2651051" y="557435"/>
                </a:cubicBezTo>
                <a:cubicBezTo>
                  <a:pt x="2569535" y="225463"/>
                  <a:pt x="2460846" y="63612"/>
                  <a:pt x="2211572" y="18719"/>
                </a:cubicBezTo>
                <a:cubicBezTo>
                  <a:pt x="1962298" y="-26174"/>
                  <a:pt x="1523999" y="-9635"/>
                  <a:pt x="1155404" y="288077"/>
                </a:cubicBezTo>
                <a:cubicBezTo>
                  <a:pt x="786809" y="585789"/>
                  <a:pt x="393404" y="1195389"/>
                  <a:pt x="0" y="1804989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2F7A04-2F44-BE45-881B-C0933F85E614}"/>
              </a:ext>
            </a:extLst>
          </p:cNvPr>
          <p:cNvSpPr/>
          <p:nvPr/>
        </p:nvSpPr>
        <p:spPr>
          <a:xfrm>
            <a:off x="9434623" y="611728"/>
            <a:ext cx="1342271" cy="2096030"/>
          </a:xfrm>
          <a:custGeom>
            <a:avLst/>
            <a:gdLst>
              <a:gd name="connsiteX0" fmla="*/ 368596 w 1342271"/>
              <a:gd name="connsiteY0" fmla="*/ 2096030 h 2096030"/>
              <a:gd name="connsiteX1" fmla="*/ 878958 w 1342271"/>
              <a:gd name="connsiteY1" fmla="*/ 1975528 h 2096030"/>
              <a:gd name="connsiteX2" fmla="*/ 1119963 w 1342271"/>
              <a:gd name="connsiteY2" fmla="*/ 2060588 h 2096030"/>
              <a:gd name="connsiteX3" fmla="*/ 1134140 w 1342271"/>
              <a:gd name="connsiteY3" fmla="*/ 1734523 h 2096030"/>
              <a:gd name="connsiteX4" fmla="*/ 1339703 w 1342271"/>
              <a:gd name="connsiteY4" fmla="*/ 1387193 h 2096030"/>
              <a:gd name="connsiteX5" fmla="*/ 1247554 w 1342271"/>
              <a:gd name="connsiteY5" fmla="*/ 642914 h 2096030"/>
              <a:gd name="connsiteX6" fmla="*/ 1219200 w 1342271"/>
              <a:gd name="connsiteY6" fmla="*/ 61667 h 2096030"/>
              <a:gd name="connsiteX7" fmla="*/ 496186 w 1342271"/>
              <a:gd name="connsiteY7" fmla="*/ 111286 h 2096030"/>
              <a:gd name="connsiteX8" fmla="*/ 0 w 1342271"/>
              <a:gd name="connsiteY8" fmla="*/ 898095 h 20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2271" h="2096030">
                <a:moveTo>
                  <a:pt x="368596" y="2096030"/>
                </a:moveTo>
                <a:cubicBezTo>
                  <a:pt x="561163" y="2038732"/>
                  <a:pt x="753730" y="1981435"/>
                  <a:pt x="878958" y="1975528"/>
                </a:cubicBezTo>
                <a:cubicBezTo>
                  <a:pt x="1004186" y="1969621"/>
                  <a:pt x="1077433" y="2100756"/>
                  <a:pt x="1119963" y="2060588"/>
                </a:cubicBezTo>
                <a:cubicBezTo>
                  <a:pt x="1162493" y="2020420"/>
                  <a:pt x="1097517" y="1846755"/>
                  <a:pt x="1134140" y="1734523"/>
                </a:cubicBezTo>
                <a:cubicBezTo>
                  <a:pt x="1170763" y="1622290"/>
                  <a:pt x="1320801" y="1569128"/>
                  <a:pt x="1339703" y="1387193"/>
                </a:cubicBezTo>
                <a:cubicBezTo>
                  <a:pt x="1358605" y="1205258"/>
                  <a:pt x="1267638" y="863835"/>
                  <a:pt x="1247554" y="642914"/>
                </a:cubicBezTo>
                <a:cubicBezTo>
                  <a:pt x="1227470" y="421993"/>
                  <a:pt x="1344428" y="150272"/>
                  <a:pt x="1219200" y="61667"/>
                </a:cubicBezTo>
                <a:cubicBezTo>
                  <a:pt x="1093972" y="-26938"/>
                  <a:pt x="699386" y="-28119"/>
                  <a:pt x="496186" y="111286"/>
                </a:cubicBezTo>
                <a:cubicBezTo>
                  <a:pt x="292986" y="250691"/>
                  <a:pt x="146493" y="574393"/>
                  <a:pt x="0" y="898095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BE3B6B-9F06-EF6E-C24D-3EACE90C9919}"/>
              </a:ext>
            </a:extLst>
          </p:cNvPr>
          <p:cNvSpPr/>
          <p:nvPr/>
        </p:nvSpPr>
        <p:spPr>
          <a:xfrm>
            <a:off x="3697566" y="218747"/>
            <a:ext cx="2934931" cy="5065633"/>
          </a:xfrm>
          <a:custGeom>
            <a:avLst/>
            <a:gdLst>
              <a:gd name="connsiteX0" fmla="*/ 701748 w 2890540"/>
              <a:gd name="connsiteY0" fmla="*/ 4753751 h 4753751"/>
              <a:gd name="connsiteX1" fmla="*/ 1339702 w 2890540"/>
              <a:gd name="connsiteY1" fmla="*/ 4385156 h 4753751"/>
              <a:gd name="connsiteX2" fmla="*/ 1807535 w 2890540"/>
              <a:gd name="connsiteY2" fmla="*/ 4307184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807535 w 2890540"/>
              <a:gd name="connsiteY2" fmla="*/ 4307184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398974 w 2890540"/>
              <a:gd name="connsiteY2" fmla="*/ 4336367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398974 w 2890540"/>
              <a:gd name="connsiteY2" fmla="*/ 4336367 h 4753751"/>
              <a:gd name="connsiteX3" fmla="*/ 1577766 w 2890540"/>
              <a:gd name="connsiteY3" fmla="*/ 3996200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903486"/>
              <a:gd name="connsiteY0" fmla="*/ 4753751 h 4753751"/>
              <a:gd name="connsiteX1" fmla="*/ 911685 w 2903486"/>
              <a:gd name="connsiteY1" fmla="*/ 4064143 h 4753751"/>
              <a:gd name="connsiteX2" fmla="*/ 1398974 w 2903486"/>
              <a:gd name="connsiteY2" fmla="*/ 4336367 h 4753751"/>
              <a:gd name="connsiteX3" fmla="*/ 1577766 w 2903486"/>
              <a:gd name="connsiteY3" fmla="*/ 3996200 h 4753751"/>
              <a:gd name="connsiteX4" fmla="*/ 2077345 w 2903486"/>
              <a:gd name="connsiteY4" fmla="*/ 4486807 h 4753751"/>
              <a:gd name="connsiteX5" fmla="*/ 2877879 w 2903486"/>
              <a:gd name="connsiteY5" fmla="*/ 3116337 h 4753751"/>
              <a:gd name="connsiteX6" fmla="*/ 2700669 w 2903486"/>
              <a:gd name="connsiteY6" fmla="*/ 2010551 h 4753751"/>
              <a:gd name="connsiteX7" fmla="*/ 2651051 w 2903486"/>
              <a:gd name="connsiteY7" fmla="*/ 557435 h 4753751"/>
              <a:gd name="connsiteX8" fmla="*/ 2211572 w 2903486"/>
              <a:gd name="connsiteY8" fmla="*/ 18719 h 4753751"/>
              <a:gd name="connsiteX9" fmla="*/ 1155404 w 2903486"/>
              <a:gd name="connsiteY9" fmla="*/ 288077 h 4753751"/>
              <a:gd name="connsiteX10" fmla="*/ 0 w 2903486"/>
              <a:gd name="connsiteY10" fmla="*/ 1804989 h 4753751"/>
              <a:gd name="connsiteX0" fmla="*/ 701748 w 2879824"/>
              <a:gd name="connsiteY0" fmla="*/ 4753751 h 4753751"/>
              <a:gd name="connsiteX1" fmla="*/ 911685 w 2879824"/>
              <a:gd name="connsiteY1" fmla="*/ 4064143 h 4753751"/>
              <a:gd name="connsiteX2" fmla="*/ 1398974 w 2879824"/>
              <a:gd name="connsiteY2" fmla="*/ 4336367 h 4753751"/>
              <a:gd name="connsiteX3" fmla="*/ 1577766 w 2879824"/>
              <a:gd name="connsiteY3" fmla="*/ 3996200 h 4753751"/>
              <a:gd name="connsiteX4" fmla="*/ 2077345 w 2879824"/>
              <a:gd name="connsiteY4" fmla="*/ 4486807 h 4753751"/>
              <a:gd name="connsiteX5" fmla="*/ 2877879 w 2879824"/>
              <a:gd name="connsiteY5" fmla="*/ 3116337 h 4753751"/>
              <a:gd name="connsiteX6" fmla="*/ 2314127 w 2879824"/>
              <a:gd name="connsiteY6" fmla="*/ 4313744 h 4753751"/>
              <a:gd name="connsiteX7" fmla="*/ 2700669 w 2879824"/>
              <a:gd name="connsiteY7" fmla="*/ 2010551 h 4753751"/>
              <a:gd name="connsiteX8" fmla="*/ 2651051 w 2879824"/>
              <a:gd name="connsiteY8" fmla="*/ 557435 h 4753751"/>
              <a:gd name="connsiteX9" fmla="*/ 2211572 w 2879824"/>
              <a:gd name="connsiteY9" fmla="*/ 18719 h 4753751"/>
              <a:gd name="connsiteX10" fmla="*/ 1155404 w 2879824"/>
              <a:gd name="connsiteY10" fmla="*/ 288077 h 4753751"/>
              <a:gd name="connsiteX11" fmla="*/ 0 w 2879824"/>
              <a:gd name="connsiteY11" fmla="*/ 1804989 h 4753751"/>
              <a:gd name="connsiteX0" fmla="*/ 701748 w 2877923"/>
              <a:gd name="connsiteY0" fmla="*/ 4753751 h 4753751"/>
              <a:gd name="connsiteX1" fmla="*/ 911685 w 2877923"/>
              <a:gd name="connsiteY1" fmla="*/ 4064143 h 4753751"/>
              <a:gd name="connsiteX2" fmla="*/ 1398974 w 2877923"/>
              <a:gd name="connsiteY2" fmla="*/ 4336367 h 4753751"/>
              <a:gd name="connsiteX3" fmla="*/ 1577766 w 2877923"/>
              <a:gd name="connsiteY3" fmla="*/ 3996200 h 4753751"/>
              <a:gd name="connsiteX4" fmla="*/ 2077345 w 2877923"/>
              <a:gd name="connsiteY4" fmla="*/ 4486807 h 4753751"/>
              <a:gd name="connsiteX5" fmla="*/ 2877879 w 2877923"/>
              <a:gd name="connsiteY5" fmla="*/ 3116337 h 4753751"/>
              <a:gd name="connsiteX6" fmla="*/ 2041752 w 2877923"/>
              <a:gd name="connsiteY6" fmla="*/ 3195064 h 4753751"/>
              <a:gd name="connsiteX7" fmla="*/ 2700669 w 2877923"/>
              <a:gd name="connsiteY7" fmla="*/ 2010551 h 4753751"/>
              <a:gd name="connsiteX8" fmla="*/ 2651051 w 2877923"/>
              <a:gd name="connsiteY8" fmla="*/ 557435 h 4753751"/>
              <a:gd name="connsiteX9" fmla="*/ 2211572 w 2877923"/>
              <a:gd name="connsiteY9" fmla="*/ 18719 h 4753751"/>
              <a:gd name="connsiteX10" fmla="*/ 1155404 w 2877923"/>
              <a:gd name="connsiteY10" fmla="*/ 288077 h 4753751"/>
              <a:gd name="connsiteX11" fmla="*/ 0 w 2877923"/>
              <a:gd name="connsiteY11" fmla="*/ 1804989 h 4753751"/>
              <a:gd name="connsiteX0" fmla="*/ 701748 w 2877923"/>
              <a:gd name="connsiteY0" fmla="*/ 4795893 h 4795893"/>
              <a:gd name="connsiteX1" fmla="*/ 911685 w 2877923"/>
              <a:gd name="connsiteY1" fmla="*/ 4106285 h 4795893"/>
              <a:gd name="connsiteX2" fmla="*/ 1398974 w 2877923"/>
              <a:gd name="connsiteY2" fmla="*/ 4378509 h 4795893"/>
              <a:gd name="connsiteX3" fmla="*/ 1577766 w 2877923"/>
              <a:gd name="connsiteY3" fmla="*/ 4038342 h 4795893"/>
              <a:gd name="connsiteX4" fmla="*/ 2077345 w 2877923"/>
              <a:gd name="connsiteY4" fmla="*/ 4528949 h 4795893"/>
              <a:gd name="connsiteX5" fmla="*/ 2877879 w 2877923"/>
              <a:gd name="connsiteY5" fmla="*/ 3158479 h 4795893"/>
              <a:gd name="connsiteX6" fmla="*/ 2041752 w 2877923"/>
              <a:gd name="connsiteY6" fmla="*/ 3237206 h 4795893"/>
              <a:gd name="connsiteX7" fmla="*/ 2700669 w 2877923"/>
              <a:gd name="connsiteY7" fmla="*/ 2052693 h 4795893"/>
              <a:gd name="connsiteX8" fmla="*/ 2349494 w 2877923"/>
              <a:gd name="connsiteY8" fmla="*/ 1183237 h 4795893"/>
              <a:gd name="connsiteX9" fmla="*/ 2211572 w 2877923"/>
              <a:gd name="connsiteY9" fmla="*/ 60861 h 4795893"/>
              <a:gd name="connsiteX10" fmla="*/ 1155404 w 2877923"/>
              <a:gd name="connsiteY10" fmla="*/ 330219 h 4795893"/>
              <a:gd name="connsiteX11" fmla="*/ 0 w 2877923"/>
              <a:gd name="connsiteY11" fmla="*/ 1847131 h 4795893"/>
              <a:gd name="connsiteX0" fmla="*/ 701748 w 2877923"/>
              <a:gd name="connsiteY0" fmla="*/ 5010434 h 5010434"/>
              <a:gd name="connsiteX1" fmla="*/ 911685 w 2877923"/>
              <a:gd name="connsiteY1" fmla="*/ 4320826 h 5010434"/>
              <a:gd name="connsiteX2" fmla="*/ 1398974 w 2877923"/>
              <a:gd name="connsiteY2" fmla="*/ 4593050 h 5010434"/>
              <a:gd name="connsiteX3" fmla="*/ 1577766 w 2877923"/>
              <a:gd name="connsiteY3" fmla="*/ 4252883 h 5010434"/>
              <a:gd name="connsiteX4" fmla="*/ 2077345 w 2877923"/>
              <a:gd name="connsiteY4" fmla="*/ 4743490 h 5010434"/>
              <a:gd name="connsiteX5" fmla="*/ 2877879 w 2877923"/>
              <a:gd name="connsiteY5" fmla="*/ 3373020 h 5010434"/>
              <a:gd name="connsiteX6" fmla="*/ 2041752 w 2877923"/>
              <a:gd name="connsiteY6" fmla="*/ 3451747 h 5010434"/>
              <a:gd name="connsiteX7" fmla="*/ 2700669 w 2877923"/>
              <a:gd name="connsiteY7" fmla="*/ 2267234 h 5010434"/>
              <a:gd name="connsiteX8" fmla="*/ 2349494 w 2877923"/>
              <a:gd name="connsiteY8" fmla="*/ 1397778 h 5010434"/>
              <a:gd name="connsiteX9" fmla="*/ 2396398 w 2877923"/>
              <a:gd name="connsiteY9" fmla="*/ 32211 h 5010434"/>
              <a:gd name="connsiteX10" fmla="*/ 1155404 w 2877923"/>
              <a:gd name="connsiteY10" fmla="*/ 544760 h 5010434"/>
              <a:gd name="connsiteX11" fmla="*/ 0 w 2877923"/>
              <a:gd name="connsiteY11" fmla="*/ 2061672 h 5010434"/>
              <a:gd name="connsiteX0" fmla="*/ 701748 w 2877923"/>
              <a:gd name="connsiteY0" fmla="*/ 5065633 h 5065633"/>
              <a:gd name="connsiteX1" fmla="*/ 911685 w 2877923"/>
              <a:gd name="connsiteY1" fmla="*/ 4376025 h 5065633"/>
              <a:gd name="connsiteX2" fmla="*/ 1398974 w 2877923"/>
              <a:gd name="connsiteY2" fmla="*/ 4648249 h 5065633"/>
              <a:gd name="connsiteX3" fmla="*/ 1577766 w 2877923"/>
              <a:gd name="connsiteY3" fmla="*/ 4308082 h 5065633"/>
              <a:gd name="connsiteX4" fmla="*/ 2077345 w 2877923"/>
              <a:gd name="connsiteY4" fmla="*/ 4798689 h 5065633"/>
              <a:gd name="connsiteX5" fmla="*/ 2877879 w 2877923"/>
              <a:gd name="connsiteY5" fmla="*/ 3428219 h 5065633"/>
              <a:gd name="connsiteX6" fmla="*/ 2041752 w 2877923"/>
              <a:gd name="connsiteY6" fmla="*/ 3506946 h 5065633"/>
              <a:gd name="connsiteX7" fmla="*/ 2700669 w 2877923"/>
              <a:gd name="connsiteY7" fmla="*/ 2322433 h 5065633"/>
              <a:gd name="connsiteX8" fmla="*/ 2349494 w 2877923"/>
              <a:gd name="connsiteY8" fmla="*/ 1452977 h 5065633"/>
              <a:gd name="connsiteX9" fmla="*/ 2396398 w 2877923"/>
              <a:gd name="connsiteY9" fmla="*/ 87410 h 5065633"/>
              <a:gd name="connsiteX10" fmla="*/ 853847 w 2877923"/>
              <a:gd name="connsiteY10" fmla="*/ 327585 h 5065633"/>
              <a:gd name="connsiteX11" fmla="*/ 0 w 2877923"/>
              <a:gd name="connsiteY11" fmla="*/ 2116871 h 5065633"/>
              <a:gd name="connsiteX0" fmla="*/ 468284 w 2644459"/>
              <a:gd name="connsiteY0" fmla="*/ 5065633 h 5065633"/>
              <a:gd name="connsiteX1" fmla="*/ 678221 w 2644459"/>
              <a:gd name="connsiteY1" fmla="*/ 4376025 h 5065633"/>
              <a:gd name="connsiteX2" fmla="*/ 1165510 w 2644459"/>
              <a:gd name="connsiteY2" fmla="*/ 4648249 h 5065633"/>
              <a:gd name="connsiteX3" fmla="*/ 1344302 w 2644459"/>
              <a:gd name="connsiteY3" fmla="*/ 4308082 h 5065633"/>
              <a:gd name="connsiteX4" fmla="*/ 1843881 w 2644459"/>
              <a:gd name="connsiteY4" fmla="*/ 4798689 h 5065633"/>
              <a:gd name="connsiteX5" fmla="*/ 2644415 w 2644459"/>
              <a:gd name="connsiteY5" fmla="*/ 3428219 h 5065633"/>
              <a:gd name="connsiteX6" fmla="*/ 1808288 w 2644459"/>
              <a:gd name="connsiteY6" fmla="*/ 3506946 h 5065633"/>
              <a:gd name="connsiteX7" fmla="*/ 2467205 w 2644459"/>
              <a:gd name="connsiteY7" fmla="*/ 2322433 h 5065633"/>
              <a:gd name="connsiteX8" fmla="*/ 2116030 w 2644459"/>
              <a:gd name="connsiteY8" fmla="*/ 1452977 h 5065633"/>
              <a:gd name="connsiteX9" fmla="*/ 2162934 w 2644459"/>
              <a:gd name="connsiteY9" fmla="*/ 87410 h 5065633"/>
              <a:gd name="connsiteX10" fmla="*/ 620383 w 2644459"/>
              <a:gd name="connsiteY10" fmla="*/ 327585 h 5065633"/>
              <a:gd name="connsiteX11" fmla="*/ 0 w 2644459"/>
              <a:gd name="connsiteY11" fmla="*/ 1669398 h 5065633"/>
              <a:gd name="connsiteX0" fmla="*/ 750386 w 2926561"/>
              <a:gd name="connsiteY0" fmla="*/ 5065633 h 5065633"/>
              <a:gd name="connsiteX1" fmla="*/ 960323 w 2926561"/>
              <a:gd name="connsiteY1" fmla="*/ 4376025 h 5065633"/>
              <a:gd name="connsiteX2" fmla="*/ 1447612 w 2926561"/>
              <a:gd name="connsiteY2" fmla="*/ 4648249 h 5065633"/>
              <a:gd name="connsiteX3" fmla="*/ 1626404 w 2926561"/>
              <a:gd name="connsiteY3" fmla="*/ 4308082 h 5065633"/>
              <a:gd name="connsiteX4" fmla="*/ 2125983 w 2926561"/>
              <a:gd name="connsiteY4" fmla="*/ 4798689 h 5065633"/>
              <a:gd name="connsiteX5" fmla="*/ 2926517 w 2926561"/>
              <a:gd name="connsiteY5" fmla="*/ 3428219 h 5065633"/>
              <a:gd name="connsiteX6" fmla="*/ 2090390 w 2926561"/>
              <a:gd name="connsiteY6" fmla="*/ 3506946 h 5065633"/>
              <a:gd name="connsiteX7" fmla="*/ 2749307 w 2926561"/>
              <a:gd name="connsiteY7" fmla="*/ 2322433 h 5065633"/>
              <a:gd name="connsiteX8" fmla="*/ 2398132 w 2926561"/>
              <a:gd name="connsiteY8" fmla="*/ 1452977 h 5065633"/>
              <a:gd name="connsiteX9" fmla="*/ 2445036 w 2926561"/>
              <a:gd name="connsiteY9" fmla="*/ 87410 h 5065633"/>
              <a:gd name="connsiteX10" fmla="*/ 902485 w 2926561"/>
              <a:gd name="connsiteY10" fmla="*/ 327585 h 5065633"/>
              <a:gd name="connsiteX11" fmla="*/ 0 w 2926561"/>
              <a:gd name="connsiteY11" fmla="*/ 1951500 h 5065633"/>
              <a:gd name="connsiteX0" fmla="*/ 750386 w 2926561"/>
              <a:gd name="connsiteY0" fmla="*/ 5065633 h 5065633"/>
              <a:gd name="connsiteX1" fmla="*/ 960323 w 2926561"/>
              <a:gd name="connsiteY1" fmla="*/ 4376025 h 5065633"/>
              <a:gd name="connsiteX2" fmla="*/ 1447612 w 2926561"/>
              <a:gd name="connsiteY2" fmla="*/ 4648249 h 5065633"/>
              <a:gd name="connsiteX3" fmla="*/ 1626404 w 2926561"/>
              <a:gd name="connsiteY3" fmla="*/ 4308082 h 5065633"/>
              <a:gd name="connsiteX4" fmla="*/ 2125983 w 2926561"/>
              <a:gd name="connsiteY4" fmla="*/ 4798689 h 5065633"/>
              <a:gd name="connsiteX5" fmla="*/ 2926517 w 2926561"/>
              <a:gd name="connsiteY5" fmla="*/ 3428219 h 5065633"/>
              <a:gd name="connsiteX6" fmla="*/ 2090390 w 2926561"/>
              <a:gd name="connsiteY6" fmla="*/ 3506946 h 5065633"/>
              <a:gd name="connsiteX7" fmla="*/ 2749307 w 2926561"/>
              <a:gd name="connsiteY7" fmla="*/ 2322433 h 5065633"/>
              <a:gd name="connsiteX8" fmla="*/ 2398132 w 2926561"/>
              <a:gd name="connsiteY8" fmla="*/ 1452977 h 5065633"/>
              <a:gd name="connsiteX9" fmla="*/ 2445036 w 2926561"/>
              <a:gd name="connsiteY9" fmla="*/ 87410 h 5065633"/>
              <a:gd name="connsiteX10" fmla="*/ 902485 w 2926561"/>
              <a:gd name="connsiteY10" fmla="*/ 327585 h 5065633"/>
              <a:gd name="connsiteX11" fmla="*/ 0 w 2926561"/>
              <a:gd name="connsiteY11" fmla="*/ 1951500 h 5065633"/>
              <a:gd name="connsiteX0" fmla="*/ 750386 w 2934931"/>
              <a:gd name="connsiteY0" fmla="*/ 5065633 h 5065633"/>
              <a:gd name="connsiteX1" fmla="*/ 960323 w 2934931"/>
              <a:gd name="connsiteY1" fmla="*/ 4376025 h 5065633"/>
              <a:gd name="connsiteX2" fmla="*/ 1447612 w 2934931"/>
              <a:gd name="connsiteY2" fmla="*/ 4648249 h 5065633"/>
              <a:gd name="connsiteX3" fmla="*/ 1626404 w 2934931"/>
              <a:gd name="connsiteY3" fmla="*/ 4308082 h 5065633"/>
              <a:gd name="connsiteX4" fmla="*/ 2125983 w 2934931"/>
              <a:gd name="connsiteY4" fmla="*/ 4798689 h 5065633"/>
              <a:gd name="connsiteX5" fmla="*/ 2926517 w 2934931"/>
              <a:gd name="connsiteY5" fmla="*/ 3428219 h 5065633"/>
              <a:gd name="connsiteX6" fmla="*/ 2557317 w 2934931"/>
              <a:gd name="connsiteY6" fmla="*/ 3117840 h 5065633"/>
              <a:gd name="connsiteX7" fmla="*/ 2749307 w 2934931"/>
              <a:gd name="connsiteY7" fmla="*/ 2322433 h 5065633"/>
              <a:gd name="connsiteX8" fmla="*/ 2398132 w 2934931"/>
              <a:gd name="connsiteY8" fmla="*/ 1452977 h 5065633"/>
              <a:gd name="connsiteX9" fmla="*/ 2445036 w 2934931"/>
              <a:gd name="connsiteY9" fmla="*/ 87410 h 5065633"/>
              <a:gd name="connsiteX10" fmla="*/ 902485 w 2934931"/>
              <a:gd name="connsiteY10" fmla="*/ 327585 h 5065633"/>
              <a:gd name="connsiteX11" fmla="*/ 0 w 2934931"/>
              <a:gd name="connsiteY11" fmla="*/ 1951500 h 506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4931" h="5065633">
                <a:moveTo>
                  <a:pt x="750386" y="5065633"/>
                </a:moveTo>
                <a:cubicBezTo>
                  <a:pt x="977214" y="4918549"/>
                  <a:pt x="844119" y="4445589"/>
                  <a:pt x="960323" y="4376025"/>
                </a:cubicBezTo>
                <a:cubicBezTo>
                  <a:pt x="1076527" y="4306461"/>
                  <a:pt x="1336599" y="4659573"/>
                  <a:pt x="1447612" y="4648249"/>
                </a:cubicBezTo>
                <a:cubicBezTo>
                  <a:pt x="1558625" y="4636925"/>
                  <a:pt x="1513342" y="4283009"/>
                  <a:pt x="1626404" y="4308082"/>
                </a:cubicBezTo>
                <a:cubicBezTo>
                  <a:pt x="1739466" y="4333155"/>
                  <a:pt x="1909298" y="4945333"/>
                  <a:pt x="2125983" y="4798689"/>
                </a:cubicBezTo>
                <a:cubicBezTo>
                  <a:pt x="2342669" y="4652045"/>
                  <a:pt x="2854628" y="3708361"/>
                  <a:pt x="2926517" y="3428219"/>
                </a:cubicBezTo>
                <a:cubicBezTo>
                  <a:pt x="2998406" y="3148078"/>
                  <a:pt x="2586852" y="3302138"/>
                  <a:pt x="2557317" y="3117840"/>
                </a:cubicBezTo>
                <a:cubicBezTo>
                  <a:pt x="2527782" y="2933542"/>
                  <a:pt x="2775838" y="2599910"/>
                  <a:pt x="2749307" y="2322433"/>
                </a:cubicBezTo>
                <a:cubicBezTo>
                  <a:pt x="2722776" y="2044956"/>
                  <a:pt x="2448844" y="1825481"/>
                  <a:pt x="2398132" y="1452977"/>
                </a:cubicBezTo>
                <a:cubicBezTo>
                  <a:pt x="2347420" y="1080473"/>
                  <a:pt x="2694311" y="274975"/>
                  <a:pt x="2445036" y="87410"/>
                </a:cubicBezTo>
                <a:cubicBezTo>
                  <a:pt x="2195761" y="-100155"/>
                  <a:pt x="1271080" y="29873"/>
                  <a:pt x="902485" y="327585"/>
                </a:cubicBezTo>
                <a:cubicBezTo>
                  <a:pt x="533890" y="625297"/>
                  <a:pt x="675506" y="1624002"/>
                  <a:pt x="0" y="1951500"/>
                </a:cubicBezTo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52631FD-9C41-F314-2550-B7260207338A}"/>
              </a:ext>
            </a:extLst>
          </p:cNvPr>
          <p:cNvSpPr>
            <a:spLocks noChangeAspect="1"/>
          </p:cNvSpPr>
          <p:nvPr/>
        </p:nvSpPr>
        <p:spPr>
          <a:xfrm>
            <a:off x="9497953" y="502405"/>
            <a:ext cx="1367916" cy="2360996"/>
          </a:xfrm>
          <a:custGeom>
            <a:avLst/>
            <a:gdLst>
              <a:gd name="connsiteX0" fmla="*/ 701748 w 2890540"/>
              <a:gd name="connsiteY0" fmla="*/ 4753751 h 4753751"/>
              <a:gd name="connsiteX1" fmla="*/ 1339702 w 2890540"/>
              <a:gd name="connsiteY1" fmla="*/ 4385156 h 4753751"/>
              <a:gd name="connsiteX2" fmla="*/ 1807535 w 2890540"/>
              <a:gd name="connsiteY2" fmla="*/ 4307184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807535 w 2890540"/>
              <a:gd name="connsiteY2" fmla="*/ 4307184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398974 w 2890540"/>
              <a:gd name="connsiteY2" fmla="*/ 4336367 h 4753751"/>
              <a:gd name="connsiteX3" fmla="*/ 2346251 w 2890540"/>
              <a:gd name="connsiteY3" fmla="*/ 4463128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890540"/>
              <a:gd name="connsiteY0" fmla="*/ 4753751 h 4753751"/>
              <a:gd name="connsiteX1" fmla="*/ 911685 w 2890540"/>
              <a:gd name="connsiteY1" fmla="*/ 4064143 h 4753751"/>
              <a:gd name="connsiteX2" fmla="*/ 1398974 w 2890540"/>
              <a:gd name="connsiteY2" fmla="*/ 4336367 h 4753751"/>
              <a:gd name="connsiteX3" fmla="*/ 1577766 w 2890540"/>
              <a:gd name="connsiteY3" fmla="*/ 3996200 h 4753751"/>
              <a:gd name="connsiteX4" fmla="*/ 2310809 w 2890540"/>
              <a:gd name="connsiteY4" fmla="*/ 3903147 h 4753751"/>
              <a:gd name="connsiteX5" fmla="*/ 2877879 w 2890540"/>
              <a:gd name="connsiteY5" fmla="*/ 3116337 h 4753751"/>
              <a:gd name="connsiteX6" fmla="*/ 2700669 w 2890540"/>
              <a:gd name="connsiteY6" fmla="*/ 2010551 h 4753751"/>
              <a:gd name="connsiteX7" fmla="*/ 2651051 w 2890540"/>
              <a:gd name="connsiteY7" fmla="*/ 557435 h 4753751"/>
              <a:gd name="connsiteX8" fmla="*/ 2211572 w 2890540"/>
              <a:gd name="connsiteY8" fmla="*/ 18719 h 4753751"/>
              <a:gd name="connsiteX9" fmla="*/ 1155404 w 2890540"/>
              <a:gd name="connsiteY9" fmla="*/ 288077 h 4753751"/>
              <a:gd name="connsiteX10" fmla="*/ 0 w 2890540"/>
              <a:gd name="connsiteY10" fmla="*/ 1804989 h 4753751"/>
              <a:gd name="connsiteX0" fmla="*/ 701748 w 2903486"/>
              <a:gd name="connsiteY0" fmla="*/ 4753751 h 4753751"/>
              <a:gd name="connsiteX1" fmla="*/ 911685 w 2903486"/>
              <a:gd name="connsiteY1" fmla="*/ 4064143 h 4753751"/>
              <a:gd name="connsiteX2" fmla="*/ 1398974 w 2903486"/>
              <a:gd name="connsiteY2" fmla="*/ 4336367 h 4753751"/>
              <a:gd name="connsiteX3" fmla="*/ 1577766 w 2903486"/>
              <a:gd name="connsiteY3" fmla="*/ 3996200 h 4753751"/>
              <a:gd name="connsiteX4" fmla="*/ 2077345 w 2903486"/>
              <a:gd name="connsiteY4" fmla="*/ 4486807 h 4753751"/>
              <a:gd name="connsiteX5" fmla="*/ 2877879 w 2903486"/>
              <a:gd name="connsiteY5" fmla="*/ 3116337 h 4753751"/>
              <a:gd name="connsiteX6" fmla="*/ 2700669 w 2903486"/>
              <a:gd name="connsiteY6" fmla="*/ 2010551 h 4753751"/>
              <a:gd name="connsiteX7" fmla="*/ 2651051 w 2903486"/>
              <a:gd name="connsiteY7" fmla="*/ 557435 h 4753751"/>
              <a:gd name="connsiteX8" fmla="*/ 2211572 w 2903486"/>
              <a:gd name="connsiteY8" fmla="*/ 18719 h 4753751"/>
              <a:gd name="connsiteX9" fmla="*/ 1155404 w 2903486"/>
              <a:gd name="connsiteY9" fmla="*/ 288077 h 4753751"/>
              <a:gd name="connsiteX10" fmla="*/ 0 w 2903486"/>
              <a:gd name="connsiteY10" fmla="*/ 1804989 h 4753751"/>
              <a:gd name="connsiteX0" fmla="*/ 701748 w 2879824"/>
              <a:gd name="connsiteY0" fmla="*/ 4753751 h 4753751"/>
              <a:gd name="connsiteX1" fmla="*/ 911685 w 2879824"/>
              <a:gd name="connsiteY1" fmla="*/ 4064143 h 4753751"/>
              <a:gd name="connsiteX2" fmla="*/ 1398974 w 2879824"/>
              <a:gd name="connsiteY2" fmla="*/ 4336367 h 4753751"/>
              <a:gd name="connsiteX3" fmla="*/ 1577766 w 2879824"/>
              <a:gd name="connsiteY3" fmla="*/ 3996200 h 4753751"/>
              <a:gd name="connsiteX4" fmla="*/ 2077345 w 2879824"/>
              <a:gd name="connsiteY4" fmla="*/ 4486807 h 4753751"/>
              <a:gd name="connsiteX5" fmla="*/ 2877879 w 2879824"/>
              <a:gd name="connsiteY5" fmla="*/ 3116337 h 4753751"/>
              <a:gd name="connsiteX6" fmla="*/ 2314127 w 2879824"/>
              <a:gd name="connsiteY6" fmla="*/ 4313744 h 4753751"/>
              <a:gd name="connsiteX7" fmla="*/ 2700669 w 2879824"/>
              <a:gd name="connsiteY7" fmla="*/ 2010551 h 4753751"/>
              <a:gd name="connsiteX8" fmla="*/ 2651051 w 2879824"/>
              <a:gd name="connsiteY8" fmla="*/ 557435 h 4753751"/>
              <a:gd name="connsiteX9" fmla="*/ 2211572 w 2879824"/>
              <a:gd name="connsiteY9" fmla="*/ 18719 h 4753751"/>
              <a:gd name="connsiteX10" fmla="*/ 1155404 w 2879824"/>
              <a:gd name="connsiteY10" fmla="*/ 288077 h 4753751"/>
              <a:gd name="connsiteX11" fmla="*/ 0 w 2879824"/>
              <a:gd name="connsiteY11" fmla="*/ 1804989 h 4753751"/>
              <a:gd name="connsiteX0" fmla="*/ 701748 w 2877923"/>
              <a:gd name="connsiteY0" fmla="*/ 4753751 h 4753751"/>
              <a:gd name="connsiteX1" fmla="*/ 911685 w 2877923"/>
              <a:gd name="connsiteY1" fmla="*/ 4064143 h 4753751"/>
              <a:gd name="connsiteX2" fmla="*/ 1398974 w 2877923"/>
              <a:gd name="connsiteY2" fmla="*/ 4336367 h 4753751"/>
              <a:gd name="connsiteX3" fmla="*/ 1577766 w 2877923"/>
              <a:gd name="connsiteY3" fmla="*/ 3996200 h 4753751"/>
              <a:gd name="connsiteX4" fmla="*/ 2077345 w 2877923"/>
              <a:gd name="connsiteY4" fmla="*/ 4486807 h 4753751"/>
              <a:gd name="connsiteX5" fmla="*/ 2877879 w 2877923"/>
              <a:gd name="connsiteY5" fmla="*/ 3116337 h 4753751"/>
              <a:gd name="connsiteX6" fmla="*/ 2041752 w 2877923"/>
              <a:gd name="connsiteY6" fmla="*/ 3195064 h 4753751"/>
              <a:gd name="connsiteX7" fmla="*/ 2700669 w 2877923"/>
              <a:gd name="connsiteY7" fmla="*/ 2010551 h 4753751"/>
              <a:gd name="connsiteX8" fmla="*/ 2651051 w 2877923"/>
              <a:gd name="connsiteY8" fmla="*/ 557435 h 4753751"/>
              <a:gd name="connsiteX9" fmla="*/ 2211572 w 2877923"/>
              <a:gd name="connsiteY9" fmla="*/ 18719 h 4753751"/>
              <a:gd name="connsiteX10" fmla="*/ 1155404 w 2877923"/>
              <a:gd name="connsiteY10" fmla="*/ 288077 h 4753751"/>
              <a:gd name="connsiteX11" fmla="*/ 0 w 2877923"/>
              <a:gd name="connsiteY11" fmla="*/ 1804989 h 4753751"/>
              <a:gd name="connsiteX0" fmla="*/ 701748 w 2877923"/>
              <a:gd name="connsiteY0" fmla="*/ 4795893 h 4795893"/>
              <a:gd name="connsiteX1" fmla="*/ 911685 w 2877923"/>
              <a:gd name="connsiteY1" fmla="*/ 4106285 h 4795893"/>
              <a:gd name="connsiteX2" fmla="*/ 1398974 w 2877923"/>
              <a:gd name="connsiteY2" fmla="*/ 4378509 h 4795893"/>
              <a:gd name="connsiteX3" fmla="*/ 1577766 w 2877923"/>
              <a:gd name="connsiteY3" fmla="*/ 4038342 h 4795893"/>
              <a:gd name="connsiteX4" fmla="*/ 2077345 w 2877923"/>
              <a:gd name="connsiteY4" fmla="*/ 4528949 h 4795893"/>
              <a:gd name="connsiteX5" fmla="*/ 2877879 w 2877923"/>
              <a:gd name="connsiteY5" fmla="*/ 3158479 h 4795893"/>
              <a:gd name="connsiteX6" fmla="*/ 2041752 w 2877923"/>
              <a:gd name="connsiteY6" fmla="*/ 3237206 h 4795893"/>
              <a:gd name="connsiteX7" fmla="*/ 2700669 w 2877923"/>
              <a:gd name="connsiteY7" fmla="*/ 2052693 h 4795893"/>
              <a:gd name="connsiteX8" fmla="*/ 2349494 w 2877923"/>
              <a:gd name="connsiteY8" fmla="*/ 1183237 h 4795893"/>
              <a:gd name="connsiteX9" fmla="*/ 2211572 w 2877923"/>
              <a:gd name="connsiteY9" fmla="*/ 60861 h 4795893"/>
              <a:gd name="connsiteX10" fmla="*/ 1155404 w 2877923"/>
              <a:gd name="connsiteY10" fmla="*/ 330219 h 4795893"/>
              <a:gd name="connsiteX11" fmla="*/ 0 w 2877923"/>
              <a:gd name="connsiteY11" fmla="*/ 1847131 h 4795893"/>
              <a:gd name="connsiteX0" fmla="*/ 701748 w 2877923"/>
              <a:gd name="connsiteY0" fmla="*/ 5010434 h 5010434"/>
              <a:gd name="connsiteX1" fmla="*/ 911685 w 2877923"/>
              <a:gd name="connsiteY1" fmla="*/ 4320826 h 5010434"/>
              <a:gd name="connsiteX2" fmla="*/ 1398974 w 2877923"/>
              <a:gd name="connsiteY2" fmla="*/ 4593050 h 5010434"/>
              <a:gd name="connsiteX3" fmla="*/ 1577766 w 2877923"/>
              <a:gd name="connsiteY3" fmla="*/ 4252883 h 5010434"/>
              <a:gd name="connsiteX4" fmla="*/ 2077345 w 2877923"/>
              <a:gd name="connsiteY4" fmla="*/ 4743490 h 5010434"/>
              <a:gd name="connsiteX5" fmla="*/ 2877879 w 2877923"/>
              <a:gd name="connsiteY5" fmla="*/ 3373020 h 5010434"/>
              <a:gd name="connsiteX6" fmla="*/ 2041752 w 2877923"/>
              <a:gd name="connsiteY6" fmla="*/ 3451747 h 5010434"/>
              <a:gd name="connsiteX7" fmla="*/ 2700669 w 2877923"/>
              <a:gd name="connsiteY7" fmla="*/ 2267234 h 5010434"/>
              <a:gd name="connsiteX8" fmla="*/ 2349494 w 2877923"/>
              <a:gd name="connsiteY8" fmla="*/ 1397778 h 5010434"/>
              <a:gd name="connsiteX9" fmla="*/ 2396398 w 2877923"/>
              <a:gd name="connsiteY9" fmla="*/ 32211 h 5010434"/>
              <a:gd name="connsiteX10" fmla="*/ 1155404 w 2877923"/>
              <a:gd name="connsiteY10" fmla="*/ 544760 h 5010434"/>
              <a:gd name="connsiteX11" fmla="*/ 0 w 2877923"/>
              <a:gd name="connsiteY11" fmla="*/ 2061672 h 5010434"/>
              <a:gd name="connsiteX0" fmla="*/ 701748 w 2877923"/>
              <a:gd name="connsiteY0" fmla="*/ 5065633 h 5065633"/>
              <a:gd name="connsiteX1" fmla="*/ 911685 w 2877923"/>
              <a:gd name="connsiteY1" fmla="*/ 4376025 h 5065633"/>
              <a:gd name="connsiteX2" fmla="*/ 1398974 w 2877923"/>
              <a:gd name="connsiteY2" fmla="*/ 4648249 h 5065633"/>
              <a:gd name="connsiteX3" fmla="*/ 1577766 w 2877923"/>
              <a:gd name="connsiteY3" fmla="*/ 4308082 h 5065633"/>
              <a:gd name="connsiteX4" fmla="*/ 2077345 w 2877923"/>
              <a:gd name="connsiteY4" fmla="*/ 4798689 h 5065633"/>
              <a:gd name="connsiteX5" fmla="*/ 2877879 w 2877923"/>
              <a:gd name="connsiteY5" fmla="*/ 3428219 h 5065633"/>
              <a:gd name="connsiteX6" fmla="*/ 2041752 w 2877923"/>
              <a:gd name="connsiteY6" fmla="*/ 3506946 h 5065633"/>
              <a:gd name="connsiteX7" fmla="*/ 2700669 w 2877923"/>
              <a:gd name="connsiteY7" fmla="*/ 2322433 h 5065633"/>
              <a:gd name="connsiteX8" fmla="*/ 2349494 w 2877923"/>
              <a:gd name="connsiteY8" fmla="*/ 1452977 h 5065633"/>
              <a:gd name="connsiteX9" fmla="*/ 2396398 w 2877923"/>
              <a:gd name="connsiteY9" fmla="*/ 87410 h 5065633"/>
              <a:gd name="connsiteX10" fmla="*/ 853847 w 2877923"/>
              <a:gd name="connsiteY10" fmla="*/ 327585 h 5065633"/>
              <a:gd name="connsiteX11" fmla="*/ 0 w 2877923"/>
              <a:gd name="connsiteY11" fmla="*/ 2116871 h 5065633"/>
              <a:gd name="connsiteX0" fmla="*/ 468284 w 2644459"/>
              <a:gd name="connsiteY0" fmla="*/ 5065633 h 5065633"/>
              <a:gd name="connsiteX1" fmla="*/ 678221 w 2644459"/>
              <a:gd name="connsiteY1" fmla="*/ 4376025 h 5065633"/>
              <a:gd name="connsiteX2" fmla="*/ 1165510 w 2644459"/>
              <a:gd name="connsiteY2" fmla="*/ 4648249 h 5065633"/>
              <a:gd name="connsiteX3" fmla="*/ 1344302 w 2644459"/>
              <a:gd name="connsiteY3" fmla="*/ 4308082 h 5065633"/>
              <a:gd name="connsiteX4" fmla="*/ 1843881 w 2644459"/>
              <a:gd name="connsiteY4" fmla="*/ 4798689 h 5065633"/>
              <a:gd name="connsiteX5" fmla="*/ 2644415 w 2644459"/>
              <a:gd name="connsiteY5" fmla="*/ 3428219 h 5065633"/>
              <a:gd name="connsiteX6" fmla="*/ 1808288 w 2644459"/>
              <a:gd name="connsiteY6" fmla="*/ 3506946 h 5065633"/>
              <a:gd name="connsiteX7" fmla="*/ 2467205 w 2644459"/>
              <a:gd name="connsiteY7" fmla="*/ 2322433 h 5065633"/>
              <a:gd name="connsiteX8" fmla="*/ 2116030 w 2644459"/>
              <a:gd name="connsiteY8" fmla="*/ 1452977 h 5065633"/>
              <a:gd name="connsiteX9" fmla="*/ 2162934 w 2644459"/>
              <a:gd name="connsiteY9" fmla="*/ 87410 h 5065633"/>
              <a:gd name="connsiteX10" fmla="*/ 620383 w 2644459"/>
              <a:gd name="connsiteY10" fmla="*/ 327585 h 5065633"/>
              <a:gd name="connsiteX11" fmla="*/ 0 w 2644459"/>
              <a:gd name="connsiteY11" fmla="*/ 1669398 h 5065633"/>
              <a:gd name="connsiteX0" fmla="*/ 750386 w 2926561"/>
              <a:gd name="connsiteY0" fmla="*/ 5065633 h 5065633"/>
              <a:gd name="connsiteX1" fmla="*/ 960323 w 2926561"/>
              <a:gd name="connsiteY1" fmla="*/ 4376025 h 5065633"/>
              <a:gd name="connsiteX2" fmla="*/ 1447612 w 2926561"/>
              <a:gd name="connsiteY2" fmla="*/ 4648249 h 5065633"/>
              <a:gd name="connsiteX3" fmla="*/ 1626404 w 2926561"/>
              <a:gd name="connsiteY3" fmla="*/ 4308082 h 5065633"/>
              <a:gd name="connsiteX4" fmla="*/ 2125983 w 2926561"/>
              <a:gd name="connsiteY4" fmla="*/ 4798689 h 5065633"/>
              <a:gd name="connsiteX5" fmla="*/ 2926517 w 2926561"/>
              <a:gd name="connsiteY5" fmla="*/ 3428219 h 5065633"/>
              <a:gd name="connsiteX6" fmla="*/ 2090390 w 2926561"/>
              <a:gd name="connsiteY6" fmla="*/ 3506946 h 5065633"/>
              <a:gd name="connsiteX7" fmla="*/ 2749307 w 2926561"/>
              <a:gd name="connsiteY7" fmla="*/ 2322433 h 5065633"/>
              <a:gd name="connsiteX8" fmla="*/ 2398132 w 2926561"/>
              <a:gd name="connsiteY8" fmla="*/ 1452977 h 5065633"/>
              <a:gd name="connsiteX9" fmla="*/ 2445036 w 2926561"/>
              <a:gd name="connsiteY9" fmla="*/ 87410 h 5065633"/>
              <a:gd name="connsiteX10" fmla="*/ 902485 w 2926561"/>
              <a:gd name="connsiteY10" fmla="*/ 327585 h 5065633"/>
              <a:gd name="connsiteX11" fmla="*/ 0 w 2926561"/>
              <a:gd name="connsiteY11" fmla="*/ 1951500 h 5065633"/>
              <a:gd name="connsiteX0" fmla="*/ 750386 w 2926561"/>
              <a:gd name="connsiteY0" fmla="*/ 5065633 h 5065633"/>
              <a:gd name="connsiteX1" fmla="*/ 960323 w 2926561"/>
              <a:gd name="connsiteY1" fmla="*/ 4376025 h 5065633"/>
              <a:gd name="connsiteX2" fmla="*/ 1447612 w 2926561"/>
              <a:gd name="connsiteY2" fmla="*/ 4648249 h 5065633"/>
              <a:gd name="connsiteX3" fmla="*/ 1626404 w 2926561"/>
              <a:gd name="connsiteY3" fmla="*/ 4308082 h 5065633"/>
              <a:gd name="connsiteX4" fmla="*/ 2125983 w 2926561"/>
              <a:gd name="connsiteY4" fmla="*/ 4798689 h 5065633"/>
              <a:gd name="connsiteX5" fmla="*/ 2926517 w 2926561"/>
              <a:gd name="connsiteY5" fmla="*/ 3428219 h 5065633"/>
              <a:gd name="connsiteX6" fmla="*/ 2090390 w 2926561"/>
              <a:gd name="connsiteY6" fmla="*/ 3506946 h 5065633"/>
              <a:gd name="connsiteX7" fmla="*/ 2749307 w 2926561"/>
              <a:gd name="connsiteY7" fmla="*/ 2322433 h 5065633"/>
              <a:gd name="connsiteX8" fmla="*/ 2398132 w 2926561"/>
              <a:gd name="connsiteY8" fmla="*/ 1452977 h 5065633"/>
              <a:gd name="connsiteX9" fmla="*/ 2445036 w 2926561"/>
              <a:gd name="connsiteY9" fmla="*/ 87410 h 5065633"/>
              <a:gd name="connsiteX10" fmla="*/ 902485 w 2926561"/>
              <a:gd name="connsiteY10" fmla="*/ 327585 h 5065633"/>
              <a:gd name="connsiteX11" fmla="*/ 0 w 2926561"/>
              <a:gd name="connsiteY11" fmla="*/ 1951500 h 5065633"/>
              <a:gd name="connsiteX0" fmla="*/ 750386 w 2934931"/>
              <a:gd name="connsiteY0" fmla="*/ 5065633 h 5065633"/>
              <a:gd name="connsiteX1" fmla="*/ 960323 w 2934931"/>
              <a:gd name="connsiteY1" fmla="*/ 4376025 h 5065633"/>
              <a:gd name="connsiteX2" fmla="*/ 1447612 w 2934931"/>
              <a:gd name="connsiteY2" fmla="*/ 4648249 h 5065633"/>
              <a:gd name="connsiteX3" fmla="*/ 1626404 w 2934931"/>
              <a:gd name="connsiteY3" fmla="*/ 4308082 h 5065633"/>
              <a:gd name="connsiteX4" fmla="*/ 2125983 w 2934931"/>
              <a:gd name="connsiteY4" fmla="*/ 4798689 h 5065633"/>
              <a:gd name="connsiteX5" fmla="*/ 2926517 w 2934931"/>
              <a:gd name="connsiteY5" fmla="*/ 3428219 h 5065633"/>
              <a:gd name="connsiteX6" fmla="*/ 2557317 w 2934931"/>
              <a:gd name="connsiteY6" fmla="*/ 3117840 h 5065633"/>
              <a:gd name="connsiteX7" fmla="*/ 2749307 w 2934931"/>
              <a:gd name="connsiteY7" fmla="*/ 2322433 h 5065633"/>
              <a:gd name="connsiteX8" fmla="*/ 2398132 w 2934931"/>
              <a:gd name="connsiteY8" fmla="*/ 1452977 h 5065633"/>
              <a:gd name="connsiteX9" fmla="*/ 2445036 w 2934931"/>
              <a:gd name="connsiteY9" fmla="*/ 87410 h 5065633"/>
              <a:gd name="connsiteX10" fmla="*/ 902485 w 2934931"/>
              <a:gd name="connsiteY10" fmla="*/ 327585 h 5065633"/>
              <a:gd name="connsiteX11" fmla="*/ 0 w 2934931"/>
              <a:gd name="connsiteY11" fmla="*/ 1951500 h 506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4931" h="5065633">
                <a:moveTo>
                  <a:pt x="750386" y="5065633"/>
                </a:moveTo>
                <a:cubicBezTo>
                  <a:pt x="977214" y="4918549"/>
                  <a:pt x="844119" y="4445589"/>
                  <a:pt x="960323" y="4376025"/>
                </a:cubicBezTo>
                <a:cubicBezTo>
                  <a:pt x="1076527" y="4306461"/>
                  <a:pt x="1336599" y="4659573"/>
                  <a:pt x="1447612" y="4648249"/>
                </a:cubicBezTo>
                <a:cubicBezTo>
                  <a:pt x="1558625" y="4636925"/>
                  <a:pt x="1513342" y="4283009"/>
                  <a:pt x="1626404" y="4308082"/>
                </a:cubicBezTo>
                <a:cubicBezTo>
                  <a:pt x="1739466" y="4333155"/>
                  <a:pt x="1909298" y="4945333"/>
                  <a:pt x="2125983" y="4798689"/>
                </a:cubicBezTo>
                <a:cubicBezTo>
                  <a:pt x="2342669" y="4652045"/>
                  <a:pt x="2854628" y="3708361"/>
                  <a:pt x="2926517" y="3428219"/>
                </a:cubicBezTo>
                <a:cubicBezTo>
                  <a:pt x="2998406" y="3148078"/>
                  <a:pt x="2586852" y="3302138"/>
                  <a:pt x="2557317" y="3117840"/>
                </a:cubicBezTo>
                <a:cubicBezTo>
                  <a:pt x="2527782" y="2933542"/>
                  <a:pt x="2775838" y="2599910"/>
                  <a:pt x="2749307" y="2322433"/>
                </a:cubicBezTo>
                <a:cubicBezTo>
                  <a:pt x="2722776" y="2044956"/>
                  <a:pt x="2448844" y="1825481"/>
                  <a:pt x="2398132" y="1452977"/>
                </a:cubicBezTo>
                <a:cubicBezTo>
                  <a:pt x="2347420" y="1080473"/>
                  <a:pt x="2694311" y="274975"/>
                  <a:pt x="2445036" y="87410"/>
                </a:cubicBezTo>
                <a:cubicBezTo>
                  <a:pt x="2195761" y="-100155"/>
                  <a:pt x="1271080" y="29873"/>
                  <a:pt x="902485" y="327585"/>
                </a:cubicBezTo>
                <a:cubicBezTo>
                  <a:pt x="533890" y="625297"/>
                  <a:pt x="675506" y="1624002"/>
                  <a:pt x="0" y="1951500"/>
                </a:cubicBezTo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06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9" grpId="0" animBg="1"/>
      <p:bldP spid="2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964995-F8C3-BF19-4541-F4CB9A5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751684" cy="4399774"/>
          </a:xfrm>
        </p:spPr>
        <p:txBody>
          <a:bodyPr/>
          <a:lstStyle/>
          <a:p>
            <a:r>
              <a:rPr lang="en-US" dirty="0"/>
              <a:t>Velocity control in the world frame</a:t>
            </a:r>
          </a:p>
          <a:p>
            <a:pPr lvl="1"/>
            <a:r>
              <a:rPr lang="en-US" dirty="0"/>
              <a:t>Derivation (not intuitive, equations)</a:t>
            </a:r>
          </a:p>
          <a:p>
            <a:pPr lvl="1"/>
            <a:r>
              <a:rPr lang="en-US" dirty="0"/>
              <a:t>Making sense of it (intuitive, block diagrams)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3D Transforms and Notation</a:t>
            </a:r>
          </a:p>
          <a:p>
            <a:pPr lvl="1"/>
            <a:r>
              <a:rPr lang="en-US" dirty="0"/>
              <a:t>Transforming camera measurements to world frame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Heading control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8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964995-F8C3-BF19-4541-F4CB9A5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9092152" cy="43997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There are many ways to track a path</a:t>
            </a:r>
          </a:p>
          <a:p>
            <a:pPr lvl="1"/>
            <a:r>
              <a:rPr lang="en-US" dirty="0"/>
              <a:t>The simplest way is in the world frame</a:t>
            </a:r>
          </a:p>
          <a:p>
            <a:pPr lvl="2"/>
            <a:r>
              <a:rPr lang="en-US" dirty="0"/>
              <a:t>Robot estimates its position in the world</a:t>
            </a:r>
          </a:p>
          <a:p>
            <a:pPr lvl="2"/>
            <a:r>
              <a:rPr lang="en-US" dirty="0"/>
              <a:t>Move to get closer to some desired position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Another way is in the ego-frame (camera frame)</a:t>
            </a:r>
          </a:p>
          <a:p>
            <a:pPr lvl="2"/>
            <a:r>
              <a:rPr lang="en-US" dirty="0"/>
              <a:t>Move so that an object (</a:t>
            </a:r>
            <a:r>
              <a:rPr lang="en-US" dirty="0" err="1"/>
              <a:t>AprilTag</a:t>
            </a:r>
            <a:r>
              <a:rPr lang="en-US" dirty="0"/>
              <a:t>) is at a desired pixel location</a:t>
            </a:r>
          </a:p>
          <a:p>
            <a:pPr lvl="2"/>
            <a:r>
              <a:rPr lang="en-US" dirty="0"/>
              <a:t>This is the bonus problem for Project 1</a:t>
            </a:r>
          </a:p>
          <a:p>
            <a:pPr lvl="2"/>
            <a:endParaRPr lang="en-US" dirty="0"/>
          </a:p>
          <a:p>
            <a:r>
              <a:rPr lang="en-US" dirty="0"/>
              <a:t>We are going to focus on the former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Much easier to understand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Can be “noisier”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2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Task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7003732" cy="43997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red be desired path</a:t>
                </a:r>
              </a:p>
              <a:p>
                <a:pPr lvl="1"/>
                <a:r>
                  <a:rPr lang="en-US" dirty="0"/>
                  <a:t>Could be from Dijkstra’s or A*</a:t>
                </a:r>
              </a:p>
              <a:p>
                <a:pPr lvl="1"/>
                <a:r>
                  <a:rPr lang="en-US" dirty="0"/>
                  <a:t>Call the path (in world):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Indexed by time to get point: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The robot will take a different path</a:t>
                </a:r>
              </a:p>
              <a:p>
                <a:pPr lvl="1"/>
                <a:r>
                  <a:rPr lang="en-US" dirty="0"/>
                  <a:t>Let that path be the blue path</a:t>
                </a:r>
              </a:p>
              <a:p>
                <a:pPr lvl="1"/>
                <a:r>
                  <a:rPr lang="en-US" dirty="0"/>
                  <a:t>Call the path (in world):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Index that path by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We want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at all times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7003732" cy="4399774"/>
              </a:xfrm>
              <a:blipFill>
                <a:blip r:embed="rId3"/>
                <a:stretch>
                  <a:fillRect l="-1567" t="-3329" b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04CB3472-316A-B8E6-C618-1F9C38D32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453" y="1331035"/>
            <a:ext cx="4592462" cy="3902092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7A5951-87F0-01EE-0919-B09D797E5773}"/>
              </a:ext>
            </a:extLst>
          </p:cNvPr>
          <p:cNvSpPr/>
          <p:nvPr/>
        </p:nvSpPr>
        <p:spPr>
          <a:xfrm>
            <a:off x="7495608" y="2659509"/>
            <a:ext cx="3815959" cy="1731839"/>
          </a:xfrm>
          <a:custGeom>
            <a:avLst/>
            <a:gdLst>
              <a:gd name="connsiteX0" fmla="*/ 368596 w 1342271"/>
              <a:gd name="connsiteY0" fmla="*/ 2096030 h 2096030"/>
              <a:gd name="connsiteX1" fmla="*/ 878958 w 1342271"/>
              <a:gd name="connsiteY1" fmla="*/ 1975528 h 2096030"/>
              <a:gd name="connsiteX2" fmla="*/ 1119963 w 1342271"/>
              <a:gd name="connsiteY2" fmla="*/ 2060588 h 2096030"/>
              <a:gd name="connsiteX3" fmla="*/ 1134140 w 1342271"/>
              <a:gd name="connsiteY3" fmla="*/ 1734523 h 2096030"/>
              <a:gd name="connsiteX4" fmla="*/ 1339703 w 1342271"/>
              <a:gd name="connsiteY4" fmla="*/ 1387193 h 2096030"/>
              <a:gd name="connsiteX5" fmla="*/ 1247554 w 1342271"/>
              <a:gd name="connsiteY5" fmla="*/ 642914 h 2096030"/>
              <a:gd name="connsiteX6" fmla="*/ 1219200 w 1342271"/>
              <a:gd name="connsiteY6" fmla="*/ 61667 h 2096030"/>
              <a:gd name="connsiteX7" fmla="*/ 496186 w 1342271"/>
              <a:gd name="connsiteY7" fmla="*/ 111286 h 2096030"/>
              <a:gd name="connsiteX8" fmla="*/ 0 w 1342271"/>
              <a:gd name="connsiteY8" fmla="*/ 898095 h 2096030"/>
              <a:gd name="connsiteX0" fmla="*/ 0 w 2024262"/>
              <a:gd name="connsiteY0" fmla="*/ 1269179 h 2086106"/>
              <a:gd name="connsiteX1" fmla="*/ 1560949 w 2024262"/>
              <a:gd name="connsiteY1" fmla="*/ 1975528 h 2086106"/>
              <a:gd name="connsiteX2" fmla="*/ 1801954 w 2024262"/>
              <a:gd name="connsiteY2" fmla="*/ 2060588 h 2086106"/>
              <a:gd name="connsiteX3" fmla="*/ 1816131 w 2024262"/>
              <a:gd name="connsiteY3" fmla="*/ 1734523 h 2086106"/>
              <a:gd name="connsiteX4" fmla="*/ 2021694 w 2024262"/>
              <a:gd name="connsiteY4" fmla="*/ 1387193 h 2086106"/>
              <a:gd name="connsiteX5" fmla="*/ 1929545 w 2024262"/>
              <a:gd name="connsiteY5" fmla="*/ 642914 h 2086106"/>
              <a:gd name="connsiteX6" fmla="*/ 1901191 w 2024262"/>
              <a:gd name="connsiteY6" fmla="*/ 61667 h 2086106"/>
              <a:gd name="connsiteX7" fmla="*/ 1178177 w 2024262"/>
              <a:gd name="connsiteY7" fmla="*/ 111286 h 2086106"/>
              <a:gd name="connsiteX8" fmla="*/ 681991 w 2024262"/>
              <a:gd name="connsiteY8" fmla="*/ 898095 h 2086106"/>
              <a:gd name="connsiteX0" fmla="*/ 212953 w 1342271"/>
              <a:gd name="connsiteY0" fmla="*/ 1541553 h 2076483"/>
              <a:gd name="connsiteX1" fmla="*/ 878958 w 1342271"/>
              <a:gd name="connsiteY1" fmla="*/ 1975528 h 2076483"/>
              <a:gd name="connsiteX2" fmla="*/ 1119963 w 1342271"/>
              <a:gd name="connsiteY2" fmla="*/ 2060588 h 2076483"/>
              <a:gd name="connsiteX3" fmla="*/ 1134140 w 1342271"/>
              <a:gd name="connsiteY3" fmla="*/ 1734523 h 2076483"/>
              <a:gd name="connsiteX4" fmla="*/ 1339703 w 1342271"/>
              <a:gd name="connsiteY4" fmla="*/ 1387193 h 2076483"/>
              <a:gd name="connsiteX5" fmla="*/ 1247554 w 1342271"/>
              <a:gd name="connsiteY5" fmla="*/ 642914 h 2076483"/>
              <a:gd name="connsiteX6" fmla="*/ 1219200 w 1342271"/>
              <a:gd name="connsiteY6" fmla="*/ 61667 h 2076483"/>
              <a:gd name="connsiteX7" fmla="*/ 496186 w 1342271"/>
              <a:gd name="connsiteY7" fmla="*/ 111286 h 2076483"/>
              <a:gd name="connsiteX8" fmla="*/ 0 w 1342271"/>
              <a:gd name="connsiteY8" fmla="*/ 898095 h 2076483"/>
              <a:gd name="connsiteX0" fmla="*/ 0 w 2004808"/>
              <a:gd name="connsiteY0" fmla="*/ 1220540 h 2088328"/>
              <a:gd name="connsiteX1" fmla="*/ 1541495 w 2004808"/>
              <a:gd name="connsiteY1" fmla="*/ 1975528 h 2088328"/>
              <a:gd name="connsiteX2" fmla="*/ 1782500 w 2004808"/>
              <a:gd name="connsiteY2" fmla="*/ 2060588 h 2088328"/>
              <a:gd name="connsiteX3" fmla="*/ 1796677 w 2004808"/>
              <a:gd name="connsiteY3" fmla="*/ 1734523 h 2088328"/>
              <a:gd name="connsiteX4" fmla="*/ 2002240 w 2004808"/>
              <a:gd name="connsiteY4" fmla="*/ 1387193 h 2088328"/>
              <a:gd name="connsiteX5" fmla="*/ 1910091 w 2004808"/>
              <a:gd name="connsiteY5" fmla="*/ 642914 h 2088328"/>
              <a:gd name="connsiteX6" fmla="*/ 1881737 w 2004808"/>
              <a:gd name="connsiteY6" fmla="*/ 61667 h 2088328"/>
              <a:gd name="connsiteX7" fmla="*/ 1158723 w 2004808"/>
              <a:gd name="connsiteY7" fmla="*/ 111286 h 2088328"/>
              <a:gd name="connsiteX8" fmla="*/ 662537 w 2004808"/>
              <a:gd name="connsiteY8" fmla="*/ 898095 h 2088328"/>
              <a:gd name="connsiteX0" fmla="*/ 0 w 1829711"/>
              <a:gd name="connsiteY0" fmla="*/ 1220540 h 2088328"/>
              <a:gd name="connsiteX1" fmla="*/ 1366398 w 1829711"/>
              <a:gd name="connsiteY1" fmla="*/ 1975528 h 2088328"/>
              <a:gd name="connsiteX2" fmla="*/ 1607403 w 1829711"/>
              <a:gd name="connsiteY2" fmla="*/ 2060588 h 2088328"/>
              <a:gd name="connsiteX3" fmla="*/ 1621580 w 1829711"/>
              <a:gd name="connsiteY3" fmla="*/ 1734523 h 2088328"/>
              <a:gd name="connsiteX4" fmla="*/ 1827143 w 1829711"/>
              <a:gd name="connsiteY4" fmla="*/ 1387193 h 2088328"/>
              <a:gd name="connsiteX5" fmla="*/ 1734994 w 1829711"/>
              <a:gd name="connsiteY5" fmla="*/ 642914 h 2088328"/>
              <a:gd name="connsiteX6" fmla="*/ 1706640 w 1829711"/>
              <a:gd name="connsiteY6" fmla="*/ 61667 h 2088328"/>
              <a:gd name="connsiteX7" fmla="*/ 983626 w 1829711"/>
              <a:gd name="connsiteY7" fmla="*/ 111286 h 2088328"/>
              <a:gd name="connsiteX8" fmla="*/ 487440 w 1829711"/>
              <a:gd name="connsiteY8" fmla="*/ 898095 h 2088328"/>
              <a:gd name="connsiteX0" fmla="*/ 0 w 1888077"/>
              <a:gd name="connsiteY0" fmla="*/ 1220540 h 2088328"/>
              <a:gd name="connsiteX1" fmla="*/ 1424764 w 1888077"/>
              <a:gd name="connsiteY1" fmla="*/ 1975528 h 2088328"/>
              <a:gd name="connsiteX2" fmla="*/ 1665769 w 1888077"/>
              <a:gd name="connsiteY2" fmla="*/ 2060588 h 2088328"/>
              <a:gd name="connsiteX3" fmla="*/ 1679946 w 1888077"/>
              <a:gd name="connsiteY3" fmla="*/ 1734523 h 2088328"/>
              <a:gd name="connsiteX4" fmla="*/ 1885509 w 1888077"/>
              <a:gd name="connsiteY4" fmla="*/ 1387193 h 2088328"/>
              <a:gd name="connsiteX5" fmla="*/ 1793360 w 1888077"/>
              <a:gd name="connsiteY5" fmla="*/ 642914 h 2088328"/>
              <a:gd name="connsiteX6" fmla="*/ 1765006 w 1888077"/>
              <a:gd name="connsiteY6" fmla="*/ 61667 h 2088328"/>
              <a:gd name="connsiteX7" fmla="*/ 1041992 w 1888077"/>
              <a:gd name="connsiteY7" fmla="*/ 111286 h 2088328"/>
              <a:gd name="connsiteX8" fmla="*/ 545806 w 1888077"/>
              <a:gd name="connsiteY8" fmla="*/ 898095 h 2088328"/>
              <a:gd name="connsiteX0" fmla="*/ 0 w 1888077"/>
              <a:gd name="connsiteY0" fmla="*/ 1220540 h 2152435"/>
              <a:gd name="connsiteX1" fmla="*/ 471454 w 1888077"/>
              <a:gd name="connsiteY1" fmla="*/ 2082532 h 2152435"/>
              <a:gd name="connsiteX2" fmla="*/ 1665769 w 1888077"/>
              <a:gd name="connsiteY2" fmla="*/ 2060588 h 2152435"/>
              <a:gd name="connsiteX3" fmla="*/ 1679946 w 1888077"/>
              <a:gd name="connsiteY3" fmla="*/ 1734523 h 2152435"/>
              <a:gd name="connsiteX4" fmla="*/ 1885509 w 1888077"/>
              <a:gd name="connsiteY4" fmla="*/ 1387193 h 2152435"/>
              <a:gd name="connsiteX5" fmla="*/ 1793360 w 1888077"/>
              <a:gd name="connsiteY5" fmla="*/ 642914 h 2152435"/>
              <a:gd name="connsiteX6" fmla="*/ 1765006 w 1888077"/>
              <a:gd name="connsiteY6" fmla="*/ 61667 h 2152435"/>
              <a:gd name="connsiteX7" fmla="*/ 1041992 w 1888077"/>
              <a:gd name="connsiteY7" fmla="*/ 111286 h 2152435"/>
              <a:gd name="connsiteX8" fmla="*/ 545806 w 1888077"/>
              <a:gd name="connsiteY8" fmla="*/ 898095 h 2152435"/>
              <a:gd name="connsiteX0" fmla="*/ 0 w 1888077"/>
              <a:gd name="connsiteY0" fmla="*/ 1220540 h 2120333"/>
              <a:gd name="connsiteX1" fmla="*/ 471454 w 1888077"/>
              <a:gd name="connsiteY1" fmla="*/ 2082532 h 2120333"/>
              <a:gd name="connsiteX2" fmla="*/ 1315574 w 1888077"/>
              <a:gd name="connsiteY2" fmla="*/ 1943856 h 2120333"/>
              <a:gd name="connsiteX3" fmla="*/ 1679946 w 1888077"/>
              <a:gd name="connsiteY3" fmla="*/ 1734523 h 2120333"/>
              <a:gd name="connsiteX4" fmla="*/ 1885509 w 1888077"/>
              <a:gd name="connsiteY4" fmla="*/ 1387193 h 2120333"/>
              <a:gd name="connsiteX5" fmla="*/ 1793360 w 1888077"/>
              <a:gd name="connsiteY5" fmla="*/ 642914 h 2120333"/>
              <a:gd name="connsiteX6" fmla="*/ 1765006 w 1888077"/>
              <a:gd name="connsiteY6" fmla="*/ 61667 h 2120333"/>
              <a:gd name="connsiteX7" fmla="*/ 1041992 w 1888077"/>
              <a:gd name="connsiteY7" fmla="*/ 111286 h 2120333"/>
              <a:gd name="connsiteX8" fmla="*/ 545806 w 1888077"/>
              <a:gd name="connsiteY8" fmla="*/ 898095 h 2120333"/>
              <a:gd name="connsiteX0" fmla="*/ 0 w 1902602"/>
              <a:gd name="connsiteY0" fmla="*/ 1220540 h 2141510"/>
              <a:gd name="connsiteX1" fmla="*/ 471454 w 1902602"/>
              <a:gd name="connsiteY1" fmla="*/ 2082532 h 2141510"/>
              <a:gd name="connsiteX2" fmla="*/ 1315574 w 1902602"/>
              <a:gd name="connsiteY2" fmla="*/ 1943856 h 2141510"/>
              <a:gd name="connsiteX3" fmla="*/ 1407572 w 1902602"/>
              <a:gd name="connsiteY3" fmla="*/ 966038 h 2141510"/>
              <a:gd name="connsiteX4" fmla="*/ 1885509 w 1902602"/>
              <a:gd name="connsiteY4" fmla="*/ 1387193 h 2141510"/>
              <a:gd name="connsiteX5" fmla="*/ 1793360 w 1902602"/>
              <a:gd name="connsiteY5" fmla="*/ 642914 h 2141510"/>
              <a:gd name="connsiteX6" fmla="*/ 1765006 w 1902602"/>
              <a:gd name="connsiteY6" fmla="*/ 61667 h 2141510"/>
              <a:gd name="connsiteX7" fmla="*/ 1041992 w 1902602"/>
              <a:gd name="connsiteY7" fmla="*/ 111286 h 2141510"/>
              <a:gd name="connsiteX8" fmla="*/ 545806 w 1902602"/>
              <a:gd name="connsiteY8" fmla="*/ 898095 h 2141510"/>
              <a:gd name="connsiteX0" fmla="*/ 0 w 2522184"/>
              <a:gd name="connsiteY0" fmla="*/ 1220540 h 2141510"/>
              <a:gd name="connsiteX1" fmla="*/ 471454 w 2522184"/>
              <a:gd name="connsiteY1" fmla="*/ 2082532 h 2141510"/>
              <a:gd name="connsiteX2" fmla="*/ 1315574 w 2522184"/>
              <a:gd name="connsiteY2" fmla="*/ 1943856 h 2141510"/>
              <a:gd name="connsiteX3" fmla="*/ 1407572 w 2522184"/>
              <a:gd name="connsiteY3" fmla="*/ 966038 h 2141510"/>
              <a:gd name="connsiteX4" fmla="*/ 2517807 w 2522184"/>
              <a:gd name="connsiteY4" fmla="*/ 1066180 h 2141510"/>
              <a:gd name="connsiteX5" fmla="*/ 1793360 w 2522184"/>
              <a:gd name="connsiteY5" fmla="*/ 642914 h 2141510"/>
              <a:gd name="connsiteX6" fmla="*/ 1765006 w 2522184"/>
              <a:gd name="connsiteY6" fmla="*/ 61667 h 2141510"/>
              <a:gd name="connsiteX7" fmla="*/ 1041992 w 2522184"/>
              <a:gd name="connsiteY7" fmla="*/ 111286 h 2141510"/>
              <a:gd name="connsiteX8" fmla="*/ 545806 w 2522184"/>
              <a:gd name="connsiteY8" fmla="*/ 898095 h 2141510"/>
              <a:gd name="connsiteX0" fmla="*/ 0 w 2628365"/>
              <a:gd name="connsiteY0" fmla="*/ 1346505 h 2525514"/>
              <a:gd name="connsiteX1" fmla="*/ 471454 w 2628365"/>
              <a:gd name="connsiteY1" fmla="*/ 2208497 h 2525514"/>
              <a:gd name="connsiteX2" fmla="*/ 1315574 w 2628365"/>
              <a:gd name="connsiteY2" fmla="*/ 2069821 h 2525514"/>
              <a:gd name="connsiteX3" fmla="*/ 1407572 w 2628365"/>
              <a:gd name="connsiteY3" fmla="*/ 1092003 h 2525514"/>
              <a:gd name="connsiteX4" fmla="*/ 2517807 w 2628365"/>
              <a:gd name="connsiteY4" fmla="*/ 1192145 h 2525514"/>
              <a:gd name="connsiteX5" fmla="*/ 2503479 w 2628365"/>
              <a:gd name="connsiteY5" fmla="*/ 2510130 h 2525514"/>
              <a:gd name="connsiteX6" fmla="*/ 1765006 w 2628365"/>
              <a:gd name="connsiteY6" fmla="*/ 187632 h 2525514"/>
              <a:gd name="connsiteX7" fmla="*/ 1041992 w 2628365"/>
              <a:gd name="connsiteY7" fmla="*/ 237251 h 2525514"/>
              <a:gd name="connsiteX8" fmla="*/ 545806 w 2628365"/>
              <a:gd name="connsiteY8" fmla="*/ 1024060 h 2525514"/>
              <a:gd name="connsiteX0" fmla="*/ 0 w 3722743"/>
              <a:gd name="connsiteY0" fmla="*/ 1115789 h 2576334"/>
              <a:gd name="connsiteX1" fmla="*/ 471454 w 3722743"/>
              <a:gd name="connsiteY1" fmla="*/ 1977781 h 2576334"/>
              <a:gd name="connsiteX2" fmla="*/ 1315574 w 3722743"/>
              <a:gd name="connsiteY2" fmla="*/ 1839105 h 2576334"/>
              <a:gd name="connsiteX3" fmla="*/ 1407572 w 3722743"/>
              <a:gd name="connsiteY3" fmla="*/ 861287 h 2576334"/>
              <a:gd name="connsiteX4" fmla="*/ 2517807 w 3722743"/>
              <a:gd name="connsiteY4" fmla="*/ 961429 h 2576334"/>
              <a:gd name="connsiteX5" fmla="*/ 2503479 w 3722743"/>
              <a:gd name="connsiteY5" fmla="*/ 2279414 h 2576334"/>
              <a:gd name="connsiteX6" fmla="*/ 3691082 w 3722743"/>
              <a:gd name="connsiteY6" fmla="*/ 2379104 h 2576334"/>
              <a:gd name="connsiteX7" fmla="*/ 1041992 w 3722743"/>
              <a:gd name="connsiteY7" fmla="*/ 6535 h 2576334"/>
              <a:gd name="connsiteX8" fmla="*/ 545806 w 3722743"/>
              <a:gd name="connsiteY8" fmla="*/ 793344 h 2576334"/>
              <a:gd name="connsiteX0" fmla="*/ 0 w 3929458"/>
              <a:gd name="connsiteY0" fmla="*/ 371536 h 1709590"/>
              <a:gd name="connsiteX1" fmla="*/ 471454 w 3929458"/>
              <a:gd name="connsiteY1" fmla="*/ 1233528 h 1709590"/>
              <a:gd name="connsiteX2" fmla="*/ 1315574 w 3929458"/>
              <a:gd name="connsiteY2" fmla="*/ 1094852 h 1709590"/>
              <a:gd name="connsiteX3" fmla="*/ 1407572 w 3929458"/>
              <a:gd name="connsiteY3" fmla="*/ 117034 h 1709590"/>
              <a:gd name="connsiteX4" fmla="*/ 2517807 w 3929458"/>
              <a:gd name="connsiteY4" fmla="*/ 217176 h 1709590"/>
              <a:gd name="connsiteX5" fmla="*/ 2503479 w 3929458"/>
              <a:gd name="connsiteY5" fmla="*/ 1535161 h 1709590"/>
              <a:gd name="connsiteX6" fmla="*/ 3691082 w 3929458"/>
              <a:gd name="connsiteY6" fmla="*/ 1634851 h 1709590"/>
              <a:gd name="connsiteX7" fmla="*/ 3824102 w 3929458"/>
              <a:gd name="connsiteY7" fmla="*/ 974350 h 1709590"/>
              <a:gd name="connsiteX8" fmla="*/ 545806 w 3929458"/>
              <a:gd name="connsiteY8" fmla="*/ 49091 h 1709590"/>
              <a:gd name="connsiteX0" fmla="*/ 0 w 3929458"/>
              <a:gd name="connsiteY0" fmla="*/ 350921 h 1688975"/>
              <a:gd name="connsiteX1" fmla="*/ 471454 w 3929458"/>
              <a:gd name="connsiteY1" fmla="*/ 1212913 h 1688975"/>
              <a:gd name="connsiteX2" fmla="*/ 1315574 w 3929458"/>
              <a:gd name="connsiteY2" fmla="*/ 1074237 h 1688975"/>
              <a:gd name="connsiteX3" fmla="*/ 1407572 w 3929458"/>
              <a:gd name="connsiteY3" fmla="*/ 96419 h 1688975"/>
              <a:gd name="connsiteX4" fmla="*/ 2517807 w 3929458"/>
              <a:gd name="connsiteY4" fmla="*/ 196561 h 1688975"/>
              <a:gd name="connsiteX5" fmla="*/ 2503479 w 3929458"/>
              <a:gd name="connsiteY5" fmla="*/ 1514546 h 1688975"/>
              <a:gd name="connsiteX6" fmla="*/ 3691082 w 3929458"/>
              <a:gd name="connsiteY6" fmla="*/ 1614236 h 1688975"/>
              <a:gd name="connsiteX7" fmla="*/ 3824102 w 3929458"/>
              <a:gd name="connsiteY7" fmla="*/ 953735 h 1688975"/>
              <a:gd name="connsiteX8" fmla="*/ 3794844 w 3929458"/>
              <a:gd name="connsiteY8" fmla="*/ 339761 h 1688975"/>
              <a:gd name="connsiteX0" fmla="*/ 0 w 3815959"/>
              <a:gd name="connsiteY0" fmla="*/ 350921 h 1731839"/>
              <a:gd name="connsiteX1" fmla="*/ 471454 w 3815959"/>
              <a:gd name="connsiteY1" fmla="*/ 1212913 h 1731839"/>
              <a:gd name="connsiteX2" fmla="*/ 1315574 w 3815959"/>
              <a:gd name="connsiteY2" fmla="*/ 1074237 h 1731839"/>
              <a:gd name="connsiteX3" fmla="*/ 1407572 w 3815959"/>
              <a:gd name="connsiteY3" fmla="*/ 96419 h 1731839"/>
              <a:gd name="connsiteX4" fmla="*/ 2517807 w 3815959"/>
              <a:gd name="connsiteY4" fmla="*/ 196561 h 1731839"/>
              <a:gd name="connsiteX5" fmla="*/ 2503479 w 3815959"/>
              <a:gd name="connsiteY5" fmla="*/ 1514546 h 1731839"/>
              <a:gd name="connsiteX6" fmla="*/ 3691082 w 3815959"/>
              <a:gd name="connsiteY6" fmla="*/ 1614236 h 1731839"/>
              <a:gd name="connsiteX7" fmla="*/ 3794844 w 3815959"/>
              <a:gd name="connsiteY7" fmla="*/ 339761 h 173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5959" h="1731839">
                <a:moveTo>
                  <a:pt x="0" y="350921"/>
                </a:moveTo>
                <a:cubicBezTo>
                  <a:pt x="192567" y="293623"/>
                  <a:pt x="252192" y="1092360"/>
                  <a:pt x="471454" y="1212913"/>
                </a:cubicBezTo>
                <a:cubicBezTo>
                  <a:pt x="690716" y="1333466"/>
                  <a:pt x="1159554" y="1260319"/>
                  <a:pt x="1315574" y="1074237"/>
                </a:cubicBezTo>
                <a:cubicBezTo>
                  <a:pt x="1471594" y="888155"/>
                  <a:pt x="1207200" y="242698"/>
                  <a:pt x="1407572" y="96419"/>
                </a:cubicBezTo>
                <a:cubicBezTo>
                  <a:pt x="1607944" y="-49860"/>
                  <a:pt x="2335156" y="-39793"/>
                  <a:pt x="2517807" y="196561"/>
                </a:cubicBezTo>
                <a:cubicBezTo>
                  <a:pt x="2700458" y="432915"/>
                  <a:pt x="2307933" y="1278267"/>
                  <a:pt x="2503479" y="1514546"/>
                </a:cubicBezTo>
                <a:cubicBezTo>
                  <a:pt x="2699025" y="1750825"/>
                  <a:pt x="3475855" y="1810034"/>
                  <a:pt x="3691082" y="1614236"/>
                </a:cubicBezTo>
                <a:cubicBezTo>
                  <a:pt x="3906310" y="1418439"/>
                  <a:pt x="3773227" y="605277"/>
                  <a:pt x="3794844" y="339761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F5ED12-1C61-9425-B7C9-678D580FF376}"/>
              </a:ext>
            </a:extLst>
          </p:cNvPr>
          <p:cNvSpPr>
            <a:spLocks noChangeAspect="1"/>
          </p:cNvSpPr>
          <p:nvPr/>
        </p:nvSpPr>
        <p:spPr>
          <a:xfrm>
            <a:off x="7393881" y="2920271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6718F4-C4DF-3774-D9C9-F4201DCD51A1}"/>
              </a:ext>
            </a:extLst>
          </p:cNvPr>
          <p:cNvSpPr/>
          <p:nvPr/>
        </p:nvSpPr>
        <p:spPr>
          <a:xfrm>
            <a:off x="7485864" y="2427823"/>
            <a:ext cx="4031626" cy="1924405"/>
          </a:xfrm>
          <a:custGeom>
            <a:avLst/>
            <a:gdLst>
              <a:gd name="connsiteX0" fmla="*/ 368596 w 1342271"/>
              <a:gd name="connsiteY0" fmla="*/ 2096030 h 2096030"/>
              <a:gd name="connsiteX1" fmla="*/ 878958 w 1342271"/>
              <a:gd name="connsiteY1" fmla="*/ 1975528 h 2096030"/>
              <a:gd name="connsiteX2" fmla="*/ 1119963 w 1342271"/>
              <a:gd name="connsiteY2" fmla="*/ 2060588 h 2096030"/>
              <a:gd name="connsiteX3" fmla="*/ 1134140 w 1342271"/>
              <a:gd name="connsiteY3" fmla="*/ 1734523 h 2096030"/>
              <a:gd name="connsiteX4" fmla="*/ 1339703 w 1342271"/>
              <a:gd name="connsiteY4" fmla="*/ 1387193 h 2096030"/>
              <a:gd name="connsiteX5" fmla="*/ 1247554 w 1342271"/>
              <a:gd name="connsiteY5" fmla="*/ 642914 h 2096030"/>
              <a:gd name="connsiteX6" fmla="*/ 1219200 w 1342271"/>
              <a:gd name="connsiteY6" fmla="*/ 61667 h 2096030"/>
              <a:gd name="connsiteX7" fmla="*/ 496186 w 1342271"/>
              <a:gd name="connsiteY7" fmla="*/ 111286 h 2096030"/>
              <a:gd name="connsiteX8" fmla="*/ 0 w 1342271"/>
              <a:gd name="connsiteY8" fmla="*/ 898095 h 2096030"/>
              <a:gd name="connsiteX0" fmla="*/ 0 w 2024262"/>
              <a:gd name="connsiteY0" fmla="*/ 1269179 h 2086106"/>
              <a:gd name="connsiteX1" fmla="*/ 1560949 w 2024262"/>
              <a:gd name="connsiteY1" fmla="*/ 1975528 h 2086106"/>
              <a:gd name="connsiteX2" fmla="*/ 1801954 w 2024262"/>
              <a:gd name="connsiteY2" fmla="*/ 2060588 h 2086106"/>
              <a:gd name="connsiteX3" fmla="*/ 1816131 w 2024262"/>
              <a:gd name="connsiteY3" fmla="*/ 1734523 h 2086106"/>
              <a:gd name="connsiteX4" fmla="*/ 2021694 w 2024262"/>
              <a:gd name="connsiteY4" fmla="*/ 1387193 h 2086106"/>
              <a:gd name="connsiteX5" fmla="*/ 1929545 w 2024262"/>
              <a:gd name="connsiteY5" fmla="*/ 642914 h 2086106"/>
              <a:gd name="connsiteX6" fmla="*/ 1901191 w 2024262"/>
              <a:gd name="connsiteY6" fmla="*/ 61667 h 2086106"/>
              <a:gd name="connsiteX7" fmla="*/ 1178177 w 2024262"/>
              <a:gd name="connsiteY7" fmla="*/ 111286 h 2086106"/>
              <a:gd name="connsiteX8" fmla="*/ 681991 w 2024262"/>
              <a:gd name="connsiteY8" fmla="*/ 898095 h 2086106"/>
              <a:gd name="connsiteX0" fmla="*/ 212953 w 1342271"/>
              <a:gd name="connsiteY0" fmla="*/ 1541553 h 2076483"/>
              <a:gd name="connsiteX1" fmla="*/ 878958 w 1342271"/>
              <a:gd name="connsiteY1" fmla="*/ 1975528 h 2076483"/>
              <a:gd name="connsiteX2" fmla="*/ 1119963 w 1342271"/>
              <a:gd name="connsiteY2" fmla="*/ 2060588 h 2076483"/>
              <a:gd name="connsiteX3" fmla="*/ 1134140 w 1342271"/>
              <a:gd name="connsiteY3" fmla="*/ 1734523 h 2076483"/>
              <a:gd name="connsiteX4" fmla="*/ 1339703 w 1342271"/>
              <a:gd name="connsiteY4" fmla="*/ 1387193 h 2076483"/>
              <a:gd name="connsiteX5" fmla="*/ 1247554 w 1342271"/>
              <a:gd name="connsiteY5" fmla="*/ 642914 h 2076483"/>
              <a:gd name="connsiteX6" fmla="*/ 1219200 w 1342271"/>
              <a:gd name="connsiteY6" fmla="*/ 61667 h 2076483"/>
              <a:gd name="connsiteX7" fmla="*/ 496186 w 1342271"/>
              <a:gd name="connsiteY7" fmla="*/ 111286 h 2076483"/>
              <a:gd name="connsiteX8" fmla="*/ 0 w 1342271"/>
              <a:gd name="connsiteY8" fmla="*/ 898095 h 2076483"/>
              <a:gd name="connsiteX0" fmla="*/ 0 w 2004808"/>
              <a:gd name="connsiteY0" fmla="*/ 1220540 h 2088328"/>
              <a:gd name="connsiteX1" fmla="*/ 1541495 w 2004808"/>
              <a:gd name="connsiteY1" fmla="*/ 1975528 h 2088328"/>
              <a:gd name="connsiteX2" fmla="*/ 1782500 w 2004808"/>
              <a:gd name="connsiteY2" fmla="*/ 2060588 h 2088328"/>
              <a:gd name="connsiteX3" fmla="*/ 1796677 w 2004808"/>
              <a:gd name="connsiteY3" fmla="*/ 1734523 h 2088328"/>
              <a:gd name="connsiteX4" fmla="*/ 2002240 w 2004808"/>
              <a:gd name="connsiteY4" fmla="*/ 1387193 h 2088328"/>
              <a:gd name="connsiteX5" fmla="*/ 1910091 w 2004808"/>
              <a:gd name="connsiteY5" fmla="*/ 642914 h 2088328"/>
              <a:gd name="connsiteX6" fmla="*/ 1881737 w 2004808"/>
              <a:gd name="connsiteY6" fmla="*/ 61667 h 2088328"/>
              <a:gd name="connsiteX7" fmla="*/ 1158723 w 2004808"/>
              <a:gd name="connsiteY7" fmla="*/ 111286 h 2088328"/>
              <a:gd name="connsiteX8" fmla="*/ 662537 w 2004808"/>
              <a:gd name="connsiteY8" fmla="*/ 898095 h 2088328"/>
              <a:gd name="connsiteX0" fmla="*/ 0 w 1829711"/>
              <a:gd name="connsiteY0" fmla="*/ 1220540 h 2088328"/>
              <a:gd name="connsiteX1" fmla="*/ 1366398 w 1829711"/>
              <a:gd name="connsiteY1" fmla="*/ 1975528 h 2088328"/>
              <a:gd name="connsiteX2" fmla="*/ 1607403 w 1829711"/>
              <a:gd name="connsiteY2" fmla="*/ 2060588 h 2088328"/>
              <a:gd name="connsiteX3" fmla="*/ 1621580 w 1829711"/>
              <a:gd name="connsiteY3" fmla="*/ 1734523 h 2088328"/>
              <a:gd name="connsiteX4" fmla="*/ 1827143 w 1829711"/>
              <a:gd name="connsiteY4" fmla="*/ 1387193 h 2088328"/>
              <a:gd name="connsiteX5" fmla="*/ 1734994 w 1829711"/>
              <a:gd name="connsiteY5" fmla="*/ 642914 h 2088328"/>
              <a:gd name="connsiteX6" fmla="*/ 1706640 w 1829711"/>
              <a:gd name="connsiteY6" fmla="*/ 61667 h 2088328"/>
              <a:gd name="connsiteX7" fmla="*/ 983626 w 1829711"/>
              <a:gd name="connsiteY7" fmla="*/ 111286 h 2088328"/>
              <a:gd name="connsiteX8" fmla="*/ 487440 w 1829711"/>
              <a:gd name="connsiteY8" fmla="*/ 898095 h 2088328"/>
              <a:gd name="connsiteX0" fmla="*/ 0 w 1888077"/>
              <a:gd name="connsiteY0" fmla="*/ 1220540 h 2088328"/>
              <a:gd name="connsiteX1" fmla="*/ 1424764 w 1888077"/>
              <a:gd name="connsiteY1" fmla="*/ 1975528 h 2088328"/>
              <a:gd name="connsiteX2" fmla="*/ 1665769 w 1888077"/>
              <a:gd name="connsiteY2" fmla="*/ 2060588 h 2088328"/>
              <a:gd name="connsiteX3" fmla="*/ 1679946 w 1888077"/>
              <a:gd name="connsiteY3" fmla="*/ 1734523 h 2088328"/>
              <a:gd name="connsiteX4" fmla="*/ 1885509 w 1888077"/>
              <a:gd name="connsiteY4" fmla="*/ 1387193 h 2088328"/>
              <a:gd name="connsiteX5" fmla="*/ 1793360 w 1888077"/>
              <a:gd name="connsiteY5" fmla="*/ 642914 h 2088328"/>
              <a:gd name="connsiteX6" fmla="*/ 1765006 w 1888077"/>
              <a:gd name="connsiteY6" fmla="*/ 61667 h 2088328"/>
              <a:gd name="connsiteX7" fmla="*/ 1041992 w 1888077"/>
              <a:gd name="connsiteY7" fmla="*/ 111286 h 2088328"/>
              <a:gd name="connsiteX8" fmla="*/ 545806 w 1888077"/>
              <a:gd name="connsiteY8" fmla="*/ 898095 h 2088328"/>
              <a:gd name="connsiteX0" fmla="*/ 0 w 1888077"/>
              <a:gd name="connsiteY0" fmla="*/ 1220540 h 2152435"/>
              <a:gd name="connsiteX1" fmla="*/ 471454 w 1888077"/>
              <a:gd name="connsiteY1" fmla="*/ 2082532 h 2152435"/>
              <a:gd name="connsiteX2" fmla="*/ 1665769 w 1888077"/>
              <a:gd name="connsiteY2" fmla="*/ 2060588 h 2152435"/>
              <a:gd name="connsiteX3" fmla="*/ 1679946 w 1888077"/>
              <a:gd name="connsiteY3" fmla="*/ 1734523 h 2152435"/>
              <a:gd name="connsiteX4" fmla="*/ 1885509 w 1888077"/>
              <a:gd name="connsiteY4" fmla="*/ 1387193 h 2152435"/>
              <a:gd name="connsiteX5" fmla="*/ 1793360 w 1888077"/>
              <a:gd name="connsiteY5" fmla="*/ 642914 h 2152435"/>
              <a:gd name="connsiteX6" fmla="*/ 1765006 w 1888077"/>
              <a:gd name="connsiteY6" fmla="*/ 61667 h 2152435"/>
              <a:gd name="connsiteX7" fmla="*/ 1041992 w 1888077"/>
              <a:gd name="connsiteY7" fmla="*/ 111286 h 2152435"/>
              <a:gd name="connsiteX8" fmla="*/ 545806 w 1888077"/>
              <a:gd name="connsiteY8" fmla="*/ 898095 h 2152435"/>
              <a:gd name="connsiteX0" fmla="*/ 0 w 1888077"/>
              <a:gd name="connsiteY0" fmla="*/ 1220540 h 2120333"/>
              <a:gd name="connsiteX1" fmla="*/ 471454 w 1888077"/>
              <a:gd name="connsiteY1" fmla="*/ 2082532 h 2120333"/>
              <a:gd name="connsiteX2" fmla="*/ 1315574 w 1888077"/>
              <a:gd name="connsiteY2" fmla="*/ 1943856 h 2120333"/>
              <a:gd name="connsiteX3" fmla="*/ 1679946 w 1888077"/>
              <a:gd name="connsiteY3" fmla="*/ 1734523 h 2120333"/>
              <a:gd name="connsiteX4" fmla="*/ 1885509 w 1888077"/>
              <a:gd name="connsiteY4" fmla="*/ 1387193 h 2120333"/>
              <a:gd name="connsiteX5" fmla="*/ 1793360 w 1888077"/>
              <a:gd name="connsiteY5" fmla="*/ 642914 h 2120333"/>
              <a:gd name="connsiteX6" fmla="*/ 1765006 w 1888077"/>
              <a:gd name="connsiteY6" fmla="*/ 61667 h 2120333"/>
              <a:gd name="connsiteX7" fmla="*/ 1041992 w 1888077"/>
              <a:gd name="connsiteY7" fmla="*/ 111286 h 2120333"/>
              <a:gd name="connsiteX8" fmla="*/ 545806 w 1888077"/>
              <a:gd name="connsiteY8" fmla="*/ 898095 h 2120333"/>
              <a:gd name="connsiteX0" fmla="*/ 0 w 1902602"/>
              <a:gd name="connsiteY0" fmla="*/ 1220540 h 2141510"/>
              <a:gd name="connsiteX1" fmla="*/ 471454 w 1902602"/>
              <a:gd name="connsiteY1" fmla="*/ 2082532 h 2141510"/>
              <a:gd name="connsiteX2" fmla="*/ 1315574 w 1902602"/>
              <a:gd name="connsiteY2" fmla="*/ 1943856 h 2141510"/>
              <a:gd name="connsiteX3" fmla="*/ 1407572 w 1902602"/>
              <a:gd name="connsiteY3" fmla="*/ 966038 h 2141510"/>
              <a:gd name="connsiteX4" fmla="*/ 1885509 w 1902602"/>
              <a:gd name="connsiteY4" fmla="*/ 1387193 h 2141510"/>
              <a:gd name="connsiteX5" fmla="*/ 1793360 w 1902602"/>
              <a:gd name="connsiteY5" fmla="*/ 642914 h 2141510"/>
              <a:gd name="connsiteX6" fmla="*/ 1765006 w 1902602"/>
              <a:gd name="connsiteY6" fmla="*/ 61667 h 2141510"/>
              <a:gd name="connsiteX7" fmla="*/ 1041992 w 1902602"/>
              <a:gd name="connsiteY7" fmla="*/ 111286 h 2141510"/>
              <a:gd name="connsiteX8" fmla="*/ 545806 w 1902602"/>
              <a:gd name="connsiteY8" fmla="*/ 898095 h 2141510"/>
              <a:gd name="connsiteX0" fmla="*/ 0 w 2522184"/>
              <a:gd name="connsiteY0" fmla="*/ 1220540 h 2141510"/>
              <a:gd name="connsiteX1" fmla="*/ 471454 w 2522184"/>
              <a:gd name="connsiteY1" fmla="*/ 2082532 h 2141510"/>
              <a:gd name="connsiteX2" fmla="*/ 1315574 w 2522184"/>
              <a:gd name="connsiteY2" fmla="*/ 1943856 h 2141510"/>
              <a:gd name="connsiteX3" fmla="*/ 1407572 w 2522184"/>
              <a:gd name="connsiteY3" fmla="*/ 966038 h 2141510"/>
              <a:gd name="connsiteX4" fmla="*/ 2517807 w 2522184"/>
              <a:gd name="connsiteY4" fmla="*/ 1066180 h 2141510"/>
              <a:gd name="connsiteX5" fmla="*/ 1793360 w 2522184"/>
              <a:gd name="connsiteY5" fmla="*/ 642914 h 2141510"/>
              <a:gd name="connsiteX6" fmla="*/ 1765006 w 2522184"/>
              <a:gd name="connsiteY6" fmla="*/ 61667 h 2141510"/>
              <a:gd name="connsiteX7" fmla="*/ 1041992 w 2522184"/>
              <a:gd name="connsiteY7" fmla="*/ 111286 h 2141510"/>
              <a:gd name="connsiteX8" fmla="*/ 545806 w 2522184"/>
              <a:gd name="connsiteY8" fmla="*/ 898095 h 2141510"/>
              <a:gd name="connsiteX0" fmla="*/ 0 w 2628365"/>
              <a:gd name="connsiteY0" fmla="*/ 1346505 h 2525514"/>
              <a:gd name="connsiteX1" fmla="*/ 471454 w 2628365"/>
              <a:gd name="connsiteY1" fmla="*/ 2208497 h 2525514"/>
              <a:gd name="connsiteX2" fmla="*/ 1315574 w 2628365"/>
              <a:gd name="connsiteY2" fmla="*/ 2069821 h 2525514"/>
              <a:gd name="connsiteX3" fmla="*/ 1407572 w 2628365"/>
              <a:gd name="connsiteY3" fmla="*/ 1092003 h 2525514"/>
              <a:gd name="connsiteX4" fmla="*/ 2517807 w 2628365"/>
              <a:gd name="connsiteY4" fmla="*/ 1192145 h 2525514"/>
              <a:gd name="connsiteX5" fmla="*/ 2503479 w 2628365"/>
              <a:gd name="connsiteY5" fmla="*/ 2510130 h 2525514"/>
              <a:gd name="connsiteX6" fmla="*/ 1765006 w 2628365"/>
              <a:gd name="connsiteY6" fmla="*/ 187632 h 2525514"/>
              <a:gd name="connsiteX7" fmla="*/ 1041992 w 2628365"/>
              <a:gd name="connsiteY7" fmla="*/ 237251 h 2525514"/>
              <a:gd name="connsiteX8" fmla="*/ 545806 w 2628365"/>
              <a:gd name="connsiteY8" fmla="*/ 1024060 h 2525514"/>
              <a:gd name="connsiteX0" fmla="*/ 0 w 3722743"/>
              <a:gd name="connsiteY0" fmla="*/ 1115789 h 2576334"/>
              <a:gd name="connsiteX1" fmla="*/ 471454 w 3722743"/>
              <a:gd name="connsiteY1" fmla="*/ 1977781 h 2576334"/>
              <a:gd name="connsiteX2" fmla="*/ 1315574 w 3722743"/>
              <a:gd name="connsiteY2" fmla="*/ 1839105 h 2576334"/>
              <a:gd name="connsiteX3" fmla="*/ 1407572 w 3722743"/>
              <a:gd name="connsiteY3" fmla="*/ 861287 h 2576334"/>
              <a:gd name="connsiteX4" fmla="*/ 2517807 w 3722743"/>
              <a:gd name="connsiteY4" fmla="*/ 961429 h 2576334"/>
              <a:gd name="connsiteX5" fmla="*/ 2503479 w 3722743"/>
              <a:gd name="connsiteY5" fmla="*/ 2279414 h 2576334"/>
              <a:gd name="connsiteX6" fmla="*/ 3691082 w 3722743"/>
              <a:gd name="connsiteY6" fmla="*/ 2379104 h 2576334"/>
              <a:gd name="connsiteX7" fmla="*/ 1041992 w 3722743"/>
              <a:gd name="connsiteY7" fmla="*/ 6535 h 2576334"/>
              <a:gd name="connsiteX8" fmla="*/ 545806 w 3722743"/>
              <a:gd name="connsiteY8" fmla="*/ 793344 h 2576334"/>
              <a:gd name="connsiteX0" fmla="*/ 0 w 3929458"/>
              <a:gd name="connsiteY0" fmla="*/ 371536 h 1709590"/>
              <a:gd name="connsiteX1" fmla="*/ 471454 w 3929458"/>
              <a:gd name="connsiteY1" fmla="*/ 1233528 h 1709590"/>
              <a:gd name="connsiteX2" fmla="*/ 1315574 w 3929458"/>
              <a:gd name="connsiteY2" fmla="*/ 1094852 h 1709590"/>
              <a:gd name="connsiteX3" fmla="*/ 1407572 w 3929458"/>
              <a:gd name="connsiteY3" fmla="*/ 117034 h 1709590"/>
              <a:gd name="connsiteX4" fmla="*/ 2517807 w 3929458"/>
              <a:gd name="connsiteY4" fmla="*/ 217176 h 1709590"/>
              <a:gd name="connsiteX5" fmla="*/ 2503479 w 3929458"/>
              <a:gd name="connsiteY5" fmla="*/ 1535161 h 1709590"/>
              <a:gd name="connsiteX6" fmla="*/ 3691082 w 3929458"/>
              <a:gd name="connsiteY6" fmla="*/ 1634851 h 1709590"/>
              <a:gd name="connsiteX7" fmla="*/ 3824102 w 3929458"/>
              <a:gd name="connsiteY7" fmla="*/ 974350 h 1709590"/>
              <a:gd name="connsiteX8" fmla="*/ 545806 w 3929458"/>
              <a:gd name="connsiteY8" fmla="*/ 49091 h 1709590"/>
              <a:gd name="connsiteX0" fmla="*/ 0 w 3929458"/>
              <a:gd name="connsiteY0" fmla="*/ 350921 h 1688975"/>
              <a:gd name="connsiteX1" fmla="*/ 471454 w 3929458"/>
              <a:gd name="connsiteY1" fmla="*/ 1212913 h 1688975"/>
              <a:gd name="connsiteX2" fmla="*/ 1315574 w 3929458"/>
              <a:gd name="connsiteY2" fmla="*/ 1074237 h 1688975"/>
              <a:gd name="connsiteX3" fmla="*/ 1407572 w 3929458"/>
              <a:gd name="connsiteY3" fmla="*/ 96419 h 1688975"/>
              <a:gd name="connsiteX4" fmla="*/ 2517807 w 3929458"/>
              <a:gd name="connsiteY4" fmla="*/ 196561 h 1688975"/>
              <a:gd name="connsiteX5" fmla="*/ 2503479 w 3929458"/>
              <a:gd name="connsiteY5" fmla="*/ 1514546 h 1688975"/>
              <a:gd name="connsiteX6" fmla="*/ 3691082 w 3929458"/>
              <a:gd name="connsiteY6" fmla="*/ 1614236 h 1688975"/>
              <a:gd name="connsiteX7" fmla="*/ 3824102 w 3929458"/>
              <a:gd name="connsiteY7" fmla="*/ 953735 h 1688975"/>
              <a:gd name="connsiteX8" fmla="*/ 3794844 w 3929458"/>
              <a:gd name="connsiteY8" fmla="*/ 339761 h 1688975"/>
              <a:gd name="connsiteX0" fmla="*/ 0 w 3815959"/>
              <a:gd name="connsiteY0" fmla="*/ 350921 h 1731839"/>
              <a:gd name="connsiteX1" fmla="*/ 471454 w 3815959"/>
              <a:gd name="connsiteY1" fmla="*/ 1212913 h 1731839"/>
              <a:gd name="connsiteX2" fmla="*/ 1315574 w 3815959"/>
              <a:gd name="connsiteY2" fmla="*/ 1074237 h 1731839"/>
              <a:gd name="connsiteX3" fmla="*/ 1407572 w 3815959"/>
              <a:gd name="connsiteY3" fmla="*/ 96419 h 1731839"/>
              <a:gd name="connsiteX4" fmla="*/ 2517807 w 3815959"/>
              <a:gd name="connsiteY4" fmla="*/ 196561 h 1731839"/>
              <a:gd name="connsiteX5" fmla="*/ 2503479 w 3815959"/>
              <a:gd name="connsiteY5" fmla="*/ 1514546 h 1731839"/>
              <a:gd name="connsiteX6" fmla="*/ 3691082 w 3815959"/>
              <a:gd name="connsiteY6" fmla="*/ 1614236 h 1731839"/>
              <a:gd name="connsiteX7" fmla="*/ 3794844 w 3815959"/>
              <a:gd name="connsiteY7" fmla="*/ 339761 h 1731839"/>
              <a:gd name="connsiteX0" fmla="*/ 0 w 3815959"/>
              <a:gd name="connsiteY0" fmla="*/ 350921 h 1731839"/>
              <a:gd name="connsiteX1" fmla="*/ 184936 w 3815959"/>
              <a:gd name="connsiteY1" fmla="*/ 601628 h 1731839"/>
              <a:gd name="connsiteX2" fmla="*/ 471454 w 3815959"/>
              <a:gd name="connsiteY2" fmla="*/ 1212913 h 1731839"/>
              <a:gd name="connsiteX3" fmla="*/ 1315574 w 3815959"/>
              <a:gd name="connsiteY3" fmla="*/ 1074237 h 1731839"/>
              <a:gd name="connsiteX4" fmla="*/ 1407572 w 3815959"/>
              <a:gd name="connsiteY4" fmla="*/ 96419 h 1731839"/>
              <a:gd name="connsiteX5" fmla="*/ 2517807 w 3815959"/>
              <a:gd name="connsiteY5" fmla="*/ 196561 h 1731839"/>
              <a:gd name="connsiteX6" fmla="*/ 2503479 w 3815959"/>
              <a:gd name="connsiteY6" fmla="*/ 1514546 h 1731839"/>
              <a:gd name="connsiteX7" fmla="*/ 3691082 w 3815959"/>
              <a:gd name="connsiteY7" fmla="*/ 1614236 h 1731839"/>
              <a:gd name="connsiteX8" fmla="*/ 3794844 w 3815959"/>
              <a:gd name="connsiteY8" fmla="*/ 339761 h 1731839"/>
              <a:gd name="connsiteX0" fmla="*/ 0 w 3815959"/>
              <a:gd name="connsiteY0" fmla="*/ 350921 h 1731839"/>
              <a:gd name="connsiteX1" fmla="*/ 337336 w 3815959"/>
              <a:gd name="connsiteY1" fmla="*/ 378108 h 1731839"/>
              <a:gd name="connsiteX2" fmla="*/ 471454 w 3815959"/>
              <a:gd name="connsiteY2" fmla="*/ 1212913 h 1731839"/>
              <a:gd name="connsiteX3" fmla="*/ 1315574 w 3815959"/>
              <a:gd name="connsiteY3" fmla="*/ 1074237 h 1731839"/>
              <a:gd name="connsiteX4" fmla="*/ 1407572 w 3815959"/>
              <a:gd name="connsiteY4" fmla="*/ 96419 h 1731839"/>
              <a:gd name="connsiteX5" fmla="*/ 2517807 w 3815959"/>
              <a:gd name="connsiteY5" fmla="*/ 196561 h 1731839"/>
              <a:gd name="connsiteX6" fmla="*/ 2503479 w 3815959"/>
              <a:gd name="connsiteY6" fmla="*/ 1514546 h 1731839"/>
              <a:gd name="connsiteX7" fmla="*/ 3691082 w 3815959"/>
              <a:gd name="connsiteY7" fmla="*/ 1614236 h 1731839"/>
              <a:gd name="connsiteX8" fmla="*/ 3794844 w 3815959"/>
              <a:gd name="connsiteY8" fmla="*/ 339761 h 1731839"/>
              <a:gd name="connsiteX0" fmla="*/ 0 w 3815959"/>
              <a:gd name="connsiteY0" fmla="*/ 350921 h 1731839"/>
              <a:gd name="connsiteX1" fmla="*/ 337336 w 3815959"/>
              <a:gd name="connsiteY1" fmla="*/ 378108 h 1731839"/>
              <a:gd name="connsiteX2" fmla="*/ 377976 w 3815959"/>
              <a:gd name="connsiteY2" fmla="*/ 865788 h 1731839"/>
              <a:gd name="connsiteX3" fmla="*/ 471454 w 3815959"/>
              <a:gd name="connsiteY3" fmla="*/ 1212913 h 1731839"/>
              <a:gd name="connsiteX4" fmla="*/ 1315574 w 3815959"/>
              <a:gd name="connsiteY4" fmla="*/ 1074237 h 1731839"/>
              <a:gd name="connsiteX5" fmla="*/ 1407572 w 3815959"/>
              <a:gd name="connsiteY5" fmla="*/ 96419 h 1731839"/>
              <a:gd name="connsiteX6" fmla="*/ 2517807 w 3815959"/>
              <a:gd name="connsiteY6" fmla="*/ 196561 h 1731839"/>
              <a:gd name="connsiteX7" fmla="*/ 2503479 w 3815959"/>
              <a:gd name="connsiteY7" fmla="*/ 1514546 h 1731839"/>
              <a:gd name="connsiteX8" fmla="*/ 3691082 w 3815959"/>
              <a:gd name="connsiteY8" fmla="*/ 1614236 h 1731839"/>
              <a:gd name="connsiteX9" fmla="*/ 3794844 w 3815959"/>
              <a:gd name="connsiteY9" fmla="*/ 339761 h 1731839"/>
              <a:gd name="connsiteX0" fmla="*/ 0 w 3815959"/>
              <a:gd name="connsiteY0" fmla="*/ 350921 h 1731839"/>
              <a:gd name="connsiteX1" fmla="*/ 337336 w 3815959"/>
              <a:gd name="connsiteY1" fmla="*/ 378108 h 1731839"/>
              <a:gd name="connsiteX2" fmla="*/ 103656 w 3815959"/>
              <a:gd name="connsiteY2" fmla="*/ 896268 h 1731839"/>
              <a:gd name="connsiteX3" fmla="*/ 471454 w 3815959"/>
              <a:gd name="connsiteY3" fmla="*/ 1212913 h 1731839"/>
              <a:gd name="connsiteX4" fmla="*/ 1315574 w 3815959"/>
              <a:gd name="connsiteY4" fmla="*/ 1074237 h 1731839"/>
              <a:gd name="connsiteX5" fmla="*/ 1407572 w 3815959"/>
              <a:gd name="connsiteY5" fmla="*/ 96419 h 1731839"/>
              <a:gd name="connsiteX6" fmla="*/ 2517807 w 3815959"/>
              <a:gd name="connsiteY6" fmla="*/ 196561 h 1731839"/>
              <a:gd name="connsiteX7" fmla="*/ 2503479 w 3815959"/>
              <a:gd name="connsiteY7" fmla="*/ 1514546 h 1731839"/>
              <a:gd name="connsiteX8" fmla="*/ 3691082 w 3815959"/>
              <a:gd name="connsiteY8" fmla="*/ 1614236 h 1731839"/>
              <a:gd name="connsiteX9" fmla="*/ 3794844 w 3815959"/>
              <a:gd name="connsiteY9" fmla="*/ 339761 h 1731839"/>
              <a:gd name="connsiteX0" fmla="*/ 0 w 3815959"/>
              <a:gd name="connsiteY0" fmla="*/ 350921 h 1731839"/>
              <a:gd name="connsiteX1" fmla="*/ 337336 w 3815959"/>
              <a:gd name="connsiteY1" fmla="*/ 378108 h 1731839"/>
              <a:gd name="connsiteX2" fmla="*/ 103656 w 3815959"/>
              <a:gd name="connsiteY2" fmla="*/ 896268 h 1731839"/>
              <a:gd name="connsiteX3" fmla="*/ 471454 w 3815959"/>
              <a:gd name="connsiteY3" fmla="*/ 1212913 h 1731839"/>
              <a:gd name="connsiteX4" fmla="*/ 957096 w 3815959"/>
              <a:gd name="connsiteY4" fmla="*/ 1221388 h 1731839"/>
              <a:gd name="connsiteX5" fmla="*/ 1315574 w 3815959"/>
              <a:gd name="connsiteY5" fmla="*/ 1074237 h 1731839"/>
              <a:gd name="connsiteX6" fmla="*/ 1407572 w 3815959"/>
              <a:gd name="connsiteY6" fmla="*/ 96419 h 1731839"/>
              <a:gd name="connsiteX7" fmla="*/ 2517807 w 3815959"/>
              <a:gd name="connsiteY7" fmla="*/ 196561 h 1731839"/>
              <a:gd name="connsiteX8" fmla="*/ 2503479 w 3815959"/>
              <a:gd name="connsiteY8" fmla="*/ 1514546 h 1731839"/>
              <a:gd name="connsiteX9" fmla="*/ 3691082 w 3815959"/>
              <a:gd name="connsiteY9" fmla="*/ 1614236 h 1731839"/>
              <a:gd name="connsiteX10" fmla="*/ 3794844 w 3815959"/>
              <a:gd name="connsiteY10" fmla="*/ 339761 h 1731839"/>
              <a:gd name="connsiteX0" fmla="*/ 0 w 3815959"/>
              <a:gd name="connsiteY0" fmla="*/ 350921 h 1731839"/>
              <a:gd name="connsiteX1" fmla="*/ 337336 w 3815959"/>
              <a:gd name="connsiteY1" fmla="*/ 378108 h 1731839"/>
              <a:gd name="connsiteX2" fmla="*/ 103656 w 3815959"/>
              <a:gd name="connsiteY2" fmla="*/ 896268 h 1731839"/>
              <a:gd name="connsiteX3" fmla="*/ 471454 w 3815959"/>
              <a:gd name="connsiteY3" fmla="*/ 1212913 h 1731839"/>
              <a:gd name="connsiteX4" fmla="*/ 957096 w 3815959"/>
              <a:gd name="connsiteY4" fmla="*/ 1566828 h 1731839"/>
              <a:gd name="connsiteX5" fmla="*/ 1315574 w 3815959"/>
              <a:gd name="connsiteY5" fmla="*/ 1074237 h 1731839"/>
              <a:gd name="connsiteX6" fmla="*/ 1407572 w 3815959"/>
              <a:gd name="connsiteY6" fmla="*/ 96419 h 1731839"/>
              <a:gd name="connsiteX7" fmla="*/ 2517807 w 3815959"/>
              <a:gd name="connsiteY7" fmla="*/ 196561 h 1731839"/>
              <a:gd name="connsiteX8" fmla="*/ 2503479 w 3815959"/>
              <a:gd name="connsiteY8" fmla="*/ 1514546 h 1731839"/>
              <a:gd name="connsiteX9" fmla="*/ 3691082 w 3815959"/>
              <a:gd name="connsiteY9" fmla="*/ 1614236 h 1731839"/>
              <a:gd name="connsiteX10" fmla="*/ 3794844 w 3815959"/>
              <a:gd name="connsiteY10" fmla="*/ 339761 h 1731839"/>
              <a:gd name="connsiteX0" fmla="*/ 0 w 3815959"/>
              <a:gd name="connsiteY0" fmla="*/ 328845 h 1709763"/>
              <a:gd name="connsiteX1" fmla="*/ 337336 w 3815959"/>
              <a:gd name="connsiteY1" fmla="*/ 356032 h 1709763"/>
              <a:gd name="connsiteX2" fmla="*/ 103656 w 3815959"/>
              <a:gd name="connsiteY2" fmla="*/ 874192 h 1709763"/>
              <a:gd name="connsiteX3" fmla="*/ 471454 w 3815959"/>
              <a:gd name="connsiteY3" fmla="*/ 1190837 h 1709763"/>
              <a:gd name="connsiteX4" fmla="*/ 957096 w 3815959"/>
              <a:gd name="connsiteY4" fmla="*/ 1544752 h 1709763"/>
              <a:gd name="connsiteX5" fmla="*/ 1315574 w 3815959"/>
              <a:gd name="connsiteY5" fmla="*/ 1052161 h 1709763"/>
              <a:gd name="connsiteX6" fmla="*/ 1322856 w 3815959"/>
              <a:gd name="connsiteY6" fmla="*/ 731952 h 1709763"/>
              <a:gd name="connsiteX7" fmla="*/ 1407572 w 3815959"/>
              <a:gd name="connsiteY7" fmla="*/ 74343 h 1709763"/>
              <a:gd name="connsiteX8" fmla="*/ 2517807 w 3815959"/>
              <a:gd name="connsiteY8" fmla="*/ 174485 h 1709763"/>
              <a:gd name="connsiteX9" fmla="*/ 2503479 w 3815959"/>
              <a:gd name="connsiteY9" fmla="*/ 1492470 h 1709763"/>
              <a:gd name="connsiteX10" fmla="*/ 3691082 w 3815959"/>
              <a:gd name="connsiteY10" fmla="*/ 1592160 h 1709763"/>
              <a:gd name="connsiteX11" fmla="*/ 3794844 w 3815959"/>
              <a:gd name="connsiteY11" fmla="*/ 317685 h 1709763"/>
              <a:gd name="connsiteX0" fmla="*/ 0 w 3815959"/>
              <a:gd name="connsiteY0" fmla="*/ 328845 h 1709763"/>
              <a:gd name="connsiteX1" fmla="*/ 337336 w 3815959"/>
              <a:gd name="connsiteY1" fmla="*/ 356032 h 1709763"/>
              <a:gd name="connsiteX2" fmla="*/ 103656 w 3815959"/>
              <a:gd name="connsiteY2" fmla="*/ 874192 h 1709763"/>
              <a:gd name="connsiteX3" fmla="*/ 471454 w 3815959"/>
              <a:gd name="connsiteY3" fmla="*/ 1190837 h 1709763"/>
              <a:gd name="connsiteX4" fmla="*/ 957096 w 3815959"/>
              <a:gd name="connsiteY4" fmla="*/ 1544752 h 1709763"/>
              <a:gd name="connsiteX5" fmla="*/ 1315574 w 3815959"/>
              <a:gd name="connsiteY5" fmla="*/ 1052161 h 1709763"/>
              <a:gd name="connsiteX6" fmla="*/ 1190776 w 3815959"/>
              <a:gd name="connsiteY6" fmla="*/ 731952 h 1709763"/>
              <a:gd name="connsiteX7" fmla="*/ 1407572 w 3815959"/>
              <a:gd name="connsiteY7" fmla="*/ 74343 h 1709763"/>
              <a:gd name="connsiteX8" fmla="*/ 2517807 w 3815959"/>
              <a:gd name="connsiteY8" fmla="*/ 174485 h 1709763"/>
              <a:gd name="connsiteX9" fmla="*/ 2503479 w 3815959"/>
              <a:gd name="connsiteY9" fmla="*/ 1492470 h 1709763"/>
              <a:gd name="connsiteX10" fmla="*/ 3691082 w 3815959"/>
              <a:gd name="connsiteY10" fmla="*/ 1592160 h 1709763"/>
              <a:gd name="connsiteX11" fmla="*/ 3794844 w 3815959"/>
              <a:gd name="connsiteY11" fmla="*/ 317685 h 1709763"/>
              <a:gd name="connsiteX0" fmla="*/ 0 w 3815959"/>
              <a:gd name="connsiteY0" fmla="*/ 328845 h 1709763"/>
              <a:gd name="connsiteX1" fmla="*/ 337336 w 3815959"/>
              <a:gd name="connsiteY1" fmla="*/ 356032 h 1709763"/>
              <a:gd name="connsiteX2" fmla="*/ 103656 w 3815959"/>
              <a:gd name="connsiteY2" fmla="*/ 874192 h 1709763"/>
              <a:gd name="connsiteX3" fmla="*/ 471454 w 3815959"/>
              <a:gd name="connsiteY3" fmla="*/ 1190837 h 1709763"/>
              <a:gd name="connsiteX4" fmla="*/ 957096 w 3815959"/>
              <a:gd name="connsiteY4" fmla="*/ 1544752 h 1709763"/>
              <a:gd name="connsiteX5" fmla="*/ 1315574 w 3815959"/>
              <a:gd name="connsiteY5" fmla="*/ 1052161 h 1709763"/>
              <a:gd name="connsiteX6" fmla="*/ 1190776 w 3815959"/>
              <a:gd name="connsiteY6" fmla="*/ 731952 h 1709763"/>
              <a:gd name="connsiteX7" fmla="*/ 1407572 w 3815959"/>
              <a:gd name="connsiteY7" fmla="*/ 74343 h 1709763"/>
              <a:gd name="connsiteX8" fmla="*/ 2517807 w 3815959"/>
              <a:gd name="connsiteY8" fmla="*/ 174485 h 1709763"/>
              <a:gd name="connsiteX9" fmla="*/ 2503479 w 3815959"/>
              <a:gd name="connsiteY9" fmla="*/ 1492470 h 1709763"/>
              <a:gd name="connsiteX10" fmla="*/ 3691082 w 3815959"/>
              <a:gd name="connsiteY10" fmla="*/ 1592160 h 1709763"/>
              <a:gd name="connsiteX11" fmla="*/ 3794844 w 3815959"/>
              <a:gd name="connsiteY11" fmla="*/ 317685 h 1709763"/>
              <a:gd name="connsiteX0" fmla="*/ 0 w 3815959"/>
              <a:gd name="connsiteY0" fmla="*/ 310802 h 1691720"/>
              <a:gd name="connsiteX1" fmla="*/ 337336 w 3815959"/>
              <a:gd name="connsiteY1" fmla="*/ 337989 h 1691720"/>
              <a:gd name="connsiteX2" fmla="*/ 103656 w 3815959"/>
              <a:gd name="connsiteY2" fmla="*/ 856149 h 1691720"/>
              <a:gd name="connsiteX3" fmla="*/ 471454 w 3815959"/>
              <a:gd name="connsiteY3" fmla="*/ 1172794 h 1691720"/>
              <a:gd name="connsiteX4" fmla="*/ 957096 w 3815959"/>
              <a:gd name="connsiteY4" fmla="*/ 1526709 h 1691720"/>
              <a:gd name="connsiteX5" fmla="*/ 1315574 w 3815959"/>
              <a:gd name="connsiteY5" fmla="*/ 1034118 h 1691720"/>
              <a:gd name="connsiteX6" fmla="*/ 1190776 w 3815959"/>
              <a:gd name="connsiteY6" fmla="*/ 713909 h 1691720"/>
              <a:gd name="connsiteX7" fmla="*/ 1292376 w 3815959"/>
              <a:gd name="connsiteY7" fmla="*/ 439589 h 1691720"/>
              <a:gd name="connsiteX8" fmla="*/ 1407572 w 3815959"/>
              <a:gd name="connsiteY8" fmla="*/ 56300 h 1691720"/>
              <a:gd name="connsiteX9" fmla="*/ 2517807 w 3815959"/>
              <a:gd name="connsiteY9" fmla="*/ 156442 h 1691720"/>
              <a:gd name="connsiteX10" fmla="*/ 2503479 w 3815959"/>
              <a:gd name="connsiteY10" fmla="*/ 1474427 h 1691720"/>
              <a:gd name="connsiteX11" fmla="*/ 3691082 w 3815959"/>
              <a:gd name="connsiteY11" fmla="*/ 1574117 h 1691720"/>
              <a:gd name="connsiteX12" fmla="*/ 3794844 w 3815959"/>
              <a:gd name="connsiteY12" fmla="*/ 299642 h 1691720"/>
              <a:gd name="connsiteX0" fmla="*/ 0 w 3815959"/>
              <a:gd name="connsiteY0" fmla="*/ 315375 h 1696293"/>
              <a:gd name="connsiteX1" fmla="*/ 337336 w 3815959"/>
              <a:gd name="connsiteY1" fmla="*/ 342562 h 1696293"/>
              <a:gd name="connsiteX2" fmla="*/ 103656 w 3815959"/>
              <a:gd name="connsiteY2" fmla="*/ 860722 h 1696293"/>
              <a:gd name="connsiteX3" fmla="*/ 471454 w 3815959"/>
              <a:gd name="connsiteY3" fmla="*/ 1177367 h 1696293"/>
              <a:gd name="connsiteX4" fmla="*/ 957096 w 3815959"/>
              <a:gd name="connsiteY4" fmla="*/ 1531282 h 1696293"/>
              <a:gd name="connsiteX5" fmla="*/ 1315574 w 3815959"/>
              <a:gd name="connsiteY5" fmla="*/ 1038691 h 1696293"/>
              <a:gd name="connsiteX6" fmla="*/ 1190776 w 3815959"/>
              <a:gd name="connsiteY6" fmla="*/ 718482 h 1696293"/>
              <a:gd name="connsiteX7" fmla="*/ 1505736 w 3815959"/>
              <a:gd name="connsiteY7" fmla="*/ 515282 h 1696293"/>
              <a:gd name="connsiteX8" fmla="*/ 1407572 w 3815959"/>
              <a:gd name="connsiteY8" fmla="*/ 60873 h 1696293"/>
              <a:gd name="connsiteX9" fmla="*/ 2517807 w 3815959"/>
              <a:gd name="connsiteY9" fmla="*/ 161015 h 1696293"/>
              <a:gd name="connsiteX10" fmla="*/ 2503479 w 3815959"/>
              <a:gd name="connsiteY10" fmla="*/ 1479000 h 1696293"/>
              <a:gd name="connsiteX11" fmla="*/ 3691082 w 3815959"/>
              <a:gd name="connsiteY11" fmla="*/ 1578690 h 1696293"/>
              <a:gd name="connsiteX12" fmla="*/ 3794844 w 3815959"/>
              <a:gd name="connsiteY12" fmla="*/ 304215 h 1696293"/>
              <a:gd name="connsiteX0" fmla="*/ 0 w 3815959"/>
              <a:gd name="connsiteY0" fmla="*/ 328337 h 1709255"/>
              <a:gd name="connsiteX1" fmla="*/ 337336 w 3815959"/>
              <a:gd name="connsiteY1" fmla="*/ 355524 h 1709255"/>
              <a:gd name="connsiteX2" fmla="*/ 103656 w 3815959"/>
              <a:gd name="connsiteY2" fmla="*/ 873684 h 1709255"/>
              <a:gd name="connsiteX3" fmla="*/ 471454 w 3815959"/>
              <a:gd name="connsiteY3" fmla="*/ 1190329 h 1709255"/>
              <a:gd name="connsiteX4" fmla="*/ 957096 w 3815959"/>
              <a:gd name="connsiteY4" fmla="*/ 1544244 h 1709255"/>
              <a:gd name="connsiteX5" fmla="*/ 1315574 w 3815959"/>
              <a:gd name="connsiteY5" fmla="*/ 1051653 h 1709255"/>
              <a:gd name="connsiteX6" fmla="*/ 1190776 w 3815959"/>
              <a:gd name="connsiteY6" fmla="*/ 731444 h 1709255"/>
              <a:gd name="connsiteX7" fmla="*/ 1505736 w 3815959"/>
              <a:gd name="connsiteY7" fmla="*/ 528244 h 1709255"/>
              <a:gd name="connsiteX8" fmla="*/ 1407572 w 3815959"/>
              <a:gd name="connsiteY8" fmla="*/ 73835 h 1709255"/>
              <a:gd name="connsiteX9" fmla="*/ 1912136 w 3815959"/>
              <a:gd name="connsiteY9" fmla="*/ 10084 h 1709255"/>
              <a:gd name="connsiteX10" fmla="*/ 2517807 w 3815959"/>
              <a:gd name="connsiteY10" fmla="*/ 173977 h 1709255"/>
              <a:gd name="connsiteX11" fmla="*/ 2503479 w 3815959"/>
              <a:gd name="connsiteY11" fmla="*/ 1491962 h 1709255"/>
              <a:gd name="connsiteX12" fmla="*/ 3691082 w 3815959"/>
              <a:gd name="connsiteY12" fmla="*/ 1591652 h 1709255"/>
              <a:gd name="connsiteX13" fmla="*/ 3794844 w 3815959"/>
              <a:gd name="connsiteY13" fmla="*/ 317177 h 1709255"/>
              <a:gd name="connsiteX0" fmla="*/ 0 w 3815959"/>
              <a:gd name="connsiteY0" fmla="*/ 573208 h 1954126"/>
              <a:gd name="connsiteX1" fmla="*/ 337336 w 3815959"/>
              <a:gd name="connsiteY1" fmla="*/ 600395 h 1954126"/>
              <a:gd name="connsiteX2" fmla="*/ 103656 w 3815959"/>
              <a:gd name="connsiteY2" fmla="*/ 1118555 h 1954126"/>
              <a:gd name="connsiteX3" fmla="*/ 471454 w 3815959"/>
              <a:gd name="connsiteY3" fmla="*/ 1435200 h 1954126"/>
              <a:gd name="connsiteX4" fmla="*/ 957096 w 3815959"/>
              <a:gd name="connsiteY4" fmla="*/ 1789115 h 1954126"/>
              <a:gd name="connsiteX5" fmla="*/ 1315574 w 3815959"/>
              <a:gd name="connsiteY5" fmla="*/ 1296524 h 1954126"/>
              <a:gd name="connsiteX6" fmla="*/ 1190776 w 3815959"/>
              <a:gd name="connsiteY6" fmla="*/ 976315 h 1954126"/>
              <a:gd name="connsiteX7" fmla="*/ 1505736 w 3815959"/>
              <a:gd name="connsiteY7" fmla="*/ 773115 h 1954126"/>
              <a:gd name="connsiteX8" fmla="*/ 1407572 w 3815959"/>
              <a:gd name="connsiteY8" fmla="*/ 318706 h 1954126"/>
              <a:gd name="connsiteX9" fmla="*/ 1912136 w 3815959"/>
              <a:gd name="connsiteY9" fmla="*/ 955 h 1954126"/>
              <a:gd name="connsiteX10" fmla="*/ 2517807 w 3815959"/>
              <a:gd name="connsiteY10" fmla="*/ 418848 h 1954126"/>
              <a:gd name="connsiteX11" fmla="*/ 2503479 w 3815959"/>
              <a:gd name="connsiteY11" fmla="*/ 1736833 h 1954126"/>
              <a:gd name="connsiteX12" fmla="*/ 3691082 w 3815959"/>
              <a:gd name="connsiteY12" fmla="*/ 1836523 h 1954126"/>
              <a:gd name="connsiteX13" fmla="*/ 3794844 w 3815959"/>
              <a:gd name="connsiteY13" fmla="*/ 562048 h 1954126"/>
              <a:gd name="connsiteX0" fmla="*/ 0 w 3815959"/>
              <a:gd name="connsiteY0" fmla="*/ 573208 h 1954126"/>
              <a:gd name="connsiteX1" fmla="*/ 337336 w 3815959"/>
              <a:gd name="connsiteY1" fmla="*/ 600395 h 1954126"/>
              <a:gd name="connsiteX2" fmla="*/ 103656 w 3815959"/>
              <a:gd name="connsiteY2" fmla="*/ 1118555 h 1954126"/>
              <a:gd name="connsiteX3" fmla="*/ 471454 w 3815959"/>
              <a:gd name="connsiteY3" fmla="*/ 1435200 h 1954126"/>
              <a:gd name="connsiteX4" fmla="*/ 957096 w 3815959"/>
              <a:gd name="connsiteY4" fmla="*/ 1789115 h 1954126"/>
              <a:gd name="connsiteX5" fmla="*/ 1315574 w 3815959"/>
              <a:gd name="connsiteY5" fmla="*/ 1296524 h 1954126"/>
              <a:gd name="connsiteX6" fmla="*/ 1190776 w 3815959"/>
              <a:gd name="connsiteY6" fmla="*/ 976315 h 1954126"/>
              <a:gd name="connsiteX7" fmla="*/ 1505736 w 3815959"/>
              <a:gd name="connsiteY7" fmla="*/ 773115 h 1954126"/>
              <a:gd name="connsiteX8" fmla="*/ 1407572 w 3815959"/>
              <a:gd name="connsiteY8" fmla="*/ 318706 h 1954126"/>
              <a:gd name="connsiteX9" fmla="*/ 1912136 w 3815959"/>
              <a:gd name="connsiteY9" fmla="*/ 955 h 1954126"/>
              <a:gd name="connsiteX10" fmla="*/ 2517807 w 3815959"/>
              <a:gd name="connsiteY10" fmla="*/ 418848 h 1954126"/>
              <a:gd name="connsiteX11" fmla="*/ 2503479 w 3815959"/>
              <a:gd name="connsiteY11" fmla="*/ 1736833 h 1954126"/>
              <a:gd name="connsiteX12" fmla="*/ 3691082 w 3815959"/>
              <a:gd name="connsiteY12" fmla="*/ 1836523 h 1954126"/>
              <a:gd name="connsiteX13" fmla="*/ 3794844 w 3815959"/>
              <a:gd name="connsiteY13" fmla="*/ 562048 h 1954126"/>
              <a:gd name="connsiteX0" fmla="*/ 0 w 3815959"/>
              <a:gd name="connsiteY0" fmla="*/ 572671 h 1953589"/>
              <a:gd name="connsiteX1" fmla="*/ 337336 w 3815959"/>
              <a:gd name="connsiteY1" fmla="*/ 599858 h 1953589"/>
              <a:gd name="connsiteX2" fmla="*/ 103656 w 3815959"/>
              <a:gd name="connsiteY2" fmla="*/ 1118018 h 1953589"/>
              <a:gd name="connsiteX3" fmla="*/ 471454 w 3815959"/>
              <a:gd name="connsiteY3" fmla="*/ 1434663 h 1953589"/>
              <a:gd name="connsiteX4" fmla="*/ 957096 w 3815959"/>
              <a:gd name="connsiteY4" fmla="*/ 1788578 h 1953589"/>
              <a:gd name="connsiteX5" fmla="*/ 1315574 w 3815959"/>
              <a:gd name="connsiteY5" fmla="*/ 1295987 h 1953589"/>
              <a:gd name="connsiteX6" fmla="*/ 1190776 w 3815959"/>
              <a:gd name="connsiteY6" fmla="*/ 975778 h 1953589"/>
              <a:gd name="connsiteX7" fmla="*/ 1505736 w 3815959"/>
              <a:gd name="connsiteY7" fmla="*/ 772578 h 1953589"/>
              <a:gd name="connsiteX8" fmla="*/ 1407572 w 3815959"/>
              <a:gd name="connsiteY8" fmla="*/ 318169 h 1953589"/>
              <a:gd name="connsiteX9" fmla="*/ 1912136 w 3815959"/>
              <a:gd name="connsiteY9" fmla="*/ 418 h 1953589"/>
              <a:gd name="connsiteX10" fmla="*/ 2155976 w 3815959"/>
              <a:gd name="connsiteY10" fmla="*/ 254418 h 1953589"/>
              <a:gd name="connsiteX11" fmla="*/ 2517807 w 3815959"/>
              <a:gd name="connsiteY11" fmla="*/ 418311 h 1953589"/>
              <a:gd name="connsiteX12" fmla="*/ 2503479 w 3815959"/>
              <a:gd name="connsiteY12" fmla="*/ 1736296 h 1953589"/>
              <a:gd name="connsiteX13" fmla="*/ 3691082 w 3815959"/>
              <a:gd name="connsiteY13" fmla="*/ 1835986 h 1953589"/>
              <a:gd name="connsiteX14" fmla="*/ 3794844 w 3815959"/>
              <a:gd name="connsiteY14" fmla="*/ 561511 h 1953589"/>
              <a:gd name="connsiteX0" fmla="*/ 0 w 3815959"/>
              <a:gd name="connsiteY0" fmla="*/ 572671 h 1925273"/>
              <a:gd name="connsiteX1" fmla="*/ 337336 w 3815959"/>
              <a:gd name="connsiteY1" fmla="*/ 599858 h 1925273"/>
              <a:gd name="connsiteX2" fmla="*/ 103656 w 3815959"/>
              <a:gd name="connsiteY2" fmla="*/ 1118018 h 1925273"/>
              <a:gd name="connsiteX3" fmla="*/ 471454 w 3815959"/>
              <a:gd name="connsiteY3" fmla="*/ 1434663 h 1925273"/>
              <a:gd name="connsiteX4" fmla="*/ 957096 w 3815959"/>
              <a:gd name="connsiteY4" fmla="*/ 1788578 h 1925273"/>
              <a:gd name="connsiteX5" fmla="*/ 1315574 w 3815959"/>
              <a:gd name="connsiteY5" fmla="*/ 1295987 h 1925273"/>
              <a:gd name="connsiteX6" fmla="*/ 1190776 w 3815959"/>
              <a:gd name="connsiteY6" fmla="*/ 975778 h 1925273"/>
              <a:gd name="connsiteX7" fmla="*/ 1505736 w 3815959"/>
              <a:gd name="connsiteY7" fmla="*/ 772578 h 1925273"/>
              <a:gd name="connsiteX8" fmla="*/ 1407572 w 3815959"/>
              <a:gd name="connsiteY8" fmla="*/ 318169 h 1925273"/>
              <a:gd name="connsiteX9" fmla="*/ 1912136 w 3815959"/>
              <a:gd name="connsiteY9" fmla="*/ 418 h 1925273"/>
              <a:gd name="connsiteX10" fmla="*/ 2155976 w 3815959"/>
              <a:gd name="connsiteY10" fmla="*/ 254418 h 1925273"/>
              <a:gd name="connsiteX11" fmla="*/ 2517807 w 3815959"/>
              <a:gd name="connsiteY11" fmla="*/ 418311 h 1925273"/>
              <a:gd name="connsiteX12" fmla="*/ 2481096 w 3815959"/>
              <a:gd name="connsiteY12" fmla="*/ 1077378 h 1925273"/>
              <a:gd name="connsiteX13" fmla="*/ 2503479 w 3815959"/>
              <a:gd name="connsiteY13" fmla="*/ 1736296 h 1925273"/>
              <a:gd name="connsiteX14" fmla="*/ 3691082 w 3815959"/>
              <a:gd name="connsiteY14" fmla="*/ 1835986 h 1925273"/>
              <a:gd name="connsiteX15" fmla="*/ 3794844 w 3815959"/>
              <a:gd name="connsiteY15" fmla="*/ 561511 h 1925273"/>
              <a:gd name="connsiteX0" fmla="*/ 0 w 3815959"/>
              <a:gd name="connsiteY0" fmla="*/ 572671 h 1939899"/>
              <a:gd name="connsiteX1" fmla="*/ 337336 w 3815959"/>
              <a:gd name="connsiteY1" fmla="*/ 599858 h 1939899"/>
              <a:gd name="connsiteX2" fmla="*/ 103656 w 3815959"/>
              <a:gd name="connsiteY2" fmla="*/ 1118018 h 1939899"/>
              <a:gd name="connsiteX3" fmla="*/ 471454 w 3815959"/>
              <a:gd name="connsiteY3" fmla="*/ 1434663 h 1939899"/>
              <a:gd name="connsiteX4" fmla="*/ 957096 w 3815959"/>
              <a:gd name="connsiteY4" fmla="*/ 1788578 h 1939899"/>
              <a:gd name="connsiteX5" fmla="*/ 1315574 w 3815959"/>
              <a:gd name="connsiteY5" fmla="*/ 1295987 h 1939899"/>
              <a:gd name="connsiteX6" fmla="*/ 1190776 w 3815959"/>
              <a:gd name="connsiteY6" fmla="*/ 975778 h 1939899"/>
              <a:gd name="connsiteX7" fmla="*/ 1505736 w 3815959"/>
              <a:gd name="connsiteY7" fmla="*/ 772578 h 1939899"/>
              <a:gd name="connsiteX8" fmla="*/ 1407572 w 3815959"/>
              <a:gd name="connsiteY8" fmla="*/ 318169 h 1939899"/>
              <a:gd name="connsiteX9" fmla="*/ 1912136 w 3815959"/>
              <a:gd name="connsiteY9" fmla="*/ 418 h 1939899"/>
              <a:gd name="connsiteX10" fmla="*/ 2155976 w 3815959"/>
              <a:gd name="connsiteY10" fmla="*/ 254418 h 1939899"/>
              <a:gd name="connsiteX11" fmla="*/ 2517807 w 3815959"/>
              <a:gd name="connsiteY11" fmla="*/ 418311 h 1939899"/>
              <a:gd name="connsiteX12" fmla="*/ 2257576 w 3815959"/>
              <a:gd name="connsiteY12" fmla="*/ 711618 h 1939899"/>
              <a:gd name="connsiteX13" fmla="*/ 2503479 w 3815959"/>
              <a:gd name="connsiteY13" fmla="*/ 1736296 h 1939899"/>
              <a:gd name="connsiteX14" fmla="*/ 3691082 w 3815959"/>
              <a:gd name="connsiteY14" fmla="*/ 1835986 h 1939899"/>
              <a:gd name="connsiteX15" fmla="*/ 3794844 w 3815959"/>
              <a:gd name="connsiteY15" fmla="*/ 561511 h 1939899"/>
              <a:gd name="connsiteX0" fmla="*/ 0 w 3815959"/>
              <a:gd name="connsiteY0" fmla="*/ 572671 h 1917985"/>
              <a:gd name="connsiteX1" fmla="*/ 337336 w 3815959"/>
              <a:gd name="connsiteY1" fmla="*/ 599858 h 1917985"/>
              <a:gd name="connsiteX2" fmla="*/ 103656 w 3815959"/>
              <a:gd name="connsiteY2" fmla="*/ 1118018 h 1917985"/>
              <a:gd name="connsiteX3" fmla="*/ 471454 w 3815959"/>
              <a:gd name="connsiteY3" fmla="*/ 1434663 h 1917985"/>
              <a:gd name="connsiteX4" fmla="*/ 957096 w 3815959"/>
              <a:gd name="connsiteY4" fmla="*/ 1788578 h 1917985"/>
              <a:gd name="connsiteX5" fmla="*/ 1315574 w 3815959"/>
              <a:gd name="connsiteY5" fmla="*/ 1295987 h 1917985"/>
              <a:gd name="connsiteX6" fmla="*/ 1190776 w 3815959"/>
              <a:gd name="connsiteY6" fmla="*/ 975778 h 1917985"/>
              <a:gd name="connsiteX7" fmla="*/ 1505736 w 3815959"/>
              <a:gd name="connsiteY7" fmla="*/ 772578 h 1917985"/>
              <a:gd name="connsiteX8" fmla="*/ 1407572 w 3815959"/>
              <a:gd name="connsiteY8" fmla="*/ 318169 h 1917985"/>
              <a:gd name="connsiteX9" fmla="*/ 1912136 w 3815959"/>
              <a:gd name="connsiteY9" fmla="*/ 418 h 1917985"/>
              <a:gd name="connsiteX10" fmla="*/ 2155976 w 3815959"/>
              <a:gd name="connsiteY10" fmla="*/ 254418 h 1917985"/>
              <a:gd name="connsiteX11" fmla="*/ 2517807 w 3815959"/>
              <a:gd name="connsiteY11" fmla="*/ 418311 h 1917985"/>
              <a:gd name="connsiteX12" fmla="*/ 2257576 w 3815959"/>
              <a:gd name="connsiteY12" fmla="*/ 711618 h 1917985"/>
              <a:gd name="connsiteX13" fmla="*/ 2288056 w 3815959"/>
              <a:gd name="connsiteY13" fmla="*/ 1290738 h 1917985"/>
              <a:gd name="connsiteX14" fmla="*/ 2503479 w 3815959"/>
              <a:gd name="connsiteY14" fmla="*/ 1736296 h 1917985"/>
              <a:gd name="connsiteX15" fmla="*/ 3691082 w 3815959"/>
              <a:gd name="connsiteY15" fmla="*/ 1835986 h 1917985"/>
              <a:gd name="connsiteX16" fmla="*/ 3794844 w 3815959"/>
              <a:gd name="connsiteY16" fmla="*/ 561511 h 1917985"/>
              <a:gd name="connsiteX0" fmla="*/ 0 w 3815959"/>
              <a:gd name="connsiteY0" fmla="*/ 572671 h 1922041"/>
              <a:gd name="connsiteX1" fmla="*/ 337336 w 3815959"/>
              <a:gd name="connsiteY1" fmla="*/ 599858 h 1922041"/>
              <a:gd name="connsiteX2" fmla="*/ 103656 w 3815959"/>
              <a:gd name="connsiteY2" fmla="*/ 1118018 h 1922041"/>
              <a:gd name="connsiteX3" fmla="*/ 471454 w 3815959"/>
              <a:gd name="connsiteY3" fmla="*/ 1434663 h 1922041"/>
              <a:gd name="connsiteX4" fmla="*/ 957096 w 3815959"/>
              <a:gd name="connsiteY4" fmla="*/ 1788578 h 1922041"/>
              <a:gd name="connsiteX5" fmla="*/ 1315574 w 3815959"/>
              <a:gd name="connsiteY5" fmla="*/ 1295987 h 1922041"/>
              <a:gd name="connsiteX6" fmla="*/ 1190776 w 3815959"/>
              <a:gd name="connsiteY6" fmla="*/ 975778 h 1922041"/>
              <a:gd name="connsiteX7" fmla="*/ 1505736 w 3815959"/>
              <a:gd name="connsiteY7" fmla="*/ 772578 h 1922041"/>
              <a:gd name="connsiteX8" fmla="*/ 1407572 w 3815959"/>
              <a:gd name="connsiteY8" fmla="*/ 318169 h 1922041"/>
              <a:gd name="connsiteX9" fmla="*/ 1912136 w 3815959"/>
              <a:gd name="connsiteY9" fmla="*/ 418 h 1922041"/>
              <a:gd name="connsiteX10" fmla="*/ 2155976 w 3815959"/>
              <a:gd name="connsiteY10" fmla="*/ 254418 h 1922041"/>
              <a:gd name="connsiteX11" fmla="*/ 2517807 w 3815959"/>
              <a:gd name="connsiteY11" fmla="*/ 418311 h 1922041"/>
              <a:gd name="connsiteX12" fmla="*/ 2257576 w 3815959"/>
              <a:gd name="connsiteY12" fmla="*/ 711618 h 1922041"/>
              <a:gd name="connsiteX13" fmla="*/ 2623336 w 3815959"/>
              <a:gd name="connsiteY13" fmla="*/ 1168818 h 1922041"/>
              <a:gd name="connsiteX14" fmla="*/ 2503479 w 3815959"/>
              <a:gd name="connsiteY14" fmla="*/ 1736296 h 1922041"/>
              <a:gd name="connsiteX15" fmla="*/ 3691082 w 3815959"/>
              <a:gd name="connsiteY15" fmla="*/ 1835986 h 1922041"/>
              <a:gd name="connsiteX16" fmla="*/ 3794844 w 3815959"/>
              <a:gd name="connsiteY16" fmla="*/ 561511 h 1922041"/>
              <a:gd name="connsiteX0" fmla="*/ 0 w 3815959"/>
              <a:gd name="connsiteY0" fmla="*/ 572671 h 1960224"/>
              <a:gd name="connsiteX1" fmla="*/ 337336 w 3815959"/>
              <a:gd name="connsiteY1" fmla="*/ 599858 h 1960224"/>
              <a:gd name="connsiteX2" fmla="*/ 103656 w 3815959"/>
              <a:gd name="connsiteY2" fmla="*/ 1118018 h 1960224"/>
              <a:gd name="connsiteX3" fmla="*/ 471454 w 3815959"/>
              <a:gd name="connsiteY3" fmla="*/ 1434663 h 1960224"/>
              <a:gd name="connsiteX4" fmla="*/ 957096 w 3815959"/>
              <a:gd name="connsiteY4" fmla="*/ 1788578 h 1960224"/>
              <a:gd name="connsiteX5" fmla="*/ 1315574 w 3815959"/>
              <a:gd name="connsiteY5" fmla="*/ 1295987 h 1960224"/>
              <a:gd name="connsiteX6" fmla="*/ 1190776 w 3815959"/>
              <a:gd name="connsiteY6" fmla="*/ 975778 h 1960224"/>
              <a:gd name="connsiteX7" fmla="*/ 1505736 w 3815959"/>
              <a:gd name="connsiteY7" fmla="*/ 772578 h 1960224"/>
              <a:gd name="connsiteX8" fmla="*/ 1407572 w 3815959"/>
              <a:gd name="connsiteY8" fmla="*/ 318169 h 1960224"/>
              <a:gd name="connsiteX9" fmla="*/ 1912136 w 3815959"/>
              <a:gd name="connsiteY9" fmla="*/ 418 h 1960224"/>
              <a:gd name="connsiteX10" fmla="*/ 2155976 w 3815959"/>
              <a:gd name="connsiteY10" fmla="*/ 254418 h 1960224"/>
              <a:gd name="connsiteX11" fmla="*/ 2517807 w 3815959"/>
              <a:gd name="connsiteY11" fmla="*/ 418311 h 1960224"/>
              <a:gd name="connsiteX12" fmla="*/ 2257576 w 3815959"/>
              <a:gd name="connsiteY12" fmla="*/ 711618 h 1960224"/>
              <a:gd name="connsiteX13" fmla="*/ 2623336 w 3815959"/>
              <a:gd name="connsiteY13" fmla="*/ 1168818 h 1960224"/>
              <a:gd name="connsiteX14" fmla="*/ 2503479 w 3815959"/>
              <a:gd name="connsiteY14" fmla="*/ 1736296 h 1960224"/>
              <a:gd name="connsiteX15" fmla="*/ 3080536 w 3815959"/>
              <a:gd name="connsiteY15" fmla="*/ 1900338 h 1960224"/>
              <a:gd name="connsiteX16" fmla="*/ 3691082 w 3815959"/>
              <a:gd name="connsiteY16" fmla="*/ 1835986 h 1960224"/>
              <a:gd name="connsiteX17" fmla="*/ 3794844 w 3815959"/>
              <a:gd name="connsiteY17" fmla="*/ 561511 h 1960224"/>
              <a:gd name="connsiteX0" fmla="*/ 0 w 3794844"/>
              <a:gd name="connsiteY0" fmla="*/ 572671 h 1883940"/>
              <a:gd name="connsiteX1" fmla="*/ 337336 w 3794844"/>
              <a:gd name="connsiteY1" fmla="*/ 599858 h 1883940"/>
              <a:gd name="connsiteX2" fmla="*/ 103656 w 3794844"/>
              <a:gd name="connsiteY2" fmla="*/ 1118018 h 1883940"/>
              <a:gd name="connsiteX3" fmla="*/ 471454 w 3794844"/>
              <a:gd name="connsiteY3" fmla="*/ 1434663 h 1883940"/>
              <a:gd name="connsiteX4" fmla="*/ 957096 w 3794844"/>
              <a:gd name="connsiteY4" fmla="*/ 1788578 h 1883940"/>
              <a:gd name="connsiteX5" fmla="*/ 1315574 w 3794844"/>
              <a:gd name="connsiteY5" fmla="*/ 1295987 h 1883940"/>
              <a:gd name="connsiteX6" fmla="*/ 1190776 w 3794844"/>
              <a:gd name="connsiteY6" fmla="*/ 975778 h 1883940"/>
              <a:gd name="connsiteX7" fmla="*/ 1505736 w 3794844"/>
              <a:gd name="connsiteY7" fmla="*/ 772578 h 1883940"/>
              <a:gd name="connsiteX8" fmla="*/ 1407572 w 3794844"/>
              <a:gd name="connsiteY8" fmla="*/ 318169 h 1883940"/>
              <a:gd name="connsiteX9" fmla="*/ 1912136 w 3794844"/>
              <a:gd name="connsiteY9" fmla="*/ 418 h 1883940"/>
              <a:gd name="connsiteX10" fmla="*/ 2155976 w 3794844"/>
              <a:gd name="connsiteY10" fmla="*/ 254418 h 1883940"/>
              <a:gd name="connsiteX11" fmla="*/ 2517807 w 3794844"/>
              <a:gd name="connsiteY11" fmla="*/ 418311 h 1883940"/>
              <a:gd name="connsiteX12" fmla="*/ 2257576 w 3794844"/>
              <a:gd name="connsiteY12" fmla="*/ 711618 h 1883940"/>
              <a:gd name="connsiteX13" fmla="*/ 2623336 w 3794844"/>
              <a:gd name="connsiteY13" fmla="*/ 1168818 h 1883940"/>
              <a:gd name="connsiteX14" fmla="*/ 2503479 w 3794844"/>
              <a:gd name="connsiteY14" fmla="*/ 1736296 h 1883940"/>
              <a:gd name="connsiteX15" fmla="*/ 2897656 w 3794844"/>
              <a:gd name="connsiteY15" fmla="*/ 1626018 h 1883940"/>
              <a:gd name="connsiteX16" fmla="*/ 3691082 w 3794844"/>
              <a:gd name="connsiteY16" fmla="*/ 1835986 h 1883940"/>
              <a:gd name="connsiteX17" fmla="*/ 3794844 w 3794844"/>
              <a:gd name="connsiteY17" fmla="*/ 561511 h 1883940"/>
              <a:gd name="connsiteX0" fmla="*/ 0 w 3794844"/>
              <a:gd name="connsiteY0" fmla="*/ 572671 h 1936179"/>
              <a:gd name="connsiteX1" fmla="*/ 337336 w 3794844"/>
              <a:gd name="connsiteY1" fmla="*/ 599858 h 1936179"/>
              <a:gd name="connsiteX2" fmla="*/ 103656 w 3794844"/>
              <a:gd name="connsiteY2" fmla="*/ 1118018 h 1936179"/>
              <a:gd name="connsiteX3" fmla="*/ 471454 w 3794844"/>
              <a:gd name="connsiteY3" fmla="*/ 1434663 h 1936179"/>
              <a:gd name="connsiteX4" fmla="*/ 957096 w 3794844"/>
              <a:gd name="connsiteY4" fmla="*/ 1788578 h 1936179"/>
              <a:gd name="connsiteX5" fmla="*/ 1315574 w 3794844"/>
              <a:gd name="connsiteY5" fmla="*/ 1295987 h 1936179"/>
              <a:gd name="connsiteX6" fmla="*/ 1190776 w 3794844"/>
              <a:gd name="connsiteY6" fmla="*/ 975778 h 1936179"/>
              <a:gd name="connsiteX7" fmla="*/ 1505736 w 3794844"/>
              <a:gd name="connsiteY7" fmla="*/ 772578 h 1936179"/>
              <a:gd name="connsiteX8" fmla="*/ 1407572 w 3794844"/>
              <a:gd name="connsiteY8" fmla="*/ 318169 h 1936179"/>
              <a:gd name="connsiteX9" fmla="*/ 1912136 w 3794844"/>
              <a:gd name="connsiteY9" fmla="*/ 418 h 1936179"/>
              <a:gd name="connsiteX10" fmla="*/ 2155976 w 3794844"/>
              <a:gd name="connsiteY10" fmla="*/ 254418 h 1936179"/>
              <a:gd name="connsiteX11" fmla="*/ 2517807 w 3794844"/>
              <a:gd name="connsiteY11" fmla="*/ 418311 h 1936179"/>
              <a:gd name="connsiteX12" fmla="*/ 2257576 w 3794844"/>
              <a:gd name="connsiteY12" fmla="*/ 711618 h 1936179"/>
              <a:gd name="connsiteX13" fmla="*/ 2623336 w 3794844"/>
              <a:gd name="connsiteY13" fmla="*/ 1168818 h 1936179"/>
              <a:gd name="connsiteX14" fmla="*/ 2503479 w 3794844"/>
              <a:gd name="connsiteY14" fmla="*/ 1736296 h 1936179"/>
              <a:gd name="connsiteX15" fmla="*/ 2897656 w 3794844"/>
              <a:gd name="connsiteY15" fmla="*/ 1626018 h 1936179"/>
              <a:gd name="connsiteX16" fmla="*/ 3395496 w 3794844"/>
              <a:gd name="connsiteY16" fmla="*/ 1829217 h 1936179"/>
              <a:gd name="connsiteX17" fmla="*/ 3691082 w 3794844"/>
              <a:gd name="connsiteY17" fmla="*/ 1835986 h 1936179"/>
              <a:gd name="connsiteX18" fmla="*/ 3794844 w 3794844"/>
              <a:gd name="connsiteY18" fmla="*/ 561511 h 1936179"/>
              <a:gd name="connsiteX0" fmla="*/ 0 w 3794844"/>
              <a:gd name="connsiteY0" fmla="*/ 572671 h 1971253"/>
              <a:gd name="connsiteX1" fmla="*/ 337336 w 3794844"/>
              <a:gd name="connsiteY1" fmla="*/ 599858 h 1971253"/>
              <a:gd name="connsiteX2" fmla="*/ 103656 w 3794844"/>
              <a:gd name="connsiteY2" fmla="*/ 1118018 h 1971253"/>
              <a:gd name="connsiteX3" fmla="*/ 471454 w 3794844"/>
              <a:gd name="connsiteY3" fmla="*/ 1434663 h 1971253"/>
              <a:gd name="connsiteX4" fmla="*/ 957096 w 3794844"/>
              <a:gd name="connsiteY4" fmla="*/ 1788578 h 1971253"/>
              <a:gd name="connsiteX5" fmla="*/ 1315574 w 3794844"/>
              <a:gd name="connsiteY5" fmla="*/ 1295987 h 1971253"/>
              <a:gd name="connsiteX6" fmla="*/ 1190776 w 3794844"/>
              <a:gd name="connsiteY6" fmla="*/ 975778 h 1971253"/>
              <a:gd name="connsiteX7" fmla="*/ 1505736 w 3794844"/>
              <a:gd name="connsiteY7" fmla="*/ 772578 h 1971253"/>
              <a:gd name="connsiteX8" fmla="*/ 1407572 w 3794844"/>
              <a:gd name="connsiteY8" fmla="*/ 318169 h 1971253"/>
              <a:gd name="connsiteX9" fmla="*/ 1912136 w 3794844"/>
              <a:gd name="connsiteY9" fmla="*/ 418 h 1971253"/>
              <a:gd name="connsiteX10" fmla="*/ 2155976 w 3794844"/>
              <a:gd name="connsiteY10" fmla="*/ 254418 h 1971253"/>
              <a:gd name="connsiteX11" fmla="*/ 2517807 w 3794844"/>
              <a:gd name="connsiteY11" fmla="*/ 418311 h 1971253"/>
              <a:gd name="connsiteX12" fmla="*/ 2257576 w 3794844"/>
              <a:gd name="connsiteY12" fmla="*/ 711618 h 1971253"/>
              <a:gd name="connsiteX13" fmla="*/ 2623336 w 3794844"/>
              <a:gd name="connsiteY13" fmla="*/ 1168818 h 1971253"/>
              <a:gd name="connsiteX14" fmla="*/ 2503479 w 3794844"/>
              <a:gd name="connsiteY14" fmla="*/ 1736296 h 1971253"/>
              <a:gd name="connsiteX15" fmla="*/ 2897656 w 3794844"/>
              <a:gd name="connsiteY15" fmla="*/ 1626018 h 1971253"/>
              <a:gd name="connsiteX16" fmla="*/ 3171976 w 3794844"/>
              <a:gd name="connsiteY16" fmla="*/ 1910497 h 1971253"/>
              <a:gd name="connsiteX17" fmla="*/ 3691082 w 3794844"/>
              <a:gd name="connsiteY17" fmla="*/ 1835986 h 1971253"/>
              <a:gd name="connsiteX18" fmla="*/ 3794844 w 3794844"/>
              <a:gd name="connsiteY18" fmla="*/ 561511 h 1971253"/>
              <a:gd name="connsiteX0" fmla="*/ 0 w 3794844"/>
              <a:gd name="connsiteY0" fmla="*/ 572671 h 1923627"/>
              <a:gd name="connsiteX1" fmla="*/ 337336 w 3794844"/>
              <a:gd name="connsiteY1" fmla="*/ 599858 h 1923627"/>
              <a:gd name="connsiteX2" fmla="*/ 103656 w 3794844"/>
              <a:gd name="connsiteY2" fmla="*/ 1118018 h 1923627"/>
              <a:gd name="connsiteX3" fmla="*/ 471454 w 3794844"/>
              <a:gd name="connsiteY3" fmla="*/ 1434663 h 1923627"/>
              <a:gd name="connsiteX4" fmla="*/ 957096 w 3794844"/>
              <a:gd name="connsiteY4" fmla="*/ 1788578 h 1923627"/>
              <a:gd name="connsiteX5" fmla="*/ 1315574 w 3794844"/>
              <a:gd name="connsiteY5" fmla="*/ 1295987 h 1923627"/>
              <a:gd name="connsiteX6" fmla="*/ 1190776 w 3794844"/>
              <a:gd name="connsiteY6" fmla="*/ 975778 h 1923627"/>
              <a:gd name="connsiteX7" fmla="*/ 1505736 w 3794844"/>
              <a:gd name="connsiteY7" fmla="*/ 772578 h 1923627"/>
              <a:gd name="connsiteX8" fmla="*/ 1407572 w 3794844"/>
              <a:gd name="connsiteY8" fmla="*/ 318169 h 1923627"/>
              <a:gd name="connsiteX9" fmla="*/ 1912136 w 3794844"/>
              <a:gd name="connsiteY9" fmla="*/ 418 h 1923627"/>
              <a:gd name="connsiteX10" fmla="*/ 2155976 w 3794844"/>
              <a:gd name="connsiteY10" fmla="*/ 254418 h 1923627"/>
              <a:gd name="connsiteX11" fmla="*/ 2517807 w 3794844"/>
              <a:gd name="connsiteY11" fmla="*/ 418311 h 1923627"/>
              <a:gd name="connsiteX12" fmla="*/ 2257576 w 3794844"/>
              <a:gd name="connsiteY12" fmla="*/ 711618 h 1923627"/>
              <a:gd name="connsiteX13" fmla="*/ 2623336 w 3794844"/>
              <a:gd name="connsiteY13" fmla="*/ 1168818 h 1923627"/>
              <a:gd name="connsiteX14" fmla="*/ 2503479 w 3794844"/>
              <a:gd name="connsiteY14" fmla="*/ 1736296 h 1923627"/>
              <a:gd name="connsiteX15" fmla="*/ 2897656 w 3794844"/>
              <a:gd name="connsiteY15" fmla="*/ 1626018 h 1923627"/>
              <a:gd name="connsiteX16" fmla="*/ 3171976 w 3794844"/>
              <a:gd name="connsiteY16" fmla="*/ 1910497 h 1923627"/>
              <a:gd name="connsiteX17" fmla="*/ 3691082 w 3794844"/>
              <a:gd name="connsiteY17" fmla="*/ 1835986 h 1923627"/>
              <a:gd name="connsiteX18" fmla="*/ 3761256 w 3794844"/>
              <a:gd name="connsiteY18" fmla="*/ 1483777 h 1923627"/>
              <a:gd name="connsiteX19" fmla="*/ 3794844 w 3794844"/>
              <a:gd name="connsiteY19" fmla="*/ 561511 h 1923627"/>
              <a:gd name="connsiteX0" fmla="*/ 0 w 3794844"/>
              <a:gd name="connsiteY0" fmla="*/ 572671 h 1924405"/>
              <a:gd name="connsiteX1" fmla="*/ 337336 w 3794844"/>
              <a:gd name="connsiteY1" fmla="*/ 599858 h 1924405"/>
              <a:gd name="connsiteX2" fmla="*/ 103656 w 3794844"/>
              <a:gd name="connsiteY2" fmla="*/ 1118018 h 1924405"/>
              <a:gd name="connsiteX3" fmla="*/ 471454 w 3794844"/>
              <a:gd name="connsiteY3" fmla="*/ 1434663 h 1924405"/>
              <a:gd name="connsiteX4" fmla="*/ 957096 w 3794844"/>
              <a:gd name="connsiteY4" fmla="*/ 1788578 h 1924405"/>
              <a:gd name="connsiteX5" fmla="*/ 1315574 w 3794844"/>
              <a:gd name="connsiteY5" fmla="*/ 1295987 h 1924405"/>
              <a:gd name="connsiteX6" fmla="*/ 1190776 w 3794844"/>
              <a:gd name="connsiteY6" fmla="*/ 975778 h 1924405"/>
              <a:gd name="connsiteX7" fmla="*/ 1505736 w 3794844"/>
              <a:gd name="connsiteY7" fmla="*/ 772578 h 1924405"/>
              <a:gd name="connsiteX8" fmla="*/ 1407572 w 3794844"/>
              <a:gd name="connsiteY8" fmla="*/ 318169 h 1924405"/>
              <a:gd name="connsiteX9" fmla="*/ 1912136 w 3794844"/>
              <a:gd name="connsiteY9" fmla="*/ 418 h 1924405"/>
              <a:gd name="connsiteX10" fmla="*/ 2155976 w 3794844"/>
              <a:gd name="connsiteY10" fmla="*/ 254418 h 1924405"/>
              <a:gd name="connsiteX11" fmla="*/ 2517807 w 3794844"/>
              <a:gd name="connsiteY11" fmla="*/ 418311 h 1924405"/>
              <a:gd name="connsiteX12" fmla="*/ 2257576 w 3794844"/>
              <a:gd name="connsiteY12" fmla="*/ 711618 h 1924405"/>
              <a:gd name="connsiteX13" fmla="*/ 2623336 w 3794844"/>
              <a:gd name="connsiteY13" fmla="*/ 1168818 h 1924405"/>
              <a:gd name="connsiteX14" fmla="*/ 2503479 w 3794844"/>
              <a:gd name="connsiteY14" fmla="*/ 1736296 h 1924405"/>
              <a:gd name="connsiteX15" fmla="*/ 2897656 w 3794844"/>
              <a:gd name="connsiteY15" fmla="*/ 1626018 h 1924405"/>
              <a:gd name="connsiteX16" fmla="*/ 3171976 w 3794844"/>
              <a:gd name="connsiteY16" fmla="*/ 1910497 h 1924405"/>
              <a:gd name="connsiteX17" fmla="*/ 3691082 w 3794844"/>
              <a:gd name="connsiteY17" fmla="*/ 1835986 h 1924405"/>
              <a:gd name="connsiteX18" fmla="*/ 3547896 w 3794844"/>
              <a:gd name="connsiteY18" fmla="*/ 1453297 h 1924405"/>
              <a:gd name="connsiteX19" fmla="*/ 3794844 w 3794844"/>
              <a:gd name="connsiteY19" fmla="*/ 561511 h 1924405"/>
              <a:gd name="connsiteX0" fmla="*/ 0 w 3794844"/>
              <a:gd name="connsiteY0" fmla="*/ 572671 h 1924405"/>
              <a:gd name="connsiteX1" fmla="*/ 337336 w 3794844"/>
              <a:gd name="connsiteY1" fmla="*/ 599858 h 1924405"/>
              <a:gd name="connsiteX2" fmla="*/ 103656 w 3794844"/>
              <a:gd name="connsiteY2" fmla="*/ 1118018 h 1924405"/>
              <a:gd name="connsiteX3" fmla="*/ 471454 w 3794844"/>
              <a:gd name="connsiteY3" fmla="*/ 1434663 h 1924405"/>
              <a:gd name="connsiteX4" fmla="*/ 957096 w 3794844"/>
              <a:gd name="connsiteY4" fmla="*/ 1788578 h 1924405"/>
              <a:gd name="connsiteX5" fmla="*/ 1315574 w 3794844"/>
              <a:gd name="connsiteY5" fmla="*/ 1295987 h 1924405"/>
              <a:gd name="connsiteX6" fmla="*/ 1190776 w 3794844"/>
              <a:gd name="connsiteY6" fmla="*/ 975778 h 1924405"/>
              <a:gd name="connsiteX7" fmla="*/ 1505736 w 3794844"/>
              <a:gd name="connsiteY7" fmla="*/ 772578 h 1924405"/>
              <a:gd name="connsiteX8" fmla="*/ 1407572 w 3794844"/>
              <a:gd name="connsiteY8" fmla="*/ 318169 h 1924405"/>
              <a:gd name="connsiteX9" fmla="*/ 1912136 w 3794844"/>
              <a:gd name="connsiteY9" fmla="*/ 418 h 1924405"/>
              <a:gd name="connsiteX10" fmla="*/ 2155976 w 3794844"/>
              <a:gd name="connsiteY10" fmla="*/ 254418 h 1924405"/>
              <a:gd name="connsiteX11" fmla="*/ 2517807 w 3794844"/>
              <a:gd name="connsiteY11" fmla="*/ 418311 h 1924405"/>
              <a:gd name="connsiteX12" fmla="*/ 2257576 w 3794844"/>
              <a:gd name="connsiteY12" fmla="*/ 711618 h 1924405"/>
              <a:gd name="connsiteX13" fmla="*/ 2623336 w 3794844"/>
              <a:gd name="connsiteY13" fmla="*/ 1168818 h 1924405"/>
              <a:gd name="connsiteX14" fmla="*/ 2503479 w 3794844"/>
              <a:gd name="connsiteY14" fmla="*/ 1736296 h 1924405"/>
              <a:gd name="connsiteX15" fmla="*/ 2897656 w 3794844"/>
              <a:gd name="connsiteY15" fmla="*/ 1626018 h 1924405"/>
              <a:gd name="connsiteX16" fmla="*/ 3171976 w 3794844"/>
              <a:gd name="connsiteY16" fmla="*/ 1910497 h 1924405"/>
              <a:gd name="connsiteX17" fmla="*/ 3691082 w 3794844"/>
              <a:gd name="connsiteY17" fmla="*/ 1835986 h 1924405"/>
              <a:gd name="connsiteX18" fmla="*/ 3547896 w 3794844"/>
              <a:gd name="connsiteY18" fmla="*/ 1453297 h 1924405"/>
              <a:gd name="connsiteX19" fmla="*/ 3794844 w 3794844"/>
              <a:gd name="connsiteY19" fmla="*/ 561511 h 1924405"/>
              <a:gd name="connsiteX0" fmla="*/ 0 w 3794844"/>
              <a:gd name="connsiteY0" fmla="*/ 572671 h 1924405"/>
              <a:gd name="connsiteX1" fmla="*/ 337336 w 3794844"/>
              <a:gd name="connsiteY1" fmla="*/ 599858 h 1924405"/>
              <a:gd name="connsiteX2" fmla="*/ 103656 w 3794844"/>
              <a:gd name="connsiteY2" fmla="*/ 1118018 h 1924405"/>
              <a:gd name="connsiteX3" fmla="*/ 471454 w 3794844"/>
              <a:gd name="connsiteY3" fmla="*/ 1434663 h 1924405"/>
              <a:gd name="connsiteX4" fmla="*/ 957096 w 3794844"/>
              <a:gd name="connsiteY4" fmla="*/ 1788578 h 1924405"/>
              <a:gd name="connsiteX5" fmla="*/ 1315574 w 3794844"/>
              <a:gd name="connsiteY5" fmla="*/ 1295987 h 1924405"/>
              <a:gd name="connsiteX6" fmla="*/ 1190776 w 3794844"/>
              <a:gd name="connsiteY6" fmla="*/ 975778 h 1924405"/>
              <a:gd name="connsiteX7" fmla="*/ 1505736 w 3794844"/>
              <a:gd name="connsiteY7" fmla="*/ 772578 h 1924405"/>
              <a:gd name="connsiteX8" fmla="*/ 1407572 w 3794844"/>
              <a:gd name="connsiteY8" fmla="*/ 318169 h 1924405"/>
              <a:gd name="connsiteX9" fmla="*/ 1912136 w 3794844"/>
              <a:gd name="connsiteY9" fmla="*/ 418 h 1924405"/>
              <a:gd name="connsiteX10" fmla="*/ 2155976 w 3794844"/>
              <a:gd name="connsiteY10" fmla="*/ 254418 h 1924405"/>
              <a:gd name="connsiteX11" fmla="*/ 2517807 w 3794844"/>
              <a:gd name="connsiteY11" fmla="*/ 418311 h 1924405"/>
              <a:gd name="connsiteX12" fmla="*/ 2257576 w 3794844"/>
              <a:gd name="connsiteY12" fmla="*/ 711618 h 1924405"/>
              <a:gd name="connsiteX13" fmla="*/ 2623336 w 3794844"/>
              <a:gd name="connsiteY13" fmla="*/ 1168818 h 1924405"/>
              <a:gd name="connsiteX14" fmla="*/ 2503479 w 3794844"/>
              <a:gd name="connsiteY14" fmla="*/ 1736296 h 1924405"/>
              <a:gd name="connsiteX15" fmla="*/ 2897656 w 3794844"/>
              <a:gd name="connsiteY15" fmla="*/ 1626018 h 1924405"/>
              <a:gd name="connsiteX16" fmla="*/ 3171976 w 3794844"/>
              <a:gd name="connsiteY16" fmla="*/ 1910497 h 1924405"/>
              <a:gd name="connsiteX17" fmla="*/ 3691082 w 3794844"/>
              <a:gd name="connsiteY17" fmla="*/ 1835986 h 1924405"/>
              <a:gd name="connsiteX18" fmla="*/ 3547896 w 3794844"/>
              <a:gd name="connsiteY18" fmla="*/ 1453297 h 1924405"/>
              <a:gd name="connsiteX19" fmla="*/ 3730776 w 3794844"/>
              <a:gd name="connsiteY19" fmla="*/ 1016417 h 1924405"/>
              <a:gd name="connsiteX20" fmla="*/ 3794844 w 3794844"/>
              <a:gd name="connsiteY20" fmla="*/ 561511 h 1924405"/>
              <a:gd name="connsiteX0" fmla="*/ 0 w 3959620"/>
              <a:gd name="connsiteY0" fmla="*/ 572671 h 1924405"/>
              <a:gd name="connsiteX1" fmla="*/ 337336 w 3959620"/>
              <a:gd name="connsiteY1" fmla="*/ 599858 h 1924405"/>
              <a:gd name="connsiteX2" fmla="*/ 103656 w 3959620"/>
              <a:gd name="connsiteY2" fmla="*/ 1118018 h 1924405"/>
              <a:gd name="connsiteX3" fmla="*/ 471454 w 3959620"/>
              <a:gd name="connsiteY3" fmla="*/ 1434663 h 1924405"/>
              <a:gd name="connsiteX4" fmla="*/ 957096 w 3959620"/>
              <a:gd name="connsiteY4" fmla="*/ 1788578 h 1924405"/>
              <a:gd name="connsiteX5" fmla="*/ 1315574 w 3959620"/>
              <a:gd name="connsiteY5" fmla="*/ 1295987 h 1924405"/>
              <a:gd name="connsiteX6" fmla="*/ 1190776 w 3959620"/>
              <a:gd name="connsiteY6" fmla="*/ 975778 h 1924405"/>
              <a:gd name="connsiteX7" fmla="*/ 1505736 w 3959620"/>
              <a:gd name="connsiteY7" fmla="*/ 772578 h 1924405"/>
              <a:gd name="connsiteX8" fmla="*/ 1407572 w 3959620"/>
              <a:gd name="connsiteY8" fmla="*/ 318169 h 1924405"/>
              <a:gd name="connsiteX9" fmla="*/ 1912136 w 3959620"/>
              <a:gd name="connsiteY9" fmla="*/ 418 h 1924405"/>
              <a:gd name="connsiteX10" fmla="*/ 2155976 w 3959620"/>
              <a:gd name="connsiteY10" fmla="*/ 254418 h 1924405"/>
              <a:gd name="connsiteX11" fmla="*/ 2517807 w 3959620"/>
              <a:gd name="connsiteY11" fmla="*/ 418311 h 1924405"/>
              <a:gd name="connsiteX12" fmla="*/ 2257576 w 3959620"/>
              <a:gd name="connsiteY12" fmla="*/ 711618 h 1924405"/>
              <a:gd name="connsiteX13" fmla="*/ 2623336 w 3959620"/>
              <a:gd name="connsiteY13" fmla="*/ 1168818 h 1924405"/>
              <a:gd name="connsiteX14" fmla="*/ 2503479 w 3959620"/>
              <a:gd name="connsiteY14" fmla="*/ 1736296 h 1924405"/>
              <a:gd name="connsiteX15" fmla="*/ 2897656 w 3959620"/>
              <a:gd name="connsiteY15" fmla="*/ 1626018 h 1924405"/>
              <a:gd name="connsiteX16" fmla="*/ 3171976 w 3959620"/>
              <a:gd name="connsiteY16" fmla="*/ 1910497 h 1924405"/>
              <a:gd name="connsiteX17" fmla="*/ 3691082 w 3959620"/>
              <a:gd name="connsiteY17" fmla="*/ 1835986 h 1924405"/>
              <a:gd name="connsiteX18" fmla="*/ 3547896 w 3959620"/>
              <a:gd name="connsiteY18" fmla="*/ 1453297 h 1924405"/>
              <a:gd name="connsiteX19" fmla="*/ 3954296 w 3959620"/>
              <a:gd name="connsiteY19" fmla="*/ 1168817 h 1924405"/>
              <a:gd name="connsiteX20" fmla="*/ 3794844 w 3959620"/>
              <a:gd name="connsiteY20" fmla="*/ 561511 h 1924405"/>
              <a:gd name="connsiteX0" fmla="*/ 0 w 3970132"/>
              <a:gd name="connsiteY0" fmla="*/ 572671 h 1924405"/>
              <a:gd name="connsiteX1" fmla="*/ 337336 w 3970132"/>
              <a:gd name="connsiteY1" fmla="*/ 599858 h 1924405"/>
              <a:gd name="connsiteX2" fmla="*/ 103656 w 3970132"/>
              <a:gd name="connsiteY2" fmla="*/ 1118018 h 1924405"/>
              <a:gd name="connsiteX3" fmla="*/ 471454 w 3970132"/>
              <a:gd name="connsiteY3" fmla="*/ 1434663 h 1924405"/>
              <a:gd name="connsiteX4" fmla="*/ 957096 w 3970132"/>
              <a:gd name="connsiteY4" fmla="*/ 1788578 h 1924405"/>
              <a:gd name="connsiteX5" fmla="*/ 1315574 w 3970132"/>
              <a:gd name="connsiteY5" fmla="*/ 1295987 h 1924405"/>
              <a:gd name="connsiteX6" fmla="*/ 1190776 w 3970132"/>
              <a:gd name="connsiteY6" fmla="*/ 975778 h 1924405"/>
              <a:gd name="connsiteX7" fmla="*/ 1505736 w 3970132"/>
              <a:gd name="connsiteY7" fmla="*/ 772578 h 1924405"/>
              <a:gd name="connsiteX8" fmla="*/ 1407572 w 3970132"/>
              <a:gd name="connsiteY8" fmla="*/ 318169 h 1924405"/>
              <a:gd name="connsiteX9" fmla="*/ 1912136 w 3970132"/>
              <a:gd name="connsiteY9" fmla="*/ 418 h 1924405"/>
              <a:gd name="connsiteX10" fmla="*/ 2155976 w 3970132"/>
              <a:gd name="connsiteY10" fmla="*/ 254418 h 1924405"/>
              <a:gd name="connsiteX11" fmla="*/ 2517807 w 3970132"/>
              <a:gd name="connsiteY11" fmla="*/ 418311 h 1924405"/>
              <a:gd name="connsiteX12" fmla="*/ 2257576 w 3970132"/>
              <a:gd name="connsiteY12" fmla="*/ 711618 h 1924405"/>
              <a:gd name="connsiteX13" fmla="*/ 2623336 w 3970132"/>
              <a:gd name="connsiteY13" fmla="*/ 1168818 h 1924405"/>
              <a:gd name="connsiteX14" fmla="*/ 2503479 w 3970132"/>
              <a:gd name="connsiteY14" fmla="*/ 1736296 h 1924405"/>
              <a:gd name="connsiteX15" fmla="*/ 2897656 w 3970132"/>
              <a:gd name="connsiteY15" fmla="*/ 1626018 h 1924405"/>
              <a:gd name="connsiteX16" fmla="*/ 3171976 w 3970132"/>
              <a:gd name="connsiteY16" fmla="*/ 1910497 h 1924405"/>
              <a:gd name="connsiteX17" fmla="*/ 3691082 w 3970132"/>
              <a:gd name="connsiteY17" fmla="*/ 1835986 h 1924405"/>
              <a:gd name="connsiteX18" fmla="*/ 3547896 w 3970132"/>
              <a:gd name="connsiteY18" fmla="*/ 1453297 h 1924405"/>
              <a:gd name="connsiteX19" fmla="*/ 3954296 w 3970132"/>
              <a:gd name="connsiteY19" fmla="*/ 1168817 h 1924405"/>
              <a:gd name="connsiteX20" fmla="*/ 3794844 w 3970132"/>
              <a:gd name="connsiteY20" fmla="*/ 561511 h 1924405"/>
              <a:gd name="connsiteX0" fmla="*/ 0 w 3901779"/>
              <a:gd name="connsiteY0" fmla="*/ 572671 h 1924405"/>
              <a:gd name="connsiteX1" fmla="*/ 337336 w 3901779"/>
              <a:gd name="connsiteY1" fmla="*/ 599858 h 1924405"/>
              <a:gd name="connsiteX2" fmla="*/ 103656 w 3901779"/>
              <a:gd name="connsiteY2" fmla="*/ 1118018 h 1924405"/>
              <a:gd name="connsiteX3" fmla="*/ 471454 w 3901779"/>
              <a:gd name="connsiteY3" fmla="*/ 1434663 h 1924405"/>
              <a:gd name="connsiteX4" fmla="*/ 957096 w 3901779"/>
              <a:gd name="connsiteY4" fmla="*/ 1788578 h 1924405"/>
              <a:gd name="connsiteX5" fmla="*/ 1315574 w 3901779"/>
              <a:gd name="connsiteY5" fmla="*/ 1295987 h 1924405"/>
              <a:gd name="connsiteX6" fmla="*/ 1190776 w 3901779"/>
              <a:gd name="connsiteY6" fmla="*/ 975778 h 1924405"/>
              <a:gd name="connsiteX7" fmla="*/ 1505736 w 3901779"/>
              <a:gd name="connsiteY7" fmla="*/ 772578 h 1924405"/>
              <a:gd name="connsiteX8" fmla="*/ 1407572 w 3901779"/>
              <a:gd name="connsiteY8" fmla="*/ 318169 h 1924405"/>
              <a:gd name="connsiteX9" fmla="*/ 1912136 w 3901779"/>
              <a:gd name="connsiteY9" fmla="*/ 418 h 1924405"/>
              <a:gd name="connsiteX10" fmla="*/ 2155976 w 3901779"/>
              <a:gd name="connsiteY10" fmla="*/ 254418 h 1924405"/>
              <a:gd name="connsiteX11" fmla="*/ 2517807 w 3901779"/>
              <a:gd name="connsiteY11" fmla="*/ 418311 h 1924405"/>
              <a:gd name="connsiteX12" fmla="*/ 2257576 w 3901779"/>
              <a:gd name="connsiteY12" fmla="*/ 711618 h 1924405"/>
              <a:gd name="connsiteX13" fmla="*/ 2623336 w 3901779"/>
              <a:gd name="connsiteY13" fmla="*/ 1168818 h 1924405"/>
              <a:gd name="connsiteX14" fmla="*/ 2503479 w 3901779"/>
              <a:gd name="connsiteY14" fmla="*/ 1736296 h 1924405"/>
              <a:gd name="connsiteX15" fmla="*/ 2897656 w 3901779"/>
              <a:gd name="connsiteY15" fmla="*/ 1626018 h 1924405"/>
              <a:gd name="connsiteX16" fmla="*/ 3171976 w 3901779"/>
              <a:gd name="connsiteY16" fmla="*/ 1910497 h 1924405"/>
              <a:gd name="connsiteX17" fmla="*/ 3691082 w 3901779"/>
              <a:gd name="connsiteY17" fmla="*/ 1835986 h 1924405"/>
              <a:gd name="connsiteX18" fmla="*/ 3547896 w 3901779"/>
              <a:gd name="connsiteY18" fmla="*/ 1453297 h 1924405"/>
              <a:gd name="connsiteX19" fmla="*/ 3882859 w 3901779"/>
              <a:gd name="connsiteY19" fmla="*/ 1097380 h 1924405"/>
              <a:gd name="connsiteX20" fmla="*/ 3794844 w 3901779"/>
              <a:gd name="connsiteY20" fmla="*/ 561511 h 1924405"/>
              <a:gd name="connsiteX0" fmla="*/ 0 w 4031626"/>
              <a:gd name="connsiteY0" fmla="*/ 572671 h 1924405"/>
              <a:gd name="connsiteX1" fmla="*/ 337336 w 4031626"/>
              <a:gd name="connsiteY1" fmla="*/ 599858 h 1924405"/>
              <a:gd name="connsiteX2" fmla="*/ 103656 w 4031626"/>
              <a:gd name="connsiteY2" fmla="*/ 1118018 h 1924405"/>
              <a:gd name="connsiteX3" fmla="*/ 471454 w 4031626"/>
              <a:gd name="connsiteY3" fmla="*/ 1434663 h 1924405"/>
              <a:gd name="connsiteX4" fmla="*/ 957096 w 4031626"/>
              <a:gd name="connsiteY4" fmla="*/ 1788578 h 1924405"/>
              <a:gd name="connsiteX5" fmla="*/ 1315574 w 4031626"/>
              <a:gd name="connsiteY5" fmla="*/ 1295987 h 1924405"/>
              <a:gd name="connsiteX6" fmla="*/ 1190776 w 4031626"/>
              <a:gd name="connsiteY6" fmla="*/ 975778 h 1924405"/>
              <a:gd name="connsiteX7" fmla="*/ 1505736 w 4031626"/>
              <a:gd name="connsiteY7" fmla="*/ 772578 h 1924405"/>
              <a:gd name="connsiteX8" fmla="*/ 1407572 w 4031626"/>
              <a:gd name="connsiteY8" fmla="*/ 318169 h 1924405"/>
              <a:gd name="connsiteX9" fmla="*/ 1912136 w 4031626"/>
              <a:gd name="connsiteY9" fmla="*/ 418 h 1924405"/>
              <a:gd name="connsiteX10" fmla="*/ 2155976 w 4031626"/>
              <a:gd name="connsiteY10" fmla="*/ 254418 h 1924405"/>
              <a:gd name="connsiteX11" fmla="*/ 2517807 w 4031626"/>
              <a:gd name="connsiteY11" fmla="*/ 418311 h 1924405"/>
              <a:gd name="connsiteX12" fmla="*/ 2257576 w 4031626"/>
              <a:gd name="connsiteY12" fmla="*/ 711618 h 1924405"/>
              <a:gd name="connsiteX13" fmla="*/ 2623336 w 4031626"/>
              <a:gd name="connsiteY13" fmla="*/ 1168818 h 1924405"/>
              <a:gd name="connsiteX14" fmla="*/ 2503479 w 4031626"/>
              <a:gd name="connsiteY14" fmla="*/ 1736296 h 1924405"/>
              <a:gd name="connsiteX15" fmla="*/ 2897656 w 4031626"/>
              <a:gd name="connsiteY15" fmla="*/ 1626018 h 1924405"/>
              <a:gd name="connsiteX16" fmla="*/ 3171976 w 4031626"/>
              <a:gd name="connsiteY16" fmla="*/ 1910497 h 1924405"/>
              <a:gd name="connsiteX17" fmla="*/ 3691082 w 4031626"/>
              <a:gd name="connsiteY17" fmla="*/ 1835986 h 1924405"/>
              <a:gd name="connsiteX18" fmla="*/ 3547896 w 4031626"/>
              <a:gd name="connsiteY18" fmla="*/ 1453297 h 1924405"/>
              <a:gd name="connsiteX19" fmla="*/ 4016209 w 4031626"/>
              <a:gd name="connsiteY19" fmla="*/ 1059280 h 1924405"/>
              <a:gd name="connsiteX20" fmla="*/ 3794844 w 4031626"/>
              <a:gd name="connsiteY20" fmla="*/ 561511 h 1924405"/>
              <a:gd name="connsiteX0" fmla="*/ 0 w 4031626"/>
              <a:gd name="connsiteY0" fmla="*/ 572671 h 1924405"/>
              <a:gd name="connsiteX1" fmla="*/ 337336 w 4031626"/>
              <a:gd name="connsiteY1" fmla="*/ 599858 h 1924405"/>
              <a:gd name="connsiteX2" fmla="*/ 103656 w 4031626"/>
              <a:gd name="connsiteY2" fmla="*/ 1118018 h 1924405"/>
              <a:gd name="connsiteX3" fmla="*/ 471454 w 4031626"/>
              <a:gd name="connsiteY3" fmla="*/ 1434663 h 1924405"/>
              <a:gd name="connsiteX4" fmla="*/ 957096 w 4031626"/>
              <a:gd name="connsiteY4" fmla="*/ 1788578 h 1924405"/>
              <a:gd name="connsiteX5" fmla="*/ 1315574 w 4031626"/>
              <a:gd name="connsiteY5" fmla="*/ 1295987 h 1924405"/>
              <a:gd name="connsiteX6" fmla="*/ 1190776 w 4031626"/>
              <a:gd name="connsiteY6" fmla="*/ 975778 h 1924405"/>
              <a:gd name="connsiteX7" fmla="*/ 1505736 w 4031626"/>
              <a:gd name="connsiteY7" fmla="*/ 772578 h 1924405"/>
              <a:gd name="connsiteX8" fmla="*/ 1407572 w 4031626"/>
              <a:gd name="connsiteY8" fmla="*/ 318169 h 1924405"/>
              <a:gd name="connsiteX9" fmla="*/ 1912136 w 4031626"/>
              <a:gd name="connsiteY9" fmla="*/ 418 h 1924405"/>
              <a:gd name="connsiteX10" fmla="*/ 2155976 w 4031626"/>
              <a:gd name="connsiteY10" fmla="*/ 254418 h 1924405"/>
              <a:gd name="connsiteX11" fmla="*/ 2517807 w 4031626"/>
              <a:gd name="connsiteY11" fmla="*/ 418311 h 1924405"/>
              <a:gd name="connsiteX12" fmla="*/ 2257576 w 4031626"/>
              <a:gd name="connsiteY12" fmla="*/ 711618 h 1924405"/>
              <a:gd name="connsiteX13" fmla="*/ 2623336 w 4031626"/>
              <a:gd name="connsiteY13" fmla="*/ 1168818 h 1924405"/>
              <a:gd name="connsiteX14" fmla="*/ 2503479 w 4031626"/>
              <a:gd name="connsiteY14" fmla="*/ 1736296 h 1924405"/>
              <a:gd name="connsiteX15" fmla="*/ 2897656 w 4031626"/>
              <a:gd name="connsiteY15" fmla="*/ 1626018 h 1924405"/>
              <a:gd name="connsiteX16" fmla="*/ 3171976 w 4031626"/>
              <a:gd name="connsiteY16" fmla="*/ 1910497 h 1924405"/>
              <a:gd name="connsiteX17" fmla="*/ 3691082 w 4031626"/>
              <a:gd name="connsiteY17" fmla="*/ 1835986 h 1924405"/>
              <a:gd name="connsiteX18" fmla="*/ 3547896 w 4031626"/>
              <a:gd name="connsiteY18" fmla="*/ 1453297 h 1924405"/>
              <a:gd name="connsiteX19" fmla="*/ 4016209 w 4031626"/>
              <a:gd name="connsiteY19" fmla="*/ 1059280 h 1924405"/>
              <a:gd name="connsiteX20" fmla="*/ 3794844 w 4031626"/>
              <a:gd name="connsiteY20" fmla="*/ 561511 h 192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31626" h="1924405">
                <a:moveTo>
                  <a:pt x="0" y="572671"/>
                </a:moveTo>
                <a:cubicBezTo>
                  <a:pt x="30823" y="614456"/>
                  <a:pt x="258760" y="456193"/>
                  <a:pt x="337336" y="599858"/>
                </a:cubicBezTo>
                <a:cubicBezTo>
                  <a:pt x="400332" y="685669"/>
                  <a:pt x="81303" y="978884"/>
                  <a:pt x="103656" y="1118018"/>
                </a:cubicBezTo>
                <a:cubicBezTo>
                  <a:pt x="126009" y="1257152"/>
                  <a:pt x="329214" y="1322903"/>
                  <a:pt x="471454" y="1434663"/>
                </a:cubicBezTo>
                <a:cubicBezTo>
                  <a:pt x="613694" y="1546423"/>
                  <a:pt x="816409" y="1811691"/>
                  <a:pt x="957096" y="1788578"/>
                </a:cubicBezTo>
                <a:cubicBezTo>
                  <a:pt x="1097783" y="1765465"/>
                  <a:pt x="1276627" y="1431454"/>
                  <a:pt x="1315574" y="1295987"/>
                </a:cubicBezTo>
                <a:cubicBezTo>
                  <a:pt x="1354521" y="1160520"/>
                  <a:pt x="1194642" y="1074866"/>
                  <a:pt x="1190776" y="975778"/>
                </a:cubicBezTo>
                <a:cubicBezTo>
                  <a:pt x="1186910" y="876690"/>
                  <a:pt x="1469603" y="882180"/>
                  <a:pt x="1505736" y="772578"/>
                </a:cubicBezTo>
                <a:cubicBezTo>
                  <a:pt x="1541869" y="662977"/>
                  <a:pt x="1339839" y="446862"/>
                  <a:pt x="1407572" y="318169"/>
                </a:cubicBezTo>
                <a:cubicBezTo>
                  <a:pt x="1475305" y="189476"/>
                  <a:pt x="1787402" y="11043"/>
                  <a:pt x="1912136" y="418"/>
                </a:cubicBezTo>
                <a:cubicBezTo>
                  <a:pt x="2036870" y="-10207"/>
                  <a:pt x="2055031" y="184769"/>
                  <a:pt x="2155976" y="254418"/>
                </a:cubicBezTo>
                <a:cubicBezTo>
                  <a:pt x="2256921" y="324067"/>
                  <a:pt x="2500874" y="342111"/>
                  <a:pt x="2517807" y="418311"/>
                </a:cubicBezTo>
                <a:cubicBezTo>
                  <a:pt x="2534740" y="494511"/>
                  <a:pt x="2295868" y="566214"/>
                  <a:pt x="2257576" y="711618"/>
                </a:cubicBezTo>
                <a:cubicBezTo>
                  <a:pt x="2219284" y="857023"/>
                  <a:pt x="2582352" y="998038"/>
                  <a:pt x="2623336" y="1168818"/>
                </a:cubicBezTo>
                <a:cubicBezTo>
                  <a:pt x="2664320" y="1339598"/>
                  <a:pt x="2457759" y="1660096"/>
                  <a:pt x="2503479" y="1736296"/>
                </a:cubicBezTo>
                <a:cubicBezTo>
                  <a:pt x="2549199" y="1812496"/>
                  <a:pt x="2748987" y="1610531"/>
                  <a:pt x="2897656" y="1626018"/>
                </a:cubicBezTo>
                <a:cubicBezTo>
                  <a:pt x="3046326" y="1641505"/>
                  <a:pt x="3039738" y="1875502"/>
                  <a:pt x="3171976" y="1910497"/>
                </a:cubicBezTo>
                <a:cubicBezTo>
                  <a:pt x="3304214" y="1945492"/>
                  <a:pt x="3628429" y="1912186"/>
                  <a:pt x="3691082" y="1835986"/>
                </a:cubicBezTo>
                <a:cubicBezTo>
                  <a:pt x="3753735" y="1759786"/>
                  <a:pt x="3493708" y="1582748"/>
                  <a:pt x="3547896" y="1453297"/>
                </a:cubicBezTo>
                <a:cubicBezTo>
                  <a:pt x="3602084" y="1323846"/>
                  <a:pt x="4127451" y="1167271"/>
                  <a:pt x="4016209" y="1059280"/>
                </a:cubicBezTo>
                <a:cubicBezTo>
                  <a:pt x="3857342" y="891599"/>
                  <a:pt x="3784166" y="637329"/>
                  <a:pt x="3794844" y="561511"/>
                </a:cubicBezTo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3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-0.00139 L 0.03607 0.12662 C 0.04649 0.12546 0.05768 0.13773 0.0681 0.13611 C 0.07969 0.13495 0.09024 0.12014 0.10209 0.11875 C 0.10834 0.10417 0.10964 0.08982 0.10899 0.06042 C 0.10755 0.03056 0.10886 -0.01574 0.11524 -0.03148 C 0.12084 -0.05602 0.14024 -0.04792 0.15065 -0.05 C 0.16081 -0.05231 0.16654 -0.05185 0.1763 -0.04421 C 0.18581 -0.03657 0.20339 -0.04352 0.20755 -0.00417 C 0.21172 0.02107 0.20196 0.07662 0.2013 0.10625 C 0.20065 0.13634 0.19714 0.17384 0.21446 0.18843 C 0.25821 0.20718 0.26654 0.20741 0.30339 0.18495 C 0.31198 0.13148 0.31003 0.10532 0.31172 0.06296 L 0.31172 0.01042 " pathEditMode="relative" rAng="0" ptsTypes="AAAAAAAAAAAAAA">
                                      <p:cBhvr>
                                        <p:cTn id="14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7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661332" cy="439977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Let’s suppose we can set the robots velocity in the world frame</a:t>
                </a:r>
              </a:p>
              <a:p>
                <a:pPr lvl="1"/>
                <a:r>
                  <a:rPr lang="en-US" dirty="0"/>
                  <a:t>E.g. we can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arbitrarily</a:t>
                </a:r>
              </a:p>
              <a:p>
                <a:endParaRPr lang="en-US" b="0" dirty="0"/>
              </a:p>
              <a:p>
                <a:r>
                  <a:rPr lang="en-US" b="0" dirty="0"/>
                  <a:t>We seek </a:t>
                </a:r>
                <a:r>
                  <a:rPr lang="en-US" dirty="0"/>
                  <a:t>a function to set this velocity (call 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causes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b="0" dirty="0"/>
                  <a:t>Which is the same as saying the tracking error goes to zero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b="0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Such a function “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”  is called a “control law” or a “control policy”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661332" cy="4399774"/>
              </a:xfrm>
              <a:blipFill>
                <a:blip r:embed="rId2"/>
                <a:stretch>
                  <a:fillRect l="-686" t="-2913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74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make the error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go to zero?</a:t>
                </a:r>
              </a:p>
              <a:p>
                <a:r>
                  <a:rPr lang="en-US" dirty="0"/>
                  <a:t>Let’s assume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” is just for X or Y axis alone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  <a:blipFill>
                <a:blip r:embed="rId2"/>
                <a:stretch>
                  <a:fillRect l="-1407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1CF6F-C551-5712-6EDB-1B2EC484D739}"/>
              </a:ext>
            </a:extLst>
          </p:cNvPr>
          <p:cNvCxnSpPr>
            <a:cxnSpLocks/>
          </p:cNvCxnSpPr>
          <p:nvPr/>
        </p:nvCxnSpPr>
        <p:spPr>
          <a:xfrm>
            <a:off x="8442960" y="3180080"/>
            <a:ext cx="331216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8955C-8124-6157-1095-019F99921B0C}"/>
              </a:ext>
            </a:extLst>
          </p:cNvPr>
          <p:cNvCxnSpPr>
            <a:cxnSpLocks/>
          </p:cNvCxnSpPr>
          <p:nvPr/>
        </p:nvCxnSpPr>
        <p:spPr>
          <a:xfrm>
            <a:off x="10099040" y="3037840"/>
            <a:ext cx="0" cy="2844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DC3B21-99D3-1116-5620-0221B3492C36}"/>
              </a:ext>
            </a:extLst>
          </p:cNvPr>
          <p:cNvSpPr txBox="1"/>
          <p:nvPr/>
        </p:nvSpPr>
        <p:spPr>
          <a:xfrm>
            <a:off x="9921241" y="3322320"/>
            <a:ext cx="35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/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40562C5-79A7-6394-945A-9899B31BEEA3}"/>
              </a:ext>
            </a:extLst>
          </p:cNvPr>
          <p:cNvSpPr>
            <a:spLocks noChangeAspect="1"/>
          </p:cNvSpPr>
          <p:nvPr/>
        </p:nvSpPr>
        <p:spPr>
          <a:xfrm>
            <a:off x="10560117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7DFB1A-D398-60E9-FD36-9FC3DA5606BA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10098405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77BD9F9-C137-5189-3F39-E4606495FB1A}"/>
              </a:ext>
            </a:extLst>
          </p:cNvPr>
          <p:cNvSpPr>
            <a:spLocks noChangeAspect="1"/>
          </p:cNvSpPr>
          <p:nvPr/>
        </p:nvSpPr>
        <p:spPr>
          <a:xfrm>
            <a:off x="9445879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1F56D9-12D5-A5D4-336D-C9BA84065E18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9629013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97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make the error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go to zero?</a:t>
                </a:r>
              </a:p>
              <a:p>
                <a:r>
                  <a:rPr lang="en-US" dirty="0"/>
                  <a:t>Let’s assume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” is just for X or Y axis alone</a:t>
                </a:r>
              </a:p>
              <a:p>
                <a:endParaRPr lang="en-US" dirty="0"/>
              </a:p>
              <a:p>
                <a:r>
                  <a:rPr lang="en-US" b="0" dirty="0"/>
                  <a:t>Let’s construct a “sector condition”: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  <a:blipFill>
                <a:blip r:embed="rId2"/>
                <a:stretch>
                  <a:fillRect l="-1407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1CF6F-C551-5712-6EDB-1B2EC484D739}"/>
              </a:ext>
            </a:extLst>
          </p:cNvPr>
          <p:cNvCxnSpPr>
            <a:cxnSpLocks/>
          </p:cNvCxnSpPr>
          <p:nvPr/>
        </p:nvCxnSpPr>
        <p:spPr>
          <a:xfrm>
            <a:off x="8442960" y="3180080"/>
            <a:ext cx="331216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8955C-8124-6157-1095-019F99921B0C}"/>
              </a:ext>
            </a:extLst>
          </p:cNvPr>
          <p:cNvCxnSpPr>
            <a:cxnSpLocks/>
          </p:cNvCxnSpPr>
          <p:nvPr/>
        </p:nvCxnSpPr>
        <p:spPr>
          <a:xfrm>
            <a:off x="10099040" y="3037840"/>
            <a:ext cx="0" cy="2844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DC3B21-99D3-1116-5620-0221B3492C36}"/>
              </a:ext>
            </a:extLst>
          </p:cNvPr>
          <p:cNvSpPr txBox="1"/>
          <p:nvPr/>
        </p:nvSpPr>
        <p:spPr>
          <a:xfrm>
            <a:off x="9921241" y="3322320"/>
            <a:ext cx="35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/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40562C5-79A7-6394-945A-9899B31BEEA3}"/>
              </a:ext>
            </a:extLst>
          </p:cNvPr>
          <p:cNvSpPr>
            <a:spLocks noChangeAspect="1"/>
          </p:cNvSpPr>
          <p:nvPr/>
        </p:nvSpPr>
        <p:spPr>
          <a:xfrm>
            <a:off x="10560117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7DFB1A-D398-60E9-FD36-9FC3DA5606BA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10098405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77BD9F9-C137-5189-3F39-E4606495FB1A}"/>
              </a:ext>
            </a:extLst>
          </p:cNvPr>
          <p:cNvSpPr>
            <a:spLocks noChangeAspect="1"/>
          </p:cNvSpPr>
          <p:nvPr/>
        </p:nvSpPr>
        <p:spPr>
          <a:xfrm>
            <a:off x="9445879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1F56D9-12D5-A5D4-336D-C9BA84065E18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9629013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70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make the error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go to zero?</a:t>
                </a:r>
              </a:p>
              <a:p>
                <a:r>
                  <a:rPr lang="en-US" dirty="0"/>
                  <a:t>Let’s assume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” is just for X or Y axis alone</a:t>
                </a:r>
              </a:p>
              <a:p>
                <a:endParaRPr lang="en-US" dirty="0"/>
              </a:p>
              <a:p>
                <a:r>
                  <a:rPr lang="en-US" b="0" dirty="0"/>
                  <a:t>Let’s construct a “sector condition”: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In all cases we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b="0" dirty="0"/>
                  <a:t> “go towards zero”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  <a:blipFill>
                <a:blip r:embed="rId2"/>
                <a:stretch>
                  <a:fillRect l="-1407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1CF6F-C551-5712-6EDB-1B2EC484D739}"/>
              </a:ext>
            </a:extLst>
          </p:cNvPr>
          <p:cNvCxnSpPr>
            <a:cxnSpLocks/>
          </p:cNvCxnSpPr>
          <p:nvPr/>
        </p:nvCxnSpPr>
        <p:spPr>
          <a:xfrm>
            <a:off x="8442960" y="3180080"/>
            <a:ext cx="331216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8955C-8124-6157-1095-019F99921B0C}"/>
              </a:ext>
            </a:extLst>
          </p:cNvPr>
          <p:cNvCxnSpPr>
            <a:cxnSpLocks/>
          </p:cNvCxnSpPr>
          <p:nvPr/>
        </p:nvCxnSpPr>
        <p:spPr>
          <a:xfrm>
            <a:off x="10099040" y="3037840"/>
            <a:ext cx="0" cy="2844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DC3B21-99D3-1116-5620-0221B3492C36}"/>
              </a:ext>
            </a:extLst>
          </p:cNvPr>
          <p:cNvSpPr txBox="1"/>
          <p:nvPr/>
        </p:nvSpPr>
        <p:spPr>
          <a:xfrm>
            <a:off x="9921241" y="3322320"/>
            <a:ext cx="35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/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40562C5-79A7-6394-945A-9899B31BEEA3}"/>
              </a:ext>
            </a:extLst>
          </p:cNvPr>
          <p:cNvSpPr>
            <a:spLocks noChangeAspect="1"/>
          </p:cNvSpPr>
          <p:nvPr/>
        </p:nvSpPr>
        <p:spPr>
          <a:xfrm>
            <a:off x="10560117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7DFB1A-D398-60E9-FD36-9FC3DA5606BA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10098405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77BD9F9-C137-5189-3F39-E4606495FB1A}"/>
              </a:ext>
            </a:extLst>
          </p:cNvPr>
          <p:cNvSpPr>
            <a:spLocks noChangeAspect="1"/>
          </p:cNvSpPr>
          <p:nvPr/>
        </p:nvSpPr>
        <p:spPr>
          <a:xfrm>
            <a:off x="9445879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1F56D9-12D5-A5D4-336D-C9BA84065E18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9629013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31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make the error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 go to zero?</a:t>
                </a:r>
              </a:p>
              <a:p>
                <a:r>
                  <a:rPr lang="en-US" dirty="0"/>
                  <a:t>Let’s assume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” is just for X or Y axis alone</a:t>
                </a:r>
              </a:p>
              <a:p>
                <a:endParaRPr lang="en-US" dirty="0"/>
              </a:p>
              <a:p>
                <a:r>
                  <a:rPr lang="en-US" b="0" dirty="0"/>
                  <a:t>Let’s construct a “sector condition”: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In all cases we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b="0" dirty="0"/>
                  <a:t> “go towards zero”</a:t>
                </a:r>
              </a:p>
              <a:p>
                <a:r>
                  <a:rPr lang="en-US" dirty="0"/>
                  <a:t>Why is this called a sector condition?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7" y="1789889"/>
                <a:ext cx="7800059" cy="4399774"/>
              </a:xfrm>
              <a:blipFill>
                <a:blip r:embed="rId2"/>
                <a:stretch>
                  <a:fillRect l="-1407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11CF6F-C551-5712-6EDB-1B2EC484D739}"/>
              </a:ext>
            </a:extLst>
          </p:cNvPr>
          <p:cNvCxnSpPr>
            <a:cxnSpLocks/>
          </p:cNvCxnSpPr>
          <p:nvPr/>
        </p:nvCxnSpPr>
        <p:spPr>
          <a:xfrm>
            <a:off x="8442960" y="3180080"/>
            <a:ext cx="331216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8955C-8124-6157-1095-019F99921B0C}"/>
              </a:ext>
            </a:extLst>
          </p:cNvPr>
          <p:cNvCxnSpPr>
            <a:cxnSpLocks/>
          </p:cNvCxnSpPr>
          <p:nvPr/>
        </p:nvCxnSpPr>
        <p:spPr>
          <a:xfrm>
            <a:off x="10099040" y="3037840"/>
            <a:ext cx="0" cy="2844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1DC3B21-99D3-1116-5620-0221B3492C36}"/>
              </a:ext>
            </a:extLst>
          </p:cNvPr>
          <p:cNvSpPr txBox="1"/>
          <p:nvPr/>
        </p:nvSpPr>
        <p:spPr>
          <a:xfrm>
            <a:off x="9921241" y="3322320"/>
            <a:ext cx="35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/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7B959E-9F28-1D11-2CB8-8307699B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368486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40562C5-79A7-6394-945A-9899B31BEEA3}"/>
              </a:ext>
            </a:extLst>
          </p:cNvPr>
          <p:cNvSpPr>
            <a:spLocks noChangeAspect="1"/>
          </p:cNvSpPr>
          <p:nvPr/>
        </p:nvSpPr>
        <p:spPr>
          <a:xfrm>
            <a:off x="10560117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7DFB1A-D398-60E9-FD36-9FC3DA5606BA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10098405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77BD9F9-C137-5189-3F39-E4606495FB1A}"/>
              </a:ext>
            </a:extLst>
          </p:cNvPr>
          <p:cNvSpPr>
            <a:spLocks noChangeAspect="1"/>
          </p:cNvSpPr>
          <p:nvPr/>
        </p:nvSpPr>
        <p:spPr>
          <a:xfrm>
            <a:off x="9445879" y="3088513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1F56D9-12D5-A5D4-336D-C9BA84065E18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9629013" y="318008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57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769040-A5C1-F121-1DF9-EE35AB35C4F5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AE8D2-CA49-9EFD-C4A4-1E8497623086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8119385" cy="4399774"/>
              </a:xfrm>
            </p:spPr>
            <p:txBody>
              <a:bodyPr>
                <a:normAutofit/>
              </a:bodyPr>
              <a:lstStyle/>
              <a:p>
                <a:endParaRPr lang="en-US" b="0" dirty="0"/>
              </a:p>
              <a:p>
                <a:r>
                  <a:rPr lang="en-US" b="0" dirty="0"/>
                  <a:t>Let’s setup a sector condition: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In all cases we make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b="0" dirty="0"/>
                  <a:t> “go towards zero”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are free to pick any law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that keeps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b="0" dirty="0"/>
                  <a:t> in the shaded region</a:t>
                </a:r>
                <a:endParaRPr lang="en-US" dirty="0"/>
              </a:p>
              <a:p>
                <a:endParaRPr lang="en-US" b="0" dirty="0"/>
              </a:p>
              <a:p>
                <a:pPr lvl="1"/>
                <a:endParaRPr lang="en-US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8119385" cy="4399774"/>
              </a:xfrm>
              <a:blipFill>
                <a:blip r:embed="rId2"/>
                <a:stretch>
                  <a:fillRect l="-1351" r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Arrow: Quad 7">
            <a:extLst>
              <a:ext uri="{FF2B5EF4-FFF2-40B4-BE49-F238E27FC236}">
                <a16:creationId xmlns:a16="http://schemas.microsoft.com/office/drawing/2014/main" id="{EF3C9F17-7913-A4B8-0CAE-D5AE52971877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4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64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769040-A5C1-F121-1DF9-EE35AB35C4F5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AE8D2-CA49-9EFD-C4A4-1E8497623086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</p:spPr>
            <p:txBody>
              <a:bodyPr>
                <a:normAutofit/>
              </a:bodyPr>
              <a:lstStyle/>
              <a:p>
                <a:endParaRPr lang="en-US" b="0" dirty="0"/>
              </a:p>
              <a:p>
                <a:r>
                  <a:rPr lang="en-US" b="0" dirty="0"/>
                  <a:t>Let’s setup a sector condition: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In all cases we make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b="0" dirty="0"/>
                  <a:t> “go towards zero”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are free to pick any law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that keeps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b="0" dirty="0"/>
                  <a:t> in the shaded region</a:t>
                </a:r>
              </a:p>
              <a:p>
                <a:r>
                  <a:rPr lang="en-US" dirty="0"/>
                  <a:t>Let’s use a line with slope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! Meaning: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𝐾𝑒</m:t>
                    </m:r>
                  </m:oMath>
                </a14:m>
                <a:endParaRPr lang="en-US" dirty="0"/>
              </a:p>
              <a:p>
                <a:endParaRPr lang="en-US" b="0" dirty="0"/>
              </a:p>
              <a:p>
                <a:pPr lvl="1"/>
                <a:endParaRPr lang="en-US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  <a:blipFill>
                <a:blip r:embed="rId2"/>
                <a:stretch>
                  <a:fillRect l="-1322" b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Arrow: Quad 7">
            <a:extLst>
              <a:ext uri="{FF2B5EF4-FFF2-40B4-BE49-F238E27FC236}">
                <a16:creationId xmlns:a16="http://schemas.microsoft.com/office/drawing/2014/main" id="{EF3C9F17-7913-A4B8-0CAE-D5AE52971877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4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45748-1092-3CED-075F-A985FD13C740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ED1B8A-BED4-6E84-624B-81B750D41E79}"/>
              </a:ext>
            </a:extLst>
          </p:cNvPr>
          <p:cNvCxnSpPr/>
          <p:nvPr/>
        </p:nvCxnSpPr>
        <p:spPr>
          <a:xfrm>
            <a:off x="9435830" y="2821021"/>
            <a:ext cx="1653702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45093B-EACF-27FE-8C0B-AAE1BFDC8E81}"/>
              </a:ext>
            </a:extLst>
          </p:cNvPr>
          <p:cNvCxnSpPr>
            <a:cxnSpLocks/>
          </p:cNvCxnSpPr>
          <p:nvPr/>
        </p:nvCxnSpPr>
        <p:spPr>
          <a:xfrm flipV="1">
            <a:off x="11089532" y="2821021"/>
            <a:ext cx="0" cy="133269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71009FE-8455-7FB8-2865-3792F95E54DC}"/>
              </a:ext>
            </a:extLst>
          </p:cNvPr>
          <p:cNvSpPr txBox="1"/>
          <p:nvPr/>
        </p:nvSpPr>
        <p:spPr>
          <a:xfrm>
            <a:off x="10515600" y="2458985"/>
            <a:ext cx="2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D14FD7-379A-02E3-1CE1-1E3811F2B568}"/>
                  </a:ext>
                </a:extLst>
              </p:cNvPr>
              <p:cNvSpPr txBox="1"/>
              <p:nvPr/>
            </p:nvSpPr>
            <p:spPr>
              <a:xfrm>
                <a:off x="11091499" y="2952345"/>
                <a:ext cx="5001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D14FD7-379A-02E3-1CE1-1E3811F2B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1499" y="2952345"/>
                <a:ext cx="500121" cy="369332"/>
              </a:xfrm>
              <a:prstGeom prst="rect">
                <a:avLst/>
              </a:prstGeom>
              <a:blipFill>
                <a:blip r:embed="rId5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45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769040-A5C1-F121-1DF9-EE35AB35C4F5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AE8D2-CA49-9EFD-C4A4-1E8497623086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Plug and chug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to find control law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𝐾𝑒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]</a:t>
                </a:r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]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</m:e>
                          </m:box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  <a:blipFill>
                <a:blip r:embed="rId4"/>
                <a:stretch>
                  <a:fillRect l="-881" t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Arrow: Quad 7">
            <a:extLst>
              <a:ext uri="{FF2B5EF4-FFF2-40B4-BE49-F238E27FC236}">
                <a16:creationId xmlns:a16="http://schemas.microsoft.com/office/drawing/2014/main" id="{EF3C9F17-7913-A4B8-0CAE-D5AE52971877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CE08B-9159-9E02-403A-4BBBA615B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2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0853-9199-07AE-06AD-28E49843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45748-1092-3CED-075F-A985FD13C740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6FE6EB-8197-2503-AB93-63455A5EEC18}"/>
              </a:ext>
            </a:extLst>
          </p:cNvPr>
          <p:cNvCxnSpPr/>
          <p:nvPr/>
        </p:nvCxnSpPr>
        <p:spPr>
          <a:xfrm>
            <a:off x="9435830" y="2821021"/>
            <a:ext cx="1653702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EE6B5F-A0F5-6EBB-618B-A1492D7D28E1}"/>
              </a:ext>
            </a:extLst>
          </p:cNvPr>
          <p:cNvCxnSpPr>
            <a:cxnSpLocks/>
          </p:cNvCxnSpPr>
          <p:nvPr/>
        </p:nvCxnSpPr>
        <p:spPr>
          <a:xfrm flipV="1">
            <a:off x="11089532" y="2821021"/>
            <a:ext cx="0" cy="133269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95236C-260D-AC51-CE8D-C9421A05972C}"/>
              </a:ext>
            </a:extLst>
          </p:cNvPr>
          <p:cNvSpPr txBox="1"/>
          <p:nvPr/>
        </p:nvSpPr>
        <p:spPr>
          <a:xfrm>
            <a:off x="10515600" y="2458985"/>
            <a:ext cx="2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FB6CBA-756C-A4F0-E4B8-027C4CAA4B91}"/>
                  </a:ext>
                </a:extLst>
              </p:cNvPr>
              <p:cNvSpPr txBox="1"/>
              <p:nvPr/>
            </p:nvSpPr>
            <p:spPr>
              <a:xfrm>
                <a:off x="11091499" y="2952345"/>
                <a:ext cx="5001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FB6CBA-756C-A4F0-E4B8-027C4CAA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1499" y="2952345"/>
                <a:ext cx="500121" cy="369332"/>
              </a:xfrm>
              <a:prstGeom prst="rect">
                <a:avLst/>
              </a:prstGeom>
              <a:blipFill>
                <a:blip r:embed="rId5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Recap:</a:t>
                </a:r>
              </a:p>
              <a:p>
                <a:pPr lvl="1"/>
                <a:r>
                  <a:rPr lang="en-US" dirty="0"/>
                  <a:t>Define the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Set up sector condition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(Lyapunov’s Theorem)</a:t>
                </a:r>
              </a:p>
              <a:p>
                <a:pPr lvl="2"/>
                <a:r>
                  <a:rPr lang="en-US" dirty="0"/>
                  <a:t>Results in the constraint: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𝐾𝑒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Take derivatives and rearrange to get robot’s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  <a:blipFill>
                <a:blip r:embed="rId2"/>
                <a:stretch>
                  <a:fillRect l="-1029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9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The terms in this controller have names</a:t>
                </a:r>
              </a:p>
              <a:p>
                <a:pPr marL="457200" lvl="1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  <a:blipFill>
                <a:blip r:embed="rId2"/>
                <a:stretch>
                  <a:fillRect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33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The terms in this controller have names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Feedforward</m:t>
                          </m:r>
                        </m:lim>
                      </m:limLow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Where did these names come from?</a:t>
                </a:r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668033" cy="4399774"/>
              </a:xfrm>
              <a:blipFill>
                <a:blip r:embed="rId2"/>
                <a:stretch>
                  <a:fillRect l="-1029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659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In a Control Theory class we would draw this system as a block diagram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Feedforward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  <a:blipFill>
                <a:blip r:embed="rId2"/>
                <a:stretch>
                  <a:fillRect l="-832" t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01CA-E2A2-85DF-CD7D-52674F31569E}"/>
              </a:ext>
            </a:extLst>
          </p:cNvPr>
          <p:cNvSpPr/>
          <p:nvPr/>
        </p:nvSpPr>
        <p:spPr>
          <a:xfrm>
            <a:off x="7727364" y="4877737"/>
            <a:ext cx="1196502" cy="4766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/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>
                    <a:rot lat="21299999" lon="0" rev="16200000"/>
                  </a:camera>
                  <a:lightRig rig="threePt" dir="t"/>
                </a:scene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55F8C8-AFD6-079C-EA14-8368B5A1ED08}"/>
              </a:ext>
            </a:extLst>
          </p:cNvPr>
          <p:cNvGrpSpPr/>
          <p:nvPr/>
        </p:nvGrpSpPr>
        <p:grpSpPr>
          <a:xfrm>
            <a:off x="3543034" y="4693070"/>
            <a:ext cx="784517" cy="1030972"/>
            <a:chOff x="3422700" y="3628577"/>
            <a:chExt cx="784517" cy="103097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38EF1F-36F9-EC98-113E-ECF5DD018E0E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/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/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4D46011-92DB-9E70-8F3C-6A10831A174C}"/>
              </a:ext>
            </a:extLst>
          </p:cNvPr>
          <p:cNvGrpSpPr/>
          <p:nvPr/>
        </p:nvGrpSpPr>
        <p:grpSpPr>
          <a:xfrm>
            <a:off x="6175041" y="4508404"/>
            <a:ext cx="784517" cy="845988"/>
            <a:chOff x="3422700" y="3443911"/>
            <a:chExt cx="784517" cy="84598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7C6068-8A9D-6456-9A83-BFA71D039329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/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D4E302-57C6-0A7C-145C-EE770100365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826878" y="5116064"/>
            <a:ext cx="1025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389C0F7-FD44-57A2-CC9D-A47E7F030BF5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20647" y="4273811"/>
            <a:ext cx="2119963" cy="841935"/>
          </a:xfrm>
          <a:prstGeom prst="bentConnector3">
            <a:avLst>
              <a:gd name="adj1" fmla="val -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874D48F-B7CF-2191-D849-17C23B9E10A6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5752654" y="4273811"/>
            <a:ext cx="969160" cy="603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96C10D-19DF-C260-872A-7525DDF4CE40}"/>
              </a:ext>
            </a:extLst>
          </p:cNvPr>
          <p:cNvCxnSpPr>
            <a:stCxn id="20" idx="6"/>
            <a:endCxn id="6" idx="1"/>
          </p:cNvCxnSpPr>
          <p:nvPr/>
        </p:nvCxnSpPr>
        <p:spPr>
          <a:xfrm>
            <a:off x="6959558" y="5116064"/>
            <a:ext cx="7678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6B7A7C-0814-7EBD-CFBF-46E6A161EDA6}"/>
              </a:ext>
            </a:extLst>
          </p:cNvPr>
          <p:cNvCxnSpPr>
            <a:cxnSpLocks/>
            <a:stCxn id="13" idx="6"/>
            <a:endCxn id="10" idx="0"/>
          </p:cNvCxnSpPr>
          <p:nvPr/>
        </p:nvCxnSpPr>
        <p:spPr>
          <a:xfrm>
            <a:off x="4327551" y="5116064"/>
            <a:ext cx="9873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AE7F20-8CBD-AFA5-2D2E-D85A606A21A6}"/>
              </a:ext>
            </a:extLst>
          </p:cNvPr>
          <p:cNvCxnSpPr>
            <a:cxnSpLocks/>
            <a:stCxn id="10" idx="2"/>
            <a:endCxn id="20" idx="2"/>
          </p:cNvCxnSpPr>
          <p:nvPr/>
        </p:nvCxnSpPr>
        <p:spPr>
          <a:xfrm flipV="1">
            <a:off x="5752654" y="5116064"/>
            <a:ext cx="731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CDDD3B0-5060-B031-994B-70CE2A2A6C62}"/>
              </a:ext>
            </a:extLst>
          </p:cNvPr>
          <p:cNvCxnSpPr>
            <a:cxnSpLocks/>
            <a:stCxn id="6" idx="3"/>
            <a:endCxn id="13" idx="4"/>
          </p:cNvCxnSpPr>
          <p:nvPr/>
        </p:nvCxnSpPr>
        <p:spPr>
          <a:xfrm flipH="1">
            <a:off x="4089807" y="5116065"/>
            <a:ext cx="4834059" cy="238327"/>
          </a:xfrm>
          <a:prstGeom prst="bentConnector4">
            <a:avLst>
              <a:gd name="adj1" fmla="val -13382"/>
              <a:gd name="adj2" fmla="val 2489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/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blipFill>
                <a:blip r:embed="rId9"/>
                <a:stretch>
                  <a:fillRect r="-29412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/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blipFill>
                <a:blip r:embed="rId10"/>
                <a:stretch>
                  <a:fillRect r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/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blipFill>
                <a:blip r:embed="rId11"/>
                <a:stretch>
                  <a:fillRect r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/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blipFill>
                <a:blip r:embed="rId12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/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blipFill>
                <a:blip r:embed="rId1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884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In Control Theory we would draw this system as a block diagram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Feedforward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  <a:blipFill>
                <a:blip r:embed="rId2"/>
                <a:stretch>
                  <a:fillRect l="-914" t="-8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01CA-E2A2-85DF-CD7D-52674F31569E}"/>
              </a:ext>
            </a:extLst>
          </p:cNvPr>
          <p:cNvSpPr/>
          <p:nvPr/>
        </p:nvSpPr>
        <p:spPr>
          <a:xfrm>
            <a:off x="7727364" y="4877737"/>
            <a:ext cx="1196502" cy="4766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/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>
                    <a:rot lat="21299999" lon="0" rev="16200000"/>
                  </a:camera>
                  <a:lightRig rig="threePt" dir="t"/>
                </a:scene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55F8C8-AFD6-079C-EA14-8368B5A1ED08}"/>
              </a:ext>
            </a:extLst>
          </p:cNvPr>
          <p:cNvGrpSpPr/>
          <p:nvPr/>
        </p:nvGrpSpPr>
        <p:grpSpPr>
          <a:xfrm>
            <a:off x="3543034" y="4693070"/>
            <a:ext cx="784517" cy="1030972"/>
            <a:chOff x="3422700" y="3628577"/>
            <a:chExt cx="784517" cy="103097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38EF1F-36F9-EC98-113E-ECF5DD018E0E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/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/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4D46011-92DB-9E70-8F3C-6A10831A174C}"/>
              </a:ext>
            </a:extLst>
          </p:cNvPr>
          <p:cNvGrpSpPr/>
          <p:nvPr/>
        </p:nvGrpSpPr>
        <p:grpSpPr>
          <a:xfrm>
            <a:off x="6175041" y="4508404"/>
            <a:ext cx="784517" cy="845988"/>
            <a:chOff x="3422700" y="3443911"/>
            <a:chExt cx="784517" cy="84598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7C6068-8A9D-6456-9A83-BFA71D039329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/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D4E302-57C6-0A7C-145C-EE770100365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826878" y="5116064"/>
            <a:ext cx="1025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389C0F7-FD44-57A2-CC9D-A47E7F030BF5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20647" y="4273811"/>
            <a:ext cx="2119963" cy="841935"/>
          </a:xfrm>
          <a:prstGeom prst="bentConnector3">
            <a:avLst>
              <a:gd name="adj1" fmla="val -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874D48F-B7CF-2191-D849-17C23B9E10A6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5752654" y="4273811"/>
            <a:ext cx="969160" cy="603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96C10D-19DF-C260-872A-7525DDF4CE40}"/>
              </a:ext>
            </a:extLst>
          </p:cNvPr>
          <p:cNvCxnSpPr>
            <a:stCxn id="20" idx="6"/>
            <a:endCxn id="6" idx="1"/>
          </p:cNvCxnSpPr>
          <p:nvPr/>
        </p:nvCxnSpPr>
        <p:spPr>
          <a:xfrm>
            <a:off x="6959558" y="5116064"/>
            <a:ext cx="7678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6B7A7C-0814-7EBD-CFBF-46E6A161EDA6}"/>
              </a:ext>
            </a:extLst>
          </p:cNvPr>
          <p:cNvCxnSpPr>
            <a:cxnSpLocks/>
            <a:stCxn id="13" idx="6"/>
            <a:endCxn id="10" idx="0"/>
          </p:cNvCxnSpPr>
          <p:nvPr/>
        </p:nvCxnSpPr>
        <p:spPr>
          <a:xfrm>
            <a:off x="4327551" y="5116064"/>
            <a:ext cx="9873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AE7F20-8CBD-AFA5-2D2E-D85A606A21A6}"/>
              </a:ext>
            </a:extLst>
          </p:cNvPr>
          <p:cNvCxnSpPr>
            <a:cxnSpLocks/>
            <a:stCxn id="10" idx="2"/>
            <a:endCxn id="20" idx="2"/>
          </p:cNvCxnSpPr>
          <p:nvPr/>
        </p:nvCxnSpPr>
        <p:spPr>
          <a:xfrm flipV="1">
            <a:off x="5752654" y="5116064"/>
            <a:ext cx="731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CDDD3B0-5060-B031-994B-70CE2A2A6C62}"/>
              </a:ext>
            </a:extLst>
          </p:cNvPr>
          <p:cNvCxnSpPr>
            <a:cxnSpLocks/>
            <a:stCxn id="6" idx="3"/>
            <a:endCxn id="13" idx="4"/>
          </p:cNvCxnSpPr>
          <p:nvPr/>
        </p:nvCxnSpPr>
        <p:spPr>
          <a:xfrm flipH="1">
            <a:off x="4089807" y="5116065"/>
            <a:ext cx="4834059" cy="238327"/>
          </a:xfrm>
          <a:prstGeom prst="bentConnector4">
            <a:avLst>
              <a:gd name="adj1" fmla="val -13382"/>
              <a:gd name="adj2" fmla="val 2489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/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blipFill>
                <a:blip r:embed="rId9"/>
                <a:stretch>
                  <a:fillRect r="-29412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/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blipFill>
                <a:blip r:embed="rId10"/>
                <a:stretch>
                  <a:fillRect r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/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blipFill>
                <a:blip r:embed="rId11"/>
                <a:stretch>
                  <a:fillRect r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/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blipFill>
                <a:blip r:embed="rId12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/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blipFill>
                <a:blip r:embed="rId1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91B6772-5610-9775-15AB-59DC4CEF1A3C}"/>
              </a:ext>
            </a:extLst>
          </p:cNvPr>
          <p:cNvSpPr/>
          <p:nvPr/>
        </p:nvSpPr>
        <p:spPr>
          <a:xfrm>
            <a:off x="3504795" y="4693070"/>
            <a:ext cx="2693659" cy="113379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6989BF-5E32-CCBE-0EF9-4ADD8774C7F7}"/>
              </a:ext>
            </a:extLst>
          </p:cNvPr>
          <p:cNvSpPr txBox="1"/>
          <p:nvPr/>
        </p:nvSpPr>
        <p:spPr>
          <a:xfrm>
            <a:off x="3120647" y="5962687"/>
            <a:ext cx="119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Feedback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6169A18-1367-82E5-7AAB-0135E8BB958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0761" y="5120116"/>
            <a:ext cx="5603087" cy="866207"/>
          </a:xfrm>
          <a:prstGeom prst="bentConnector3">
            <a:avLst>
              <a:gd name="adj1" fmla="val 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593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In Control Theory we would draw this system as a block diagram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Feedforward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  <a:blipFill>
                <a:blip r:embed="rId2"/>
                <a:stretch>
                  <a:fillRect l="-914" t="-8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01CA-E2A2-85DF-CD7D-52674F31569E}"/>
              </a:ext>
            </a:extLst>
          </p:cNvPr>
          <p:cNvSpPr/>
          <p:nvPr/>
        </p:nvSpPr>
        <p:spPr>
          <a:xfrm>
            <a:off x="7727364" y="4877737"/>
            <a:ext cx="1196502" cy="4766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/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>
                    <a:rot lat="21299999" lon="0" rev="16200000"/>
                  </a:camera>
                  <a:lightRig rig="threePt" dir="t"/>
                </a:scene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55F8C8-AFD6-079C-EA14-8368B5A1ED08}"/>
              </a:ext>
            </a:extLst>
          </p:cNvPr>
          <p:cNvGrpSpPr/>
          <p:nvPr/>
        </p:nvGrpSpPr>
        <p:grpSpPr>
          <a:xfrm>
            <a:off x="3543034" y="4693070"/>
            <a:ext cx="784517" cy="1030972"/>
            <a:chOff x="3422700" y="3628577"/>
            <a:chExt cx="784517" cy="103097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38EF1F-36F9-EC98-113E-ECF5DD018E0E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/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/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4D46011-92DB-9E70-8F3C-6A10831A174C}"/>
              </a:ext>
            </a:extLst>
          </p:cNvPr>
          <p:cNvGrpSpPr/>
          <p:nvPr/>
        </p:nvGrpSpPr>
        <p:grpSpPr>
          <a:xfrm>
            <a:off x="6175041" y="4508404"/>
            <a:ext cx="784517" cy="845988"/>
            <a:chOff x="3422700" y="3443911"/>
            <a:chExt cx="784517" cy="84598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7C6068-8A9D-6456-9A83-BFA71D039329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/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D4E302-57C6-0A7C-145C-EE770100365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826878" y="5116064"/>
            <a:ext cx="1025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389C0F7-FD44-57A2-CC9D-A47E7F030BF5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20647" y="4273811"/>
            <a:ext cx="2119963" cy="841935"/>
          </a:xfrm>
          <a:prstGeom prst="bentConnector3">
            <a:avLst>
              <a:gd name="adj1" fmla="val -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874D48F-B7CF-2191-D849-17C23B9E10A6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5752654" y="4273811"/>
            <a:ext cx="969160" cy="603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96C10D-19DF-C260-872A-7525DDF4CE40}"/>
              </a:ext>
            </a:extLst>
          </p:cNvPr>
          <p:cNvCxnSpPr>
            <a:stCxn id="20" idx="6"/>
            <a:endCxn id="6" idx="1"/>
          </p:cNvCxnSpPr>
          <p:nvPr/>
        </p:nvCxnSpPr>
        <p:spPr>
          <a:xfrm>
            <a:off x="6959558" y="5116064"/>
            <a:ext cx="7678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6B7A7C-0814-7EBD-CFBF-46E6A161EDA6}"/>
              </a:ext>
            </a:extLst>
          </p:cNvPr>
          <p:cNvCxnSpPr>
            <a:cxnSpLocks/>
            <a:stCxn id="13" idx="6"/>
            <a:endCxn id="10" idx="0"/>
          </p:cNvCxnSpPr>
          <p:nvPr/>
        </p:nvCxnSpPr>
        <p:spPr>
          <a:xfrm>
            <a:off x="4327551" y="5116064"/>
            <a:ext cx="9873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AE7F20-8CBD-AFA5-2D2E-D85A606A21A6}"/>
              </a:ext>
            </a:extLst>
          </p:cNvPr>
          <p:cNvCxnSpPr>
            <a:cxnSpLocks/>
            <a:stCxn id="10" idx="2"/>
            <a:endCxn id="20" idx="2"/>
          </p:cNvCxnSpPr>
          <p:nvPr/>
        </p:nvCxnSpPr>
        <p:spPr>
          <a:xfrm flipV="1">
            <a:off x="5752654" y="5116064"/>
            <a:ext cx="731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CDDD3B0-5060-B031-994B-70CE2A2A6C62}"/>
              </a:ext>
            </a:extLst>
          </p:cNvPr>
          <p:cNvCxnSpPr>
            <a:cxnSpLocks/>
            <a:stCxn id="6" idx="3"/>
            <a:endCxn id="13" idx="4"/>
          </p:cNvCxnSpPr>
          <p:nvPr/>
        </p:nvCxnSpPr>
        <p:spPr>
          <a:xfrm flipH="1">
            <a:off x="4089807" y="5116065"/>
            <a:ext cx="4834059" cy="238327"/>
          </a:xfrm>
          <a:prstGeom prst="bentConnector4">
            <a:avLst>
              <a:gd name="adj1" fmla="val -13382"/>
              <a:gd name="adj2" fmla="val 2489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/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blipFill>
                <a:blip r:embed="rId9"/>
                <a:stretch>
                  <a:fillRect r="-29412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/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blipFill>
                <a:blip r:embed="rId10"/>
                <a:stretch>
                  <a:fillRect r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/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blipFill>
                <a:blip r:embed="rId11"/>
                <a:stretch>
                  <a:fillRect r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/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blipFill>
                <a:blip r:embed="rId12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/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blipFill>
                <a:blip r:embed="rId1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91B6772-5610-9775-15AB-59DC4CEF1A3C}"/>
              </a:ext>
            </a:extLst>
          </p:cNvPr>
          <p:cNvSpPr/>
          <p:nvPr/>
        </p:nvSpPr>
        <p:spPr>
          <a:xfrm>
            <a:off x="3504795" y="4693070"/>
            <a:ext cx="2693659" cy="113379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A3115-0637-837E-E567-C4EDE7C2AE13}"/>
              </a:ext>
            </a:extLst>
          </p:cNvPr>
          <p:cNvSpPr txBox="1"/>
          <p:nvPr/>
        </p:nvSpPr>
        <p:spPr>
          <a:xfrm>
            <a:off x="3120647" y="5962687"/>
            <a:ext cx="119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58910-06A0-F850-C79A-918DF5706359}"/>
              </a:ext>
            </a:extLst>
          </p:cNvPr>
          <p:cNvSpPr/>
          <p:nvPr/>
        </p:nvSpPr>
        <p:spPr>
          <a:xfrm>
            <a:off x="2713173" y="3844047"/>
            <a:ext cx="4238219" cy="7425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314E3-9ADA-6759-5923-0066A7931849}"/>
              </a:ext>
            </a:extLst>
          </p:cNvPr>
          <p:cNvSpPr txBox="1"/>
          <p:nvPr/>
        </p:nvSpPr>
        <p:spPr>
          <a:xfrm>
            <a:off x="2841437" y="3353525"/>
            <a:ext cx="14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Feedforward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DF8D054-02C7-1D71-0A6A-0BA7488F1F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0761" y="5120116"/>
            <a:ext cx="5603087" cy="866207"/>
          </a:xfrm>
          <a:prstGeom prst="bentConnector3">
            <a:avLst>
              <a:gd name="adj1" fmla="val 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9E0631-83BD-EFFB-0858-7948A46E067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312286" y="3538191"/>
            <a:ext cx="1990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655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What happens if you don’t use feedforward?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Feedback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Feedforward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6">
                <a:extLst>
                  <a:ext uri="{FF2B5EF4-FFF2-40B4-BE49-F238E27FC236}">
                    <a16:creationId xmlns:a16="http://schemas.microsoft.com/office/drawing/2014/main" id="{594B421B-E3C0-4BD7-42E0-949F92115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8"/>
                <a:ext cx="10668033" cy="1631165"/>
              </a:xfrm>
              <a:blipFill>
                <a:blip r:embed="rId2"/>
                <a:stretch>
                  <a:fillRect l="-914" t="-8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01CA-E2A2-85DF-CD7D-52674F31569E}"/>
              </a:ext>
            </a:extLst>
          </p:cNvPr>
          <p:cNvSpPr/>
          <p:nvPr/>
        </p:nvSpPr>
        <p:spPr>
          <a:xfrm>
            <a:off x="7727364" y="4877737"/>
            <a:ext cx="1196502" cy="4766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/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>
                    <a:rot lat="21299999" lon="0" rev="16200000"/>
                  </a:camera>
                  <a:lightRig rig="threePt" dir="t"/>
                </a:scene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Flowchart: Merge 9">
                <a:extLst>
                  <a:ext uri="{FF2B5EF4-FFF2-40B4-BE49-F238E27FC236}">
                    <a16:creationId xmlns:a16="http://schemas.microsoft.com/office/drawing/2014/main" id="{754FFF32-2088-6164-7F3C-D750C2DD7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40735" y="4897191"/>
                <a:ext cx="586090" cy="437747"/>
              </a:xfrm>
              <a:prstGeom prst="flowChartMerg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55F8C8-AFD6-079C-EA14-8368B5A1ED08}"/>
              </a:ext>
            </a:extLst>
          </p:cNvPr>
          <p:cNvGrpSpPr/>
          <p:nvPr/>
        </p:nvGrpSpPr>
        <p:grpSpPr>
          <a:xfrm>
            <a:off x="3543034" y="4693070"/>
            <a:ext cx="784517" cy="1030972"/>
            <a:chOff x="3422700" y="3628577"/>
            <a:chExt cx="784517" cy="103097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38EF1F-36F9-EC98-113E-ECF5DD018E0E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AFC2A3-D177-E4E0-035E-C932BFCBF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/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EB7DCDF-C30B-5408-8184-8AE363702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062" y="4290217"/>
                  <a:ext cx="30902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/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5EAA61-A898-0DD9-1BD0-B63ACC69C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610" y="4031430"/>
                <a:ext cx="512044" cy="484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4D46011-92DB-9E70-8F3C-6A10831A174C}"/>
              </a:ext>
            </a:extLst>
          </p:cNvPr>
          <p:cNvGrpSpPr/>
          <p:nvPr/>
        </p:nvGrpSpPr>
        <p:grpSpPr>
          <a:xfrm>
            <a:off x="6175041" y="4508404"/>
            <a:ext cx="784517" cy="845988"/>
            <a:chOff x="3422700" y="3443911"/>
            <a:chExt cx="784517" cy="84598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7C6068-8A9D-6456-9A83-BFA71D039329}"/>
                </a:ext>
              </a:extLst>
            </p:cNvPr>
            <p:cNvSpPr/>
            <p:nvPr/>
          </p:nvSpPr>
          <p:spPr>
            <a:xfrm>
              <a:off x="3731729" y="3813243"/>
              <a:ext cx="475488" cy="47665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/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A1D6D5-674F-555D-D995-5B32317F5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700" y="3628577"/>
                  <a:ext cx="30902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/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99E0168-9F2B-E020-3C61-31EE1006F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51" y="3443911"/>
                  <a:ext cx="30902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D4E302-57C6-0A7C-145C-EE770100365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826878" y="5116064"/>
            <a:ext cx="1025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389C0F7-FD44-57A2-CC9D-A47E7F030BF5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120647" y="4273811"/>
            <a:ext cx="2119963" cy="841935"/>
          </a:xfrm>
          <a:prstGeom prst="bentConnector3">
            <a:avLst>
              <a:gd name="adj1" fmla="val -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874D48F-B7CF-2191-D849-17C23B9E10A6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5752654" y="4273811"/>
            <a:ext cx="969160" cy="603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96C10D-19DF-C260-872A-7525DDF4CE40}"/>
              </a:ext>
            </a:extLst>
          </p:cNvPr>
          <p:cNvCxnSpPr>
            <a:stCxn id="20" idx="6"/>
            <a:endCxn id="6" idx="1"/>
          </p:cNvCxnSpPr>
          <p:nvPr/>
        </p:nvCxnSpPr>
        <p:spPr>
          <a:xfrm>
            <a:off x="6959558" y="5116064"/>
            <a:ext cx="7678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6B7A7C-0814-7EBD-CFBF-46E6A161EDA6}"/>
              </a:ext>
            </a:extLst>
          </p:cNvPr>
          <p:cNvCxnSpPr>
            <a:cxnSpLocks/>
            <a:stCxn id="13" idx="6"/>
            <a:endCxn id="10" idx="0"/>
          </p:cNvCxnSpPr>
          <p:nvPr/>
        </p:nvCxnSpPr>
        <p:spPr>
          <a:xfrm>
            <a:off x="4327551" y="5116064"/>
            <a:ext cx="9873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AE7F20-8CBD-AFA5-2D2E-D85A606A21A6}"/>
              </a:ext>
            </a:extLst>
          </p:cNvPr>
          <p:cNvCxnSpPr>
            <a:cxnSpLocks/>
            <a:stCxn id="10" idx="2"/>
            <a:endCxn id="20" idx="2"/>
          </p:cNvCxnSpPr>
          <p:nvPr/>
        </p:nvCxnSpPr>
        <p:spPr>
          <a:xfrm flipV="1">
            <a:off x="5752654" y="5116064"/>
            <a:ext cx="7314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CDDD3B0-5060-B031-994B-70CE2A2A6C62}"/>
              </a:ext>
            </a:extLst>
          </p:cNvPr>
          <p:cNvCxnSpPr>
            <a:cxnSpLocks/>
            <a:stCxn id="6" idx="3"/>
            <a:endCxn id="13" idx="4"/>
          </p:cNvCxnSpPr>
          <p:nvPr/>
        </p:nvCxnSpPr>
        <p:spPr>
          <a:xfrm flipH="1">
            <a:off x="4089807" y="5116065"/>
            <a:ext cx="4834059" cy="238327"/>
          </a:xfrm>
          <a:prstGeom prst="bentConnector4">
            <a:avLst>
              <a:gd name="adj1" fmla="val -13382"/>
              <a:gd name="adj2" fmla="val 2489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/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B98A7E-8520-8CCA-AD60-B83E44DF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96" y="4702960"/>
                <a:ext cx="309029" cy="369332"/>
              </a:xfrm>
              <a:prstGeom prst="rect">
                <a:avLst/>
              </a:prstGeom>
              <a:blipFill>
                <a:blip r:embed="rId9"/>
                <a:stretch>
                  <a:fillRect r="-29412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/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9B57DF-34FA-8EA7-C195-77ADCD8C1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042" y="3903876"/>
                <a:ext cx="309029" cy="374270"/>
              </a:xfrm>
              <a:prstGeom prst="rect">
                <a:avLst/>
              </a:prstGeom>
              <a:blipFill>
                <a:blip r:embed="rId10"/>
                <a:stretch>
                  <a:fillRect r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/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D0E25-6E33-B4A8-5940-001EFBC4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343" y="4707346"/>
                <a:ext cx="309029" cy="369332"/>
              </a:xfrm>
              <a:prstGeom prst="rect">
                <a:avLst/>
              </a:prstGeom>
              <a:blipFill>
                <a:blip r:embed="rId11"/>
                <a:stretch>
                  <a:fillRect r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/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74CDA2-67AE-D4A7-600E-70346725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47" y="4707828"/>
                <a:ext cx="309029" cy="369332"/>
              </a:xfrm>
              <a:prstGeom prst="rect">
                <a:avLst/>
              </a:prstGeom>
              <a:blipFill>
                <a:blip r:embed="rId12"/>
                <a:stretch>
                  <a:fillRect r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/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E38477A-D5C6-6C97-E8D1-DBBE4394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21" y="4928611"/>
                <a:ext cx="503537" cy="374270"/>
              </a:xfrm>
              <a:prstGeom prst="rect">
                <a:avLst/>
              </a:prstGeom>
              <a:blipFill>
                <a:blip r:embed="rId1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91B6772-5610-9775-15AB-59DC4CEF1A3C}"/>
              </a:ext>
            </a:extLst>
          </p:cNvPr>
          <p:cNvSpPr/>
          <p:nvPr/>
        </p:nvSpPr>
        <p:spPr>
          <a:xfrm>
            <a:off x="3504795" y="4693070"/>
            <a:ext cx="2693659" cy="113379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A3115-0637-837E-E567-C4EDE7C2AE13}"/>
              </a:ext>
            </a:extLst>
          </p:cNvPr>
          <p:cNvSpPr txBox="1"/>
          <p:nvPr/>
        </p:nvSpPr>
        <p:spPr>
          <a:xfrm>
            <a:off x="3120647" y="5962687"/>
            <a:ext cx="119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58910-06A0-F850-C79A-918DF5706359}"/>
              </a:ext>
            </a:extLst>
          </p:cNvPr>
          <p:cNvSpPr/>
          <p:nvPr/>
        </p:nvSpPr>
        <p:spPr>
          <a:xfrm>
            <a:off x="2713173" y="3844047"/>
            <a:ext cx="4238219" cy="7425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314E3-9ADA-6759-5923-0066A7931849}"/>
              </a:ext>
            </a:extLst>
          </p:cNvPr>
          <p:cNvSpPr txBox="1"/>
          <p:nvPr/>
        </p:nvSpPr>
        <p:spPr>
          <a:xfrm>
            <a:off x="2841437" y="3353525"/>
            <a:ext cx="14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Feedforward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DF8D054-02C7-1D71-0A6A-0BA7488F1F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0761" y="5120116"/>
            <a:ext cx="5603087" cy="866207"/>
          </a:xfrm>
          <a:prstGeom prst="bentConnector3">
            <a:avLst>
              <a:gd name="adj1" fmla="val 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9E0631-83BD-EFFB-0858-7948A46E067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312286" y="3538191"/>
            <a:ext cx="1990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86B37973-DE3A-7A76-FED9-D6ACDDB3F68C}"/>
              </a:ext>
            </a:extLst>
          </p:cNvPr>
          <p:cNvSpPr/>
          <p:nvPr/>
        </p:nvSpPr>
        <p:spPr>
          <a:xfrm>
            <a:off x="340468" y="3349474"/>
            <a:ext cx="9138359" cy="1711872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2B42B06C-6481-11E1-68E1-20C6ED6C6CC7}"/>
              </a:ext>
            </a:extLst>
          </p:cNvPr>
          <p:cNvSpPr/>
          <p:nvPr/>
        </p:nvSpPr>
        <p:spPr>
          <a:xfrm>
            <a:off x="8325615" y="2221218"/>
            <a:ext cx="2898877" cy="1370983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35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8D738A92-C109-C3A0-1D26-4B6B30D0D49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What happens if you don’t use feedforward?</a:t>
                </a:r>
              </a:p>
              <a:p>
                <a:pPr lvl="1"/>
                <a:r>
                  <a:rPr lang="en-US" dirty="0"/>
                  <a:t>Remove term and go through earlier derivation for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dirty="0"/>
                  <a:t> in </a:t>
                </a:r>
                <a:r>
                  <a:rPr lang="en-US" sz="3600" b="1" dirty="0"/>
                  <a:t>reverse</a:t>
                </a:r>
                <a:endParaRPr lang="en-US" b="1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𝐾𝑒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] </a:t>
                </a:r>
                <a:r>
                  <a:rPr lang="en-US" b="0" dirty="0">
                    <a:solidFill>
                      <a:schemeClr val="accent1"/>
                    </a:solidFill>
                  </a:rPr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]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</m:e>
                          </m:box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8D738A92-C109-C3A0-1D26-4B6B30D0D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  <a:blipFill>
                <a:blip r:embed="rId2"/>
                <a:stretch>
                  <a:fillRect l="-881" t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C1959707-3E58-B3C6-7659-50D46E2C1012}"/>
              </a:ext>
            </a:extLst>
          </p:cNvPr>
          <p:cNvSpPr/>
          <p:nvPr/>
        </p:nvSpPr>
        <p:spPr>
          <a:xfrm>
            <a:off x="4612037" y="5114757"/>
            <a:ext cx="1104586" cy="654447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4494B22C-90E4-CAF6-93A0-29F19DE6B42B}"/>
              </a:ext>
            </a:extLst>
          </p:cNvPr>
          <p:cNvSpPr/>
          <p:nvPr/>
        </p:nvSpPr>
        <p:spPr>
          <a:xfrm>
            <a:off x="4749916" y="4444702"/>
            <a:ext cx="1104586" cy="654447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C4994CE-0DB6-E0D6-91B9-FCBB1ED46CB9}"/>
                  </a:ext>
                </a:extLst>
              </p:cNvPr>
              <p:cNvSpPr txBox="1"/>
              <p:nvPr/>
            </p:nvSpPr>
            <p:spPr>
              <a:xfrm>
                <a:off x="8331636" y="2856883"/>
                <a:ext cx="28210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Add additional term so we can get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dirty="0"/>
                  <a:t> on the left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C4994CE-0DB6-E0D6-91B9-FCBB1ED4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36" y="2856883"/>
                <a:ext cx="2821021" cy="646331"/>
              </a:xfrm>
              <a:prstGeom prst="rect">
                <a:avLst/>
              </a:prstGeom>
              <a:blipFill>
                <a:blip r:embed="rId3"/>
                <a:stretch>
                  <a:fillRect l="-1944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7ECA6F0-2960-88D8-E966-70F770E03509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344383" y="3180049"/>
            <a:ext cx="987253" cy="428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7F69F6-D525-B513-9DB8-892CE335DC5A}"/>
              </a:ext>
            </a:extLst>
          </p:cNvPr>
          <p:cNvCxnSpPr>
            <a:cxnSpLocks/>
          </p:cNvCxnSpPr>
          <p:nvPr/>
        </p:nvCxnSpPr>
        <p:spPr>
          <a:xfrm flipV="1">
            <a:off x="653270" y="2762655"/>
            <a:ext cx="0" cy="29352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10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8D738A92-C109-C3A0-1D26-4B6B30D0D49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What happens if you don’t use feedforward?</a:t>
                </a:r>
              </a:p>
              <a:p>
                <a:pPr lvl="1"/>
                <a:r>
                  <a:rPr lang="en-US" dirty="0"/>
                  <a:t>Sector condition is always violated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is small enough</a:t>
                </a:r>
                <a:endParaRPr lang="en-US" b="1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𝐾𝑒</m:t>
                    </m:r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] </a:t>
                </a:r>
                <a:r>
                  <a:rPr lang="en-US" b="0" dirty="0">
                    <a:solidFill>
                      <a:schemeClr val="accent1"/>
                    </a:solidFill>
                  </a:rPr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]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</m:e>
                          </m:box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8D738A92-C109-C3A0-1D26-4B6B30D0D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8303253" cy="4399774"/>
              </a:xfrm>
              <a:blipFill>
                <a:blip r:embed="rId2"/>
                <a:stretch>
                  <a:fillRect l="-881" t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C1959707-3E58-B3C6-7659-50D46E2C1012}"/>
              </a:ext>
            </a:extLst>
          </p:cNvPr>
          <p:cNvSpPr/>
          <p:nvPr/>
        </p:nvSpPr>
        <p:spPr>
          <a:xfrm>
            <a:off x="4582854" y="5015556"/>
            <a:ext cx="1104586" cy="654447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4494B22C-90E4-CAF6-93A0-29F19DE6B42B}"/>
              </a:ext>
            </a:extLst>
          </p:cNvPr>
          <p:cNvSpPr/>
          <p:nvPr/>
        </p:nvSpPr>
        <p:spPr>
          <a:xfrm>
            <a:off x="4749915" y="4331925"/>
            <a:ext cx="1104586" cy="654447"/>
          </a:xfrm>
          <a:prstGeom prst="mathMultiply">
            <a:avLst>
              <a:gd name="adj1" fmla="val 42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7F69F6-D525-B513-9DB8-892CE335DC5A}"/>
              </a:ext>
            </a:extLst>
          </p:cNvPr>
          <p:cNvCxnSpPr>
            <a:cxnSpLocks/>
          </p:cNvCxnSpPr>
          <p:nvPr/>
        </p:nvCxnSpPr>
        <p:spPr>
          <a:xfrm flipV="1">
            <a:off x="653270" y="2762655"/>
            <a:ext cx="0" cy="29352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4847B3-6B40-B79F-D580-02DF19E215A4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E0F4C-E8CB-22F5-21D8-56AF66D73C3D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Quad 6">
            <a:extLst>
              <a:ext uri="{FF2B5EF4-FFF2-40B4-BE49-F238E27FC236}">
                <a16:creationId xmlns:a16="http://schemas.microsoft.com/office/drawing/2014/main" id="{3C003BBC-4504-59C6-046D-7A8083B2BE6D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4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E181D8-31CA-CF61-6608-C159BDC81805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F23CF-29E8-3570-7FAD-B7C8FEEBCEDD}"/>
              </a:ext>
            </a:extLst>
          </p:cNvPr>
          <p:cNvCxnSpPr>
            <a:cxnSpLocks/>
          </p:cNvCxnSpPr>
          <p:nvPr/>
        </p:nvCxnSpPr>
        <p:spPr>
          <a:xfrm>
            <a:off x="8753190" y="1822280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7A884-8828-B0DE-7221-EC6EA5566EB4}"/>
              </a:ext>
            </a:extLst>
          </p:cNvPr>
          <p:cNvCxnSpPr>
            <a:cxnSpLocks/>
          </p:cNvCxnSpPr>
          <p:nvPr/>
        </p:nvCxnSpPr>
        <p:spPr>
          <a:xfrm>
            <a:off x="8354961" y="2388536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/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blipFill>
                <a:blip r:embed="rId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9965-B9C9-007C-6E63-16EB58AACAF0}"/>
              </a:ext>
            </a:extLst>
          </p:cNvPr>
          <p:cNvCxnSpPr/>
          <p:nvPr/>
        </p:nvCxnSpPr>
        <p:spPr>
          <a:xfrm flipV="1">
            <a:off x="8513026" y="1817813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F7E620-9AF5-EA76-92CE-FD0F1D88380F}"/>
              </a:ext>
            </a:extLst>
          </p:cNvPr>
          <p:cNvCxnSpPr/>
          <p:nvPr/>
        </p:nvCxnSpPr>
        <p:spPr>
          <a:xfrm flipV="1">
            <a:off x="8288951" y="2122125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831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p:sp>
        <p:nvSpPr>
          <p:cNvPr id="34" name="Content Placeholder 6">
            <a:extLst>
              <a:ext uri="{FF2B5EF4-FFF2-40B4-BE49-F238E27FC236}">
                <a16:creationId xmlns:a16="http://schemas.microsoft.com/office/drawing/2014/main" id="{8D738A92-C109-C3A0-1D26-4B6B30D0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303253" cy="4399774"/>
          </a:xfrm>
        </p:spPr>
        <p:txBody>
          <a:bodyPr>
            <a:normAutofit/>
          </a:bodyPr>
          <a:lstStyle/>
          <a:p>
            <a:r>
              <a:rPr lang="en-US" sz="2400" dirty="0"/>
              <a:t>What happens if you don’t use feedforward?</a:t>
            </a:r>
            <a:endParaRPr lang="en-US" sz="24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</a:endParaRPr>
          </a:p>
          <a:p>
            <a:r>
              <a:rPr lang="en-US" sz="2400" dirty="0"/>
              <a:t>The error always </a:t>
            </a:r>
            <a:r>
              <a:rPr lang="en-US" sz="4400" dirty="0"/>
              <a:t>grows</a:t>
            </a:r>
            <a:r>
              <a:rPr lang="en-US" sz="2400" dirty="0"/>
              <a:t> if</a:t>
            </a:r>
          </a:p>
          <a:p>
            <a:pPr lvl="1"/>
            <a:r>
              <a:rPr lang="en-US" sz="2000" dirty="0"/>
              <a:t>error is small</a:t>
            </a:r>
          </a:p>
          <a:p>
            <a:pPr lvl="1"/>
            <a:r>
              <a:rPr lang="en-US" sz="2000" dirty="0"/>
              <a:t>desired velocity is high enough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847B3-6B40-B79F-D580-02DF19E215A4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E0F4C-E8CB-22F5-21D8-56AF66D73C3D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Quad 6">
            <a:extLst>
              <a:ext uri="{FF2B5EF4-FFF2-40B4-BE49-F238E27FC236}">
                <a16:creationId xmlns:a16="http://schemas.microsoft.com/office/drawing/2014/main" id="{3C003BBC-4504-59C6-046D-7A8083B2BE6D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2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E181D8-31CA-CF61-6608-C159BDC81805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F23CF-29E8-3570-7FAD-B7C8FEEBCEDD}"/>
              </a:ext>
            </a:extLst>
          </p:cNvPr>
          <p:cNvCxnSpPr>
            <a:cxnSpLocks/>
          </p:cNvCxnSpPr>
          <p:nvPr/>
        </p:nvCxnSpPr>
        <p:spPr>
          <a:xfrm>
            <a:off x="8753190" y="1822280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7A884-8828-B0DE-7221-EC6EA5566EB4}"/>
              </a:ext>
            </a:extLst>
          </p:cNvPr>
          <p:cNvCxnSpPr>
            <a:cxnSpLocks/>
          </p:cNvCxnSpPr>
          <p:nvPr/>
        </p:nvCxnSpPr>
        <p:spPr>
          <a:xfrm>
            <a:off x="8354961" y="2388536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/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blipFill>
                <a:blip r:embed="rId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9965-B9C9-007C-6E63-16EB58AACAF0}"/>
              </a:ext>
            </a:extLst>
          </p:cNvPr>
          <p:cNvCxnSpPr/>
          <p:nvPr/>
        </p:nvCxnSpPr>
        <p:spPr>
          <a:xfrm flipV="1">
            <a:off x="8513026" y="1817813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F7E620-9AF5-EA76-92CE-FD0F1D88380F}"/>
              </a:ext>
            </a:extLst>
          </p:cNvPr>
          <p:cNvCxnSpPr/>
          <p:nvPr/>
        </p:nvCxnSpPr>
        <p:spPr>
          <a:xfrm flipV="1">
            <a:off x="8288951" y="2122125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B1A7D6-C04A-303B-98D1-5FA188B579A1}"/>
              </a:ext>
            </a:extLst>
          </p:cNvPr>
          <p:cNvSpPr/>
          <p:nvPr/>
        </p:nvSpPr>
        <p:spPr>
          <a:xfrm>
            <a:off x="9544514" y="3345367"/>
            <a:ext cx="723372" cy="5853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FDF9D-FF9F-5E1F-B264-82C26968CD3E}"/>
              </a:ext>
            </a:extLst>
          </p:cNvPr>
          <p:cNvCxnSpPr>
            <a:cxnSpLocks/>
          </p:cNvCxnSpPr>
          <p:nvPr/>
        </p:nvCxnSpPr>
        <p:spPr>
          <a:xfrm>
            <a:off x="5398851" y="3157401"/>
            <a:ext cx="4026671" cy="548598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179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p:sp>
        <p:nvSpPr>
          <p:cNvPr id="34" name="Content Placeholder 6">
            <a:extLst>
              <a:ext uri="{FF2B5EF4-FFF2-40B4-BE49-F238E27FC236}">
                <a16:creationId xmlns:a16="http://schemas.microsoft.com/office/drawing/2014/main" id="{8D738A92-C109-C3A0-1D26-4B6B30D0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621617" cy="4399774"/>
          </a:xfrm>
        </p:spPr>
        <p:txBody>
          <a:bodyPr>
            <a:normAutofit/>
          </a:bodyPr>
          <a:lstStyle/>
          <a:p>
            <a:r>
              <a:rPr lang="en-US" sz="2400" dirty="0"/>
              <a:t>What happens if you don’t use feedforward?</a:t>
            </a:r>
            <a:endParaRPr lang="en-US" sz="24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</a:endParaRPr>
          </a:p>
          <a:p>
            <a:r>
              <a:rPr lang="en-US" sz="2400" dirty="0"/>
              <a:t>The error always </a:t>
            </a:r>
            <a:r>
              <a:rPr lang="en-US" sz="4400" dirty="0"/>
              <a:t>grows</a:t>
            </a:r>
            <a:r>
              <a:rPr lang="en-US" sz="2400" dirty="0"/>
              <a:t> if</a:t>
            </a:r>
          </a:p>
          <a:p>
            <a:pPr lvl="1"/>
            <a:r>
              <a:rPr lang="en-US" sz="2000" dirty="0"/>
              <a:t>error is small</a:t>
            </a:r>
          </a:p>
          <a:p>
            <a:pPr lvl="1"/>
            <a:r>
              <a:rPr lang="en-US" sz="2000" dirty="0"/>
              <a:t>desired velocity is high enough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Without feedforward</a:t>
            </a:r>
          </a:p>
          <a:p>
            <a:pPr lvl="1"/>
            <a:r>
              <a:rPr lang="en-US" sz="2000" dirty="0"/>
              <a:t>The trajectory will never be tracked perfectly!</a:t>
            </a:r>
          </a:p>
          <a:p>
            <a:pPr lvl="1"/>
            <a:r>
              <a:rPr lang="en-US" sz="2000" dirty="0"/>
              <a:t>The trajectory will always be tracked approximately!</a:t>
            </a:r>
          </a:p>
          <a:p>
            <a:r>
              <a:rPr lang="en-US" sz="2400" dirty="0"/>
              <a:t>What does approximately mean?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847B3-6B40-B79F-D580-02DF19E215A4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E0F4C-E8CB-22F5-21D8-56AF66D73C3D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Quad 6">
            <a:extLst>
              <a:ext uri="{FF2B5EF4-FFF2-40B4-BE49-F238E27FC236}">
                <a16:creationId xmlns:a16="http://schemas.microsoft.com/office/drawing/2014/main" id="{3C003BBC-4504-59C6-046D-7A8083B2BE6D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2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E181D8-31CA-CF61-6608-C159BDC81805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F23CF-29E8-3570-7FAD-B7C8FEEBCEDD}"/>
              </a:ext>
            </a:extLst>
          </p:cNvPr>
          <p:cNvCxnSpPr>
            <a:cxnSpLocks/>
          </p:cNvCxnSpPr>
          <p:nvPr/>
        </p:nvCxnSpPr>
        <p:spPr>
          <a:xfrm>
            <a:off x="8753190" y="1822280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7A884-8828-B0DE-7221-EC6EA5566EB4}"/>
              </a:ext>
            </a:extLst>
          </p:cNvPr>
          <p:cNvCxnSpPr>
            <a:cxnSpLocks/>
          </p:cNvCxnSpPr>
          <p:nvPr/>
        </p:nvCxnSpPr>
        <p:spPr>
          <a:xfrm>
            <a:off x="8354961" y="2388536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/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blipFill>
                <a:blip r:embed="rId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9965-B9C9-007C-6E63-16EB58AACAF0}"/>
              </a:ext>
            </a:extLst>
          </p:cNvPr>
          <p:cNvCxnSpPr/>
          <p:nvPr/>
        </p:nvCxnSpPr>
        <p:spPr>
          <a:xfrm flipV="1">
            <a:off x="8513026" y="1817813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F7E620-9AF5-EA76-92CE-FD0F1D88380F}"/>
              </a:ext>
            </a:extLst>
          </p:cNvPr>
          <p:cNvCxnSpPr/>
          <p:nvPr/>
        </p:nvCxnSpPr>
        <p:spPr>
          <a:xfrm flipV="1">
            <a:off x="8288951" y="2122125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B1A7D6-C04A-303B-98D1-5FA188B579A1}"/>
              </a:ext>
            </a:extLst>
          </p:cNvPr>
          <p:cNvSpPr/>
          <p:nvPr/>
        </p:nvSpPr>
        <p:spPr>
          <a:xfrm>
            <a:off x="9544514" y="3345367"/>
            <a:ext cx="723372" cy="5853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FDF9D-FF9F-5E1F-B264-82C26968CD3E}"/>
              </a:ext>
            </a:extLst>
          </p:cNvPr>
          <p:cNvCxnSpPr>
            <a:cxnSpLocks/>
          </p:cNvCxnSpPr>
          <p:nvPr/>
        </p:nvCxnSpPr>
        <p:spPr>
          <a:xfrm>
            <a:off x="5398851" y="3157401"/>
            <a:ext cx="4026671" cy="548598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68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p:sp>
        <p:nvSpPr>
          <p:cNvPr id="34" name="Content Placeholder 6">
            <a:extLst>
              <a:ext uri="{FF2B5EF4-FFF2-40B4-BE49-F238E27FC236}">
                <a16:creationId xmlns:a16="http://schemas.microsoft.com/office/drawing/2014/main" id="{8D738A92-C109-C3A0-1D26-4B6B30D0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621617" cy="4399774"/>
          </a:xfrm>
        </p:spPr>
        <p:txBody>
          <a:bodyPr>
            <a:normAutofit/>
          </a:bodyPr>
          <a:lstStyle/>
          <a:p>
            <a:r>
              <a:rPr lang="en-US" sz="2400" dirty="0"/>
              <a:t>What happens if you don’t use feedforward?</a:t>
            </a:r>
            <a:endParaRPr lang="en-US" sz="24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</a:endParaRPr>
          </a:p>
          <a:p>
            <a:r>
              <a:rPr lang="en-US" sz="2400" dirty="0"/>
              <a:t>The error always </a:t>
            </a:r>
            <a:r>
              <a:rPr lang="en-US" sz="4400" dirty="0"/>
              <a:t>grows</a:t>
            </a:r>
            <a:r>
              <a:rPr lang="en-US" sz="2400" dirty="0"/>
              <a:t> if</a:t>
            </a:r>
          </a:p>
          <a:p>
            <a:pPr lvl="1"/>
            <a:r>
              <a:rPr lang="en-US" sz="2000" dirty="0"/>
              <a:t>error is small</a:t>
            </a:r>
          </a:p>
          <a:p>
            <a:pPr lvl="1"/>
            <a:r>
              <a:rPr lang="en-US" sz="2000" dirty="0"/>
              <a:t>desired velocity is high enough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Without feedforward</a:t>
            </a:r>
          </a:p>
          <a:p>
            <a:pPr lvl="1"/>
            <a:r>
              <a:rPr lang="en-US" sz="2000" dirty="0"/>
              <a:t>The trajectory will never be tracked perfectly!</a:t>
            </a:r>
          </a:p>
          <a:p>
            <a:pPr lvl="1"/>
            <a:r>
              <a:rPr lang="en-US" sz="2000" dirty="0"/>
              <a:t>The trajectory will always be tracked with bounded error!</a:t>
            </a:r>
          </a:p>
          <a:p>
            <a:r>
              <a:rPr lang="en-US" sz="2400" dirty="0"/>
              <a:t>What does the bound depend on?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847B3-6B40-B79F-D580-02DF19E215A4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E0F4C-E8CB-22F5-21D8-56AF66D73C3D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Quad 6">
            <a:extLst>
              <a:ext uri="{FF2B5EF4-FFF2-40B4-BE49-F238E27FC236}">
                <a16:creationId xmlns:a16="http://schemas.microsoft.com/office/drawing/2014/main" id="{3C003BBC-4504-59C6-046D-7A8083B2BE6D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2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E181D8-31CA-CF61-6608-C159BDC81805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F23CF-29E8-3570-7FAD-B7C8FEEBCEDD}"/>
              </a:ext>
            </a:extLst>
          </p:cNvPr>
          <p:cNvCxnSpPr>
            <a:cxnSpLocks/>
          </p:cNvCxnSpPr>
          <p:nvPr/>
        </p:nvCxnSpPr>
        <p:spPr>
          <a:xfrm>
            <a:off x="8753190" y="1822280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7A884-8828-B0DE-7221-EC6EA5566EB4}"/>
              </a:ext>
            </a:extLst>
          </p:cNvPr>
          <p:cNvCxnSpPr>
            <a:cxnSpLocks/>
          </p:cNvCxnSpPr>
          <p:nvPr/>
        </p:nvCxnSpPr>
        <p:spPr>
          <a:xfrm>
            <a:off x="8354961" y="2388536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/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blipFill>
                <a:blip r:embed="rId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9965-B9C9-007C-6E63-16EB58AACAF0}"/>
              </a:ext>
            </a:extLst>
          </p:cNvPr>
          <p:cNvCxnSpPr/>
          <p:nvPr/>
        </p:nvCxnSpPr>
        <p:spPr>
          <a:xfrm flipV="1">
            <a:off x="8513026" y="1817813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F7E620-9AF5-EA76-92CE-FD0F1D88380F}"/>
              </a:ext>
            </a:extLst>
          </p:cNvPr>
          <p:cNvCxnSpPr/>
          <p:nvPr/>
        </p:nvCxnSpPr>
        <p:spPr>
          <a:xfrm flipV="1">
            <a:off x="8288951" y="2122125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B1A7D6-C04A-303B-98D1-5FA188B579A1}"/>
              </a:ext>
            </a:extLst>
          </p:cNvPr>
          <p:cNvSpPr/>
          <p:nvPr/>
        </p:nvSpPr>
        <p:spPr>
          <a:xfrm>
            <a:off x="9544514" y="3345367"/>
            <a:ext cx="723372" cy="5853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FDF9D-FF9F-5E1F-B264-82C26968CD3E}"/>
              </a:ext>
            </a:extLst>
          </p:cNvPr>
          <p:cNvCxnSpPr>
            <a:cxnSpLocks/>
          </p:cNvCxnSpPr>
          <p:nvPr/>
        </p:nvCxnSpPr>
        <p:spPr>
          <a:xfrm>
            <a:off x="5398851" y="3157401"/>
            <a:ext cx="4026671" cy="548598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8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Tracking Intuition</a:t>
            </a:r>
          </a:p>
        </p:txBody>
      </p:sp>
      <p:sp>
        <p:nvSpPr>
          <p:cNvPr id="34" name="Content Placeholder 6">
            <a:extLst>
              <a:ext uri="{FF2B5EF4-FFF2-40B4-BE49-F238E27FC236}">
                <a16:creationId xmlns:a16="http://schemas.microsoft.com/office/drawing/2014/main" id="{8D738A92-C109-C3A0-1D26-4B6B30D0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621617" cy="439977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What happens if you don’t use feedforward?</a:t>
            </a:r>
            <a:endParaRPr lang="en-US" sz="240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</a:endParaRPr>
          </a:p>
          <a:p>
            <a:r>
              <a:rPr lang="en-US" sz="2400" dirty="0"/>
              <a:t>The error always </a:t>
            </a:r>
            <a:r>
              <a:rPr lang="en-US" sz="4400" dirty="0"/>
              <a:t>grows</a:t>
            </a:r>
            <a:r>
              <a:rPr lang="en-US" sz="2400" dirty="0"/>
              <a:t> if</a:t>
            </a:r>
          </a:p>
          <a:p>
            <a:pPr lvl="1"/>
            <a:r>
              <a:rPr lang="en-US" sz="2000" dirty="0"/>
              <a:t>error is small</a:t>
            </a:r>
          </a:p>
          <a:p>
            <a:pPr lvl="1"/>
            <a:r>
              <a:rPr lang="en-US" sz="2000" dirty="0"/>
              <a:t>desired velocity is high enough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Without feedforward</a:t>
            </a:r>
          </a:p>
          <a:p>
            <a:pPr lvl="1"/>
            <a:r>
              <a:rPr lang="en-US" sz="2000" dirty="0"/>
              <a:t>The trajectory will never be tracked perfectly!</a:t>
            </a:r>
          </a:p>
          <a:p>
            <a:pPr lvl="1"/>
            <a:r>
              <a:rPr lang="en-US" sz="2000" dirty="0"/>
              <a:t>The trajectory will always be tracked with bounded error!</a:t>
            </a:r>
          </a:p>
          <a:p>
            <a:r>
              <a:rPr lang="en-US" sz="2400" dirty="0"/>
              <a:t>What does the bound depend on?</a:t>
            </a:r>
          </a:p>
          <a:p>
            <a:pPr lvl="1"/>
            <a:r>
              <a:rPr lang="en-US" sz="2000" dirty="0"/>
              <a:t>Top desired speed and the slope (K)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847B3-6B40-B79F-D580-02DF19E215A4}"/>
              </a:ext>
            </a:extLst>
          </p:cNvPr>
          <p:cNvSpPr/>
          <p:nvPr/>
        </p:nvSpPr>
        <p:spPr>
          <a:xfrm>
            <a:off x="8959174" y="2227634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E0F4C-E8CB-22F5-21D8-56AF66D73C3D}"/>
              </a:ext>
            </a:extLst>
          </p:cNvPr>
          <p:cNvSpPr/>
          <p:nvPr/>
        </p:nvSpPr>
        <p:spPr>
          <a:xfrm>
            <a:off x="10196555" y="3429000"/>
            <a:ext cx="1251626" cy="1201366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Quad 6">
            <a:extLst>
              <a:ext uri="{FF2B5EF4-FFF2-40B4-BE49-F238E27FC236}">
                <a16:creationId xmlns:a16="http://schemas.microsoft.com/office/drawing/2014/main" id="{3C003BBC-4504-59C6-046D-7A8083B2BE6D}"/>
              </a:ext>
            </a:extLst>
          </p:cNvPr>
          <p:cNvSpPr/>
          <p:nvPr/>
        </p:nvSpPr>
        <p:spPr>
          <a:xfrm>
            <a:off x="8824955" y="2057400"/>
            <a:ext cx="2743200" cy="2743200"/>
          </a:xfrm>
          <a:prstGeom prst="quadArrow">
            <a:avLst>
              <a:gd name="adj1" fmla="val 1591"/>
              <a:gd name="adj2" fmla="val 3409"/>
              <a:gd name="adj3" fmla="val 522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/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7D120-32DB-BE1F-F0E1-7D6B348C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1621" y="3429000"/>
                <a:ext cx="176587" cy="276999"/>
              </a:xfrm>
              <a:prstGeom prst="rect">
                <a:avLst/>
              </a:prstGeom>
              <a:blipFill>
                <a:blip r:embed="rId2"/>
                <a:stretch>
                  <a:fillRect l="-17857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/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8B1249-3822-0987-D4F9-52A05A12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054" y="2057400"/>
                <a:ext cx="176587" cy="276999"/>
              </a:xfrm>
              <a:prstGeom prst="rect">
                <a:avLst/>
              </a:prstGeom>
              <a:blipFill>
                <a:blip r:embed="rId3"/>
                <a:stretch>
                  <a:fillRect l="-17241" t="-2222" r="-5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E181D8-31CA-CF61-6608-C159BDC81805}"/>
              </a:ext>
            </a:extLst>
          </p:cNvPr>
          <p:cNvCxnSpPr>
            <a:cxnSpLocks/>
          </p:cNvCxnSpPr>
          <p:nvPr/>
        </p:nvCxnSpPr>
        <p:spPr>
          <a:xfrm>
            <a:off x="8540886" y="2110901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F23CF-29E8-3570-7FAD-B7C8FEEBCEDD}"/>
              </a:ext>
            </a:extLst>
          </p:cNvPr>
          <p:cNvCxnSpPr>
            <a:cxnSpLocks/>
          </p:cNvCxnSpPr>
          <p:nvPr/>
        </p:nvCxnSpPr>
        <p:spPr>
          <a:xfrm>
            <a:off x="8753190" y="1822280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7A884-8828-B0DE-7221-EC6EA5566EB4}"/>
              </a:ext>
            </a:extLst>
          </p:cNvPr>
          <p:cNvCxnSpPr>
            <a:cxnSpLocks/>
          </p:cNvCxnSpPr>
          <p:nvPr/>
        </p:nvCxnSpPr>
        <p:spPr>
          <a:xfrm>
            <a:off x="8354961" y="2388536"/>
            <a:ext cx="3346314" cy="267024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/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51A527-C492-23DE-BBC5-E16CB3B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826" y="1576886"/>
                <a:ext cx="976530" cy="442942"/>
              </a:xfrm>
              <a:prstGeom prst="rect">
                <a:avLst/>
              </a:prstGeom>
              <a:blipFill>
                <a:blip r:embed="rId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239965-B9C9-007C-6E63-16EB58AACAF0}"/>
              </a:ext>
            </a:extLst>
          </p:cNvPr>
          <p:cNvCxnSpPr/>
          <p:nvPr/>
        </p:nvCxnSpPr>
        <p:spPr>
          <a:xfrm flipV="1">
            <a:off x="8513026" y="1817813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F7E620-9AF5-EA76-92CE-FD0F1D88380F}"/>
              </a:ext>
            </a:extLst>
          </p:cNvPr>
          <p:cNvCxnSpPr/>
          <p:nvPr/>
        </p:nvCxnSpPr>
        <p:spPr>
          <a:xfrm flipV="1">
            <a:off x="8288951" y="2122125"/>
            <a:ext cx="204281" cy="2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B1A7D6-C04A-303B-98D1-5FA188B579A1}"/>
              </a:ext>
            </a:extLst>
          </p:cNvPr>
          <p:cNvSpPr/>
          <p:nvPr/>
        </p:nvSpPr>
        <p:spPr>
          <a:xfrm>
            <a:off x="9544514" y="3345367"/>
            <a:ext cx="723372" cy="58531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AFDF9D-FF9F-5E1F-B264-82C26968CD3E}"/>
              </a:ext>
            </a:extLst>
          </p:cNvPr>
          <p:cNvCxnSpPr>
            <a:cxnSpLocks/>
          </p:cNvCxnSpPr>
          <p:nvPr/>
        </p:nvCxnSpPr>
        <p:spPr>
          <a:xfrm>
            <a:off x="5398851" y="3157401"/>
            <a:ext cx="4026671" cy="548598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87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930680" cy="1325563"/>
          </a:xfrm>
        </p:spPr>
        <p:txBody>
          <a:bodyPr/>
          <a:lstStyle/>
          <a:p>
            <a:r>
              <a:rPr lang="en-US" dirty="0"/>
              <a:t>Trajectory Tracking Without Feedforward 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40D2C97-F14D-71E1-441F-DC20914DB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621617" cy="4399774"/>
          </a:xfrm>
        </p:spPr>
        <p:txBody>
          <a:bodyPr>
            <a:normAutofit/>
          </a:bodyPr>
          <a:lstStyle/>
          <a:p>
            <a:r>
              <a:rPr lang="en-US" dirty="0"/>
              <a:t>Green dot is desired</a:t>
            </a:r>
          </a:p>
          <a:p>
            <a:r>
              <a:rPr lang="en-US" dirty="0"/>
              <a:t>Blue dot is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04CB3472-316A-B8E6-C618-1F9C38D32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12" y="1789889"/>
            <a:ext cx="4592462" cy="3902092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7A5951-87F0-01EE-0919-B09D797E5773}"/>
              </a:ext>
            </a:extLst>
          </p:cNvPr>
          <p:cNvSpPr/>
          <p:nvPr/>
        </p:nvSpPr>
        <p:spPr>
          <a:xfrm>
            <a:off x="6825167" y="3118363"/>
            <a:ext cx="3815959" cy="1731839"/>
          </a:xfrm>
          <a:custGeom>
            <a:avLst/>
            <a:gdLst>
              <a:gd name="connsiteX0" fmla="*/ 368596 w 1342271"/>
              <a:gd name="connsiteY0" fmla="*/ 2096030 h 2096030"/>
              <a:gd name="connsiteX1" fmla="*/ 878958 w 1342271"/>
              <a:gd name="connsiteY1" fmla="*/ 1975528 h 2096030"/>
              <a:gd name="connsiteX2" fmla="*/ 1119963 w 1342271"/>
              <a:gd name="connsiteY2" fmla="*/ 2060588 h 2096030"/>
              <a:gd name="connsiteX3" fmla="*/ 1134140 w 1342271"/>
              <a:gd name="connsiteY3" fmla="*/ 1734523 h 2096030"/>
              <a:gd name="connsiteX4" fmla="*/ 1339703 w 1342271"/>
              <a:gd name="connsiteY4" fmla="*/ 1387193 h 2096030"/>
              <a:gd name="connsiteX5" fmla="*/ 1247554 w 1342271"/>
              <a:gd name="connsiteY5" fmla="*/ 642914 h 2096030"/>
              <a:gd name="connsiteX6" fmla="*/ 1219200 w 1342271"/>
              <a:gd name="connsiteY6" fmla="*/ 61667 h 2096030"/>
              <a:gd name="connsiteX7" fmla="*/ 496186 w 1342271"/>
              <a:gd name="connsiteY7" fmla="*/ 111286 h 2096030"/>
              <a:gd name="connsiteX8" fmla="*/ 0 w 1342271"/>
              <a:gd name="connsiteY8" fmla="*/ 898095 h 2096030"/>
              <a:gd name="connsiteX0" fmla="*/ 0 w 2024262"/>
              <a:gd name="connsiteY0" fmla="*/ 1269179 h 2086106"/>
              <a:gd name="connsiteX1" fmla="*/ 1560949 w 2024262"/>
              <a:gd name="connsiteY1" fmla="*/ 1975528 h 2086106"/>
              <a:gd name="connsiteX2" fmla="*/ 1801954 w 2024262"/>
              <a:gd name="connsiteY2" fmla="*/ 2060588 h 2086106"/>
              <a:gd name="connsiteX3" fmla="*/ 1816131 w 2024262"/>
              <a:gd name="connsiteY3" fmla="*/ 1734523 h 2086106"/>
              <a:gd name="connsiteX4" fmla="*/ 2021694 w 2024262"/>
              <a:gd name="connsiteY4" fmla="*/ 1387193 h 2086106"/>
              <a:gd name="connsiteX5" fmla="*/ 1929545 w 2024262"/>
              <a:gd name="connsiteY5" fmla="*/ 642914 h 2086106"/>
              <a:gd name="connsiteX6" fmla="*/ 1901191 w 2024262"/>
              <a:gd name="connsiteY6" fmla="*/ 61667 h 2086106"/>
              <a:gd name="connsiteX7" fmla="*/ 1178177 w 2024262"/>
              <a:gd name="connsiteY7" fmla="*/ 111286 h 2086106"/>
              <a:gd name="connsiteX8" fmla="*/ 681991 w 2024262"/>
              <a:gd name="connsiteY8" fmla="*/ 898095 h 2086106"/>
              <a:gd name="connsiteX0" fmla="*/ 212953 w 1342271"/>
              <a:gd name="connsiteY0" fmla="*/ 1541553 h 2076483"/>
              <a:gd name="connsiteX1" fmla="*/ 878958 w 1342271"/>
              <a:gd name="connsiteY1" fmla="*/ 1975528 h 2076483"/>
              <a:gd name="connsiteX2" fmla="*/ 1119963 w 1342271"/>
              <a:gd name="connsiteY2" fmla="*/ 2060588 h 2076483"/>
              <a:gd name="connsiteX3" fmla="*/ 1134140 w 1342271"/>
              <a:gd name="connsiteY3" fmla="*/ 1734523 h 2076483"/>
              <a:gd name="connsiteX4" fmla="*/ 1339703 w 1342271"/>
              <a:gd name="connsiteY4" fmla="*/ 1387193 h 2076483"/>
              <a:gd name="connsiteX5" fmla="*/ 1247554 w 1342271"/>
              <a:gd name="connsiteY5" fmla="*/ 642914 h 2076483"/>
              <a:gd name="connsiteX6" fmla="*/ 1219200 w 1342271"/>
              <a:gd name="connsiteY6" fmla="*/ 61667 h 2076483"/>
              <a:gd name="connsiteX7" fmla="*/ 496186 w 1342271"/>
              <a:gd name="connsiteY7" fmla="*/ 111286 h 2076483"/>
              <a:gd name="connsiteX8" fmla="*/ 0 w 1342271"/>
              <a:gd name="connsiteY8" fmla="*/ 898095 h 2076483"/>
              <a:gd name="connsiteX0" fmla="*/ 0 w 2004808"/>
              <a:gd name="connsiteY0" fmla="*/ 1220540 h 2088328"/>
              <a:gd name="connsiteX1" fmla="*/ 1541495 w 2004808"/>
              <a:gd name="connsiteY1" fmla="*/ 1975528 h 2088328"/>
              <a:gd name="connsiteX2" fmla="*/ 1782500 w 2004808"/>
              <a:gd name="connsiteY2" fmla="*/ 2060588 h 2088328"/>
              <a:gd name="connsiteX3" fmla="*/ 1796677 w 2004808"/>
              <a:gd name="connsiteY3" fmla="*/ 1734523 h 2088328"/>
              <a:gd name="connsiteX4" fmla="*/ 2002240 w 2004808"/>
              <a:gd name="connsiteY4" fmla="*/ 1387193 h 2088328"/>
              <a:gd name="connsiteX5" fmla="*/ 1910091 w 2004808"/>
              <a:gd name="connsiteY5" fmla="*/ 642914 h 2088328"/>
              <a:gd name="connsiteX6" fmla="*/ 1881737 w 2004808"/>
              <a:gd name="connsiteY6" fmla="*/ 61667 h 2088328"/>
              <a:gd name="connsiteX7" fmla="*/ 1158723 w 2004808"/>
              <a:gd name="connsiteY7" fmla="*/ 111286 h 2088328"/>
              <a:gd name="connsiteX8" fmla="*/ 662537 w 2004808"/>
              <a:gd name="connsiteY8" fmla="*/ 898095 h 2088328"/>
              <a:gd name="connsiteX0" fmla="*/ 0 w 1829711"/>
              <a:gd name="connsiteY0" fmla="*/ 1220540 h 2088328"/>
              <a:gd name="connsiteX1" fmla="*/ 1366398 w 1829711"/>
              <a:gd name="connsiteY1" fmla="*/ 1975528 h 2088328"/>
              <a:gd name="connsiteX2" fmla="*/ 1607403 w 1829711"/>
              <a:gd name="connsiteY2" fmla="*/ 2060588 h 2088328"/>
              <a:gd name="connsiteX3" fmla="*/ 1621580 w 1829711"/>
              <a:gd name="connsiteY3" fmla="*/ 1734523 h 2088328"/>
              <a:gd name="connsiteX4" fmla="*/ 1827143 w 1829711"/>
              <a:gd name="connsiteY4" fmla="*/ 1387193 h 2088328"/>
              <a:gd name="connsiteX5" fmla="*/ 1734994 w 1829711"/>
              <a:gd name="connsiteY5" fmla="*/ 642914 h 2088328"/>
              <a:gd name="connsiteX6" fmla="*/ 1706640 w 1829711"/>
              <a:gd name="connsiteY6" fmla="*/ 61667 h 2088328"/>
              <a:gd name="connsiteX7" fmla="*/ 983626 w 1829711"/>
              <a:gd name="connsiteY7" fmla="*/ 111286 h 2088328"/>
              <a:gd name="connsiteX8" fmla="*/ 487440 w 1829711"/>
              <a:gd name="connsiteY8" fmla="*/ 898095 h 2088328"/>
              <a:gd name="connsiteX0" fmla="*/ 0 w 1888077"/>
              <a:gd name="connsiteY0" fmla="*/ 1220540 h 2088328"/>
              <a:gd name="connsiteX1" fmla="*/ 1424764 w 1888077"/>
              <a:gd name="connsiteY1" fmla="*/ 1975528 h 2088328"/>
              <a:gd name="connsiteX2" fmla="*/ 1665769 w 1888077"/>
              <a:gd name="connsiteY2" fmla="*/ 2060588 h 2088328"/>
              <a:gd name="connsiteX3" fmla="*/ 1679946 w 1888077"/>
              <a:gd name="connsiteY3" fmla="*/ 1734523 h 2088328"/>
              <a:gd name="connsiteX4" fmla="*/ 1885509 w 1888077"/>
              <a:gd name="connsiteY4" fmla="*/ 1387193 h 2088328"/>
              <a:gd name="connsiteX5" fmla="*/ 1793360 w 1888077"/>
              <a:gd name="connsiteY5" fmla="*/ 642914 h 2088328"/>
              <a:gd name="connsiteX6" fmla="*/ 1765006 w 1888077"/>
              <a:gd name="connsiteY6" fmla="*/ 61667 h 2088328"/>
              <a:gd name="connsiteX7" fmla="*/ 1041992 w 1888077"/>
              <a:gd name="connsiteY7" fmla="*/ 111286 h 2088328"/>
              <a:gd name="connsiteX8" fmla="*/ 545806 w 1888077"/>
              <a:gd name="connsiteY8" fmla="*/ 898095 h 2088328"/>
              <a:gd name="connsiteX0" fmla="*/ 0 w 1888077"/>
              <a:gd name="connsiteY0" fmla="*/ 1220540 h 2152435"/>
              <a:gd name="connsiteX1" fmla="*/ 471454 w 1888077"/>
              <a:gd name="connsiteY1" fmla="*/ 2082532 h 2152435"/>
              <a:gd name="connsiteX2" fmla="*/ 1665769 w 1888077"/>
              <a:gd name="connsiteY2" fmla="*/ 2060588 h 2152435"/>
              <a:gd name="connsiteX3" fmla="*/ 1679946 w 1888077"/>
              <a:gd name="connsiteY3" fmla="*/ 1734523 h 2152435"/>
              <a:gd name="connsiteX4" fmla="*/ 1885509 w 1888077"/>
              <a:gd name="connsiteY4" fmla="*/ 1387193 h 2152435"/>
              <a:gd name="connsiteX5" fmla="*/ 1793360 w 1888077"/>
              <a:gd name="connsiteY5" fmla="*/ 642914 h 2152435"/>
              <a:gd name="connsiteX6" fmla="*/ 1765006 w 1888077"/>
              <a:gd name="connsiteY6" fmla="*/ 61667 h 2152435"/>
              <a:gd name="connsiteX7" fmla="*/ 1041992 w 1888077"/>
              <a:gd name="connsiteY7" fmla="*/ 111286 h 2152435"/>
              <a:gd name="connsiteX8" fmla="*/ 545806 w 1888077"/>
              <a:gd name="connsiteY8" fmla="*/ 898095 h 2152435"/>
              <a:gd name="connsiteX0" fmla="*/ 0 w 1888077"/>
              <a:gd name="connsiteY0" fmla="*/ 1220540 h 2120333"/>
              <a:gd name="connsiteX1" fmla="*/ 471454 w 1888077"/>
              <a:gd name="connsiteY1" fmla="*/ 2082532 h 2120333"/>
              <a:gd name="connsiteX2" fmla="*/ 1315574 w 1888077"/>
              <a:gd name="connsiteY2" fmla="*/ 1943856 h 2120333"/>
              <a:gd name="connsiteX3" fmla="*/ 1679946 w 1888077"/>
              <a:gd name="connsiteY3" fmla="*/ 1734523 h 2120333"/>
              <a:gd name="connsiteX4" fmla="*/ 1885509 w 1888077"/>
              <a:gd name="connsiteY4" fmla="*/ 1387193 h 2120333"/>
              <a:gd name="connsiteX5" fmla="*/ 1793360 w 1888077"/>
              <a:gd name="connsiteY5" fmla="*/ 642914 h 2120333"/>
              <a:gd name="connsiteX6" fmla="*/ 1765006 w 1888077"/>
              <a:gd name="connsiteY6" fmla="*/ 61667 h 2120333"/>
              <a:gd name="connsiteX7" fmla="*/ 1041992 w 1888077"/>
              <a:gd name="connsiteY7" fmla="*/ 111286 h 2120333"/>
              <a:gd name="connsiteX8" fmla="*/ 545806 w 1888077"/>
              <a:gd name="connsiteY8" fmla="*/ 898095 h 2120333"/>
              <a:gd name="connsiteX0" fmla="*/ 0 w 1902602"/>
              <a:gd name="connsiteY0" fmla="*/ 1220540 h 2141510"/>
              <a:gd name="connsiteX1" fmla="*/ 471454 w 1902602"/>
              <a:gd name="connsiteY1" fmla="*/ 2082532 h 2141510"/>
              <a:gd name="connsiteX2" fmla="*/ 1315574 w 1902602"/>
              <a:gd name="connsiteY2" fmla="*/ 1943856 h 2141510"/>
              <a:gd name="connsiteX3" fmla="*/ 1407572 w 1902602"/>
              <a:gd name="connsiteY3" fmla="*/ 966038 h 2141510"/>
              <a:gd name="connsiteX4" fmla="*/ 1885509 w 1902602"/>
              <a:gd name="connsiteY4" fmla="*/ 1387193 h 2141510"/>
              <a:gd name="connsiteX5" fmla="*/ 1793360 w 1902602"/>
              <a:gd name="connsiteY5" fmla="*/ 642914 h 2141510"/>
              <a:gd name="connsiteX6" fmla="*/ 1765006 w 1902602"/>
              <a:gd name="connsiteY6" fmla="*/ 61667 h 2141510"/>
              <a:gd name="connsiteX7" fmla="*/ 1041992 w 1902602"/>
              <a:gd name="connsiteY7" fmla="*/ 111286 h 2141510"/>
              <a:gd name="connsiteX8" fmla="*/ 545806 w 1902602"/>
              <a:gd name="connsiteY8" fmla="*/ 898095 h 2141510"/>
              <a:gd name="connsiteX0" fmla="*/ 0 w 2522184"/>
              <a:gd name="connsiteY0" fmla="*/ 1220540 h 2141510"/>
              <a:gd name="connsiteX1" fmla="*/ 471454 w 2522184"/>
              <a:gd name="connsiteY1" fmla="*/ 2082532 h 2141510"/>
              <a:gd name="connsiteX2" fmla="*/ 1315574 w 2522184"/>
              <a:gd name="connsiteY2" fmla="*/ 1943856 h 2141510"/>
              <a:gd name="connsiteX3" fmla="*/ 1407572 w 2522184"/>
              <a:gd name="connsiteY3" fmla="*/ 966038 h 2141510"/>
              <a:gd name="connsiteX4" fmla="*/ 2517807 w 2522184"/>
              <a:gd name="connsiteY4" fmla="*/ 1066180 h 2141510"/>
              <a:gd name="connsiteX5" fmla="*/ 1793360 w 2522184"/>
              <a:gd name="connsiteY5" fmla="*/ 642914 h 2141510"/>
              <a:gd name="connsiteX6" fmla="*/ 1765006 w 2522184"/>
              <a:gd name="connsiteY6" fmla="*/ 61667 h 2141510"/>
              <a:gd name="connsiteX7" fmla="*/ 1041992 w 2522184"/>
              <a:gd name="connsiteY7" fmla="*/ 111286 h 2141510"/>
              <a:gd name="connsiteX8" fmla="*/ 545806 w 2522184"/>
              <a:gd name="connsiteY8" fmla="*/ 898095 h 2141510"/>
              <a:gd name="connsiteX0" fmla="*/ 0 w 2628365"/>
              <a:gd name="connsiteY0" fmla="*/ 1346505 h 2525514"/>
              <a:gd name="connsiteX1" fmla="*/ 471454 w 2628365"/>
              <a:gd name="connsiteY1" fmla="*/ 2208497 h 2525514"/>
              <a:gd name="connsiteX2" fmla="*/ 1315574 w 2628365"/>
              <a:gd name="connsiteY2" fmla="*/ 2069821 h 2525514"/>
              <a:gd name="connsiteX3" fmla="*/ 1407572 w 2628365"/>
              <a:gd name="connsiteY3" fmla="*/ 1092003 h 2525514"/>
              <a:gd name="connsiteX4" fmla="*/ 2517807 w 2628365"/>
              <a:gd name="connsiteY4" fmla="*/ 1192145 h 2525514"/>
              <a:gd name="connsiteX5" fmla="*/ 2503479 w 2628365"/>
              <a:gd name="connsiteY5" fmla="*/ 2510130 h 2525514"/>
              <a:gd name="connsiteX6" fmla="*/ 1765006 w 2628365"/>
              <a:gd name="connsiteY6" fmla="*/ 187632 h 2525514"/>
              <a:gd name="connsiteX7" fmla="*/ 1041992 w 2628365"/>
              <a:gd name="connsiteY7" fmla="*/ 237251 h 2525514"/>
              <a:gd name="connsiteX8" fmla="*/ 545806 w 2628365"/>
              <a:gd name="connsiteY8" fmla="*/ 1024060 h 2525514"/>
              <a:gd name="connsiteX0" fmla="*/ 0 w 3722743"/>
              <a:gd name="connsiteY0" fmla="*/ 1115789 h 2576334"/>
              <a:gd name="connsiteX1" fmla="*/ 471454 w 3722743"/>
              <a:gd name="connsiteY1" fmla="*/ 1977781 h 2576334"/>
              <a:gd name="connsiteX2" fmla="*/ 1315574 w 3722743"/>
              <a:gd name="connsiteY2" fmla="*/ 1839105 h 2576334"/>
              <a:gd name="connsiteX3" fmla="*/ 1407572 w 3722743"/>
              <a:gd name="connsiteY3" fmla="*/ 861287 h 2576334"/>
              <a:gd name="connsiteX4" fmla="*/ 2517807 w 3722743"/>
              <a:gd name="connsiteY4" fmla="*/ 961429 h 2576334"/>
              <a:gd name="connsiteX5" fmla="*/ 2503479 w 3722743"/>
              <a:gd name="connsiteY5" fmla="*/ 2279414 h 2576334"/>
              <a:gd name="connsiteX6" fmla="*/ 3691082 w 3722743"/>
              <a:gd name="connsiteY6" fmla="*/ 2379104 h 2576334"/>
              <a:gd name="connsiteX7" fmla="*/ 1041992 w 3722743"/>
              <a:gd name="connsiteY7" fmla="*/ 6535 h 2576334"/>
              <a:gd name="connsiteX8" fmla="*/ 545806 w 3722743"/>
              <a:gd name="connsiteY8" fmla="*/ 793344 h 2576334"/>
              <a:gd name="connsiteX0" fmla="*/ 0 w 3929458"/>
              <a:gd name="connsiteY0" fmla="*/ 371536 h 1709590"/>
              <a:gd name="connsiteX1" fmla="*/ 471454 w 3929458"/>
              <a:gd name="connsiteY1" fmla="*/ 1233528 h 1709590"/>
              <a:gd name="connsiteX2" fmla="*/ 1315574 w 3929458"/>
              <a:gd name="connsiteY2" fmla="*/ 1094852 h 1709590"/>
              <a:gd name="connsiteX3" fmla="*/ 1407572 w 3929458"/>
              <a:gd name="connsiteY3" fmla="*/ 117034 h 1709590"/>
              <a:gd name="connsiteX4" fmla="*/ 2517807 w 3929458"/>
              <a:gd name="connsiteY4" fmla="*/ 217176 h 1709590"/>
              <a:gd name="connsiteX5" fmla="*/ 2503479 w 3929458"/>
              <a:gd name="connsiteY5" fmla="*/ 1535161 h 1709590"/>
              <a:gd name="connsiteX6" fmla="*/ 3691082 w 3929458"/>
              <a:gd name="connsiteY6" fmla="*/ 1634851 h 1709590"/>
              <a:gd name="connsiteX7" fmla="*/ 3824102 w 3929458"/>
              <a:gd name="connsiteY7" fmla="*/ 974350 h 1709590"/>
              <a:gd name="connsiteX8" fmla="*/ 545806 w 3929458"/>
              <a:gd name="connsiteY8" fmla="*/ 49091 h 1709590"/>
              <a:gd name="connsiteX0" fmla="*/ 0 w 3929458"/>
              <a:gd name="connsiteY0" fmla="*/ 350921 h 1688975"/>
              <a:gd name="connsiteX1" fmla="*/ 471454 w 3929458"/>
              <a:gd name="connsiteY1" fmla="*/ 1212913 h 1688975"/>
              <a:gd name="connsiteX2" fmla="*/ 1315574 w 3929458"/>
              <a:gd name="connsiteY2" fmla="*/ 1074237 h 1688975"/>
              <a:gd name="connsiteX3" fmla="*/ 1407572 w 3929458"/>
              <a:gd name="connsiteY3" fmla="*/ 96419 h 1688975"/>
              <a:gd name="connsiteX4" fmla="*/ 2517807 w 3929458"/>
              <a:gd name="connsiteY4" fmla="*/ 196561 h 1688975"/>
              <a:gd name="connsiteX5" fmla="*/ 2503479 w 3929458"/>
              <a:gd name="connsiteY5" fmla="*/ 1514546 h 1688975"/>
              <a:gd name="connsiteX6" fmla="*/ 3691082 w 3929458"/>
              <a:gd name="connsiteY6" fmla="*/ 1614236 h 1688975"/>
              <a:gd name="connsiteX7" fmla="*/ 3824102 w 3929458"/>
              <a:gd name="connsiteY7" fmla="*/ 953735 h 1688975"/>
              <a:gd name="connsiteX8" fmla="*/ 3794844 w 3929458"/>
              <a:gd name="connsiteY8" fmla="*/ 339761 h 1688975"/>
              <a:gd name="connsiteX0" fmla="*/ 0 w 3815959"/>
              <a:gd name="connsiteY0" fmla="*/ 350921 h 1731839"/>
              <a:gd name="connsiteX1" fmla="*/ 471454 w 3815959"/>
              <a:gd name="connsiteY1" fmla="*/ 1212913 h 1731839"/>
              <a:gd name="connsiteX2" fmla="*/ 1315574 w 3815959"/>
              <a:gd name="connsiteY2" fmla="*/ 1074237 h 1731839"/>
              <a:gd name="connsiteX3" fmla="*/ 1407572 w 3815959"/>
              <a:gd name="connsiteY3" fmla="*/ 96419 h 1731839"/>
              <a:gd name="connsiteX4" fmla="*/ 2517807 w 3815959"/>
              <a:gd name="connsiteY4" fmla="*/ 196561 h 1731839"/>
              <a:gd name="connsiteX5" fmla="*/ 2503479 w 3815959"/>
              <a:gd name="connsiteY5" fmla="*/ 1514546 h 1731839"/>
              <a:gd name="connsiteX6" fmla="*/ 3691082 w 3815959"/>
              <a:gd name="connsiteY6" fmla="*/ 1614236 h 1731839"/>
              <a:gd name="connsiteX7" fmla="*/ 3794844 w 3815959"/>
              <a:gd name="connsiteY7" fmla="*/ 339761 h 173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5959" h="1731839">
                <a:moveTo>
                  <a:pt x="0" y="350921"/>
                </a:moveTo>
                <a:cubicBezTo>
                  <a:pt x="192567" y="293623"/>
                  <a:pt x="252192" y="1092360"/>
                  <a:pt x="471454" y="1212913"/>
                </a:cubicBezTo>
                <a:cubicBezTo>
                  <a:pt x="690716" y="1333466"/>
                  <a:pt x="1159554" y="1260319"/>
                  <a:pt x="1315574" y="1074237"/>
                </a:cubicBezTo>
                <a:cubicBezTo>
                  <a:pt x="1471594" y="888155"/>
                  <a:pt x="1207200" y="242698"/>
                  <a:pt x="1407572" y="96419"/>
                </a:cubicBezTo>
                <a:cubicBezTo>
                  <a:pt x="1607944" y="-49860"/>
                  <a:pt x="2335156" y="-39793"/>
                  <a:pt x="2517807" y="196561"/>
                </a:cubicBezTo>
                <a:cubicBezTo>
                  <a:pt x="2700458" y="432915"/>
                  <a:pt x="2307933" y="1278267"/>
                  <a:pt x="2503479" y="1514546"/>
                </a:cubicBezTo>
                <a:cubicBezTo>
                  <a:pt x="2699025" y="1750825"/>
                  <a:pt x="3475855" y="1810034"/>
                  <a:pt x="3691082" y="1614236"/>
                </a:cubicBezTo>
                <a:cubicBezTo>
                  <a:pt x="3906310" y="1418439"/>
                  <a:pt x="3773227" y="605277"/>
                  <a:pt x="3794844" y="339761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F5ED12-1C61-9425-B7C9-678D580FF376}"/>
              </a:ext>
            </a:extLst>
          </p:cNvPr>
          <p:cNvSpPr>
            <a:spLocks noChangeAspect="1"/>
          </p:cNvSpPr>
          <p:nvPr/>
        </p:nvSpPr>
        <p:spPr>
          <a:xfrm>
            <a:off x="6723440" y="3379125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8A79EA-D18F-AD5C-46B4-2B56D0F012F9}"/>
              </a:ext>
            </a:extLst>
          </p:cNvPr>
          <p:cNvSpPr>
            <a:spLocks noChangeAspect="1"/>
          </p:cNvSpPr>
          <p:nvPr/>
        </p:nvSpPr>
        <p:spPr>
          <a:xfrm>
            <a:off x="6734075" y="3379125"/>
            <a:ext cx="183134" cy="18313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9CC68F-D332-68CD-A0B5-7D2C889BDA26}"/>
              </a:ext>
            </a:extLst>
          </p:cNvPr>
          <p:cNvSpPr>
            <a:spLocks noChangeAspect="1"/>
          </p:cNvSpPr>
          <p:nvPr/>
        </p:nvSpPr>
        <p:spPr>
          <a:xfrm>
            <a:off x="4407489" y="2433409"/>
            <a:ext cx="183134" cy="18313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385621-0BAC-34F3-66F4-E0314676A196}"/>
              </a:ext>
            </a:extLst>
          </p:cNvPr>
          <p:cNvSpPr>
            <a:spLocks noChangeAspect="1"/>
          </p:cNvSpPr>
          <p:nvPr/>
        </p:nvSpPr>
        <p:spPr>
          <a:xfrm>
            <a:off x="4407489" y="1913629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9 -0.00139 L 0.03607 0.12662 C 0.04649 0.12546 0.05769 0.13773 0.0681 0.13611 C 0.07969 0.13495 0.09024 0.12014 0.10209 0.11875 C 0.10834 0.10417 0.10964 0.08981 0.10899 0.06042 C 0.10756 0.03055 0.10886 -0.01574 0.11524 -0.03148 C 0.12084 -0.05602 0.14024 -0.04792 0.15066 -0.05 C 0.16081 -0.05232 0.16654 -0.05185 0.17631 -0.04421 C 0.18581 -0.03658 0.20339 -0.04352 0.20756 -0.00417 C 0.21172 0.02106 0.20196 0.07662 0.20131 0.10625 C 0.20066 0.13634 0.19714 0.17384 0.21446 0.18842 C 0.25821 0.20717 0.26654 0.20741 0.30339 0.18495 C 0.31198 0.13148 0.31003 0.10532 0.31172 0.06296 L 0.31172 0.01042 " pathEditMode="relative" rAng="0" ptsTypes="AAAAAAAAAAAAAA">
                                      <p:cBhvr>
                                        <p:cTn id="16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766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375E-6 -0.00093 C 0.01171 0.04167 0.02565 0.06944 0.03737 0.11111 C 0.04778 0.11018 0.05612 0.12129 0.06731 0.11944 C 0.07838 0.11782 0.09218 0.10208 0.10403 0.10069 C 0.11028 0.08634 0.11588 0.06227 0.1151 0.03356 C 0.1138 0.00393 0.12005 -0.00949 0.1263 -0.02523 C 0.13177 -0.04977 0.14296 -0.0338 0.15195 -0.03542 C 0.16093 -0.03681 0.172 -0.04097 0.17968 -0.0338 C 0.18802 -0.02662 0.197 -0.03171 0.20117 0.00764 C 0.20533 0.03287 0.20885 0.08379 0.2082 0.11204 C 0.20742 0.14213 0.21783 0.17129 0.23515 0.18634 C 0.27617 0.18449 0.26093 0.19097 0.29765 0.16805 C 0.30599 0.11458 0.30755 0.11551 0.30924 0.07361 C 0.30924 0.05648 0.31093 0.02801 0.31093 0.01088 " pathEditMode="relative" rAng="0" ptsTypes="AAAAAAAAAAAAAA">
                                      <p:cBhvr>
                                        <p:cTn id="18" dur="9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14" grpId="0" animBg="1"/>
      <p:bldP spid="1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930680" cy="1325563"/>
          </a:xfrm>
        </p:spPr>
        <p:txBody>
          <a:bodyPr/>
          <a:lstStyle/>
          <a:p>
            <a:r>
              <a:rPr lang="en-US" dirty="0"/>
              <a:t>Trajectory Tracking with Feedforward 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40D2C97-F14D-71E1-441F-DC20914DB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8621617" cy="4399774"/>
          </a:xfrm>
        </p:spPr>
        <p:txBody>
          <a:bodyPr>
            <a:normAutofit/>
          </a:bodyPr>
          <a:lstStyle/>
          <a:p>
            <a:r>
              <a:rPr lang="en-US" dirty="0"/>
              <a:t>Green dot is desired</a:t>
            </a:r>
          </a:p>
          <a:p>
            <a:r>
              <a:rPr lang="en-US" dirty="0"/>
              <a:t>Blue dot is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04CB3472-316A-B8E6-C618-1F9C38D32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12" y="1789889"/>
            <a:ext cx="4592462" cy="3902092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7A5951-87F0-01EE-0919-B09D797E5773}"/>
              </a:ext>
            </a:extLst>
          </p:cNvPr>
          <p:cNvSpPr/>
          <p:nvPr/>
        </p:nvSpPr>
        <p:spPr>
          <a:xfrm>
            <a:off x="6825167" y="3118363"/>
            <a:ext cx="3815959" cy="1731839"/>
          </a:xfrm>
          <a:custGeom>
            <a:avLst/>
            <a:gdLst>
              <a:gd name="connsiteX0" fmla="*/ 368596 w 1342271"/>
              <a:gd name="connsiteY0" fmla="*/ 2096030 h 2096030"/>
              <a:gd name="connsiteX1" fmla="*/ 878958 w 1342271"/>
              <a:gd name="connsiteY1" fmla="*/ 1975528 h 2096030"/>
              <a:gd name="connsiteX2" fmla="*/ 1119963 w 1342271"/>
              <a:gd name="connsiteY2" fmla="*/ 2060588 h 2096030"/>
              <a:gd name="connsiteX3" fmla="*/ 1134140 w 1342271"/>
              <a:gd name="connsiteY3" fmla="*/ 1734523 h 2096030"/>
              <a:gd name="connsiteX4" fmla="*/ 1339703 w 1342271"/>
              <a:gd name="connsiteY4" fmla="*/ 1387193 h 2096030"/>
              <a:gd name="connsiteX5" fmla="*/ 1247554 w 1342271"/>
              <a:gd name="connsiteY5" fmla="*/ 642914 h 2096030"/>
              <a:gd name="connsiteX6" fmla="*/ 1219200 w 1342271"/>
              <a:gd name="connsiteY6" fmla="*/ 61667 h 2096030"/>
              <a:gd name="connsiteX7" fmla="*/ 496186 w 1342271"/>
              <a:gd name="connsiteY7" fmla="*/ 111286 h 2096030"/>
              <a:gd name="connsiteX8" fmla="*/ 0 w 1342271"/>
              <a:gd name="connsiteY8" fmla="*/ 898095 h 2096030"/>
              <a:gd name="connsiteX0" fmla="*/ 0 w 2024262"/>
              <a:gd name="connsiteY0" fmla="*/ 1269179 h 2086106"/>
              <a:gd name="connsiteX1" fmla="*/ 1560949 w 2024262"/>
              <a:gd name="connsiteY1" fmla="*/ 1975528 h 2086106"/>
              <a:gd name="connsiteX2" fmla="*/ 1801954 w 2024262"/>
              <a:gd name="connsiteY2" fmla="*/ 2060588 h 2086106"/>
              <a:gd name="connsiteX3" fmla="*/ 1816131 w 2024262"/>
              <a:gd name="connsiteY3" fmla="*/ 1734523 h 2086106"/>
              <a:gd name="connsiteX4" fmla="*/ 2021694 w 2024262"/>
              <a:gd name="connsiteY4" fmla="*/ 1387193 h 2086106"/>
              <a:gd name="connsiteX5" fmla="*/ 1929545 w 2024262"/>
              <a:gd name="connsiteY5" fmla="*/ 642914 h 2086106"/>
              <a:gd name="connsiteX6" fmla="*/ 1901191 w 2024262"/>
              <a:gd name="connsiteY6" fmla="*/ 61667 h 2086106"/>
              <a:gd name="connsiteX7" fmla="*/ 1178177 w 2024262"/>
              <a:gd name="connsiteY7" fmla="*/ 111286 h 2086106"/>
              <a:gd name="connsiteX8" fmla="*/ 681991 w 2024262"/>
              <a:gd name="connsiteY8" fmla="*/ 898095 h 2086106"/>
              <a:gd name="connsiteX0" fmla="*/ 212953 w 1342271"/>
              <a:gd name="connsiteY0" fmla="*/ 1541553 h 2076483"/>
              <a:gd name="connsiteX1" fmla="*/ 878958 w 1342271"/>
              <a:gd name="connsiteY1" fmla="*/ 1975528 h 2076483"/>
              <a:gd name="connsiteX2" fmla="*/ 1119963 w 1342271"/>
              <a:gd name="connsiteY2" fmla="*/ 2060588 h 2076483"/>
              <a:gd name="connsiteX3" fmla="*/ 1134140 w 1342271"/>
              <a:gd name="connsiteY3" fmla="*/ 1734523 h 2076483"/>
              <a:gd name="connsiteX4" fmla="*/ 1339703 w 1342271"/>
              <a:gd name="connsiteY4" fmla="*/ 1387193 h 2076483"/>
              <a:gd name="connsiteX5" fmla="*/ 1247554 w 1342271"/>
              <a:gd name="connsiteY5" fmla="*/ 642914 h 2076483"/>
              <a:gd name="connsiteX6" fmla="*/ 1219200 w 1342271"/>
              <a:gd name="connsiteY6" fmla="*/ 61667 h 2076483"/>
              <a:gd name="connsiteX7" fmla="*/ 496186 w 1342271"/>
              <a:gd name="connsiteY7" fmla="*/ 111286 h 2076483"/>
              <a:gd name="connsiteX8" fmla="*/ 0 w 1342271"/>
              <a:gd name="connsiteY8" fmla="*/ 898095 h 2076483"/>
              <a:gd name="connsiteX0" fmla="*/ 0 w 2004808"/>
              <a:gd name="connsiteY0" fmla="*/ 1220540 h 2088328"/>
              <a:gd name="connsiteX1" fmla="*/ 1541495 w 2004808"/>
              <a:gd name="connsiteY1" fmla="*/ 1975528 h 2088328"/>
              <a:gd name="connsiteX2" fmla="*/ 1782500 w 2004808"/>
              <a:gd name="connsiteY2" fmla="*/ 2060588 h 2088328"/>
              <a:gd name="connsiteX3" fmla="*/ 1796677 w 2004808"/>
              <a:gd name="connsiteY3" fmla="*/ 1734523 h 2088328"/>
              <a:gd name="connsiteX4" fmla="*/ 2002240 w 2004808"/>
              <a:gd name="connsiteY4" fmla="*/ 1387193 h 2088328"/>
              <a:gd name="connsiteX5" fmla="*/ 1910091 w 2004808"/>
              <a:gd name="connsiteY5" fmla="*/ 642914 h 2088328"/>
              <a:gd name="connsiteX6" fmla="*/ 1881737 w 2004808"/>
              <a:gd name="connsiteY6" fmla="*/ 61667 h 2088328"/>
              <a:gd name="connsiteX7" fmla="*/ 1158723 w 2004808"/>
              <a:gd name="connsiteY7" fmla="*/ 111286 h 2088328"/>
              <a:gd name="connsiteX8" fmla="*/ 662537 w 2004808"/>
              <a:gd name="connsiteY8" fmla="*/ 898095 h 2088328"/>
              <a:gd name="connsiteX0" fmla="*/ 0 w 1829711"/>
              <a:gd name="connsiteY0" fmla="*/ 1220540 h 2088328"/>
              <a:gd name="connsiteX1" fmla="*/ 1366398 w 1829711"/>
              <a:gd name="connsiteY1" fmla="*/ 1975528 h 2088328"/>
              <a:gd name="connsiteX2" fmla="*/ 1607403 w 1829711"/>
              <a:gd name="connsiteY2" fmla="*/ 2060588 h 2088328"/>
              <a:gd name="connsiteX3" fmla="*/ 1621580 w 1829711"/>
              <a:gd name="connsiteY3" fmla="*/ 1734523 h 2088328"/>
              <a:gd name="connsiteX4" fmla="*/ 1827143 w 1829711"/>
              <a:gd name="connsiteY4" fmla="*/ 1387193 h 2088328"/>
              <a:gd name="connsiteX5" fmla="*/ 1734994 w 1829711"/>
              <a:gd name="connsiteY5" fmla="*/ 642914 h 2088328"/>
              <a:gd name="connsiteX6" fmla="*/ 1706640 w 1829711"/>
              <a:gd name="connsiteY6" fmla="*/ 61667 h 2088328"/>
              <a:gd name="connsiteX7" fmla="*/ 983626 w 1829711"/>
              <a:gd name="connsiteY7" fmla="*/ 111286 h 2088328"/>
              <a:gd name="connsiteX8" fmla="*/ 487440 w 1829711"/>
              <a:gd name="connsiteY8" fmla="*/ 898095 h 2088328"/>
              <a:gd name="connsiteX0" fmla="*/ 0 w 1888077"/>
              <a:gd name="connsiteY0" fmla="*/ 1220540 h 2088328"/>
              <a:gd name="connsiteX1" fmla="*/ 1424764 w 1888077"/>
              <a:gd name="connsiteY1" fmla="*/ 1975528 h 2088328"/>
              <a:gd name="connsiteX2" fmla="*/ 1665769 w 1888077"/>
              <a:gd name="connsiteY2" fmla="*/ 2060588 h 2088328"/>
              <a:gd name="connsiteX3" fmla="*/ 1679946 w 1888077"/>
              <a:gd name="connsiteY3" fmla="*/ 1734523 h 2088328"/>
              <a:gd name="connsiteX4" fmla="*/ 1885509 w 1888077"/>
              <a:gd name="connsiteY4" fmla="*/ 1387193 h 2088328"/>
              <a:gd name="connsiteX5" fmla="*/ 1793360 w 1888077"/>
              <a:gd name="connsiteY5" fmla="*/ 642914 h 2088328"/>
              <a:gd name="connsiteX6" fmla="*/ 1765006 w 1888077"/>
              <a:gd name="connsiteY6" fmla="*/ 61667 h 2088328"/>
              <a:gd name="connsiteX7" fmla="*/ 1041992 w 1888077"/>
              <a:gd name="connsiteY7" fmla="*/ 111286 h 2088328"/>
              <a:gd name="connsiteX8" fmla="*/ 545806 w 1888077"/>
              <a:gd name="connsiteY8" fmla="*/ 898095 h 2088328"/>
              <a:gd name="connsiteX0" fmla="*/ 0 w 1888077"/>
              <a:gd name="connsiteY0" fmla="*/ 1220540 h 2152435"/>
              <a:gd name="connsiteX1" fmla="*/ 471454 w 1888077"/>
              <a:gd name="connsiteY1" fmla="*/ 2082532 h 2152435"/>
              <a:gd name="connsiteX2" fmla="*/ 1665769 w 1888077"/>
              <a:gd name="connsiteY2" fmla="*/ 2060588 h 2152435"/>
              <a:gd name="connsiteX3" fmla="*/ 1679946 w 1888077"/>
              <a:gd name="connsiteY3" fmla="*/ 1734523 h 2152435"/>
              <a:gd name="connsiteX4" fmla="*/ 1885509 w 1888077"/>
              <a:gd name="connsiteY4" fmla="*/ 1387193 h 2152435"/>
              <a:gd name="connsiteX5" fmla="*/ 1793360 w 1888077"/>
              <a:gd name="connsiteY5" fmla="*/ 642914 h 2152435"/>
              <a:gd name="connsiteX6" fmla="*/ 1765006 w 1888077"/>
              <a:gd name="connsiteY6" fmla="*/ 61667 h 2152435"/>
              <a:gd name="connsiteX7" fmla="*/ 1041992 w 1888077"/>
              <a:gd name="connsiteY7" fmla="*/ 111286 h 2152435"/>
              <a:gd name="connsiteX8" fmla="*/ 545806 w 1888077"/>
              <a:gd name="connsiteY8" fmla="*/ 898095 h 2152435"/>
              <a:gd name="connsiteX0" fmla="*/ 0 w 1888077"/>
              <a:gd name="connsiteY0" fmla="*/ 1220540 h 2120333"/>
              <a:gd name="connsiteX1" fmla="*/ 471454 w 1888077"/>
              <a:gd name="connsiteY1" fmla="*/ 2082532 h 2120333"/>
              <a:gd name="connsiteX2" fmla="*/ 1315574 w 1888077"/>
              <a:gd name="connsiteY2" fmla="*/ 1943856 h 2120333"/>
              <a:gd name="connsiteX3" fmla="*/ 1679946 w 1888077"/>
              <a:gd name="connsiteY3" fmla="*/ 1734523 h 2120333"/>
              <a:gd name="connsiteX4" fmla="*/ 1885509 w 1888077"/>
              <a:gd name="connsiteY4" fmla="*/ 1387193 h 2120333"/>
              <a:gd name="connsiteX5" fmla="*/ 1793360 w 1888077"/>
              <a:gd name="connsiteY5" fmla="*/ 642914 h 2120333"/>
              <a:gd name="connsiteX6" fmla="*/ 1765006 w 1888077"/>
              <a:gd name="connsiteY6" fmla="*/ 61667 h 2120333"/>
              <a:gd name="connsiteX7" fmla="*/ 1041992 w 1888077"/>
              <a:gd name="connsiteY7" fmla="*/ 111286 h 2120333"/>
              <a:gd name="connsiteX8" fmla="*/ 545806 w 1888077"/>
              <a:gd name="connsiteY8" fmla="*/ 898095 h 2120333"/>
              <a:gd name="connsiteX0" fmla="*/ 0 w 1902602"/>
              <a:gd name="connsiteY0" fmla="*/ 1220540 h 2141510"/>
              <a:gd name="connsiteX1" fmla="*/ 471454 w 1902602"/>
              <a:gd name="connsiteY1" fmla="*/ 2082532 h 2141510"/>
              <a:gd name="connsiteX2" fmla="*/ 1315574 w 1902602"/>
              <a:gd name="connsiteY2" fmla="*/ 1943856 h 2141510"/>
              <a:gd name="connsiteX3" fmla="*/ 1407572 w 1902602"/>
              <a:gd name="connsiteY3" fmla="*/ 966038 h 2141510"/>
              <a:gd name="connsiteX4" fmla="*/ 1885509 w 1902602"/>
              <a:gd name="connsiteY4" fmla="*/ 1387193 h 2141510"/>
              <a:gd name="connsiteX5" fmla="*/ 1793360 w 1902602"/>
              <a:gd name="connsiteY5" fmla="*/ 642914 h 2141510"/>
              <a:gd name="connsiteX6" fmla="*/ 1765006 w 1902602"/>
              <a:gd name="connsiteY6" fmla="*/ 61667 h 2141510"/>
              <a:gd name="connsiteX7" fmla="*/ 1041992 w 1902602"/>
              <a:gd name="connsiteY7" fmla="*/ 111286 h 2141510"/>
              <a:gd name="connsiteX8" fmla="*/ 545806 w 1902602"/>
              <a:gd name="connsiteY8" fmla="*/ 898095 h 2141510"/>
              <a:gd name="connsiteX0" fmla="*/ 0 w 2522184"/>
              <a:gd name="connsiteY0" fmla="*/ 1220540 h 2141510"/>
              <a:gd name="connsiteX1" fmla="*/ 471454 w 2522184"/>
              <a:gd name="connsiteY1" fmla="*/ 2082532 h 2141510"/>
              <a:gd name="connsiteX2" fmla="*/ 1315574 w 2522184"/>
              <a:gd name="connsiteY2" fmla="*/ 1943856 h 2141510"/>
              <a:gd name="connsiteX3" fmla="*/ 1407572 w 2522184"/>
              <a:gd name="connsiteY3" fmla="*/ 966038 h 2141510"/>
              <a:gd name="connsiteX4" fmla="*/ 2517807 w 2522184"/>
              <a:gd name="connsiteY4" fmla="*/ 1066180 h 2141510"/>
              <a:gd name="connsiteX5" fmla="*/ 1793360 w 2522184"/>
              <a:gd name="connsiteY5" fmla="*/ 642914 h 2141510"/>
              <a:gd name="connsiteX6" fmla="*/ 1765006 w 2522184"/>
              <a:gd name="connsiteY6" fmla="*/ 61667 h 2141510"/>
              <a:gd name="connsiteX7" fmla="*/ 1041992 w 2522184"/>
              <a:gd name="connsiteY7" fmla="*/ 111286 h 2141510"/>
              <a:gd name="connsiteX8" fmla="*/ 545806 w 2522184"/>
              <a:gd name="connsiteY8" fmla="*/ 898095 h 2141510"/>
              <a:gd name="connsiteX0" fmla="*/ 0 w 2628365"/>
              <a:gd name="connsiteY0" fmla="*/ 1346505 h 2525514"/>
              <a:gd name="connsiteX1" fmla="*/ 471454 w 2628365"/>
              <a:gd name="connsiteY1" fmla="*/ 2208497 h 2525514"/>
              <a:gd name="connsiteX2" fmla="*/ 1315574 w 2628365"/>
              <a:gd name="connsiteY2" fmla="*/ 2069821 h 2525514"/>
              <a:gd name="connsiteX3" fmla="*/ 1407572 w 2628365"/>
              <a:gd name="connsiteY3" fmla="*/ 1092003 h 2525514"/>
              <a:gd name="connsiteX4" fmla="*/ 2517807 w 2628365"/>
              <a:gd name="connsiteY4" fmla="*/ 1192145 h 2525514"/>
              <a:gd name="connsiteX5" fmla="*/ 2503479 w 2628365"/>
              <a:gd name="connsiteY5" fmla="*/ 2510130 h 2525514"/>
              <a:gd name="connsiteX6" fmla="*/ 1765006 w 2628365"/>
              <a:gd name="connsiteY6" fmla="*/ 187632 h 2525514"/>
              <a:gd name="connsiteX7" fmla="*/ 1041992 w 2628365"/>
              <a:gd name="connsiteY7" fmla="*/ 237251 h 2525514"/>
              <a:gd name="connsiteX8" fmla="*/ 545806 w 2628365"/>
              <a:gd name="connsiteY8" fmla="*/ 1024060 h 2525514"/>
              <a:gd name="connsiteX0" fmla="*/ 0 w 3722743"/>
              <a:gd name="connsiteY0" fmla="*/ 1115789 h 2576334"/>
              <a:gd name="connsiteX1" fmla="*/ 471454 w 3722743"/>
              <a:gd name="connsiteY1" fmla="*/ 1977781 h 2576334"/>
              <a:gd name="connsiteX2" fmla="*/ 1315574 w 3722743"/>
              <a:gd name="connsiteY2" fmla="*/ 1839105 h 2576334"/>
              <a:gd name="connsiteX3" fmla="*/ 1407572 w 3722743"/>
              <a:gd name="connsiteY3" fmla="*/ 861287 h 2576334"/>
              <a:gd name="connsiteX4" fmla="*/ 2517807 w 3722743"/>
              <a:gd name="connsiteY4" fmla="*/ 961429 h 2576334"/>
              <a:gd name="connsiteX5" fmla="*/ 2503479 w 3722743"/>
              <a:gd name="connsiteY5" fmla="*/ 2279414 h 2576334"/>
              <a:gd name="connsiteX6" fmla="*/ 3691082 w 3722743"/>
              <a:gd name="connsiteY6" fmla="*/ 2379104 h 2576334"/>
              <a:gd name="connsiteX7" fmla="*/ 1041992 w 3722743"/>
              <a:gd name="connsiteY7" fmla="*/ 6535 h 2576334"/>
              <a:gd name="connsiteX8" fmla="*/ 545806 w 3722743"/>
              <a:gd name="connsiteY8" fmla="*/ 793344 h 2576334"/>
              <a:gd name="connsiteX0" fmla="*/ 0 w 3929458"/>
              <a:gd name="connsiteY0" fmla="*/ 371536 h 1709590"/>
              <a:gd name="connsiteX1" fmla="*/ 471454 w 3929458"/>
              <a:gd name="connsiteY1" fmla="*/ 1233528 h 1709590"/>
              <a:gd name="connsiteX2" fmla="*/ 1315574 w 3929458"/>
              <a:gd name="connsiteY2" fmla="*/ 1094852 h 1709590"/>
              <a:gd name="connsiteX3" fmla="*/ 1407572 w 3929458"/>
              <a:gd name="connsiteY3" fmla="*/ 117034 h 1709590"/>
              <a:gd name="connsiteX4" fmla="*/ 2517807 w 3929458"/>
              <a:gd name="connsiteY4" fmla="*/ 217176 h 1709590"/>
              <a:gd name="connsiteX5" fmla="*/ 2503479 w 3929458"/>
              <a:gd name="connsiteY5" fmla="*/ 1535161 h 1709590"/>
              <a:gd name="connsiteX6" fmla="*/ 3691082 w 3929458"/>
              <a:gd name="connsiteY6" fmla="*/ 1634851 h 1709590"/>
              <a:gd name="connsiteX7" fmla="*/ 3824102 w 3929458"/>
              <a:gd name="connsiteY7" fmla="*/ 974350 h 1709590"/>
              <a:gd name="connsiteX8" fmla="*/ 545806 w 3929458"/>
              <a:gd name="connsiteY8" fmla="*/ 49091 h 1709590"/>
              <a:gd name="connsiteX0" fmla="*/ 0 w 3929458"/>
              <a:gd name="connsiteY0" fmla="*/ 350921 h 1688975"/>
              <a:gd name="connsiteX1" fmla="*/ 471454 w 3929458"/>
              <a:gd name="connsiteY1" fmla="*/ 1212913 h 1688975"/>
              <a:gd name="connsiteX2" fmla="*/ 1315574 w 3929458"/>
              <a:gd name="connsiteY2" fmla="*/ 1074237 h 1688975"/>
              <a:gd name="connsiteX3" fmla="*/ 1407572 w 3929458"/>
              <a:gd name="connsiteY3" fmla="*/ 96419 h 1688975"/>
              <a:gd name="connsiteX4" fmla="*/ 2517807 w 3929458"/>
              <a:gd name="connsiteY4" fmla="*/ 196561 h 1688975"/>
              <a:gd name="connsiteX5" fmla="*/ 2503479 w 3929458"/>
              <a:gd name="connsiteY5" fmla="*/ 1514546 h 1688975"/>
              <a:gd name="connsiteX6" fmla="*/ 3691082 w 3929458"/>
              <a:gd name="connsiteY6" fmla="*/ 1614236 h 1688975"/>
              <a:gd name="connsiteX7" fmla="*/ 3824102 w 3929458"/>
              <a:gd name="connsiteY7" fmla="*/ 953735 h 1688975"/>
              <a:gd name="connsiteX8" fmla="*/ 3794844 w 3929458"/>
              <a:gd name="connsiteY8" fmla="*/ 339761 h 1688975"/>
              <a:gd name="connsiteX0" fmla="*/ 0 w 3815959"/>
              <a:gd name="connsiteY0" fmla="*/ 350921 h 1731839"/>
              <a:gd name="connsiteX1" fmla="*/ 471454 w 3815959"/>
              <a:gd name="connsiteY1" fmla="*/ 1212913 h 1731839"/>
              <a:gd name="connsiteX2" fmla="*/ 1315574 w 3815959"/>
              <a:gd name="connsiteY2" fmla="*/ 1074237 h 1731839"/>
              <a:gd name="connsiteX3" fmla="*/ 1407572 w 3815959"/>
              <a:gd name="connsiteY3" fmla="*/ 96419 h 1731839"/>
              <a:gd name="connsiteX4" fmla="*/ 2517807 w 3815959"/>
              <a:gd name="connsiteY4" fmla="*/ 196561 h 1731839"/>
              <a:gd name="connsiteX5" fmla="*/ 2503479 w 3815959"/>
              <a:gd name="connsiteY5" fmla="*/ 1514546 h 1731839"/>
              <a:gd name="connsiteX6" fmla="*/ 3691082 w 3815959"/>
              <a:gd name="connsiteY6" fmla="*/ 1614236 h 1731839"/>
              <a:gd name="connsiteX7" fmla="*/ 3794844 w 3815959"/>
              <a:gd name="connsiteY7" fmla="*/ 339761 h 173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5959" h="1731839">
                <a:moveTo>
                  <a:pt x="0" y="350921"/>
                </a:moveTo>
                <a:cubicBezTo>
                  <a:pt x="192567" y="293623"/>
                  <a:pt x="252192" y="1092360"/>
                  <a:pt x="471454" y="1212913"/>
                </a:cubicBezTo>
                <a:cubicBezTo>
                  <a:pt x="690716" y="1333466"/>
                  <a:pt x="1159554" y="1260319"/>
                  <a:pt x="1315574" y="1074237"/>
                </a:cubicBezTo>
                <a:cubicBezTo>
                  <a:pt x="1471594" y="888155"/>
                  <a:pt x="1207200" y="242698"/>
                  <a:pt x="1407572" y="96419"/>
                </a:cubicBezTo>
                <a:cubicBezTo>
                  <a:pt x="1607944" y="-49860"/>
                  <a:pt x="2335156" y="-39793"/>
                  <a:pt x="2517807" y="196561"/>
                </a:cubicBezTo>
                <a:cubicBezTo>
                  <a:pt x="2700458" y="432915"/>
                  <a:pt x="2307933" y="1278267"/>
                  <a:pt x="2503479" y="1514546"/>
                </a:cubicBezTo>
                <a:cubicBezTo>
                  <a:pt x="2699025" y="1750825"/>
                  <a:pt x="3475855" y="1810034"/>
                  <a:pt x="3691082" y="1614236"/>
                </a:cubicBezTo>
                <a:cubicBezTo>
                  <a:pt x="3906310" y="1418439"/>
                  <a:pt x="3773227" y="605277"/>
                  <a:pt x="3794844" y="339761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F5ED12-1C61-9425-B7C9-678D580FF376}"/>
              </a:ext>
            </a:extLst>
          </p:cNvPr>
          <p:cNvSpPr>
            <a:spLocks noChangeAspect="1"/>
          </p:cNvSpPr>
          <p:nvPr/>
        </p:nvSpPr>
        <p:spPr>
          <a:xfrm>
            <a:off x="6723440" y="3379125"/>
            <a:ext cx="183134" cy="18313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9CC68F-D332-68CD-A0B5-7D2C889BDA26}"/>
              </a:ext>
            </a:extLst>
          </p:cNvPr>
          <p:cNvSpPr>
            <a:spLocks noChangeAspect="1"/>
          </p:cNvSpPr>
          <p:nvPr/>
        </p:nvSpPr>
        <p:spPr>
          <a:xfrm>
            <a:off x="4407489" y="2433409"/>
            <a:ext cx="183134" cy="18313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385621-0BAC-34F3-66F4-E0314676A196}"/>
              </a:ext>
            </a:extLst>
          </p:cNvPr>
          <p:cNvSpPr>
            <a:spLocks noChangeAspect="1"/>
          </p:cNvSpPr>
          <p:nvPr/>
        </p:nvSpPr>
        <p:spPr>
          <a:xfrm>
            <a:off x="4407489" y="1913629"/>
            <a:ext cx="183134" cy="18313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4C989E-79A0-3458-08A2-B456059EDF30}"/>
              </a:ext>
            </a:extLst>
          </p:cNvPr>
          <p:cNvSpPr>
            <a:spLocks noChangeAspect="1"/>
          </p:cNvSpPr>
          <p:nvPr/>
        </p:nvSpPr>
        <p:spPr>
          <a:xfrm>
            <a:off x="6762352" y="3420176"/>
            <a:ext cx="101727" cy="1017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2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9 -0.00139 L 0.03607 0.12662 C 0.04649 0.12546 0.05769 0.13773 0.0681 0.13611 C 0.07969 0.13495 0.09024 0.12014 0.10209 0.11875 C 0.10834 0.10417 0.10964 0.08981 0.10899 0.06042 C 0.10756 0.03055 0.10886 -0.01574 0.11524 -0.03148 C 0.12084 -0.05602 0.14024 -0.04792 0.15066 -0.05 C 0.16081 -0.05232 0.16654 -0.05185 0.17631 -0.04421 C 0.18581 -0.03658 0.20339 -0.04352 0.20756 -0.00417 C 0.21172 0.02106 0.20196 0.07662 0.20131 0.10625 C 0.20066 0.13634 0.19714 0.17384 0.21446 0.18842 C 0.25821 0.20717 0.26654 0.20741 0.30339 0.18495 C 0.31198 0.13148 0.31003 0.10532 0.31172 0.06296 L 0.31172 0.01042 " pathEditMode="relative" rAng="0" ptsTypes="AAAAAAAAAAAAAA">
                                      <p:cBhvr>
                                        <p:cTn id="1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76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9 -0.00139 L 0.03607 0.12662 C 0.04649 0.12546 0.05769 0.13773 0.0681 0.13611 C 0.07969 0.13495 0.09024 0.12014 0.10209 0.11875 C 0.10834 0.10417 0.10964 0.08981 0.10899 0.06042 C 0.10756 0.03055 0.10886 -0.01574 0.11524 -0.03148 C 0.12084 -0.05602 0.14024 -0.04792 0.15066 -0.05 C 0.16081 -0.05232 0.16654 -0.05185 0.17631 -0.04421 C 0.18581 -0.03658 0.20339 -0.04352 0.20756 -0.00417 C 0.21172 0.02106 0.20196 0.07662 0.20131 0.10625 C 0.20066 0.13634 0.19714 0.17384 0.21446 0.18842 C 0.25821 0.20717 0.26654 0.20741 0.30339 0.18495 C 0.31198 0.13148 0.31003 0.10532 0.31172 0.06296 L 0.31172 0.01042 " pathEditMode="relative" rAng="0" ptsTypes="AAAAAAAAAAAAAA">
                                      <p:cBhvr>
                                        <p:cTn id="16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7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7" grpId="0" animBg="1"/>
      <p:bldP spid="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8B0B8D0A-E04C-8FAE-B73D-626AA9A06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823" y="1477954"/>
            <a:ext cx="4592462" cy="39020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BBA553-BCE8-806B-F5BF-903D1B89F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2346">
            <a:off x="7584626" y="4478963"/>
            <a:ext cx="727717" cy="5504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964995-F8C3-BF19-4541-F4CB9A5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89889"/>
            <a:ext cx="6542832" cy="4399774"/>
          </a:xfrm>
        </p:spPr>
        <p:txBody>
          <a:bodyPr/>
          <a:lstStyle/>
          <a:p>
            <a:r>
              <a:rPr lang="en-US" dirty="0"/>
              <a:t>This control stuff was great but</a:t>
            </a:r>
          </a:p>
          <a:p>
            <a:pPr lvl="1"/>
            <a:r>
              <a:rPr lang="en-US" dirty="0"/>
              <a:t>We need to determine position in world</a:t>
            </a:r>
          </a:p>
          <a:p>
            <a:pPr lvl="2"/>
            <a:r>
              <a:rPr lang="en-US" dirty="0"/>
              <a:t>Using measurements in camera frame</a:t>
            </a:r>
          </a:p>
          <a:p>
            <a:pPr lvl="1"/>
            <a:r>
              <a:rPr lang="en-US" dirty="0"/>
              <a:t>We need to set velocity in world</a:t>
            </a:r>
          </a:p>
          <a:p>
            <a:pPr lvl="2"/>
            <a:r>
              <a:rPr lang="en-US" dirty="0"/>
              <a:t>By setting our velocity in robot frame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to measure our position and orientation using camera + </a:t>
            </a:r>
            <a:r>
              <a:rPr lang="en-US" dirty="0" err="1"/>
              <a:t>AprilTags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22454F-085B-E25D-83B2-E91A5943B51B}"/>
              </a:ext>
            </a:extLst>
          </p:cNvPr>
          <p:cNvGrpSpPr/>
          <p:nvPr/>
        </p:nvGrpSpPr>
        <p:grpSpPr>
          <a:xfrm rot="17053897">
            <a:off x="7614417" y="4175929"/>
            <a:ext cx="519995" cy="733772"/>
            <a:chOff x="7954830" y="4112548"/>
            <a:chExt cx="519995" cy="73377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1E46FB7-1179-1CAD-6AF4-850FE05D9726}"/>
                </a:ext>
              </a:extLst>
            </p:cNvPr>
            <p:cNvCxnSpPr/>
            <p:nvPr/>
          </p:nvCxnSpPr>
          <p:spPr>
            <a:xfrm flipV="1">
              <a:off x="7954830" y="4112548"/>
              <a:ext cx="225221" cy="5540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0361C4B-F426-EC40-379D-382D190C63E3}"/>
                </a:ext>
              </a:extLst>
            </p:cNvPr>
            <p:cNvCxnSpPr>
              <a:cxnSpLocks/>
            </p:cNvCxnSpPr>
            <p:nvPr/>
          </p:nvCxnSpPr>
          <p:spPr>
            <a:xfrm>
              <a:off x="7954830" y="4666593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2" descr="AprilTag Marker Tracking! | OpenMV">
            <a:extLst>
              <a:ext uri="{FF2B5EF4-FFF2-40B4-BE49-F238E27FC236}">
                <a16:creationId xmlns:a16="http://schemas.microsoft.com/office/drawing/2014/main" id="{9BEC7833-8E3C-BB78-C6A9-5FBDE16AB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6633" r="9426" b="28878"/>
          <a:stretch/>
        </p:blipFill>
        <p:spPr bwMode="auto">
          <a:xfrm>
            <a:off x="8293959" y="3600397"/>
            <a:ext cx="220391" cy="2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0C4E808-FFA9-E16B-9530-5E058D49B678}"/>
              </a:ext>
            </a:extLst>
          </p:cNvPr>
          <p:cNvGrpSpPr/>
          <p:nvPr/>
        </p:nvGrpSpPr>
        <p:grpSpPr>
          <a:xfrm rot="4209530">
            <a:off x="7386360" y="2703922"/>
            <a:ext cx="519995" cy="728065"/>
            <a:chOff x="6678828" y="3938528"/>
            <a:chExt cx="519995" cy="72806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841BAE5-74D4-0F96-58EC-F7C386BFD057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F0EE07-90BA-0EE5-0EDB-40271B58D5A6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77D5B0-2E02-A316-068D-9E5F0B5B9EE0}"/>
              </a:ext>
            </a:extLst>
          </p:cNvPr>
          <p:cNvGrpSpPr/>
          <p:nvPr/>
        </p:nvGrpSpPr>
        <p:grpSpPr>
          <a:xfrm rot="20428743">
            <a:off x="8221104" y="3194008"/>
            <a:ext cx="519995" cy="728065"/>
            <a:chOff x="6678828" y="3938528"/>
            <a:chExt cx="519995" cy="7280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57C76B7-D9A7-DD00-75B4-D069710ABE7F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69CF7F2-052E-E792-6A23-0FECA0A3450E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21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11966 -0.279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7" y="-1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966 -0.27916 L 0.20312 -0.0615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964995-F8C3-BF19-4541-F4CB9A5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6799607" cy="4399774"/>
          </a:xfrm>
        </p:spPr>
        <p:txBody>
          <a:bodyPr/>
          <a:lstStyle/>
          <a:p>
            <a:r>
              <a:rPr lang="en-US" dirty="0"/>
              <a:t>First we need to learn about transforms</a:t>
            </a:r>
          </a:p>
          <a:p>
            <a:r>
              <a:rPr lang="en-US" dirty="0"/>
              <a:t>Suppose we have a world frame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9C2457-CA98-733A-0C15-11DBC44C9904}"/>
              </a:ext>
            </a:extLst>
          </p:cNvPr>
          <p:cNvGrpSpPr/>
          <p:nvPr/>
        </p:nvGrpSpPr>
        <p:grpSpPr>
          <a:xfrm>
            <a:off x="1853739" y="3832167"/>
            <a:ext cx="1662546" cy="2294313"/>
            <a:chOff x="4347556" y="2302625"/>
            <a:chExt cx="1662546" cy="229431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411B077-A4C7-15D6-2CBD-C8EBAD0AFFD3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1662546" cy="8562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9BDCCFB-677B-4896-EF94-39F9A9F9B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809702"/>
              <a:ext cx="1662546" cy="9310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3C2A6C9-5C99-EE96-98F6-8DB9475DEE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43BA87B-8926-8F0C-969B-8443F5D74063}"/>
              </a:ext>
            </a:extLst>
          </p:cNvPr>
          <p:cNvSpPr txBox="1"/>
          <p:nvPr/>
        </p:nvSpPr>
        <p:spPr>
          <a:xfrm>
            <a:off x="3516285" y="601841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5D965E-F5FE-4C6E-F2D0-1A33788CE3C7}"/>
              </a:ext>
            </a:extLst>
          </p:cNvPr>
          <p:cNvSpPr txBox="1"/>
          <p:nvPr/>
        </p:nvSpPr>
        <p:spPr>
          <a:xfrm>
            <a:off x="3483033" y="412398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21F82A-3E7A-CAC2-B5C6-FB5B4CDDCBDE}"/>
              </a:ext>
            </a:extLst>
          </p:cNvPr>
          <p:cNvSpPr txBox="1"/>
          <p:nvPr/>
        </p:nvSpPr>
        <p:spPr>
          <a:xfrm>
            <a:off x="1713808" y="3483033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27F9CD-6572-975B-06B9-4C85D04CBE5F}"/>
              </a:ext>
            </a:extLst>
          </p:cNvPr>
          <p:cNvSpPr txBox="1"/>
          <p:nvPr/>
        </p:nvSpPr>
        <p:spPr>
          <a:xfrm>
            <a:off x="1369621" y="5329042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580931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964995-F8C3-BF19-4541-F4CB9A5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89889"/>
            <a:ext cx="10332517" cy="4399774"/>
          </a:xfrm>
        </p:spPr>
        <p:txBody>
          <a:bodyPr/>
          <a:lstStyle/>
          <a:p>
            <a:r>
              <a:rPr lang="en-US" dirty="0"/>
              <a:t>First we need to learn about transforms</a:t>
            </a:r>
          </a:p>
          <a:p>
            <a:r>
              <a:rPr lang="en-US" dirty="0"/>
              <a:t>Suppose we have a world frame</a:t>
            </a:r>
          </a:p>
          <a:p>
            <a:r>
              <a:rPr lang="en-US" dirty="0"/>
              <a:t>Suppose there is another frame in the world frame (</a:t>
            </a:r>
            <a:r>
              <a:rPr lang="en-US" dirty="0" err="1"/>
              <a:t>AprilTag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1853739" y="3832167"/>
            <a:ext cx="1662546" cy="2294313"/>
            <a:chOff x="4347556" y="2302625"/>
            <a:chExt cx="1662546" cy="229431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1662546" cy="8562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809702"/>
              <a:ext cx="1662546" cy="9310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3516285" y="601841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3483033" y="412398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1713808" y="3483033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1369621" y="5329042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753574-855A-831B-C890-D62EADFC282C}"/>
              </a:ext>
            </a:extLst>
          </p:cNvPr>
          <p:cNvGrpSpPr/>
          <p:nvPr/>
        </p:nvGrpSpPr>
        <p:grpSpPr>
          <a:xfrm>
            <a:off x="3483033" y="4361829"/>
            <a:ext cx="1292292" cy="1489853"/>
            <a:chOff x="5257882" y="3729491"/>
            <a:chExt cx="1292292" cy="1489853"/>
          </a:xfrm>
        </p:grpSpPr>
        <p:pic>
          <p:nvPicPr>
            <p:cNvPr id="38" name="Picture 2" descr="AprilTag Marker Tracking! | OpenMV">
              <a:extLst>
                <a:ext uri="{FF2B5EF4-FFF2-40B4-BE49-F238E27FC236}">
                  <a16:creationId xmlns:a16="http://schemas.microsoft.com/office/drawing/2014/main" id="{BDE4A747-684B-1CBD-59F0-D6B8078419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EA13E2-A55E-BB5D-1A4E-F3FD9F09C3D1}"/>
                </a:ext>
              </a:extLst>
            </p:cNvPr>
            <p:cNvGrpSpPr/>
            <p:nvPr/>
          </p:nvGrpSpPr>
          <p:grpSpPr>
            <a:xfrm rot="19159096">
              <a:off x="5257882" y="3729491"/>
              <a:ext cx="1292292" cy="1489853"/>
              <a:chOff x="3311177" y="3268291"/>
              <a:chExt cx="4497803" cy="423146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2C8716F-EF48-4D59-2C00-85A82E2407F6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9" cy="2670597"/>
                <a:chOff x="3394293" y="2647218"/>
                <a:chExt cx="2981829" cy="2670597"/>
              </a:xfrm>
            </p:grpSpPr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148065DD-06FC-1989-B08D-DDEF1B5AE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04EA443E-20EA-350F-7A0A-8E079690F2A4}"/>
                    </a:ext>
                  </a:extLst>
                </p:cNvPr>
                <p:cNvCxnSpPr>
                  <a:cxnSpLocks/>
                  <a:endCxn id="28" idx="0"/>
                </p:cNvCxnSpPr>
                <p:nvPr/>
              </p:nvCxnSpPr>
              <p:spPr>
                <a:xfrm rot="2440904" flipV="1">
                  <a:off x="4266867" y="3918348"/>
                  <a:ext cx="2109255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2138F8B-723D-935B-19CC-06F7DE3C11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3" cy="8051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3A6CA0-08F3-CE14-F414-8BEEEE892C04}"/>
                  </a:ext>
                </a:extLst>
              </p:cNvPr>
              <p:cNvSpPr txBox="1"/>
              <p:nvPr/>
            </p:nvSpPr>
            <p:spPr>
              <a:xfrm rot="2398693">
                <a:off x="7442958" y="6081597"/>
                <a:ext cx="279862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17F707-05A9-6EAB-B074-D8C335A0C5A6}"/>
                  </a:ext>
                </a:extLst>
              </p:cNvPr>
              <p:cNvSpPr txBox="1"/>
              <p:nvPr/>
            </p:nvSpPr>
            <p:spPr>
              <a:xfrm rot="2440904">
                <a:off x="4182911" y="6450781"/>
                <a:ext cx="681236" cy="104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429F97-D43F-2B19-F7D0-AF4EF96F4D49}"/>
                  </a:ext>
                </a:extLst>
              </p:cNvPr>
              <p:cNvSpPr txBox="1"/>
              <p:nvPr/>
            </p:nvSpPr>
            <p:spPr>
              <a:xfrm rot="2440904">
                <a:off x="5893735" y="3268291"/>
                <a:ext cx="27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92BE8E-B628-1526-5A28-37C436EDF415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1841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</p:spPr>
            <p:txBody>
              <a:bodyPr/>
              <a:lstStyle/>
              <a:p>
                <a:r>
                  <a:rPr lang="en-US" dirty="0"/>
                  <a:t>We can represent points in either coordinate frame</a:t>
                </a:r>
              </a:p>
              <a:p>
                <a:r>
                  <a:rPr lang="en-US" dirty="0"/>
                  <a:t>Below is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represented in the world frame</a:t>
                </a:r>
              </a:p>
              <a:p>
                <a:r>
                  <a:rPr lang="en-US" dirty="0"/>
                  <a:t>Denote its 3D coordinates in the world frame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  <a:blipFill>
                <a:blip r:embed="rId2"/>
                <a:stretch>
                  <a:fillRect l="-1062" t="-6870" b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1853739" y="3753919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3516285" y="601841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3483033" y="412398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1713808" y="3483033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1369621" y="5329042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5755977" y="5450200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3483033" y="4361829"/>
            <a:ext cx="1292292" cy="1489853"/>
            <a:chOff x="5257882" y="3729491"/>
            <a:chExt cx="1292292" cy="1489853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257882" y="3729491"/>
              <a:ext cx="1292292" cy="1489853"/>
              <a:chOff x="3311177" y="3268291"/>
              <a:chExt cx="4497803" cy="423146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9" cy="2670597"/>
                <a:chOff x="3394293" y="2647218"/>
                <a:chExt cx="2981829" cy="2670597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  <a:endCxn id="11" idx="0"/>
                </p:cNvCxnSpPr>
                <p:nvPr/>
              </p:nvCxnSpPr>
              <p:spPr>
                <a:xfrm rot="2440904" flipV="1">
                  <a:off x="4266867" y="3918348"/>
                  <a:ext cx="2109255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3" cy="8051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EFA32-BEBD-1316-3208-9206547ADE8A}"/>
                  </a:ext>
                </a:extLst>
              </p:cNvPr>
              <p:cNvSpPr txBox="1"/>
              <p:nvPr/>
            </p:nvSpPr>
            <p:spPr>
              <a:xfrm rot="2398693">
                <a:off x="7442958" y="6081597"/>
                <a:ext cx="279862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D1E47-D5FE-C160-DB30-53A57A4F99A1}"/>
                  </a:ext>
                </a:extLst>
              </p:cNvPr>
              <p:cNvSpPr txBox="1"/>
              <p:nvPr/>
            </p:nvSpPr>
            <p:spPr>
              <a:xfrm rot="2440904">
                <a:off x="4182911" y="6450781"/>
                <a:ext cx="681236" cy="104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5D4FF1-F971-FED3-0038-6CEE37CBE5AD}"/>
                  </a:ext>
                </a:extLst>
              </p:cNvPr>
              <p:cNvSpPr txBox="1"/>
              <p:nvPr/>
            </p:nvSpPr>
            <p:spPr>
              <a:xfrm rot="2440904">
                <a:off x="5893735" y="3268291"/>
                <a:ext cx="27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6292020" y="5037849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20" y="5037849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5918826" y="5222515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/>
              <p:nvPr/>
            </p:nvSpPr>
            <p:spPr>
              <a:xfrm>
                <a:off x="6059538" y="5910425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538" y="5910425"/>
                <a:ext cx="330621" cy="369332"/>
              </a:xfrm>
              <a:prstGeom prst="rect">
                <a:avLst/>
              </a:prstGeom>
              <a:blipFill>
                <a:blip r:embed="rId5"/>
                <a:stretch>
                  <a:fillRect r="-22222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F1466B-1DAF-08D0-EFE9-B5FD790997D2}"/>
              </a:ext>
            </a:extLst>
          </p:cNvPr>
          <p:cNvCxnSpPr>
            <a:cxnSpLocks/>
          </p:cNvCxnSpPr>
          <p:nvPr/>
        </p:nvCxnSpPr>
        <p:spPr>
          <a:xfrm flipH="1" flipV="1">
            <a:off x="2860315" y="4666195"/>
            <a:ext cx="2952049" cy="1457814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A4B8EB4-23BD-3B37-622F-D9E92FBA3E5E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812364" y="5562974"/>
            <a:ext cx="0" cy="563506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7FCECE-38C8-5F97-7A4E-57D84E3DC694}"/>
              </a:ext>
            </a:extLst>
          </p:cNvPr>
          <p:cNvCxnSpPr>
            <a:cxnSpLocks/>
          </p:cNvCxnSpPr>
          <p:nvPr/>
        </p:nvCxnSpPr>
        <p:spPr>
          <a:xfrm flipH="1">
            <a:off x="5023801" y="6096837"/>
            <a:ext cx="778042" cy="709661"/>
          </a:xfrm>
          <a:prstGeom prst="straightConnector1">
            <a:avLst/>
          </a:prstGeom>
          <a:ln>
            <a:solidFill>
              <a:schemeClr val="accent6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7BED1C4-5033-9B35-17F3-597436CFF388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5588205" y="6095091"/>
            <a:ext cx="471333" cy="23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97B08C8-144A-5A34-AEDA-254E36EE0304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5588205" y="6008426"/>
            <a:ext cx="471333" cy="86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3EB367-5124-9C3F-0DA8-E17D35D3B9C4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5801843" y="5823760"/>
            <a:ext cx="257695" cy="271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95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</p:spPr>
            <p:txBody>
              <a:bodyPr/>
              <a:lstStyle/>
              <a:p>
                <a:r>
                  <a:rPr lang="en-US" dirty="0"/>
                  <a:t>We can represent points in either coordinate frame</a:t>
                </a:r>
              </a:p>
              <a:p>
                <a:r>
                  <a:rPr lang="en-US" dirty="0"/>
                  <a:t>Below is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represented in the world frame</a:t>
                </a:r>
              </a:p>
              <a:p>
                <a:r>
                  <a:rPr lang="en-US" dirty="0"/>
                  <a:t>Denote its 3D coordinates in the </a:t>
                </a:r>
                <a:r>
                  <a:rPr lang="en-US" dirty="0" err="1"/>
                  <a:t>AprilTag</a:t>
                </a:r>
                <a:r>
                  <a:rPr lang="en-US" dirty="0"/>
                  <a:t> frame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  <a:blipFill>
                <a:blip r:embed="rId2"/>
                <a:stretch>
                  <a:fillRect l="-1062" t="-6870" b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1853739" y="3753919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3516285" y="601841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3483033" y="412398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1713808" y="3483033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1369621" y="5329042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5755977" y="5450200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3375405" y="4012536"/>
            <a:ext cx="2342115" cy="1548828"/>
            <a:chOff x="5150254" y="3380198"/>
            <a:chExt cx="2342115" cy="1548828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150254" y="3380198"/>
              <a:ext cx="2342115" cy="1548828"/>
              <a:chOff x="3311177" y="3268291"/>
              <a:chExt cx="8151696" cy="439896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3635896" y="4900341"/>
                <a:ext cx="7826977" cy="2766913"/>
                <a:chOff x="2203038" y="3307616"/>
                <a:chExt cx="7826977" cy="2766913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V="1">
                  <a:off x="4102157" y="4280908"/>
                  <a:ext cx="5927858" cy="11788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2203038" y="3307616"/>
                  <a:ext cx="4824283" cy="27669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EFA32-BEBD-1316-3208-9206547ADE8A}"/>
                  </a:ext>
                </a:extLst>
              </p:cNvPr>
              <p:cNvSpPr txBox="1"/>
              <p:nvPr/>
            </p:nvSpPr>
            <p:spPr>
              <a:xfrm rot="2398693">
                <a:off x="7442958" y="6081597"/>
                <a:ext cx="279862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D1E47-D5FE-C160-DB30-53A57A4F99A1}"/>
                  </a:ext>
                </a:extLst>
              </p:cNvPr>
              <p:cNvSpPr txBox="1"/>
              <p:nvPr/>
            </p:nvSpPr>
            <p:spPr>
              <a:xfrm rot="2440904">
                <a:off x="4182911" y="6450781"/>
                <a:ext cx="681236" cy="104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5D4FF1-F971-FED3-0038-6CEE37CBE5AD}"/>
                  </a:ext>
                </a:extLst>
              </p:cNvPr>
              <p:cNvSpPr txBox="1"/>
              <p:nvPr/>
            </p:nvSpPr>
            <p:spPr>
              <a:xfrm rot="2440904">
                <a:off x="5893735" y="3268291"/>
                <a:ext cx="27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6292020" y="5037849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20" y="5037849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5918826" y="5222515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/>
              <p:nvPr/>
            </p:nvSpPr>
            <p:spPr>
              <a:xfrm>
                <a:off x="6210865" y="4771559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865" y="4771559"/>
                <a:ext cx="330621" cy="369332"/>
              </a:xfrm>
              <a:prstGeom prst="rect">
                <a:avLst/>
              </a:prstGeom>
              <a:blipFill>
                <a:blip r:embed="rId5"/>
                <a:stretch>
                  <a:fillRect r="-925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F1466B-1DAF-08D0-EFE9-B5FD790997D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812364" y="5249260"/>
            <a:ext cx="0" cy="200940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A4B8EB4-23BD-3B37-622F-D9E92FBA3E5E}"/>
              </a:ext>
            </a:extLst>
          </p:cNvPr>
          <p:cNvCxnSpPr>
            <a:cxnSpLocks/>
          </p:cNvCxnSpPr>
          <p:nvPr/>
        </p:nvCxnSpPr>
        <p:spPr>
          <a:xfrm>
            <a:off x="5332673" y="4755189"/>
            <a:ext cx="474671" cy="502308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7FCECE-38C8-5F97-7A4E-57D84E3DC694}"/>
              </a:ext>
            </a:extLst>
          </p:cNvPr>
          <p:cNvCxnSpPr>
            <a:cxnSpLocks/>
          </p:cNvCxnSpPr>
          <p:nvPr/>
        </p:nvCxnSpPr>
        <p:spPr>
          <a:xfrm flipH="1">
            <a:off x="4811606" y="5265733"/>
            <a:ext cx="995738" cy="250322"/>
          </a:xfrm>
          <a:prstGeom prst="straightConnector1">
            <a:avLst/>
          </a:prstGeom>
          <a:ln>
            <a:solidFill>
              <a:schemeClr val="accent5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7BED1C4-5033-9B35-17F3-597436CFF388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5832038" y="4956225"/>
            <a:ext cx="378827" cy="450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97B08C8-144A-5A34-AEDA-254E36EE0304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5609309" y="4956225"/>
            <a:ext cx="601556" cy="372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3EB367-5124-9C3F-0DA8-E17D35D3B9C4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5716659" y="4956225"/>
            <a:ext cx="494206" cy="180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783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</p:spPr>
            <p:txBody>
              <a:bodyPr/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1597635"/>
              </a:xfrm>
              <a:blipFill>
                <a:blip r:embed="rId2"/>
                <a:stretch>
                  <a:fillRect l="-1062" t="-6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6691501" y="1961574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8354047" y="422606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8320795" y="233164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6551570" y="1690688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6207383" y="3536697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10593739" y="3657855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8213167" y="2220191"/>
            <a:ext cx="2342115" cy="1548828"/>
            <a:chOff x="5150254" y="3380198"/>
            <a:chExt cx="2342115" cy="1548828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150254" y="3380198"/>
              <a:ext cx="2342115" cy="1548828"/>
              <a:chOff x="3311177" y="3268291"/>
              <a:chExt cx="8151696" cy="439896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3635896" y="4900341"/>
                <a:ext cx="7826977" cy="2766913"/>
                <a:chOff x="2203038" y="3307616"/>
                <a:chExt cx="7826977" cy="2766913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V="1">
                  <a:off x="4102157" y="4280908"/>
                  <a:ext cx="5927858" cy="11788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2203038" y="3307616"/>
                  <a:ext cx="4824283" cy="27669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EFA32-BEBD-1316-3208-9206547ADE8A}"/>
                  </a:ext>
                </a:extLst>
              </p:cNvPr>
              <p:cNvSpPr txBox="1"/>
              <p:nvPr/>
            </p:nvSpPr>
            <p:spPr>
              <a:xfrm rot="2398693">
                <a:off x="7442958" y="6081597"/>
                <a:ext cx="279862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D1E47-D5FE-C160-DB30-53A57A4F99A1}"/>
                  </a:ext>
                </a:extLst>
              </p:cNvPr>
              <p:cNvSpPr txBox="1"/>
              <p:nvPr/>
            </p:nvSpPr>
            <p:spPr>
              <a:xfrm rot="2440904">
                <a:off x="4182911" y="6450781"/>
                <a:ext cx="681236" cy="104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5D4FF1-F971-FED3-0038-6CEE37CBE5AD}"/>
                  </a:ext>
                </a:extLst>
              </p:cNvPr>
              <p:cNvSpPr txBox="1"/>
              <p:nvPr/>
            </p:nvSpPr>
            <p:spPr>
              <a:xfrm rot="2440904">
                <a:off x="5893735" y="3268291"/>
                <a:ext cx="27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0756588" y="3430170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/>
              <p:nvPr/>
            </p:nvSpPr>
            <p:spPr>
              <a:xfrm>
                <a:off x="11048627" y="297921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434-AA5E-04FF-0B11-479F22658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627" y="2979214"/>
                <a:ext cx="330621" cy="369332"/>
              </a:xfrm>
              <a:prstGeom prst="rect">
                <a:avLst/>
              </a:prstGeom>
              <a:blipFill>
                <a:blip r:embed="rId5"/>
                <a:stretch>
                  <a:fillRect r="-909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F1466B-1DAF-08D0-EFE9-B5FD790997D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0650126" y="3456915"/>
            <a:ext cx="0" cy="200940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A4B8EB4-23BD-3B37-622F-D9E92FBA3E5E}"/>
              </a:ext>
            </a:extLst>
          </p:cNvPr>
          <p:cNvCxnSpPr>
            <a:cxnSpLocks/>
          </p:cNvCxnSpPr>
          <p:nvPr/>
        </p:nvCxnSpPr>
        <p:spPr>
          <a:xfrm>
            <a:off x="10170435" y="2962844"/>
            <a:ext cx="474671" cy="502308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7FCECE-38C8-5F97-7A4E-57D84E3DC694}"/>
              </a:ext>
            </a:extLst>
          </p:cNvPr>
          <p:cNvCxnSpPr>
            <a:cxnSpLocks/>
          </p:cNvCxnSpPr>
          <p:nvPr/>
        </p:nvCxnSpPr>
        <p:spPr>
          <a:xfrm flipH="1">
            <a:off x="9649368" y="3473388"/>
            <a:ext cx="995738" cy="250322"/>
          </a:xfrm>
          <a:prstGeom prst="straightConnector1">
            <a:avLst/>
          </a:prstGeom>
          <a:ln>
            <a:solidFill>
              <a:schemeClr val="accent5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7BED1C4-5033-9B35-17F3-597436CFF388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10669800" y="3163880"/>
            <a:ext cx="378827" cy="450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97B08C8-144A-5A34-AEDA-254E36EE0304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10447071" y="3163880"/>
            <a:ext cx="601556" cy="372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43EB367-5124-9C3F-0DA8-E17D35D3B9C4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10554421" y="3163880"/>
            <a:ext cx="494206" cy="180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29CFFE-0B57-4BAA-05DC-C26B3232EB96}"/>
                  </a:ext>
                </a:extLst>
              </p:cNvPr>
              <p:cNvSpPr txBox="1"/>
              <p:nvPr/>
            </p:nvSpPr>
            <p:spPr>
              <a:xfrm>
                <a:off x="10897300" y="4118080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29CFFE-0B57-4BAA-05DC-C26B3232E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300" y="4118080"/>
                <a:ext cx="330621" cy="369332"/>
              </a:xfrm>
              <a:prstGeom prst="rect">
                <a:avLst/>
              </a:prstGeom>
              <a:blipFill>
                <a:blip r:embed="rId6"/>
                <a:stretch>
                  <a:fillRect r="-2037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8A38A9-3022-8794-5472-1E943D8E76FE}"/>
              </a:ext>
            </a:extLst>
          </p:cNvPr>
          <p:cNvCxnSpPr>
            <a:cxnSpLocks/>
          </p:cNvCxnSpPr>
          <p:nvPr/>
        </p:nvCxnSpPr>
        <p:spPr>
          <a:xfrm flipH="1" flipV="1">
            <a:off x="7698077" y="2873850"/>
            <a:ext cx="2952049" cy="1457814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B805EC-8BAF-C691-79F6-B2B7EAA703B6}"/>
              </a:ext>
            </a:extLst>
          </p:cNvPr>
          <p:cNvCxnSpPr>
            <a:cxnSpLocks/>
          </p:cNvCxnSpPr>
          <p:nvPr/>
        </p:nvCxnSpPr>
        <p:spPr>
          <a:xfrm>
            <a:off x="10650126" y="3770629"/>
            <a:ext cx="0" cy="563506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54A54A-52B7-6402-3686-8A4BECBC0524}"/>
              </a:ext>
            </a:extLst>
          </p:cNvPr>
          <p:cNvCxnSpPr>
            <a:cxnSpLocks/>
          </p:cNvCxnSpPr>
          <p:nvPr/>
        </p:nvCxnSpPr>
        <p:spPr>
          <a:xfrm flipH="1">
            <a:off x="9861563" y="4304492"/>
            <a:ext cx="778042" cy="709661"/>
          </a:xfrm>
          <a:prstGeom prst="straightConnector1">
            <a:avLst/>
          </a:prstGeom>
          <a:ln>
            <a:solidFill>
              <a:schemeClr val="accent6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D627A4-9FB3-B855-AC4C-B8132577CA6F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10425967" y="4302746"/>
            <a:ext cx="471333" cy="23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A8B196-4FC3-5878-B412-1CE5625EFA19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10425967" y="4216081"/>
            <a:ext cx="471333" cy="86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19FAF63-E649-C260-1BF5-D50FC16A1F87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10639605" y="4031415"/>
            <a:ext cx="257695" cy="271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7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1694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We need two pieces of info</a:t>
                </a:r>
              </a:p>
              <a:p>
                <a:pPr lvl="1"/>
                <a:r>
                  <a:rPr lang="en-US" dirty="0"/>
                  <a:t>Translation between frames</a:t>
                </a:r>
              </a:p>
              <a:p>
                <a:pPr lvl="2"/>
                <a:r>
                  <a:rPr lang="en-US" dirty="0"/>
                  <a:t>Denoted by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169477"/>
              </a:xfrm>
              <a:blipFill>
                <a:blip r:embed="rId2"/>
                <a:stretch>
                  <a:fillRect l="-1062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6691501" y="1961574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8354047" y="422606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8320795" y="233164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6551570" y="1690688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6207383" y="3536697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10593739" y="3657855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8320795" y="2569484"/>
            <a:ext cx="1292292" cy="1489853"/>
            <a:chOff x="5257882" y="3729491"/>
            <a:chExt cx="1292292" cy="1489853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257882" y="3729491"/>
              <a:ext cx="1292292" cy="1489853"/>
              <a:chOff x="3311177" y="3268291"/>
              <a:chExt cx="4497801" cy="423146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7" cy="2670597"/>
                <a:chOff x="3394293" y="2647218"/>
                <a:chExt cx="2981827" cy="2670597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  <a:endCxn id="11" idx="0"/>
                </p:cNvCxnSpPr>
                <p:nvPr/>
              </p:nvCxnSpPr>
              <p:spPr>
                <a:xfrm rot="2440904" flipV="1">
                  <a:off x="4266867" y="3918347"/>
                  <a:ext cx="2109253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7" cy="8051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AEFA32-BEBD-1316-3208-9206547ADE8A}"/>
                  </a:ext>
                </a:extLst>
              </p:cNvPr>
              <p:cNvSpPr txBox="1"/>
              <p:nvPr/>
            </p:nvSpPr>
            <p:spPr>
              <a:xfrm rot="2398693">
                <a:off x="7442958" y="6081597"/>
                <a:ext cx="279862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D1E47-D5FE-C160-DB30-53A57A4F99A1}"/>
                  </a:ext>
                </a:extLst>
              </p:cNvPr>
              <p:cNvSpPr txBox="1"/>
              <p:nvPr/>
            </p:nvSpPr>
            <p:spPr>
              <a:xfrm rot="2440904">
                <a:off x="4182911" y="6450781"/>
                <a:ext cx="681236" cy="104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5D4FF1-F971-FED3-0038-6CEE37CBE5AD}"/>
                  </a:ext>
                </a:extLst>
              </p:cNvPr>
              <p:cNvSpPr txBox="1"/>
              <p:nvPr/>
            </p:nvSpPr>
            <p:spPr>
              <a:xfrm rot="2440904">
                <a:off x="5893735" y="3268291"/>
                <a:ext cx="27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</p:cNvCxnSpPr>
          <p:nvPr/>
        </p:nvCxnSpPr>
        <p:spPr>
          <a:xfrm flipH="1">
            <a:off x="10756588" y="3411954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238AE9-F604-DE15-E9CA-0FD75AD5D62B}"/>
              </a:ext>
            </a:extLst>
          </p:cNvPr>
          <p:cNvCxnSpPr>
            <a:cxnSpLocks/>
          </p:cNvCxnSpPr>
          <p:nvPr/>
        </p:nvCxnSpPr>
        <p:spPr>
          <a:xfrm flipV="1">
            <a:off x="6687529" y="3256915"/>
            <a:ext cx="2311844" cy="23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5CC535-D198-9CB3-4232-79B4DF483FDF}"/>
                  </a:ext>
                </a:extLst>
              </p:cNvPr>
              <p:cNvSpPr txBox="1"/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5CC535-D198-9CB3-4232-79B4DF483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blipFill>
                <a:blip r:embed="rId5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057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69973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We need two pieces of info</a:t>
                </a:r>
              </a:p>
              <a:p>
                <a:pPr lvl="1"/>
                <a:r>
                  <a:rPr lang="en-US" dirty="0"/>
                  <a:t>Translation between frames</a:t>
                </a:r>
              </a:p>
              <a:p>
                <a:pPr lvl="2"/>
                <a:r>
                  <a:rPr lang="en-US" dirty="0"/>
                  <a:t>Denoted by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Directions of Tag’s axis in world</a:t>
                </a:r>
              </a:p>
              <a:p>
                <a:pPr lvl="2"/>
                <a:r>
                  <a:rPr lang="en-US" dirty="0"/>
                  <a:t>Equivalent to rotation</a:t>
                </a:r>
              </a:p>
              <a:p>
                <a:pPr lvl="2"/>
                <a:r>
                  <a:rPr lang="en-US" dirty="0"/>
                  <a:t>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is a rotation matrix! Has many nice properties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699731"/>
              </a:xfrm>
              <a:blipFill>
                <a:blip r:embed="rId2"/>
                <a:stretch>
                  <a:fillRect l="-1062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6691501" y="1961574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8354047" y="422606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8320795" y="233164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6551570" y="1690688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6207383" y="3536697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10593739" y="3657855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8364682" y="2895322"/>
            <a:ext cx="1292292" cy="940289"/>
            <a:chOff x="5301769" y="4055329"/>
            <a:chExt cx="1292292" cy="940289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301769" y="4055329"/>
              <a:ext cx="1292292" cy="940289"/>
              <a:chOff x="3311177" y="4239943"/>
              <a:chExt cx="4497801" cy="267059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7" cy="2670597"/>
                <a:chOff x="3394293" y="2647218"/>
                <a:chExt cx="2981827" cy="2670597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V="1">
                  <a:off x="4266867" y="3918347"/>
                  <a:ext cx="2109253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7" cy="8051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</p:cNvCxnSpPr>
          <p:nvPr/>
        </p:nvCxnSpPr>
        <p:spPr>
          <a:xfrm flipH="1">
            <a:off x="10756588" y="3411954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238AE9-F604-DE15-E9CA-0FD75AD5D62B}"/>
              </a:ext>
            </a:extLst>
          </p:cNvPr>
          <p:cNvCxnSpPr>
            <a:cxnSpLocks/>
          </p:cNvCxnSpPr>
          <p:nvPr/>
        </p:nvCxnSpPr>
        <p:spPr>
          <a:xfrm flipV="1">
            <a:off x="6687529" y="3256915"/>
            <a:ext cx="2311844" cy="23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5CC535-D198-9CB3-4232-79B4DF483FDF}"/>
                  </a:ext>
                </a:extLst>
              </p:cNvPr>
              <p:cNvSpPr txBox="1"/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5CC535-D198-9CB3-4232-79B4DF483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blipFill>
                <a:blip r:embed="rId5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/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blipFill>
                <a:blip r:embed="rId6"/>
                <a:stretch>
                  <a:fillRect r="-3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/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blipFill>
                <a:blip r:embed="rId7"/>
                <a:stretch>
                  <a:fillRect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/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blipFill>
                <a:blip r:embed="rId8"/>
                <a:stretch>
                  <a:fillRect r="-46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167C8B-E8C4-2A63-D781-F580EF2949B5}"/>
                  </a:ext>
                </a:extLst>
              </p:cNvPr>
              <p:cNvSpPr txBox="1"/>
              <p:nvPr/>
            </p:nvSpPr>
            <p:spPr>
              <a:xfrm>
                <a:off x="1163951" y="4618301"/>
                <a:ext cx="6096750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𝑤𝑎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𝑤𝑎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167C8B-E8C4-2A63-D781-F580EF294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51" y="4618301"/>
                <a:ext cx="6096750" cy="7087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3225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293075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to get direction of point</a:t>
                </a:r>
                <a:br>
                  <a:rPr lang="en-US" dirty="0"/>
                </a:br>
                <a:r>
                  <a:rPr lang="en-US" dirty="0"/>
                  <a:t>from </a:t>
                </a:r>
                <a:r>
                  <a:rPr lang="en-US" dirty="0" err="1"/>
                  <a:t>apriltag</a:t>
                </a:r>
                <a:r>
                  <a:rPr lang="en-US" dirty="0"/>
                  <a:t> origin in world frame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2930757"/>
              </a:xfrm>
              <a:blipFill>
                <a:blip r:embed="rId2"/>
                <a:stretch>
                  <a:fillRect l="-1062" t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6691501" y="1961574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8354047" y="422606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8320795" y="233164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6551570" y="1690688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6207383" y="3536697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10593739" y="3657855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8364682" y="2895322"/>
            <a:ext cx="1292292" cy="940289"/>
            <a:chOff x="5301769" y="4055329"/>
            <a:chExt cx="1292292" cy="940289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301769" y="4055329"/>
              <a:ext cx="1292292" cy="940289"/>
              <a:chOff x="3311177" y="4239943"/>
              <a:chExt cx="4497801" cy="267059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7" cy="2670597"/>
                <a:chOff x="3394293" y="2647218"/>
                <a:chExt cx="2981827" cy="2670597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V="1">
                  <a:off x="4266867" y="3918347"/>
                  <a:ext cx="2109253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7" cy="8051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</p:cNvCxnSpPr>
          <p:nvPr/>
        </p:nvCxnSpPr>
        <p:spPr>
          <a:xfrm flipH="1">
            <a:off x="10756588" y="3411954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238AE9-F604-DE15-E9CA-0FD75AD5D62B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9003343" y="3259641"/>
            <a:ext cx="1590396" cy="454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/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blipFill>
                <a:blip r:embed="rId5"/>
                <a:stretch>
                  <a:fillRect r="-3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/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blipFill>
                <a:blip r:embed="rId6"/>
                <a:stretch>
                  <a:fillRect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/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blipFill>
                <a:blip r:embed="rId7"/>
                <a:stretch>
                  <a:fillRect r="-46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59200F-F2CF-7E87-F6F7-3F9803C204CF}"/>
                  </a:ext>
                </a:extLst>
              </p:cNvPr>
              <p:cNvSpPr txBox="1"/>
              <p:nvPr/>
            </p:nvSpPr>
            <p:spPr>
              <a:xfrm>
                <a:off x="9615994" y="3529576"/>
                <a:ext cx="702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59200F-F2CF-7E87-F6F7-3F9803C20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994" y="3529576"/>
                <a:ext cx="702933" cy="369332"/>
              </a:xfrm>
              <a:prstGeom prst="rect">
                <a:avLst/>
              </a:prstGeom>
              <a:blipFill>
                <a:blip r:embed="rId8"/>
                <a:stretch>
                  <a:fillRect r="-775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868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to get direction of point</a:t>
                </a:r>
                <a:br>
                  <a:rPr lang="en-US" dirty="0"/>
                </a:br>
                <a:r>
                  <a:rPr lang="en-US" dirty="0"/>
                  <a:t>from </a:t>
                </a:r>
                <a:r>
                  <a:rPr lang="en-US" dirty="0" err="1"/>
                  <a:t>apriltag</a:t>
                </a:r>
                <a:r>
                  <a:rPr lang="en-US" dirty="0"/>
                  <a:t> origin in world frame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Add the origin shift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And you’re done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0332517" cy="4453256"/>
              </a:xfrm>
              <a:blipFill>
                <a:blip r:embed="rId2"/>
                <a:stretch>
                  <a:fillRect l="-1062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DB95D3-C9DC-E320-E867-FDB4D4AB331F}"/>
              </a:ext>
            </a:extLst>
          </p:cNvPr>
          <p:cNvGrpSpPr/>
          <p:nvPr/>
        </p:nvGrpSpPr>
        <p:grpSpPr>
          <a:xfrm>
            <a:off x="6691501" y="1961574"/>
            <a:ext cx="3170062" cy="3052579"/>
            <a:chOff x="4347556" y="2224377"/>
            <a:chExt cx="3170062" cy="305257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F462C4-98A9-5F93-4F64-213B1200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347556" y="3740727"/>
              <a:ext cx="3170062" cy="1536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58C479-6B9E-3D0D-10D3-C9800E8B2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224377"/>
              <a:ext cx="2403122" cy="151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C4295E-9EBF-6C59-2D6C-9FDEDF4D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56" y="2302625"/>
              <a:ext cx="0" cy="143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9EEA3F-F098-40D6-0C3B-8F26488DA540}"/>
              </a:ext>
            </a:extLst>
          </p:cNvPr>
          <p:cNvSpPr txBox="1"/>
          <p:nvPr/>
        </p:nvSpPr>
        <p:spPr>
          <a:xfrm>
            <a:off x="8354047" y="4226069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1F1E7C-F07B-BAFC-404C-3128839CFED4}"/>
              </a:ext>
            </a:extLst>
          </p:cNvPr>
          <p:cNvSpPr txBox="1"/>
          <p:nvPr/>
        </p:nvSpPr>
        <p:spPr>
          <a:xfrm>
            <a:off x="8320795" y="2331644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23C04-0D2F-D58A-5F62-5D2CF024E0D1}"/>
              </a:ext>
            </a:extLst>
          </p:cNvPr>
          <p:cNvSpPr txBox="1"/>
          <p:nvPr/>
        </p:nvSpPr>
        <p:spPr>
          <a:xfrm>
            <a:off x="6551570" y="1690688"/>
            <a:ext cx="279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AB609-5757-13CA-99BF-DB629B34A007}"/>
              </a:ext>
            </a:extLst>
          </p:cNvPr>
          <p:cNvSpPr txBox="1"/>
          <p:nvPr/>
        </p:nvSpPr>
        <p:spPr>
          <a:xfrm>
            <a:off x="6207383" y="3536697"/>
            <a:ext cx="79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EC8AD-91E8-ED94-2B1A-3032BB08B889}"/>
              </a:ext>
            </a:extLst>
          </p:cNvPr>
          <p:cNvSpPr>
            <a:spLocks noChangeAspect="1"/>
          </p:cNvSpPr>
          <p:nvPr/>
        </p:nvSpPr>
        <p:spPr>
          <a:xfrm>
            <a:off x="10593739" y="3657855"/>
            <a:ext cx="112774" cy="11277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5CF036-D550-EC0E-2282-AC393495588F}"/>
              </a:ext>
            </a:extLst>
          </p:cNvPr>
          <p:cNvGrpSpPr/>
          <p:nvPr/>
        </p:nvGrpSpPr>
        <p:grpSpPr>
          <a:xfrm>
            <a:off x="8364682" y="2895322"/>
            <a:ext cx="1292292" cy="940289"/>
            <a:chOff x="5301769" y="4055329"/>
            <a:chExt cx="1292292" cy="940289"/>
          </a:xfrm>
        </p:grpSpPr>
        <p:pic>
          <p:nvPicPr>
            <p:cNvPr id="8" name="Picture 2" descr="AprilTag Marker Tracking! | OpenMV">
              <a:extLst>
                <a:ext uri="{FF2B5EF4-FFF2-40B4-BE49-F238E27FC236}">
                  <a16:creationId xmlns:a16="http://schemas.microsoft.com/office/drawing/2014/main" id="{40DE21C4-D3E4-0C78-8C4B-5E365F119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6633" r="9426" b="28878"/>
            <a:stretch/>
          </p:blipFill>
          <p:spPr bwMode="auto">
            <a:xfrm>
              <a:off x="5891725" y="4375777"/>
              <a:ext cx="416621" cy="423319"/>
            </a:xfrm>
            <a:prstGeom prst="rect">
              <a:avLst/>
            </a:prstGeom>
            <a:noFill/>
            <a:scene3d>
              <a:camera prst="perspectiveContrastingRightFacing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86DF45-C4CB-CDAB-5A37-86D5D07A42B9}"/>
                </a:ext>
              </a:extLst>
            </p:cNvPr>
            <p:cNvGrpSpPr/>
            <p:nvPr/>
          </p:nvGrpSpPr>
          <p:grpSpPr>
            <a:xfrm rot="19159096">
              <a:off x="5301769" y="4055329"/>
              <a:ext cx="1292292" cy="940289"/>
              <a:chOff x="3311177" y="4239943"/>
              <a:chExt cx="4497801" cy="267059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68292EE-BF6C-7962-6CC5-654B50BC443B}"/>
                  </a:ext>
                </a:extLst>
              </p:cNvPr>
              <p:cNvGrpSpPr/>
              <p:nvPr/>
            </p:nvGrpSpPr>
            <p:grpSpPr>
              <a:xfrm>
                <a:off x="4827151" y="4239943"/>
                <a:ext cx="2981827" cy="2670597"/>
                <a:chOff x="3394293" y="2647218"/>
                <a:chExt cx="2981827" cy="2670597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5BDF20C-18DF-8FA1-39C8-562DFB92F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>
                  <a:off x="3631430" y="3565923"/>
                  <a:ext cx="114195" cy="175189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CC21277-F83C-78C8-C7CF-BDCB8C5B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V="1">
                  <a:off x="4266867" y="3918347"/>
                  <a:ext cx="2109253" cy="436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347D9785-56B2-DAFA-E6E9-ED3C34535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40904" flipH="1" flipV="1">
                  <a:off x="3394293" y="2647218"/>
                  <a:ext cx="1450047" cy="8051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876119-8897-8B17-8869-63551132F010}"/>
                  </a:ext>
                </a:extLst>
              </p:cNvPr>
              <p:cNvSpPr txBox="1"/>
              <p:nvPr/>
            </p:nvSpPr>
            <p:spPr>
              <a:xfrm rot="2440904">
                <a:off x="3311177" y="4318549"/>
                <a:ext cx="2480072" cy="104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April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/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FD171E-823B-B5FA-5DB6-24DC42B93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82" y="3245504"/>
                <a:ext cx="330621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300481-7778-0BD0-997B-C8F94A425FD2}"/>
              </a:ext>
            </a:extLst>
          </p:cNvPr>
          <p:cNvCxnSpPr>
            <a:cxnSpLocks/>
          </p:cNvCxnSpPr>
          <p:nvPr/>
        </p:nvCxnSpPr>
        <p:spPr>
          <a:xfrm flipH="1">
            <a:off x="10756588" y="3411954"/>
            <a:ext cx="373194" cy="22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238AE9-F604-DE15-E9CA-0FD75AD5D62B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9003343" y="3259641"/>
            <a:ext cx="1590396" cy="454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/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13B375-52CC-EEB7-21E8-F8D905F2F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599" y="3018056"/>
                <a:ext cx="330621" cy="667619"/>
              </a:xfrm>
              <a:prstGeom prst="rect">
                <a:avLst/>
              </a:prstGeom>
              <a:blipFill>
                <a:blip r:embed="rId5"/>
                <a:stretch>
                  <a:fillRect r="-3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/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BBEAA-1E53-FF27-6C66-E397F5B2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98" y="2617123"/>
                <a:ext cx="330621" cy="682174"/>
              </a:xfrm>
              <a:prstGeom prst="rect">
                <a:avLst/>
              </a:prstGeom>
              <a:blipFill>
                <a:blip r:embed="rId6"/>
                <a:stretch>
                  <a:fillRect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/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F9605C-A1A9-F7BE-A0B1-0D2211EA5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114" y="3770330"/>
                <a:ext cx="330621" cy="706412"/>
              </a:xfrm>
              <a:prstGeom prst="rect">
                <a:avLst/>
              </a:prstGeom>
              <a:blipFill>
                <a:blip r:embed="rId7"/>
                <a:stretch>
                  <a:fillRect r="-46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59200F-F2CF-7E87-F6F7-3F9803C204CF}"/>
                  </a:ext>
                </a:extLst>
              </p:cNvPr>
              <p:cNvSpPr txBox="1"/>
              <p:nvPr/>
            </p:nvSpPr>
            <p:spPr>
              <a:xfrm>
                <a:off x="9615994" y="3529576"/>
                <a:ext cx="702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59200F-F2CF-7E87-F6F7-3F9803C20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994" y="3529576"/>
                <a:ext cx="702933" cy="369332"/>
              </a:xfrm>
              <a:prstGeom prst="rect">
                <a:avLst/>
              </a:prstGeom>
              <a:blipFill>
                <a:blip r:embed="rId8"/>
                <a:stretch>
                  <a:fillRect r="-775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A3E692-F2BC-63B2-9C6B-4C4B9003E9D6}"/>
              </a:ext>
            </a:extLst>
          </p:cNvPr>
          <p:cNvCxnSpPr>
            <a:cxnSpLocks/>
          </p:cNvCxnSpPr>
          <p:nvPr/>
        </p:nvCxnSpPr>
        <p:spPr>
          <a:xfrm flipV="1">
            <a:off x="6687529" y="3256915"/>
            <a:ext cx="2311844" cy="23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41FFAC-E450-9F90-AB85-F97247B83EE8}"/>
                  </a:ext>
                </a:extLst>
              </p:cNvPr>
              <p:cNvSpPr txBox="1"/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41FFAC-E450-9F90-AB85-F97247B83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065" y="3316343"/>
                <a:ext cx="330621" cy="369332"/>
              </a:xfrm>
              <a:prstGeom prst="rect">
                <a:avLst/>
              </a:prstGeom>
              <a:blipFill>
                <a:blip r:embed="rId9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31E013-9EB0-672F-6A89-C022B0B8799B}"/>
                  </a:ext>
                </a:extLst>
              </p:cNvPr>
              <p:cNvSpPr txBox="1"/>
              <p:nvPr/>
            </p:nvSpPr>
            <p:spPr>
              <a:xfrm>
                <a:off x="10897300" y="4118080"/>
                <a:ext cx="330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31E013-9EB0-672F-6A89-C022B0B87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300" y="4118080"/>
                <a:ext cx="330621" cy="369332"/>
              </a:xfrm>
              <a:prstGeom prst="rect">
                <a:avLst/>
              </a:prstGeom>
              <a:blipFill>
                <a:blip r:embed="rId10"/>
                <a:stretch>
                  <a:fillRect r="-2037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EE700F-9708-C80E-DD11-F9D25AF64C46}"/>
              </a:ext>
            </a:extLst>
          </p:cNvPr>
          <p:cNvCxnSpPr>
            <a:cxnSpLocks/>
          </p:cNvCxnSpPr>
          <p:nvPr/>
        </p:nvCxnSpPr>
        <p:spPr>
          <a:xfrm flipH="1" flipV="1">
            <a:off x="7698077" y="2873850"/>
            <a:ext cx="2952049" cy="1457814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7CB015-F92C-9AE6-367A-2447F24EFD6D}"/>
              </a:ext>
            </a:extLst>
          </p:cNvPr>
          <p:cNvCxnSpPr>
            <a:cxnSpLocks/>
          </p:cNvCxnSpPr>
          <p:nvPr/>
        </p:nvCxnSpPr>
        <p:spPr>
          <a:xfrm>
            <a:off x="10650126" y="3770629"/>
            <a:ext cx="0" cy="563506"/>
          </a:xfrm>
          <a:prstGeom prst="straightConnector1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D3914B-6CDC-73F8-2FEC-77F189B9A88D}"/>
              </a:ext>
            </a:extLst>
          </p:cNvPr>
          <p:cNvCxnSpPr>
            <a:cxnSpLocks/>
          </p:cNvCxnSpPr>
          <p:nvPr/>
        </p:nvCxnSpPr>
        <p:spPr>
          <a:xfrm flipH="1">
            <a:off x="9861563" y="4304492"/>
            <a:ext cx="778042" cy="709661"/>
          </a:xfrm>
          <a:prstGeom prst="straightConnector1">
            <a:avLst/>
          </a:prstGeom>
          <a:ln>
            <a:solidFill>
              <a:schemeClr val="accent6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76ABB5-F55E-FC18-CB0F-A805143F48F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0425967" y="4302746"/>
            <a:ext cx="471333" cy="23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1EFAED-A8B5-3703-51F1-3704745F0EE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0425967" y="4216081"/>
            <a:ext cx="471333" cy="86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70F52C-3B66-144F-B060-CE657EB21394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0639605" y="4031415"/>
            <a:ext cx="257695" cy="271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almost always want to think of rotation and translation together</a:t>
                </a:r>
              </a:p>
              <a:p>
                <a:r>
                  <a:rPr lang="en-US" dirty="0"/>
                  <a:t>We can combine them into one matrix</a:t>
                </a:r>
              </a:p>
              <a:p>
                <a:r>
                  <a:rPr lang="en-US" dirty="0"/>
                  <a:t>Instead of: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𝑤𝑎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 redefine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So that we can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770" t="-3151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5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Choice in subscript order allows figuring out the cancelation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40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01D46C-2186-9C27-15AC-7D56E64DE2E4}"/>
              </a:ext>
            </a:extLst>
          </p:cNvPr>
          <p:cNvCxnSpPr/>
          <p:nvPr/>
        </p:nvCxnSpPr>
        <p:spPr>
          <a:xfrm>
            <a:off x="2653111" y="2396359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B1B8B5-6759-7A9C-C9A2-D7E3ADAD1D09}"/>
              </a:ext>
            </a:extLst>
          </p:cNvPr>
          <p:cNvCxnSpPr/>
          <p:nvPr/>
        </p:nvCxnSpPr>
        <p:spPr>
          <a:xfrm>
            <a:off x="2985688" y="2396358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319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Choice in subscript order allows figuring out the cancelation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is guaranteed to be invertible, so you can write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Which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1031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41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01D46C-2186-9C27-15AC-7D56E64DE2E4}"/>
              </a:ext>
            </a:extLst>
          </p:cNvPr>
          <p:cNvCxnSpPr/>
          <p:nvPr/>
        </p:nvCxnSpPr>
        <p:spPr>
          <a:xfrm>
            <a:off x="2653111" y="2396359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B1B8B5-6759-7A9C-C9A2-D7E3ADAD1D09}"/>
              </a:ext>
            </a:extLst>
          </p:cNvPr>
          <p:cNvCxnSpPr/>
          <p:nvPr/>
        </p:nvCxnSpPr>
        <p:spPr>
          <a:xfrm>
            <a:off x="2985688" y="2396358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631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Choice in subscript order allows figuring out the cancelation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is guaranteed to be invertible, so you can write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Which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Exercise: Find a closed form formula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br>
                  <a:rPr lang="en-US" dirty="0"/>
                </a:br>
                <a:r>
                  <a:rPr lang="en-US" dirty="0"/>
                  <a:t>that doesn’t use the inverse operator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1031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42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01D46C-2186-9C27-15AC-7D56E64DE2E4}"/>
              </a:ext>
            </a:extLst>
          </p:cNvPr>
          <p:cNvCxnSpPr/>
          <p:nvPr/>
        </p:nvCxnSpPr>
        <p:spPr>
          <a:xfrm>
            <a:off x="2653111" y="2396359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B1B8B5-6759-7A9C-C9A2-D7E3ADAD1D09}"/>
              </a:ext>
            </a:extLst>
          </p:cNvPr>
          <p:cNvCxnSpPr/>
          <p:nvPr/>
        </p:nvCxnSpPr>
        <p:spPr>
          <a:xfrm>
            <a:off x="2985688" y="2396358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225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These kinds of transforms can be chained indefinitely</a:t>
                </a:r>
              </a:p>
              <a:p>
                <a:pPr lvl="1"/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(from map in Project 1)</a:t>
                </a:r>
              </a:p>
              <a:p>
                <a:pPr lvl="1"/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𝑐𝑎</m:t>
                        </m:r>
                      </m:sub>
                    </m:sSub>
                  </m:oMath>
                </a14:m>
                <a:r>
                  <a:rPr lang="en-US" dirty="0"/>
                  <a:t> (from “apriltag.py” in Project 0)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Position of the camera in world is</a:t>
                </a:r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 the last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880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43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8AE2D-BFEF-AC22-B515-1A2DB9F74B9D}"/>
              </a:ext>
            </a:extLst>
          </p:cNvPr>
          <p:cNvCxnSpPr/>
          <p:nvPr/>
        </p:nvCxnSpPr>
        <p:spPr>
          <a:xfrm>
            <a:off x="2990193" y="4909831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92F1FF-808F-4E1C-DAF6-ED7B7DE48E72}"/>
              </a:ext>
            </a:extLst>
          </p:cNvPr>
          <p:cNvCxnSpPr/>
          <p:nvPr/>
        </p:nvCxnSpPr>
        <p:spPr>
          <a:xfrm>
            <a:off x="2579538" y="4909830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8230D7-D457-5EB9-A9D9-486F6720760E}"/>
              </a:ext>
            </a:extLst>
          </p:cNvPr>
          <p:cNvCxnSpPr/>
          <p:nvPr/>
        </p:nvCxnSpPr>
        <p:spPr>
          <a:xfrm>
            <a:off x="2849054" y="4888927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F56DBE-EC72-3068-3A5A-FF69434D6B73}"/>
              </a:ext>
            </a:extLst>
          </p:cNvPr>
          <p:cNvCxnSpPr/>
          <p:nvPr/>
        </p:nvCxnSpPr>
        <p:spPr>
          <a:xfrm>
            <a:off x="3299498" y="4884420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73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These kinds of transforms can be chained indefinitely</a:t>
                </a:r>
              </a:p>
              <a:p>
                <a:pPr lvl="1"/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</m:oMath>
                </a14:m>
                <a:r>
                  <a:rPr lang="en-US" dirty="0"/>
                  <a:t> (from map in Project 1)</a:t>
                </a:r>
              </a:p>
              <a:p>
                <a:pPr lvl="1"/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𝑐𝑎</m:t>
                        </m:r>
                      </m:sub>
                    </m:sSub>
                  </m:oMath>
                </a14:m>
                <a:r>
                  <a:rPr lang="en-US" dirty="0"/>
                  <a:t> (from “apriltag.py” in Project 0)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Position of the camera in world is</a:t>
                </a:r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 the last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880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44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8AE2D-BFEF-AC22-B515-1A2DB9F74B9D}"/>
              </a:ext>
            </a:extLst>
          </p:cNvPr>
          <p:cNvCxnSpPr/>
          <p:nvPr/>
        </p:nvCxnSpPr>
        <p:spPr>
          <a:xfrm>
            <a:off x="2990193" y="4909831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92F1FF-808F-4E1C-DAF6-ED7B7DE48E72}"/>
              </a:ext>
            </a:extLst>
          </p:cNvPr>
          <p:cNvCxnSpPr/>
          <p:nvPr/>
        </p:nvCxnSpPr>
        <p:spPr>
          <a:xfrm>
            <a:off x="2579538" y="4909830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8230D7-D457-5EB9-A9D9-486F6720760E}"/>
              </a:ext>
            </a:extLst>
          </p:cNvPr>
          <p:cNvCxnSpPr/>
          <p:nvPr/>
        </p:nvCxnSpPr>
        <p:spPr>
          <a:xfrm>
            <a:off x="2849054" y="4888927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F56DBE-EC72-3068-3A5A-FF69434D6B73}"/>
              </a:ext>
            </a:extLst>
          </p:cNvPr>
          <p:cNvCxnSpPr/>
          <p:nvPr/>
        </p:nvCxnSpPr>
        <p:spPr>
          <a:xfrm>
            <a:off x="3299498" y="4884420"/>
            <a:ext cx="202700" cy="28828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B6AF7C-F29C-70C9-ACDD-19E8EA534B35}"/>
                  </a:ext>
                </a:extLst>
              </p:cNvPr>
              <p:cNvSpPr txBox="1"/>
              <p:nvPr/>
            </p:nvSpPr>
            <p:spPr>
              <a:xfrm>
                <a:off x="6764862" y="3553657"/>
                <a:ext cx="5465003" cy="249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Orientation is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𝑤𝑐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𝑐𝑎</m:t>
                        </m:r>
                      </m:sub>
                    </m:sSub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600" dirty="0"/>
              </a:p>
              <a:p>
                <a:endParaRPr lang="en-US" sz="2600" dirty="0"/>
              </a:p>
              <a:p>
                <a:pPr lvl="1"/>
                <a:endParaRPr lang="en-US" sz="2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B6AF7C-F29C-70C9-ACDD-19E8EA534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862" y="3553657"/>
                <a:ext cx="5465003" cy="2492990"/>
              </a:xfrm>
              <a:prstGeom prst="rect">
                <a:avLst/>
              </a:prstGeom>
              <a:blipFill>
                <a:blip r:embed="rId3"/>
                <a:stretch>
                  <a:fillRect l="-1786" t="-2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886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get position and orientation in the world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And we can calculate our desired velocity in world frame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652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get position and orientation in the world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And we can calculate our desired velocity in world frame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the robot needs velocity in body frame, not world or camera</a:t>
                </a:r>
              </a:p>
              <a:p>
                <a:pPr lvl="1"/>
                <a:r>
                  <a:rPr lang="en-US" dirty="0"/>
                  <a:t>E.g.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but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0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get position and orientation in the world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And we can calculate our desired velocity in world frame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the robot needs velocity in body frame,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To fix, rotate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𝑐𝑤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</m:sub>
                    </m:sSub>
                  </m:oMath>
                </a14:m>
                <a:r>
                  <a:rPr lang="en-US" dirty="0"/>
                  <a:t> is a matrix of 1’s and 0’s</a:t>
                </a:r>
              </a:p>
              <a:p>
                <a:pPr lvl="2"/>
                <a:r>
                  <a:rPr lang="en-US" dirty="0"/>
                  <a:t>Maps the axis of the camera to the robot’s body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64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9" y="1789889"/>
                <a:ext cx="6298278" cy="445325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One simple algorithm</a:t>
                </a:r>
              </a:p>
              <a:p>
                <a:pPr lvl="1"/>
                <a:r>
                  <a:rPr lang="en-US" sz="2000" dirty="0"/>
                  <a:t>Want </a:t>
                </a:r>
                <a:r>
                  <a:rPr lang="en-US" sz="2000" dirty="0" err="1"/>
                  <a:t>apriltag</a:t>
                </a:r>
                <a:r>
                  <a:rPr lang="en-US" sz="2000" dirty="0"/>
                  <a:t> to be in direction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p>
                    </m:sSubSup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But it is actually in direction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r>
                  <a:rPr lang="en-US" sz="2400" dirty="0"/>
                  <a:t>Steps:</a:t>
                </a:r>
              </a:p>
              <a:p>
                <a:pPr lvl="1"/>
                <a:r>
                  <a:rPr lang="en-US" sz="2000" dirty="0"/>
                  <a:t>Set the y coordinates to zero since the robot can’t go up or down</a:t>
                </a:r>
              </a:p>
              <a:p>
                <a:pPr lvl="1"/>
                <a:r>
                  <a:rPr lang="en-US" sz="2000" dirty="0"/>
                  <a:t>Normalize the vectors </a:t>
                </a:r>
              </a:p>
              <a:p>
                <a:pPr lvl="1"/>
                <a:r>
                  <a:rPr lang="en-US" sz="2000" dirty="0"/>
                  <a:t>Take cross product</a:t>
                </a:r>
              </a:p>
              <a:p>
                <a:pPr lvl="1"/>
                <a:r>
                  <a:rPr lang="en-US" sz="2000" dirty="0"/>
                  <a:t>Set to rotation rate with configurable gain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× ⁡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sz="1800" dirty="0"/>
                  <a:t>)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9" y="1789889"/>
                <a:ext cx="6298278" cy="4453256"/>
              </a:xfrm>
              <a:blipFill>
                <a:blip r:embed="rId2"/>
                <a:stretch>
                  <a:fillRect l="-1355" t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3" name="Picture 2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1858BA19-CB38-8686-A071-E2B9B08DE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823" y="1477954"/>
            <a:ext cx="4592462" cy="3902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E66D9-1FD2-4C38-A8AC-2A9B737A2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09670">
            <a:off x="7584626" y="4478963"/>
            <a:ext cx="727717" cy="5504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8B9A817-ACC0-F012-0780-9D47B0B4210B}"/>
              </a:ext>
            </a:extLst>
          </p:cNvPr>
          <p:cNvGrpSpPr/>
          <p:nvPr/>
        </p:nvGrpSpPr>
        <p:grpSpPr>
          <a:xfrm rot="19073193">
            <a:off x="7614417" y="4175929"/>
            <a:ext cx="519995" cy="733772"/>
            <a:chOff x="7954830" y="4112548"/>
            <a:chExt cx="519995" cy="73377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DDC4CAA-4776-A1E2-736B-F2E6338246EA}"/>
                </a:ext>
              </a:extLst>
            </p:cNvPr>
            <p:cNvCxnSpPr/>
            <p:nvPr/>
          </p:nvCxnSpPr>
          <p:spPr>
            <a:xfrm flipV="1">
              <a:off x="7954830" y="4112548"/>
              <a:ext cx="225221" cy="5540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82F5EF-60C3-2862-FDC6-2CB5E1485981}"/>
                </a:ext>
              </a:extLst>
            </p:cNvPr>
            <p:cNvCxnSpPr>
              <a:cxnSpLocks/>
            </p:cNvCxnSpPr>
            <p:nvPr/>
          </p:nvCxnSpPr>
          <p:spPr>
            <a:xfrm>
              <a:off x="7954830" y="4666593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1" name="Picture 2" descr="AprilTag Marker Tracking! | OpenMV">
            <a:extLst>
              <a:ext uri="{FF2B5EF4-FFF2-40B4-BE49-F238E27FC236}">
                <a16:creationId xmlns:a16="http://schemas.microsoft.com/office/drawing/2014/main" id="{61722BAF-F697-4C84-EFF4-E9FE5DA24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6633" r="9426" b="28878"/>
          <a:stretch/>
        </p:blipFill>
        <p:spPr bwMode="auto">
          <a:xfrm>
            <a:off x="8293959" y="3600397"/>
            <a:ext cx="220391" cy="2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A88D636-D08E-8D3B-D2B5-C5CF3F33F5CF}"/>
              </a:ext>
            </a:extLst>
          </p:cNvPr>
          <p:cNvGrpSpPr/>
          <p:nvPr/>
        </p:nvGrpSpPr>
        <p:grpSpPr>
          <a:xfrm rot="4209530">
            <a:off x="7386360" y="2703922"/>
            <a:ext cx="519995" cy="728065"/>
            <a:chOff x="6678828" y="3938528"/>
            <a:chExt cx="519995" cy="72806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E2EA2CB-4464-7291-8844-94E9FE933850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4C9B97-B165-9D78-AA0F-70B866103AF5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9B4D59-0D73-70B2-D9EA-716466A9C654}"/>
              </a:ext>
            </a:extLst>
          </p:cNvPr>
          <p:cNvGrpSpPr/>
          <p:nvPr/>
        </p:nvGrpSpPr>
        <p:grpSpPr>
          <a:xfrm rot="20428743">
            <a:off x="8221104" y="3194008"/>
            <a:ext cx="519995" cy="728065"/>
            <a:chOff x="6678828" y="3938528"/>
            <a:chExt cx="519995" cy="72806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0E7518A-A665-6B56-2ECA-8313F7F31DF4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019E114-DDAB-C308-271E-40AAF08A3B52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773050-BD4A-026D-E472-78B0AB336C25}"/>
              </a:ext>
            </a:extLst>
          </p:cNvPr>
          <p:cNvCxnSpPr>
            <a:cxnSpLocks/>
          </p:cNvCxnSpPr>
          <p:nvPr/>
        </p:nvCxnSpPr>
        <p:spPr>
          <a:xfrm flipV="1">
            <a:off x="7807053" y="3857625"/>
            <a:ext cx="486905" cy="99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814D8C-2AD9-E5F0-3222-DE5B9BE516DF}"/>
              </a:ext>
            </a:extLst>
          </p:cNvPr>
          <p:cNvCxnSpPr>
            <a:cxnSpLocks/>
          </p:cNvCxnSpPr>
          <p:nvPr/>
        </p:nvCxnSpPr>
        <p:spPr>
          <a:xfrm flipV="1">
            <a:off x="7843838" y="4403288"/>
            <a:ext cx="1129877" cy="431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4033F1-9A06-0F6F-87C2-72D273907D32}"/>
                  </a:ext>
                </a:extLst>
              </p:cNvPr>
              <p:cNvSpPr txBox="1"/>
              <p:nvPr/>
            </p:nvSpPr>
            <p:spPr>
              <a:xfrm>
                <a:off x="5995988" y="4391570"/>
                <a:ext cx="6096000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4033F1-9A06-0F6F-87C2-72D273907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988" y="4391570"/>
                <a:ext cx="6096000" cy="392993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D6BA61-24EB-85B7-8669-D178859AD8A7}"/>
                  </a:ext>
                </a:extLst>
              </p:cNvPr>
              <p:cNvSpPr txBox="1"/>
              <p:nvPr/>
            </p:nvSpPr>
            <p:spPr>
              <a:xfrm>
                <a:off x="5356154" y="384356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D6BA61-24EB-85B7-8669-D178859A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154" y="3843567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11C87150-46DD-D19A-49E6-4C0427251CBD}"/>
              </a:ext>
            </a:extLst>
          </p:cNvPr>
          <p:cNvCxnSpPr/>
          <p:nvPr/>
        </p:nvCxnSpPr>
        <p:spPr>
          <a:xfrm>
            <a:off x="8060186" y="4293973"/>
            <a:ext cx="512529" cy="281017"/>
          </a:xfrm>
          <a:prstGeom prst="curvedConnector3">
            <a:avLst>
              <a:gd name="adj1" fmla="val 10854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A0979D-2D8D-99A2-6E4E-9D13F201E331}"/>
                  </a:ext>
                </a:extLst>
              </p:cNvPr>
              <p:cNvSpPr txBox="1"/>
              <p:nvPr/>
            </p:nvSpPr>
            <p:spPr>
              <a:xfrm>
                <a:off x="8478325" y="4085042"/>
                <a:ext cx="4238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A0979D-2D8D-99A2-6E4E-9D13F201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325" y="4085042"/>
                <a:ext cx="4238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C93169-E2A8-C562-9A7A-EEF087193891}"/>
                  </a:ext>
                </a:extLst>
              </p:cNvPr>
              <p:cNvSpPr txBox="1"/>
              <p:nvPr/>
            </p:nvSpPr>
            <p:spPr>
              <a:xfrm>
                <a:off x="8112186" y="5407497"/>
                <a:ext cx="2981585" cy="57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 ×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vectors are normalized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C93169-E2A8-C562-9A7A-EEF087193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186" y="5407497"/>
                <a:ext cx="2981585" cy="577659"/>
              </a:xfrm>
              <a:prstGeom prst="rect">
                <a:avLst/>
              </a:prstGeom>
              <a:blipFill>
                <a:blip r:embed="rId9"/>
                <a:stretch>
                  <a:fillRect l="-4908" r="-4294" b="-2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5599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9" y="1789889"/>
                <a:ext cx="6298278" cy="445325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One simple algorithm</a:t>
                </a:r>
              </a:p>
              <a:p>
                <a:pPr lvl="1"/>
                <a:r>
                  <a:rPr lang="en-US" sz="2000" dirty="0"/>
                  <a:t>Want </a:t>
                </a:r>
                <a:r>
                  <a:rPr lang="en-US" sz="2000" dirty="0" err="1"/>
                  <a:t>apriltag</a:t>
                </a:r>
                <a:r>
                  <a:rPr lang="en-US" sz="2000" dirty="0"/>
                  <a:t> to be in direction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p>
                    </m:sSubSup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But it is actually in direction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r>
                  <a:rPr lang="en-US" sz="2400" dirty="0"/>
                  <a:t>Steps:</a:t>
                </a:r>
              </a:p>
              <a:p>
                <a:pPr lvl="1"/>
                <a:r>
                  <a:rPr lang="en-US" sz="2000" dirty="0"/>
                  <a:t>Set the y coordinates to zero since the robot can’t go up or down</a:t>
                </a:r>
              </a:p>
              <a:p>
                <a:pPr lvl="1"/>
                <a:r>
                  <a:rPr lang="en-US" sz="2000" dirty="0"/>
                  <a:t>Normalize the vectors </a:t>
                </a:r>
              </a:p>
              <a:p>
                <a:pPr lvl="1"/>
                <a:r>
                  <a:rPr lang="en-US" sz="2000" dirty="0"/>
                  <a:t>Take cross product</a:t>
                </a:r>
              </a:p>
              <a:p>
                <a:pPr lvl="1"/>
                <a:r>
                  <a:rPr lang="en-US" sz="2000" dirty="0"/>
                  <a:t>Set to rotation rate with configurable gain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× ⁡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sz="1800" dirty="0"/>
                  <a:t>) </a:t>
                </a:r>
              </a:p>
              <a:p>
                <a:r>
                  <a:rPr lang="en-US" sz="2400" dirty="0"/>
                  <a:t>Notice this is a feedback loop</a:t>
                </a:r>
              </a:p>
              <a:p>
                <a:pPr lvl="1"/>
                <a:r>
                  <a:rPr lang="en-US" sz="2000" dirty="0"/>
                  <a:t>You could </a:t>
                </a:r>
                <a:r>
                  <a:rPr lang="en-US" sz="2000"/>
                  <a:t>add feedforward</a:t>
                </a:r>
                <a:endParaRPr lang="en-US" sz="2000" dirty="0"/>
              </a:p>
              <a:p>
                <a:pPr lvl="2"/>
                <a:endParaRPr lang="en-US" sz="18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9" y="1789889"/>
                <a:ext cx="6298278" cy="4453256"/>
              </a:xfrm>
              <a:blipFill>
                <a:blip r:embed="rId2"/>
                <a:stretch>
                  <a:fillRect l="-1355" t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3" name="Picture 2" descr="A picture containing text, crossword puzzle, vector graphics, businesscard&#10;&#10;Description automatically generated">
            <a:extLst>
              <a:ext uri="{FF2B5EF4-FFF2-40B4-BE49-F238E27FC236}">
                <a16:creationId xmlns:a16="http://schemas.microsoft.com/office/drawing/2014/main" id="{1858BA19-CB38-8686-A071-E2B9B08DE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823" y="1477954"/>
            <a:ext cx="4592462" cy="3902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E66D9-1FD2-4C38-A8AC-2A9B737A2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09670">
            <a:off x="7584626" y="4478963"/>
            <a:ext cx="727717" cy="5504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8B9A817-ACC0-F012-0780-9D47B0B4210B}"/>
              </a:ext>
            </a:extLst>
          </p:cNvPr>
          <p:cNvGrpSpPr/>
          <p:nvPr/>
        </p:nvGrpSpPr>
        <p:grpSpPr>
          <a:xfrm rot="19073193">
            <a:off x="7614417" y="4175929"/>
            <a:ext cx="519995" cy="733772"/>
            <a:chOff x="7954830" y="4112548"/>
            <a:chExt cx="519995" cy="73377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DDC4CAA-4776-A1E2-736B-F2E6338246EA}"/>
                </a:ext>
              </a:extLst>
            </p:cNvPr>
            <p:cNvCxnSpPr/>
            <p:nvPr/>
          </p:nvCxnSpPr>
          <p:spPr>
            <a:xfrm flipV="1">
              <a:off x="7954830" y="4112548"/>
              <a:ext cx="225221" cy="5540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82F5EF-60C3-2862-FDC6-2CB5E1485981}"/>
                </a:ext>
              </a:extLst>
            </p:cNvPr>
            <p:cNvCxnSpPr>
              <a:cxnSpLocks/>
            </p:cNvCxnSpPr>
            <p:nvPr/>
          </p:nvCxnSpPr>
          <p:spPr>
            <a:xfrm>
              <a:off x="7954830" y="4666593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1" name="Picture 2" descr="AprilTag Marker Tracking! | OpenMV">
            <a:extLst>
              <a:ext uri="{FF2B5EF4-FFF2-40B4-BE49-F238E27FC236}">
                <a16:creationId xmlns:a16="http://schemas.microsoft.com/office/drawing/2014/main" id="{61722BAF-F697-4C84-EFF4-E9FE5DA24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7" t="6633" r="9426" b="28878"/>
          <a:stretch/>
        </p:blipFill>
        <p:spPr bwMode="auto">
          <a:xfrm>
            <a:off x="8293959" y="3600397"/>
            <a:ext cx="220391" cy="2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A88D636-D08E-8D3B-D2B5-C5CF3F33F5CF}"/>
              </a:ext>
            </a:extLst>
          </p:cNvPr>
          <p:cNvGrpSpPr/>
          <p:nvPr/>
        </p:nvGrpSpPr>
        <p:grpSpPr>
          <a:xfrm rot="4209530">
            <a:off x="7386360" y="2703922"/>
            <a:ext cx="519995" cy="728065"/>
            <a:chOff x="6678828" y="3938528"/>
            <a:chExt cx="519995" cy="72806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E2EA2CB-4464-7291-8844-94E9FE933850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4C9B97-B165-9D78-AA0F-70B866103AF5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9B4D59-0D73-70B2-D9EA-716466A9C654}"/>
              </a:ext>
            </a:extLst>
          </p:cNvPr>
          <p:cNvGrpSpPr/>
          <p:nvPr/>
        </p:nvGrpSpPr>
        <p:grpSpPr>
          <a:xfrm rot="20428743">
            <a:off x="8221104" y="3194008"/>
            <a:ext cx="519995" cy="728065"/>
            <a:chOff x="6678828" y="3938528"/>
            <a:chExt cx="519995" cy="72806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0E7518A-A665-6B56-2ECA-8313F7F31DF4}"/>
                </a:ext>
              </a:extLst>
            </p:cNvPr>
            <p:cNvCxnSpPr>
              <a:cxnSpLocks/>
            </p:cNvCxnSpPr>
            <p:nvPr/>
          </p:nvCxnSpPr>
          <p:spPr>
            <a:xfrm rot="1171257" flipV="1">
              <a:off x="6773154" y="3938528"/>
              <a:ext cx="0" cy="564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019E114-DDAB-C308-271E-40AAF08A3B52}"/>
                </a:ext>
              </a:extLst>
            </p:cNvPr>
            <p:cNvCxnSpPr>
              <a:cxnSpLocks/>
            </p:cNvCxnSpPr>
            <p:nvPr/>
          </p:nvCxnSpPr>
          <p:spPr>
            <a:xfrm>
              <a:off x="6678828" y="4486866"/>
              <a:ext cx="519995" cy="1797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773050-BD4A-026D-E472-78B0AB336C25}"/>
              </a:ext>
            </a:extLst>
          </p:cNvPr>
          <p:cNvCxnSpPr>
            <a:cxnSpLocks/>
          </p:cNvCxnSpPr>
          <p:nvPr/>
        </p:nvCxnSpPr>
        <p:spPr>
          <a:xfrm flipV="1">
            <a:off x="7807053" y="3857625"/>
            <a:ext cx="486905" cy="99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814D8C-2AD9-E5F0-3222-DE5B9BE516DF}"/>
              </a:ext>
            </a:extLst>
          </p:cNvPr>
          <p:cNvCxnSpPr>
            <a:cxnSpLocks/>
          </p:cNvCxnSpPr>
          <p:nvPr/>
        </p:nvCxnSpPr>
        <p:spPr>
          <a:xfrm flipV="1">
            <a:off x="7843838" y="4403288"/>
            <a:ext cx="1129877" cy="431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4033F1-9A06-0F6F-87C2-72D273907D32}"/>
                  </a:ext>
                </a:extLst>
              </p:cNvPr>
              <p:cNvSpPr txBox="1"/>
              <p:nvPr/>
            </p:nvSpPr>
            <p:spPr>
              <a:xfrm>
                <a:off x="5995988" y="4391570"/>
                <a:ext cx="6096000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4033F1-9A06-0F6F-87C2-72D273907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988" y="4391570"/>
                <a:ext cx="6096000" cy="392993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D6BA61-24EB-85B7-8669-D178859AD8A7}"/>
                  </a:ext>
                </a:extLst>
              </p:cNvPr>
              <p:cNvSpPr txBox="1"/>
              <p:nvPr/>
            </p:nvSpPr>
            <p:spPr>
              <a:xfrm>
                <a:off x="5356154" y="384356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D6BA61-24EB-85B7-8669-D178859A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154" y="3843567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11C87150-46DD-D19A-49E6-4C0427251CBD}"/>
              </a:ext>
            </a:extLst>
          </p:cNvPr>
          <p:cNvCxnSpPr/>
          <p:nvPr/>
        </p:nvCxnSpPr>
        <p:spPr>
          <a:xfrm>
            <a:off x="8060186" y="4293973"/>
            <a:ext cx="512529" cy="281017"/>
          </a:xfrm>
          <a:prstGeom prst="curvedConnector3">
            <a:avLst>
              <a:gd name="adj1" fmla="val 10854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A0979D-2D8D-99A2-6E4E-9D13F201E331}"/>
                  </a:ext>
                </a:extLst>
              </p:cNvPr>
              <p:cNvSpPr txBox="1"/>
              <p:nvPr/>
            </p:nvSpPr>
            <p:spPr>
              <a:xfrm>
                <a:off x="8478325" y="4085042"/>
                <a:ext cx="4238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A0979D-2D8D-99A2-6E4E-9D13F201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325" y="4085042"/>
                <a:ext cx="4238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C93169-E2A8-C562-9A7A-EEF087193891}"/>
                  </a:ext>
                </a:extLst>
              </p:cNvPr>
              <p:cNvSpPr txBox="1"/>
              <p:nvPr/>
            </p:nvSpPr>
            <p:spPr>
              <a:xfrm>
                <a:off x="8112186" y="5407497"/>
                <a:ext cx="2981585" cy="57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 ×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vectors are normalized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C93169-E2A8-C562-9A7A-EEF087193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186" y="5407497"/>
                <a:ext cx="2981585" cy="577659"/>
              </a:xfrm>
              <a:prstGeom prst="rect">
                <a:avLst/>
              </a:prstGeom>
              <a:blipFill>
                <a:blip r:embed="rId9"/>
                <a:stretch>
                  <a:fillRect l="-4908" r="-4294" b="-2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839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3F7E5F9-8F25-420A-A678-ECBF5716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382899" cy="3684588"/>
          </a:xfrm>
        </p:spPr>
        <p:txBody>
          <a:bodyPr>
            <a:normAutofit/>
          </a:bodyPr>
          <a:lstStyle/>
          <a:p>
            <a:r>
              <a:rPr lang="en-US" dirty="0"/>
              <a:t>Search based planning returns set of points</a:t>
            </a:r>
          </a:p>
          <a:p>
            <a:r>
              <a:rPr lang="en-US" dirty="0"/>
              <a:t>But robot moves continuously</a:t>
            </a:r>
          </a:p>
          <a:p>
            <a:r>
              <a:rPr lang="en-US" dirty="0"/>
              <a:t>Control expects continuous target position</a:t>
            </a:r>
          </a:p>
          <a:p>
            <a:pPr lvl="1"/>
            <a:r>
              <a:rPr lang="en-US" dirty="0"/>
              <a:t>Indexed by a time “t”</a:t>
            </a:r>
          </a:p>
          <a:p>
            <a:r>
              <a:rPr lang="en-US" dirty="0"/>
              <a:t>What can we do?</a:t>
            </a:r>
          </a:p>
          <a:p>
            <a:pPr lvl="1"/>
            <a:endParaRPr lang="en-US" dirty="0"/>
          </a:p>
          <a:p>
            <a:r>
              <a:rPr lang="en-US" dirty="0"/>
              <a:t>We need to interpolate the points!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A68E4B-A889-8011-B68D-7F37A5ED0FFB}"/>
              </a:ext>
            </a:extLst>
          </p:cNvPr>
          <p:cNvGrpSpPr/>
          <p:nvPr/>
        </p:nvGrpSpPr>
        <p:grpSpPr>
          <a:xfrm>
            <a:off x="9088252" y="3562292"/>
            <a:ext cx="2005519" cy="2378730"/>
            <a:chOff x="6867856" y="1825625"/>
            <a:chExt cx="4485944" cy="43468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0BB7205-8DB8-E022-8D35-5F8EDDC6A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7856" y="1825625"/>
              <a:ext cx="4485944" cy="4346892"/>
            </a:xfrm>
            <a:prstGeom prst="rect">
              <a:avLst/>
            </a:prstGeom>
          </p:spPr>
        </p:pic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D7C07B41-341E-7AF2-7E0D-37114179DF54}"/>
                </a:ext>
              </a:extLst>
            </p:cNvPr>
            <p:cNvSpPr/>
            <p:nvPr/>
          </p:nvSpPr>
          <p:spPr>
            <a:xfrm rot="2700000">
              <a:off x="7451483" y="1958968"/>
              <a:ext cx="390640" cy="390640"/>
            </a:xfrm>
            <a:prstGeom prst="plus">
              <a:avLst>
                <a:gd name="adj" fmla="val 43072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373AD9BF-5513-59E8-01B5-D6C62F1769E0}"/>
                </a:ext>
              </a:extLst>
            </p:cNvPr>
            <p:cNvSpPr/>
            <p:nvPr/>
          </p:nvSpPr>
          <p:spPr>
            <a:xfrm rot="2700000">
              <a:off x="9539625" y="5207840"/>
              <a:ext cx="390640" cy="390640"/>
            </a:xfrm>
            <a:prstGeom prst="plus">
              <a:avLst>
                <a:gd name="adj" fmla="val 43072"/>
              </a:avLst>
            </a:prstGeom>
            <a:solidFill>
              <a:srgbClr val="C0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543995-2225-1DF5-C4DA-A0DA0D993BEC}"/>
                </a:ext>
              </a:extLst>
            </p:cNvPr>
            <p:cNvSpPr/>
            <p:nvPr/>
          </p:nvSpPr>
          <p:spPr>
            <a:xfrm>
              <a:off x="7471144" y="2128434"/>
              <a:ext cx="3154326" cy="3357966"/>
            </a:xfrm>
            <a:custGeom>
              <a:avLst/>
              <a:gdLst>
                <a:gd name="connsiteX0" fmla="*/ 2443726 w 3456513"/>
                <a:gd name="connsiteY0" fmla="*/ 3244552 h 3328479"/>
                <a:gd name="connsiteX1" fmla="*/ 281772 w 3456513"/>
                <a:gd name="connsiteY1" fmla="*/ 3237464 h 3328479"/>
                <a:gd name="connsiteX2" fmla="*/ 345568 w 3456513"/>
                <a:gd name="connsiteY2" fmla="*/ 2315975 h 3328479"/>
                <a:gd name="connsiteX3" fmla="*/ 3202182 w 3456513"/>
                <a:gd name="connsiteY3" fmla="*/ 2188385 h 3328479"/>
                <a:gd name="connsiteX4" fmla="*/ 2989531 w 3456513"/>
                <a:gd name="connsiteY4" fmla="*/ 1621315 h 3328479"/>
                <a:gd name="connsiteX5" fmla="*/ 310126 w 3456513"/>
                <a:gd name="connsiteY5" fmla="*/ 1522078 h 3328479"/>
                <a:gd name="connsiteX6" fmla="*/ 381010 w 3456513"/>
                <a:gd name="connsiteY6" fmla="*/ 706915 h 3328479"/>
                <a:gd name="connsiteX7" fmla="*/ 3195093 w 3456513"/>
                <a:gd name="connsiteY7" fmla="*/ 643119 h 3328479"/>
                <a:gd name="connsiteX8" fmla="*/ 2968265 w 3456513"/>
                <a:gd name="connsiteY8" fmla="*/ 26431 h 3328479"/>
                <a:gd name="connsiteX9" fmla="*/ 1309586 w 3456513"/>
                <a:gd name="connsiteY9" fmla="*/ 104403 h 3328479"/>
                <a:gd name="connsiteX10" fmla="*/ 345568 w 3456513"/>
                <a:gd name="connsiteY10" fmla="*/ 26431 h 332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56513" h="3328479">
                  <a:moveTo>
                    <a:pt x="2443726" y="3244552"/>
                  </a:moveTo>
                  <a:cubicBezTo>
                    <a:pt x="1537595" y="3318389"/>
                    <a:pt x="631465" y="3392227"/>
                    <a:pt x="281772" y="3237464"/>
                  </a:cubicBezTo>
                  <a:cubicBezTo>
                    <a:pt x="-67921" y="3082701"/>
                    <a:pt x="-141167" y="2490821"/>
                    <a:pt x="345568" y="2315975"/>
                  </a:cubicBezTo>
                  <a:cubicBezTo>
                    <a:pt x="832303" y="2141128"/>
                    <a:pt x="2761522" y="2304162"/>
                    <a:pt x="3202182" y="2188385"/>
                  </a:cubicBezTo>
                  <a:cubicBezTo>
                    <a:pt x="3642842" y="2072608"/>
                    <a:pt x="3471540" y="1732366"/>
                    <a:pt x="2989531" y="1621315"/>
                  </a:cubicBezTo>
                  <a:cubicBezTo>
                    <a:pt x="2507522" y="1510264"/>
                    <a:pt x="744879" y="1674478"/>
                    <a:pt x="310126" y="1522078"/>
                  </a:cubicBezTo>
                  <a:cubicBezTo>
                    <a:pt x="-124627" y="1369678"/>
                    <a:pt x="-99818" y="853408"/>
                    <a:pt x="381010" y="706915"/>
                  </a:cubicBezTo>
                  <a:cubicBezTo>
                    <a:pt x="861838" y="560422"/>
                    <a:pt x="2763884" y="756533"/>
                    <a:pt x="3195093" y="643119"/>
                  </a:cubicBezTo>
                  <a:cubicBezTo>
                    <a:pt x="3626302" y="529705"/>
                    <a:pt x="3282516" y="116217"/>
                    <a:pt x="2968265" y="26431"/>
                  </a:cubicBezTo>
                  <a:cubicBezTo>
                    <a:pt x="2654014" y="-63355"/>
                    <a:pt x="1746702" y="104403"/>
                    <a:pt x="1309586" y="104403"/>
                  </a:cubicBezTo>
                  <a:cubicBezTo>
                    <a:pt x="872470" y="104403"/>
                    <a:pt x="496786" y="35882"/>
                    <a:pt x="345568" y="2643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BBEEF54-2EB9-61E5-B735-B6DB89084A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19" t="1998" r="5783" b="1418"/>
          <a:stretch/>
        </p:blipFill>
        <p:spPr>
          <a:xfrm>
            <a:off x="8525866" y="703182"/>
            <a:ext cx="3404681" cy="252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75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3F7E5F9-8F25-420A-A678-ECBF5716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382899" cy="3684588"/>
          </a:xfrm>
        </p:spPr>
        <p:txBody>
          <a:bodyPr>
            <a:normAutofit/>
          </a:bodyPr>
          <a:lstStyle/>
          <a:p>
            <a:r>
              <a:rPr lang="en-US" dirty="0" err="1"/>
              <a:t>Scipy</a:t>
            </a:r>
            <a:r>
              <a:rPr lang="en-US" dirty="0"/>
              <a:t> has a great library of interpolation functions</a:t>
            </a:r>
          </a:p>
          <a:p>
            <a:r>
              <a:rPr lang="en-US" dirty="0"/>
              <a:t>We encourage you to just use them</a:t>
            </a:r>
          </a:p>
          <a:p>
            <a:r>
              <a:rPr lang="en-US" dirty="0"/>
              <a:t>This tutorial covers the basics concisely</a:t>
            </a:r>
          </a:p>
          <a:p>
            <a:pPr lvl="1"/>
            <a:r>
              <a:rPr lang="en-US" sz="1600" dirty="0">
                <a:hlinkClick r:id="rId3"/>
              </a:rPr>
              <a:t>https://docs.scipy.org/doc/scipy/tutorial/interpolate/1D.html</a:t>
            </a:r>
            <a:endParaRPr lang="en-US" sz="16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2050" name="Picture 2" descr="&quot;This code generates an X-Y plot of a time-series with amplitude on the Y axis and time on the X axis. The original time-series is shown as a series of blue markers roughly defining some kind of oscillation. An orange trace showing the linear interpolation is drawn atop the data forming a jagged representation of the original signal. A dotted green cubic interpolation is also drawn that appears to smoothly represent the source data.&quot;">
            <a:extLst>
              <a:ext uri="{FF2B5EF4-FFF2-40B4-BE49-F238E27FC236}">
                <a16:creationId xmlns:a16="http://schemas.microsoft.com/office/drawing/2014/main" id="{B4AEC264-4032-A944-8C9C-3FC2DD0FB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/>
          <a:stretch/>
        </p:blipFill>
        <p:spPr bwMode="auto">
          <a:xfrm>
            <a:off x="7918315" y="1604169"/>
            <a:ext cx="397202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3432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3F7E5F9-8F25-420A-A678-ECBF5716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382899" cy="3684588"/>
          </a:xfrm>
        </p:spPr>
        <p:txBody>
          <a:bodyPr>
            <a:normAutofit/>
          </a:bodyPr>
          <a:lstStyle/>
          <a:p>
            <a:r>
              <a:rPr lang="en-US" dirty="0"/>
              <a:t>What kind of interpolation was used in this visualization?</a:t>
            </a:r>
            <a:endParaRPr lang="en-US" sz="16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2050" name="Picture 2" descr="&quot;This code generates an X-Y plot of a time-series with amplitude on the Y axis and time on the X axis. The original time-series is shown as a series of blue markers roughly defining some kind of oscillation. An orange trace showing the linear interpolation is drawn atop the data forming a jagged representation of the original signal. A dotted green cubic interpolation is also drawn that appears to smoothly represent the source data.&quot;">
            <a:extLst>
              <a:ext uri="{FF2B5EF4-FFF2-40B4-BE49-F238E27FC236}">
                <a16:creationId xmlns:a16="http://schemas.microsoft.com/office/drawing/2014/main" id="{B4AEC264-4032-A944-8C9C-3FC2DD0FB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/>
          <a:stretch/>
        </p:blipFill>
        <p:spPr bwMode="auto">
          <a:xfrm>
            <a:off x="7928043" y="135292"/>
            <a:ext cx="397202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CC317A-0C66-DF8F-B092-CD23DF5438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19" t="1998" r="5783" b="1418"/>
          <a:stretch/>
        </p:blipFill>
        <p:spPr>
          <a:xfrm>
            <a:off x="8206407" y="3273551"/>
            <a:ext cx="3404681" cy="252105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A0755E-8E9C-B67E-82DB-61F6708964C7}"/>
              </a:ext>
            </a:extLst>
          </p:cNvPr>
          <p:cNvCxnSpPr>
            <a:endCxn id="11" idx="3"/>
          </p:cNvCxnSpPr>
          <p:nvPr/>
        </p:nvCxnSpPr>
        <p:spPr>
          <a:xfrm>
            <a:off x="3842426" y="3108325"/>
            <a:ext cx="4363981" cy="114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7254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3F7E5F9-8F25-420A-A678-ECBF5716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382899" cy="3684588"/>
          </a:xfrm>
        </p:spPr>
        <p:txBody>
          <a:bodyPr>
            <a:normAutofit/>
          </a:bodyPr>
          <a:lstStyle/>
          <a:p>
            <a:r>
              <a:rPr lang="en-US" dirty="0"/>
              <a:t>What kind of interpolation was used in this visualization?</a:t>
            </a:r>
          </a:p>
          <a:p>
            <a:endParaRPr lang="en-US" sz="1600" dirty="0"/>
          </a:p>
          <a:p>
            <a:r>
              <a:rPr lang="en-US" dirty="0"/>
              <a:t>It’s pretty jagged</a:t>
            </a:r>
          </a:p>
          <a:p>
            <a:pPr lvl="1"/>
            <a:r>
              <a:rPr lang="en-US" dirty="0"/>
              <a:t>You likely would want to at least use cubic interpolation</a:t>
            </a:r>
          </a:p>
          <a:p>
            <a:pPr lvl="1"/>
            <a:r>
              <a:rPr lang="en-US" dirty="0"/>
              <a:t>And adjust algorithm to search along</a:t>
            </a:r>
            <a:br>
              <a:rPr lang="en-US" dirty="0"/>
            </a:br>
            <a:r>
              <a:rPr lang="en-US" dirty="0"/>
              <a:t>horizontal and vertical directions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2050" name="Picture 2" descr="&quot;This code generates an X-Y plot of a time-series with amplitude on the Y axis and time on the X axis. The original time-series is shown as a series of blue markers roughly defining some kind of oscillation. An orange trace showing the linear interpolation is drawn atop the data forming a jagged representation of the original signal. A dotted green cubic interpolation is also drawn that appears to smoothly represent the source data.&quot;">
            <a:extLst>
              <a:ext uri="{FF2B5EF4-FFF2-40B4-BE49-F238E27FC236}">
                <a16:creationId xmlns:a16="http://schemas.microsoft.com/office/drawing/2014/main" id="{B4AEC264-4032-A944-8C9C-3FC2DD0FB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/>
          <a:stretch/>
        </p:blipFill>
        <p:spPr bwMode="auto">
          <a:xfrm>
            <a:off x="7928043" y="135292"/>
            <a:ext cx="397202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CC317A-0C66-DF8F-B092-CD23DF5438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19" t="1998" r="5783" b="1418"/>
          <a:stretch/>
        </p:blipFill>
        <p:spPr>
          <a:xfrm>
            <a:off x="8206407" y="3273551"/>
            <a:ext cx="3404681" cy="252105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A0755E-8E9C-B67E-82DB-61F6708964C7}"/>
              </a:ext>
            </a:extLst>
          </p:cNvPr>
          <p:cNvCxnSpPr>
            <a:endCxn id="11" idx="3"/>
          </p:cNvCxnSpPr>
          <p:nvPr/>
        </p:nvCxnSpPr>
        <p:spPr>
          <a:xfrm>
            <a:off x="3842426" y="3108325"/>
            <a:ext cx="4363981" cy="114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004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get position and orientation in the world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 we can calculate our desired velocity in world frame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the robot needs velocity in body frame, not world or camera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2115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but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what do we do? We take derivatives!</a:t>
                </a:r>
              </a:p>
              <a:p>
                <a:pPr lvl="1"/>
                <a:r>
                  <a:rPr lang="en-US" dirty="0"/>
                  <a:t>Define velocity body in world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973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but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what do we do? We take derivatives!</a:t>
                </a:r>
              </a:p>
              <a:p>
                <a:pPr lvl="1"/>
                <a:r>
                  <a:rPr lang="en-US" dirty="0"/>
                  <a:t>Define velocity body in world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𝑤𝑏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b="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𝑤𝑏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b="0" i="1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6964995-F8C3-BF19-4541-F4CB9A540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1789889"/>
                <a:ext cx="11083447" cy="4453256"/>
              </a:xfrm>
              <a:blipFill>
                <a:blip r:embed="rId2"/>
                <a:stretch>
                  <a:fillRect l="-990" t="-2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672-CEB2-4170-9980-C4B3BC37B36B}" type="datetime1">
              <a:rPr lang="en-US" smtClean="0"/>
              <a:t>3/4/26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9B65-ECD1-4560-A068-8F0F80DD573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620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G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11240</TotalTime>
  <Words>2878</Words>
  <Application>Microsoft Macintosh PowerPoint</Application>
  <PresentationFormat>Widescreen</PresentationFormat>
  <Paragraphs>736</Paragraphs>
  <Slides>56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Cambria Math</vt:lpstr>
      <vt:lpstr>Roboto</vt:lpstr>
      <vt:lpstr>Roboto Black</vt:lpstr>
      <vt:lpstr>1_Office Theme</vt:lpstr>
      <vt:lpstr>Velocity Control for Mobile Robots</vt:lpstr>
      <vt:lpstr>PowerPoint Presentation</vt:lpstr>
      <vt:lpstr>Agenda</vt:lpstr>
      <vt:lpstr>Introduction</vt:lpstr>
      <vt:lpstr>Trajectory Tracking Task </vt:lpstr>
      <vt:lpstr>Trajectory Tracking Math</vt:lpstr>
      <vt:lpstr>Trajectory Tracking Math</vt:lpstr>
      <vt:lpstr>Trajectory Tracking Math</vt:lpstr>
      <vt:lpstr>Trajectory Tracking Math</vt:lpstr>
      <vt:lpstr>Trajectory Tracking Math</vt:lpstr>
      <vt:lpstr>Trajectory Tracking Math</vt:lpstr>
      <vt:lpstr>Trajectory Tracking Math</vt:lpstr>
      <vt:lpstr>Trajectory Tracking Math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Intuition</vt:lpstr>
      <vt:lpstr>Trajectory Tracking Without Feedforward </vt:lpstr>
      <vt:lpstr>Trajectory Tracking with Feedforward 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3D Transforms</vt:lpstr>
      <vt:lpstr>Heading Control</vt:lpstr>
      <vt:lpstr>Heading Control</vt:lpstr>
      <vt:lpstr>Interpolation</vt:lpstr>
      <vt:lpstr>Interpolation</vt:lpstr>
      <vt:lpstr>Interpolation</vt:lpstr>
      <vt:lpstr>Interpolation</vt:lpstr>
      <vt:lpstr>3D Transforms</vt:lpstr>
      <vt:lpstr>3D Transforms</vt:lpstr>
      <vt:lpstr>3D Transforms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Jagannatha Sanket</dc:creator>
  <cp:lastModifiedBy>Troi Williams</cp:lastModifiedBy>
  <cp:revision>147</cp:revision>
  <dcterms:created xsi:type="dcterms:W3CDTF">2018-02-12T05:38:15Z</dcterms:created>
  <dcterms:modified xsi:type="dcterms:W3CDTF">2026-03-04T18:45:33Z</dcterms:modified>
</cp:coreProperties>
</file>